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Lst>
  <p:sldSz cx="9880600" cy="68199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48">
          <p15:clr>
            <a:srgbClr val="A4A3A4"/>
          </p15:clr>
        </p15:guide>
        <p15:guide id="2" pos="3112">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1" d="100"/>
          <a:sy n="61" d="100"/>
        </p:scale>
        <p:origin x="1416" y="66"/>
      </p:cViewPr>
      <p:guideLst>
        <p:guide orient="horz" pos="2148"/>
        <p:guide pos="3112"/>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741045" y="2118590"/>
            <a:ext cx="8398510" cy="1461858"/>
          </a:xfrm>
        </p:spPr>
        <p:txBody>
          <a:bodyPr/>
          <a:lstStyle/>
          <a:p>
            <a:r>
              <a:rPr lang="zh-CN" altLang="en-US"/>
              <a:t>单击此处编辑母版标题样式</a:t>
            </a:r>
          </a:p>
        </p:txBody>
      </p:sp>
      <p:sp>
        <p:nvSpPr>
          <p:cNvPr id="3" name="副标题 2"/>
          <p:cNvSpPr>
            <a:spLocks noGrp="1"/>
          </p:cNvSpPr>
          <p:nvPr>
            <p:ph type="subTitle" idx="1"/>
          </p:nvPr>
        </p:nvSpPr>
        <p:spPr>
          <a:xfrm>
            <a:off x="1482090" y="3864611"/>
            <a:ext cx="6916420" cy="1742863"/>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fld id="{6F95977F-3CFA-49A8-B430-5010D364BAC1}" type="datetimeFigureOut">
              <a:rPr lang="zh-CN" altLang="en-US" smtClean="0"/>
              <a:pPr/>
              <a:t>2023/11/23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D7E3A8A-3046-4126-97CE-34A29305E2EA}" type="slidenum">
              <a:rPr lang="zh-CN" altLang="en-US" smtClean="0"/>
              <a:pPr/>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6F95977F-3CFA-49A8-B430-5010D364BAC1}" type="datetimeFigureOut">
              <a:rPr lang="zh-CN" altLang="en-US" smtClean="0"/>
              <a:pPr/>
              <a:t>2023/11/23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D7E3A8A-3046-4126-97CE-34A29305E2EA}" type="slidenum">
              <a:rPr lang="zh-CN" altLang="en-US" smtClean="0"/>
              <a:pPr/>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80499" y="4382418"/>
            <a:ext cx="8398510" cy="1354508"/>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80499" y="2890566"/>
            <a:ext cx="8398510" cy="1491853"/>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6F95977F-3CFA-49A8-B430-5010D364BAC1}" type="datetimeFigureOut">
              <a:rPr lang="zh-CN" altLang="en-US" smtClean="0"/>
              <a:pPr/>
              <a:t>2023/11/23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D7E3A8A-3046-4126-97CE-34A29305E2EA}" type="slidenum">
              <a:rPr lang="zh-CN" altLang="en-US" smtClean="0"/>
              <a:pPr/>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94030" y="1581838"/>
            <a:ext cx="4363932" cy="44771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5022638" y="1581838"/>
            <a:ext cx="4363932" cy="44771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6F95977F-3CFA-49A8-B430-5010D364BAC1}" type="datetimeFigureOut">
              <a:rPr lang="zh-CN" altLang="en-US" smtClean="0"/>
              <a:pPr/>
              <a:t>2023/11/23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D7E3A8A-3046-4126-97CE-34A29305E2EA}" type="slidenum">
              <a:rPr lang="zh-CN" altLang="en-US" smtClean="0"/>
              <a:pPr/>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94030" y="273112"/>
            <a:ext cx="8892540" cy="113665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94030" y="1526584"/>
            <a:ext cx="4365648" cy="636208"/>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94030" y="2162793"/>
            <a:ext cx="4365648" cy="392933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5019209" y="1526584"/>
            <a:ext cx="4367362" cy="636208"/>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5019209" y="2162793"/>
            <a:ext cx="4367362" cy="392933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6F95977F-3CFA-49A8-B430-5010D364BAC1}" type="datetimeFigureOut">
              <a:rPr lang="zh-CN" altLang="en-US" smtClean="0"/>
              <a:pPr/>
              <a:t>2023/11/23</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2D7E3A8A-3046-4126-97CE-34A29305E2EA}" type="slidenum">
              <a:rPr lang="zh-CN" altLang="en-US" smtClean="0"/>
              <a:pPr/>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6F95977F-3CFA-49A8-B430-5010D364BAC1}" type="datetimeFigureOut">
              <a:rPr lang="zh-CN" altLang="en-US" smtClean="0"/>
              <a:pPr/>
              <a:t>2023/11/23</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2D7E3A8A-3046-4126-97CE-34A29305E2EA}" type="slidenum">
              <a:rPr lang="zh-CN" altLang="en-US" smtClean="0"/>
              <a:pPr/>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6F95977F-3CFA-49A8-B430-5010D364BAC1}" type="datetimeFigureOut">
              <a:rPr lang="zh-CN" altLang="en-US" smtClean="0"/>
              <a:pPr/>
              <a:t>2023/11/23</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2D7E3A8A-3046-4126-97CE-34A29305E2EA}" type="slidenum">
              <a:rPr lang="zh-CN" altLang="en-US" smtClean="0"/>
              <a:pPr/>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94032" y="271533"/>
            <a:ext cx="3250649" cy="1155594"/>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863040" y="271533"/>
            <a:ext cx="5523530" cy="5820596"/>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94032" y="1427127"/>
            <a:ext cx="3250649" cy="466500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6F95977F-3CFA-49A8-B430-5010D364BAC1}" type="datetimeFigureOut">
              <a:rPr lang="zh-CN" altLang="en-US" smtClean="0"/>
              <a:pPr/>
              <a:t>2023/11/23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D7E3A8A-3046-4126-97CE-34A29305E2EA}" type="slidenum">
              <a:rPr lang="zh-CN" altLang="en-US" smtClean="0"/>
              <a:pPr/>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936667" y="4773931"/>
            <a:ext cx="5928360" cy="563589"/>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936667" y="609371"/>
            <a:ext cx="5928360" cy="409194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936667" y="5337520"/>
            <a:ext cx="5928360" cy="800391"/>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6F95977F-3CFA-49A8-B430-5010D364BAC1}" type="datetimeFigureOut">
              <a:rPr lang="zh-CN" altLang="en-US" smtClean="0"/>
              <a:pPr/>
              <a:t>2023/11/23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D7E3A8A-3046-4126-97CE-34A29305E2EA}" type="slidenum">
              <a:rPr lang="zh-CN" altLang="en-US" smtClean="0"/>
              <a:pPr/>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6F95977F-3CFA-49A8-B430-5010D364BAC1}" type="datetimeFigureOut">
              <a:rPr lang="zh-CN" altLang="en-US" smtClean="0"/>
              <a:pPr/>
              <a:t>2023/11/23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D7E3A8A-3046-4126-97CE-34A29305E2EA}" type="slidenum">
              <a:rPr lang="zh-CN" altLang="en-US" smtClean="0"/>
              <a:pPr/>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163435" y="271535"/>
            <a:ext cx="2223135" cy="5787443"/>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94030" y="271535"/>
            <a:ext cx="6504728" cy="5787443"/>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6F95977F-3CFA-49A8-B430-5010D364BAC1}" type="datetimeFigureOut">
              <a:rPr lang="zh-CN" altLang="en-US" smtClean="0"/>
              <a:pPr/>
              <a:t>2023/11/23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D7E3A8A-3046-4126-97CE-34A29305E2EA}" type="slidenum">
              <a:rPr lang="zh-CN" altLang="en-US" smtClean="0"/>
              <a:pPr/>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94030" y="273112"/>
            <a:ext cx="8892540" cy="113665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494030" y="1591311"/>
            <a:ext cx="8892540" cy="4500819"/>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494030" y="6321038"/>
            <a:ext cx="2305473" cy="363097"/>
          </a:xfrm>
          <a:prstGeom prst="rect">
            <a:avLst/>
          </a:prstGeom>
        </p:spPr>
        <p:txBody>
          <a:bodyPr vert="horz" lIns="91440" tIns="45720" rIns="91440" bIns="45720" rtlCol="0" anchor="ctr"/>
          <a:lstStyle>
            <a:lvl1pPr algn="l">
              <a:defRPr sz="1200">
                <a:solidFill>
                  <a:schemeClr val="tx1">
                    <a:tint val="75000"/>
                  </a:schemeClr>
                </a:solidFill>
              </a:defRPr>
            </a:lvl1pPr>
          </a:lstStyle>
          <a:p>
            <a:fld id="{6F95977F-3CFA-49A8-B430-5010D364BAC1}" type="datetimeFigureOut">
              <a:rPr lang="zh-CN" altLang="en-US" smtClean="0"/>
              <a:pPr/>
              <a:t>2023/11/23</a:t>
            </a:fld>
            <a:endParaRPr lang="zh-CN" altLang="en-US"/>
          </a:p>
        </p:txBody>
      </p:sp>
      <p:sp>
        <p:nvSpPr>
          <p:cNvPr id="5" name="页脚占位符 4"/>
          <p:cNvSpPr>
            <a:spLocks noGrp="1"/>
          </p:cNvSpPr>
          <p:nvPr>
            <p:ph type="ftr" sz="quarter" idx="3"/>
          </p:nvPr>
        </p:nvSpPr>
        <p:spPr>
          <a:xfrm>
            <a:off x="3375872" y="6321038"/>
            <a:ext cx="3128857" cy="363097"/>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7081097" y="6321038"/>
            <a:ext cx="2305473" cy="363097"/>
          </a:xfrm>
          <a:prstGeom prst="rect">
            <a:avLst/>
          </a:prstGeom>
        </p:spPr>
        <p:txBody>
          <a:bodyPr vert="horz" lIns="91440" tIns="45720" rIns="91440" bIns="45720" rtlCol="0" anchor="ctr"/>
          <a:lstStyle>
            <a:lvl1pPr algn="r">
              <a:defRPr sz="1200">
                <a:solidFill>
                  <a:schemeClr val="tx1">
                    <a:tint val="75000"/>
                  </a:schemeClr>
                </a:solidFill>
              </a:defRPr>
            </a:lvl1pPr>
          </a:lstStyle>
          <a:p>
            <a:fld id="{2D7E3A8A-3046-4126-97CE-34A29305E2EA}"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name="myslide1">
    <p:spTree>
      <p:nvGrpSpPr>
        <p:cNvPr id="1" name=""/>
        <p:cNvGrpSpPr/>
        <p:nvPr/>
      </p:nvGrpSpPr>
      <p:grpSpPr>
        <a:xfrm>
          <a:off x="0" y="0"/>
          <a:ext cx="0" cy="0"/>
          <a:chOff x="0" y="0"/>
          <a:chExt cx="0" cy="0"/>
        </a:xfrm>
      </p:grpSpPr>
      <p:sp>
        <p:nvSpPr>
          <p:cNvPr id="2" name="任意多边形 1"/>
          <p:cNvSpPr/>
          <p:nvPr/>
        </p:nvSpPr>
        <p:spPr>
          <a:xfrm>
            <a:off x="-11036" y="-19304"/>
            <a:ext cx="9902952" cy="6858000"/>
          </a:xfrm>
          <a:custGeom>
            <a:avLst/>
            <a:gdLst/>
            <a:ahLst/>
            <a:cxnLst/>
            <a:rect l="0" t="0" r="0" b="0"/>
            <a:pathLst>
              <a:path w="9902952" h="6858000">
                <a:moveTo>
                  <a:pt x="0" y="0"/>
                </a:moveTo>
                <a:lnTo>
                  <a:pt x="0" y="6857999"/>
                </a:lnTo>
                <a:lnTo>
                  <a:pt x="9902951" y="6857999"/>
                </a:lnTo>
                <a:lnTo>
                  <a:pt x="9902951" y="0"/>
                </a:lnTo>
                <a:close/>
              </a:path>
            </a:pathLst>
          </a:custGeom>
          <a:solidFill>
            <a:srgbClr val="E6D199"/>
          </a:solidFill>
          <a:ln w="12700" cap="flat" cmpd="sng" algn="ctr">
            <a:solidFill>
              <a:srgbClr val="E6D199"/>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任意多边形 2"/>
          <p:cNvSpPr/>
          <p:nvPr/>
        </p:nvSpPr>
        <p:spPr>
          <a:xfrm>
            <a:off x="4876812" y="3346830"/>
            <a:ext cx="126493" cy="126493"/>
          </a:xfrm>
          <a:custGeom>
            <a:avLst/>
            <a:gdLst/>
            <a:ahLst/>
            <a:cxnLst/>
            <a:rect l="0" t="0" r="0" b="0"/>
            <a:pathLst>
              <a:path w="126493" h="126493">
                <a:moveTo>
                  <a:pt x="0" y="0"/>
                </a:moveTo>
                <a:lnTo>
                  <a:pt x="0" y="126492"/>
                </a:lnTo>
                <a:lnTo>
                  <a:pt x="126492" y="126492"/>
                </a:lnTo>
                <a:lnTo>
                  <a:pt x="126492" y="0"/>
                </a:lnTo>
                <a:close/>
              </a:path>
            </a:pathLst>
          </a:custGeom>
          <a:solidFill>
            <a:srgbClr val="FFFFFF"/>
          </a:solidFill>
          <a:ln w="12700" cap="flat" cmpd="sng" algn="ctr">
            <a:solidFill>
              <a:srgbClr val="FFFFFF"/>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 name="图片 3" descr="ws_182.tmp"/>
          <p:cNvPicPr>
            <a:picLocks/>
          </p:cNvPicPr>
          <p:nvPr/>
        </p:nvPicPr>
        <p:blipFill>
          <a:blip r:embed="rId2"/>
          <a:stretch>
            <a:fillRect/>
          </a:stretch>
        </p:blipFill>
        <p:spPr>
          <a:xfrm>
            <a:off x="0" y="0"/>
            <a:ext cx="5029200" cy="6819900"/>
          </a:xfrm>
          <a:prstGeom prst="rect">
            <a:avLst/>
          </a:prstGeom>
        </p:spPr>
      </p:pic>
      <p:sp>
        <p:nvSpPr>
          <p:cNvPr id="5" name="TextBox 4"/>
          <p:cNvSpPr txBox="1"/>
          <p:nvPr/>
        </p:nvSpPr>
        <p:spPr>
          <a:xfrm>
            <a:off x="5434209" y="1754327"/>
            <a:ext cx="3582712" cy="487313"/>
          </a:xfrm>
          <a:prstGeom prst="rect">
            <a:avLst/>
          </a:prstGeom>
          <a:noFill/>
        </p:spPr>
        <p:txBody>
          <a:bodyPr vert="horz" wrap="none" lIns="0" tIns="0" rIns="0" bIns="0" rtlCol="0">
            <a:spAutoFit/>
          </a:bodyPr>
          <a:lstStyle/>
          <a:p>
            <a:pPr>
              <a:lnSpc>
                <a:spcPts val="3838"/>
              </a:lnSpc>
            </a:pPr>
            <a:r>
              <a:rPr lang="en-US" altLang="zh-CN" sz="3600" b="1" dirty="0">
                <a:solidFill>
                  <a:srgbClr val="000000"/>
                </a:solidFill>
                <a:latin typeface="Times New Roman"/>
              </a:rPr>
              <a:t>COSO </a:t>
            </a:r>
            <a:r>
              <a:rPr lang="zh-CN" altLang="en-US" sz="3600" dirty="0">
                <a:solidFill>
                  <a:srgbClr val="000000"/>
                </a:solidFill>
                <a:latin typeface="Times New Roman"/>
              </a:rPr>
              <a:t>內 部 控 制</a:t>
            </a:r>
          </a:p>
        </p:txBody>
      </p:sp>
      <p:sp>
        <p:nvSpPr>
          <p:cNvPr id="6" name="TextBox 5"/>
          <p:cNvSpPr txBox="1"/>
          <p:nvPr/>
        </p:nvSpPr>
        <p:spPr>
          <a:xfrm>
            <a:off x="5877682" y="2303744"/>
            <a:ext cx="2308324" cy="461665"/>
          </a:xfrm>
          <a:prstGeom prst="rect">
            <a:avLst/>
          </a:prstGeom>
          <a:noFill/>
        </p:spPr>
        <p:txBody>
          <a:bodyPr vert="horz" wrap="none" lIns="0" tIns="0" rIns="0" bIns="0" rtlCol="0">
            <a:spAutoFit/>
          </a:bodyPr>
          <a:lstStyle/>
          <a:p>
            <a:pPr>
              <a:lnSpc>
                <a:spcPts val="3596"/>
              </a:lnSpc>
            </a:pPr>
            <a:r>
              <a:rPr lang="zh-CN" altLang="en-US" sz="3600" dirty="0">
                <a:solidFill>
                  <a:srgbClr val="000000"/>
                </a:solidFill>
                <a:latin typeface="Times New Roman"/>
              </a:rPr>
              <a:t>體系及應用</a:t>
            </a:r>
          </a:p>
        </p:txBody>
      </p:sp>
      <p:sp>
        <p:nvSpPr>
          <p:cNvPr id="7" name="TextBox 6"/>
          <p:cNvSpPr txBox="1"/>
          <p:nvPr/>
        </p:nvSpPr>
        <p:spPr>
          <a:xfrm>
            <a:off x="6194685" y="4196806"/>
            <a:ext cx="1982915" cy="269304"/>
          </a:xfrm>
          <a:prstGeom prst="rect">
            <a:avLst/>
          </a:prstGeom>
          <a:noFill/>
        </p:spPr>
        <p:txBody>
          <a:bodyPr vert="horz" wrap="none" lIns="0" tIns="0" rIns="0" bIns="0" rtlCol="0">
            <a:spAutoFit/>
          </a:bodyPr>
          <a:lstStyle/>
          <a:p>
            <a:pPr>
              <a:lnSpc>
                <a:spcPts val="2130"/>
              </a:lnSpc>
            </a:pPr>
            <a:r>
              <a:rPr lang="en-US" altLang="zh-CN" sz="1998" b="1" dirty="0">
                <a:solidFill>
                  <a:srgbClr val="000000"/>
                </a:solidFill>
                <a:latin typeface="Times New Roman"/>
              </a:rPr>
              <a:t>2005 </a:t>
            </a:r>
            <a:r>
              <a:rPr lang="zh-CN" altLang="en-US" sz="1998" dirty="0">
                <a:solidFill>
                  <a:srgbClr val="000000"/>
                </a:solidFill>
                <a:latin typeface="Times New Roman"/>
              </a:rPr>
              <a:t>年 </a:t>
            </a:r>
            <a:r>
              <a:rPr lang="en-US" altLang="zh-CN" sz="1998" b="1" dirty="0">
                <a:solidFill>
                  <a:srgbClr val="000000"/>
                </a:solidFill>
                <a:latin typeface="Times New Roman"/>
              </a:rPr>
              <a:t>9 </a:t>
            </a:r>
            <a:r>
              <a:rPr lang="zh-CN" altLang="en-US" sz="1998" dirty="0">
                <a:solidFill>
                  <a:srgbClr val="000000"/>
                </a:solidFill>
                <a:latin typeface="Times New Roman"/>
              </a:rPr>
              <a:t>月 </a:t>
            </a:r>
            <a:r>
              <a:rPr lang="en-US" altLang="zh-CN" sz="1998" b="1" dirty="0">
                <a:solidFill>
                  <a:srgbClr val="000000"/>
                </a:solidFill>
                <a:latin typeface="Times New Roman"/>
              </a:rPr>
              <a:t>23 </a:t>
            </a:r>
            <a:r>
              <a:rPr lang="zh-CN" altLang="en-US" sz="1998" dirty="0">
                <a:solidFill>
                  <a:srgbClr val="000000"/>
                </a:solidFill>
                <a:latin typeface="Times New Roman"/>
              </a:rPr>
              <a:t>日</a:t>
            </a:r>
          </a:p>
        </p:txBody>
      </p:sp>
      <p:sp>
        <p:nvSpPr>
          <p:cNvPr id="8" name="TextBox 7"/>
          <p:cNvSpPr txBox="1"/>
          <p:nvPr/>
        </p:nvSpPr>
        <p:spPr>
          <a:xfrm>
            <a:off x="6991754" y="4668494"/>
            <a:ext cx="512961" cy="256480"/>
          </a:xfrm>
          <a:prstGeom prst="rect">
            <a:avLst/>
          </a:prstGeom>
          <a:noFill/>
        </p:spPr>
        <p:txBody>
          <a:bodyPr vert="horz" wrap="none" lIns="0" tIns="0" rIns="0" bIns="0" rtlCol="0">
            <a:spAutoFit/>
          </a:bodyPr>
          <a:lstStyle/>
          <a:p>
            <a:pPr>
              <a:lnSpc>
                <a:spcPts val="1996"/>
              </a:lnSpc>
            </a:pPr>
            <a:r>
              <a:rPr lang="zh-CN" altLang="en-US" sz="1998" dirty="0">
                <a:solidFill>
                  <a:srgbClr val="000000"/>
                </a:solidFill>
                <a:latin typeface="Times New Roman"/>
              </a:rPr>
              <a:t>天津</a:t>
            </a:r>
          </a:p>
        </p:txBody>
      </p:sp>
      <p:sp>
        <p:nvSpPr>
          <p:cNvPr id="9" name="TextBox 8"/>
          <p:cNvSpPr txBox="1"/>
          <p:nvPr/>
        </p:nvSpPr>
        <p:spPr>
          <a:xfrm>
            <a:off x="6061335" y="5589320"/>
            <a:ext cx="618759" cy="359073"/>
          </a:xfrm>
          <a:prstGeom prst="rect">
            <a:avLst/>
          </a:prstGeom>
          <a:noFill/>
        </p:spPr>
        <p:txBody>
          <a:bodyPr vert="horz" wrap="none" lIns="0" tIns="0" rIns="0" bIns="0" rtlCol="0">
            <a:spAutoFit/>
          </a:bodyPr>
          <a:lstStyle/>
          <a:p>
            <a:pPr>
              <a:lnSpc>
                <a:spcPts val="2802"/>
              </a:lnSpc>
            </a:pPr>
            <a:r>
              <a:rPr lang="en-US" altLang="zh-CN" sz="2802" dirty="0" err="1">
                <a:solidFill>
                  <a:srgbClr val="000000"/>
                </a:solidFill>
                <a:latin typeface="Times New Roman"/>
              </a:rPr>
              <a:t>Pwc</a:t>
            </a:r>
            <a:endParaRPr lang="zh-CN" altLang="en-US" sz="2802" dirty="0">
              <a:solidFill>
                <a:srgbClr val="000000"/>
              </a:solidFill>
              <a:latin typeface="Times New Roman"/>
            </a:endParaRPr>
          </a:p>
        </p:txBody>
      </p:sp>
      <p:sp>
        <p:nvSpPr>
          <p:cNvPr id="10" name="TextBox 9"/>
          <p:cNvSpPr txBox="1"/>
          <p:nvPr/>
        </p:nvSpPr>
        <p:spPr>
          <a:xfrm>
            <a:off x="6251835" y="5859041"/>
            <a:ext cx="2071080" cy="320601"/>
          </a:xfrm>
          <a:prstGeom prst="rect">
            <a:avLst/>
          </a:prstGeom>
          <a:noFill/>
        </p:spPr>
        <p:txBody>
          <a:bodyPr vert="horz" wrap="none" lIns="0" tIns="0" rIns="0" bIns="0" rtlCol="0">
            <a:spAutoFit/>
          </a:bodyPr>
          <a:lstStyle/>
          <a:p>
            <a:pPr>
              <a:lnSpc>
                <a:spcPts val="2475"/>
              </a:lnSpc>
            </a:pPr>
            <a:r>
              <a:rPr lang="zh-CN" altLang="en-US" sz="1902" dirty="0">
                <a:solidFill>
                  <a:srgbClr val="000000"/>
                </a:solidFill>
                <a:latin typeface="Times New Roman"/>
              </a:rPr>
              <a:t>普      華      永      道</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myslide2">
    <p:spTree>
      <p:nvGrpSpPr>
        <p:cNvPr id="1" name=""/>
        <p:cNvGrpSpPr/>
        <p:nvPr/>
      </p:nvGrpSpPr>
      <p:grpSpPr>
        <a:xfrm>
          <a:off x="0" y="0"/>
          <a:ext cx="0" cy="0"/>
          <a:chOff x="0" y="0"/>
          <a:chExt cx="0" cy="0"/>
        </a:xfrm>
      </p:grpSpPr>
      <p:sp>
        <p:nvSpPr>
          <p:cNvPr id="2" name="任意多边形 1"/>
          <p:cNvSpPr/>
          <p:nvPr/>
        </p:nvSpPr>
        <p:spPr>
          <a:xfrm>
            <a:off x="-11036" y="-19304"/>
            <a:ext cx="9902952" cy="6858000"/>
          </a:xfrm>
          <a:custGeom>
            <a:avLst/>
            <a:gdLst/>
            <a:ahLst/>
            <a:cxnLst/>
            <a:rect l="0" t="0" r="0" b="0"/>
            <a:pathLst>
              <a:path w="9902952" h="6858000">
                <a:moveTo>
                  <a:pt x="0" y="0"/>
                </a:moveTo>
                <a:lnTo>
                  <a:pt x="0" y="6857999"/>
                </a:lnTo>
                <a:lnTo>
                  <a:pt x="9902951" y="6857999"/>
                </a:lnTo>
                <a:lnTo>
                  <a:pt x="9902951" y="0"/>
                </a:lnTo>
                <a:close/>
              </a:path>
            </a:pathLst>
          </a:custGeom>
          <a:solidFill>
            <a:srgbClr val="E6D199"/>
          </a:solidFill>
          <a:ln w="12700" cap="flat" cmpd="sng" algn="ctr">
            <a:solidFill>
              <a:srgbClr val="E6D199"/>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3"/>
          <p:cNvSpPr/>
          <p:nvPr/>
        </p:nvSpPr>
        <p:spPr>
          <a:xfrm>
            <a:off x="-11036" y="-19304"/>
            <a:ext cx="9902952" cy="1126999"/>
          </a:xfrm>
          <a:custGeom>
            <a:avLst/>
            <a:gdLst/>
            <a:ahLst/>
            <a:cxnLst/>
            <a:rect l="0" t="0" r="0" b="0"/>
            <a:pathLst>
              <a:path w="9902952" h="1126999">
                <a:moveTo>
                  <a:pt x="0" y="0"/>
                </a:moveTo>
                <a:lnTo>
                  <a:pt x="0" y="1126998"/>
                </a:lnTo>
                <a:lnTo>
                  <a:pt x="9902951" y="1126998"/>
                </a:lnTo>
                <a:lnTo>
                  <a:pt x="9902951" y="0"/>
                </a:lnTo>
                <a:close/>
              </a:path>
            </a:pathLst>
          </a:custGeom>
          <a:solidFill>
            <a:srgbClr val="9D0F1D"/>
          </a:solidFill>
          <a:ln w="12700" cap="flat" cmpd="sng" algn="ctr">
            <a:solidFill>
              <a:srgbClr val="9D0F1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 name="图片 4" descr="ws_184.tmp"/>
          <p:cNvPicPr>
            <a:picLocks/>
          </p:cNvPicPr>
          <p:nvPr/>
        </p:nvPicPr>
        <p:blipFill>
          <a:blip r:embed="rId2"/>
          <a:stretch>
            <a:fillRect/>
          </a:stretch>
        </p:blipFill>
        <p:spPr>
          <a:xfrm>
            <a:off x="655453" y="1521967"/>
            <a:ext cx="3510146" cy="4307332"/>
          </a:xfrm>
          <a:prstGeom prst="rect">
            <a:avLst/>
          </a:prstGeom>
        </p:spPr>
      </p:pic>
      <p:sp>
        <p:nvSpPr>
          <p:cNvPr id="7" name="TextBox 6"/>
          <p:cNvSpPr txBox="1"/>
          <p:nvPr/>
        </p:nvSpPr>
        <p:spPr>
          <a:xfrm>
            <a:off x="903358" y="359867"/>
            <a:ext cx="923330" cy="461665"/>
          </a:xfrm>
          <a:prstGeom prst="rect">
            <a:avLst/>
          </a:prstGeom>
          <a:noFill/>
        </p:spPr>
        <p:txBody>
          <a:bodyPr vert="horz" wrap="none" lIns="0" tIns="0" rIns="0" bIns="0" rtlCol="0">
            <a:spAutoFit/>
          </a:bodyPr>
          <a:lstStyle/>
          <a:p>
            <a:pPr>
              <a:lnSpc>
                <a:spcPts val="3596"/>
              </a:lnSpc>
            </a:pPr>
            <a:r>
              <a:rPr lang="zh-CN" altLang="en-US" sz="3600" dirty="0">
                <a:solidFill>
                  <a:srgbClr val="FFFFFF"/>
                </a:solidFill>
                <a:latin typeface="Times New Roman"/>
              </a:rPr>
              <a:t>目錄</a:t>
            </a:r>
          </a:p>
        </p:txBody>
      </p:sp>
      <p:sp>
        <p:nvSpPr>
          <p:cNvPr id="8" name="TextBox 7"/>
          <p:cNvSpPr txBox="1"/>
          <p:nvPr/>
        </p:nvSpPr>
        <p:spPr>
          <a:xfrm>
            <a:off x="4454277" y="1763623"/>
            <a:ext cx="3113032" cy="282129"/>
          </a:xfrm>
          <a:prstGeom prst="rect">
            <a:avLst/>
          </a:prstGeom>
          <a:noFill/>
        </p:spPr>
        <p:txBody>
          <a:bodyPr vert="horz" wrap="none" lIns="0" tIns="0" rIns="0" bIns="0" rtlCol="0">
            <a:spAutoFit/>
          </a:bodyPr>
          <a:lstStyle/>
          <a:p>
            <a:pPr>
              <a:lnSpc>
                <a:spcPts val="2220"/>
              </a:lnSpc>
            </a:pPr>
            <a:r>
              <a:rPr lang="en-US" altLang="zh-CN" sz="2400" b="1" dirty="0">
                <a:solidFill>
                  <a:srgbClr val="CC0000"/>
                </a:solidFill>
                <a:latin typeface="Times New Roman"/>
              </a:rPr>
              <a:t>1.  </a:t>
            </a:r>
            <a:r>
              <a:rPr lang="en-US" altLang="zh-CN" sz="2400" b="1" dirty="0">
                <a:solidFill>
                  <a:srgbClr val="9A0033"/>
                </a:solidFill>
                <a:latin typeface="Times New Roman"/>
              </a:rPr>
              <a:t>COSO</a:t>
            </a:r>
            <a:r>
              <a:rPr lang="zh-CN" altLang="en-US" sz="2400" b="1" dirty="0">
                <a:solidFill>
                  <a:srgbClr val="9A0033"/>
                </a:solidFill>
                <a:latin typeface="Times New Roman"/>
              </a:rPr>
              <a:t>內部控制框架</a:t>
            </a:r>
          </a:p>
        </p:txBody>
      </p:sp>
      <p:sp>
        <p:nvSpPr>
          <p:cNvPr id="9" name="TextBox 8"/>
          <p:cNvSpPr txBox="1"/>
          <p:nvPr/>
        </p:nvSpPr>
        <p:spPr>
          <a:xfrm>
            <a:off x="4454277" y="2331770"/>
            <a:ext cx="3462486" cy="923330"/>
          </a:xfrm>
          <a:prstGeom prst="rect">
            <a:avLst/>
          </a:prstGeom>
          <a:noFill/>
        </p:spPr>
        <p:txBody>
          <a:bodyPr vert="horz" wrap="none" lIns="0" tIns="0" rIns="0" bIns="0" rtlCol="0">
            <a:spAutoFit/>
          </a:bodyPr>
          <a:lstStyle/>
          <a:p>
            <a:pPr>
              <a:lnSpc>
                <a:spcPts val="2558"/>
              </a:lnSpc>
            </a:pPr>
            <a:r>
              <a:rPr lang="en-US" altLang="zh-CN" sz="2400" b="1" dirty="0">
                <a:solidFill>
                  <a:srgbClr val="CC0000"/>
                </a:solidFill>
                <a:latin typeface="Times New Roman"/>
              </a:rPr>
              <a:t>2.  </a:t>
            </a:r>
            <a:r>
              <a:rPr lang="zh-CN" altLang="en-US" sz="2400" dirty="0">
                <a:solidFill>
                  <a:srgbClr val="9A0033"/>
                </a:solidFill>
                <a:latin typeface="Times New Roman"/>
              </a:rPr>
              <a:t>如何評價內部控制體系</a:t>
            </a:r>
          </a:p>
          <a:p>
            <a:pPr>
              <a:lnSpc>
                <a:spcPts val="1000"/>
              </a:lnSpc>
            </a:pPr>
            <a:endParaRPr lang="zh-CN" altLang="en-US" sz="2400" dirty="0">
              <a:solidFill>
                <a:srgbClr val="9A0033"/>
              </a:solidFill>
              <a:latin typeface="Times New Roman"/>
            </a:endParaRPr>
          </a:p>
          <a:p>
            <a:pPr>
              <a:lnSpc>
                <a:spcPts val="1000"/>
              </a:lnSpc>
            </a:pPr>
            <a:endParaRPr lang="zh-CN" altLang="en-US" sz="2400" dirty="0">
              <a:solidFill>
                <a:srgbClr val="9A0033"/>
              </a:solidFill>
              <a:latin typeface="Times New Roman"/>
            </a:endParaRPr>
          </a:p>
          <a:p>
            <a:pPr>
              <a:lnSpc>
                <a:spcPts val="2602"/>
              </a:lnSpc>
            </a:pPr>
            <a:r>
              <a:rPr lang="en-US" altLang="zh-CN" sz="2400" b="1" dirty="0">
                <a:solidFill>
                  <a:srgbClr val="CC0000"/>
                </a:solidFill>
                <a:latin typeface="Times New Roman"/>
              </a:rPr>
              <a:t>3.  </a:t>
            </a:r>
            <a:r>
              <a:rPr lang="zh-CN" altLang="en-US" sz="2400" dirty="0">
                <a:solidFill>
                  <a:srgbClr val="9A0033"/>
                </a:solidFill>
                <a:latin typeface="Times New Roman"/>
              </a:rPr>
              <a:t>小結</a:t>
            </a:r>
          </a:p>
        </p:txBody>
      </p:sp>
      <p:sp>
        <p:nvSpPr>
          <p:cNvPr id="10" name="TextBox 9"/>
          <p:cNvSpPr txBox="1"/>
          <p:nvPr/>
        </p:nvSpPr>
        <p:spPr>
          <a:xfrm>
            <a:off x="4454277" y="3499916"/>
            <a:ext cx="1615827" cy="333425"/>
          </a:xfrm>
          <a:prstGeom prst="rect">
            <a:avLst/>
          </a:prstGeom>
          <a:noFill/>
        </p:spPr>
        <p:txBody>
          <a:bodyPr vert="horz" wrap="none" lIns="0" tIns="0" rIns="0" bIns="0" rtlCol="0">
            <a:spAutoFit/>
          </a:bodyPr>
          <a:lstStyle/>
          <a:p>
            <a:pPr>
              <a:lnSpc>
                <a:spcPts val="2558"/>
              </a:lnSpc>
            </a:pPr>
            <a:r>
              <a:rPr lang="en-US" altLang="zh-CN" sz="2400" b="1" dirty="0">
                <a:solidFill>
                  <a:srgbClr val="CC0000"/>
                </a:solidFill>
                <a:latin typeface="Times New Roman"/>
              </a:rPr>
              <a:t>4.  </a:t>
            </a:r>
            <a:r>
              <a:rPr lang="zh-CN" altLang="en-US" sz="2400" dirty="0">
                <a:solidFill>
                  <a:srgbClr val="9A0033"/>
                </a:solidFill>
                <a:latin typeface="Times New Roman"/>
              </a:rPr>
              <a:t>問題解答</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myslide3">
    <p:spTree>
      <p:nvGrpSpPr>
        <p:cNvPr id="1" name=""/>
        <p:cNvGrpSpPr/>
        <p:nvPr/>
      </p:nvGrpSpPr>
      <p:grpSpPr>
        <a:xfrm>
          <a:off x="0" y="0"/>
          <a:ext cx="0" cy="0"/>
          <a:chOff x="0" y="0"/>
          <a:chExt cx="0" cy="0"/>
        </a:xfrm>
      </p:grpSpPr>
      <p:pic>
        <p:nvPicPr>
          <p:cNvPr id="2" name="图片 1" descr="ws_187.tmp"/>
          <p:cNvPicPr>
            <a:picLocks/>
          </p:cNvPicPr>
          <p:nvPr/>
        </p:nvPicPr>
        <p:blipFill>
          <a:blip r:embed="rId2"/>
          <a:stretch>
            <a:fillRect/>
          </a:stretch>
        </p:blipFill>
        <p:spPr>
          <a:xfrm>
            <a:off x="0" y="0"/>
            <a:ext cx="9880600" cy="6819900"/>
          </a:xfrm>
          <a:prstGeom prst="rect">
            <a:avLst/>
          </a:prstGeom>
        </p:spPr>
      </p:pic>
      <p:sp>
        <p:nvSpPr>
          <p:cNvPr id="3" name="TextBox 2"/>
          <p:cNvSpPr txBox="1"/>
          <p:nvPr/>
        </p:nvSpPr>
        <p:spPr>
          <a:xfrm>
            <a:off x="4784985" y="2983128"/>
            <a:ext cx="4087657" cy="423193"/>
          </a:xfrm>
          <a:prstGeom prst="rect">
            <a:avLst/>
          </a:prstGeom>
          <a:noFill/>
        </p:spPr>
        <p:txBody>
          <a:bodyPr vert="horz" wrap="none" lIns="0" tIns="0" rIns="0" bIns="0" rtlCol="0">
            <a:spAutoFit/>
          </a:bodyPr>
          <a:lstStyle/>
          <a:p>
            <a:pPr>
              <a:lnSpc>
                <a:spcPts val="3330"/>
              </a:lnSpc>
            </a:pPr>
            <a:r>
              <a:rPr lang="en-US" altLang="zh-CN" sz="3600" b="1" dirty="0">
                <a:solidFill>
                  <a:srgbClr val="502800"/>
                </a:solidFill>
                <a:latin typeface="Times New Roman"/>
              </a:rPr>
              <a:t>COSO</a:t>
            </a:r>
            <a:r>
              <a:rPr lang="zh-CN" altLang="en-US" sz="3600" b="1" dirty="0">
                <a:solidFill>
                  <a:srgbClr val="502800"/>
                </a:solidFill>
                <a:latin typeface="Times New Roman"/>
              </a:rPr>
              <a:t>內部控制體系</a:t>
            </a:r>
          </a:p>
        </p:txBody>
      </p:sp>
      <p:sp>
        <p:nvSpPr>
          <p:cNvPr id="4" name="TextBox 3"/>
          <p:cNvSpPr txBox="1"/>
          <p:nvPr/>
        </p:nvSpPr>
        <p:spPr>
          <a:xfrm>
            <a:off x="8067681" y="6285482"/>
            <a:ext cx="1477969" cy="461665"/>
          </a:xfrm>
          <a:prstGeom prst="rect">
            <a:avLst/>
          </a:prstGeom>
          <a:noFill/>
        </p:spPr>
        <p:txBody>
          <a:bodyPr vert="horz" wrap="none" lIns="0" tIns="0" rIns="0" bIns="0" rtlCol="0">
            <a:spAutoFit/>
          </a:bodyPr>
          <a:lstStyle/>
          <a:p>
            <a:pPr>
              <a:lnSpc>
                <a:spcPts val="1800"/>
              </a:lnSpc>
            </a:pPr>
            <a:r>
              <a:rPr lang="en-US" altLang="zh-CN" dirty="0" err="1">
                <a:solidFill>
                  <a:srgbClr val="000000"/>
                </a:solidFill>
                <a:latin typeface="Times New Roman"/>
              </a:rPr>
              <a:t>Pwc</a:t>
            </a:r>
            <a:endParaRPr lang="en-US" altLang="zh-CN" dirty="0">
              <a:solidFill>
                <a:srgbClr val="000000"/>
              </a:solidFill>
              <a:latin typeface="Times New Roman"/>
            </a:endParaRPr>
          </a:p>
          <a:p>
            <a:pPr>
              <a:lnSpc>
                <a:spcPts val="1779"/>
              </a:lnSpc>
            </a:pPr>
            <a:r>
              <a:rPr lang="zh-CN" altLang="en-US" sz="1478" dirty="0">
                <a:solidFill>
                  <a:srgbClr val="000000"/>
                </a:solidFill>
                <a:latin typeface="Times New Roman"/>
              </a:rPr>
              <a:t>普     華     永     道</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myslide4">
    <p:spTree>
      <p:nvGrpSpPr>
        <p:cNvPr id="1" name=""/>
        <p:cNvGrpSpPr/>
        <p:nvPr/>
      </p:nvGrpSpPr>
      <p:grpSpPr>
        <a:xfrm>
          <a:off x="0" y="0"/>
          <a:ext cx="0" cy="0"/>
          <a:chOff x="0" y="0"/>
          <a:chExt cx="0" cy="0"/>
        </a:xfrm>
      </p:grpSpPr>
      <p:pic>
        <p:nvPicPr>
          <p:cNvPr id="2" name="图片 1" descr="ws_189.tmp"/>
          <p:cNvPicPr>
            <a:picLocks/>
          </p:cNvPicPr>
          <p:nvPr/>
        </p:nvPicPr>
        <p:blipFill>
          <a:blip r:embed="rId2"/>
          <a:stretch>
            <a:fillRect/>
          </a:stretch>
        </p:blipFill>
        <p:spPr>
          <a:xfrm>
            <a:off x="0" y="0"/>
            <a:ext cx="9880600" cy="6819900"/>
          </a:xfrm>
          <a:prstGeom prst="rect">
            <a:avLst/>
          </a:prstGeom>
        </p:spPr>
      </p:pic>
      <p:sp>
        <p:nvSpPr>
          <p:cNvPr id="3" name="TextBox 2"/>
          <p:cNvSpPr txBox="1"/>
          <p:nvPr/>
        </p:nvSpPr>
        <p:spPr>
          <a:xfrm>
            <a:off x="509403" y="6341571"/>
            <a:ext cx="72136" cy="133370"/>
          </a:xfrm>
          <a:prstGeom prst="rect">
            <a:avLst/>
          </a:prstGeom>
          <a:noFill/>
        </p:spPr>
        <p:txBody>
          <a:bodyPr vert="horz" wrap="none" lIns="0" tIns="0" rIns="0" bIns="0" rtlCol="0">
            <a:spAutoFit/>
          </a:bodyPr>
          <a:lstStyle/>
          <a:p>
            <a:pPr>
              <a:lnSpc>
                <a:spcPts val="1016"/>
              </a:lnSpc>
            </a:pPr>
            <a:r>
              <a:rPr lang="en-US" altLang="zh-CN" sz="1098" dirty="0">
                <a:solidFill>
                  <a:srgbClr val="761437"/>
                </a:solidFill>
                <a:latin typeface="Times New Roman"/>
              </a:rPr>
              <a:t>4</a:t>
            </a:r>
            <a:endParaRPr lang="zh-CN" altLang="en-US" sz="1098" dirty="0">
              <a:solidFill>
                <a:srgbClr val="761437"/>
              </a:solidFill>
              <a:latin typeface="Times New Roman"/>
            </a:endParaRPr>
          </a:p>
        </p:txBody>
      </p:sp>
      <p:sp>
        <p:nvSpPr>
          <p:cNvPr id="4" name="TextBox 3"/>
          <p:cNvSpPr txBox="1"/>
          <p:nvPr/>
        </p:nvSpPr>
        <p:spPr>
          <a:xfrm>
            <a:off x="903358" y="507695"/>
            <a:ext cx="2769989" cy="461665"/>
          </a:xfrm>
          <a:prstGeom prst="rect">
            <a:avLst/>
          </a:prstGeom>
          <a:noFill/>
        </p:spPr>
        <p:txBody>
          <a:bodyPr vert="horz" wrap="none" lIns="0" tIns="0" rIns="0" bIns="0" rtlCol="0">
            <a:spAutoFit/>
          </a:bodyPr>
          <a:lstStyle/>
          <a:p>
            <a:pPr>
              <a:lnSpc>
                <a:spcPts val="3596"/>
              </a:lnSpc>
            </a:pPr>
            <a:r>
              <a:rPr lang="zh-CN" altLang="en-US" sz="3600" dirty="0">
                <a:solidFill>
                  <a:srgbClr val="FFFFFF"/>
                </a:solidFill>
                <a:latin typeface="Times New Roman"/>
              </a:rPr>
              <a:t>內部控制定義</a:t>
            </a:r>
          </a:p>
        </p:txBody>
      </p:sp>
      <p:sp>
        <p:nvSpPr>
          <p:cNvPr id="5" name="TextBox 4"/>
          <p:cNvSpPr txBox="1"/>
          <p:nvPr/>
        </p:nvSpPr>
        <p:spPr>
          <a:xfrm>
            <a:off x="4884807" y="1565198"/>
            <a:ext cx="4001095" cy="679673"/>
          </a:xfrm>
          <a:prstGeom prst="rect">
            <a:avLst/>
          </a:prstGeom>
          <a:noFill/>
        </p:spPr>
        <p:txBody>
          <a:bodyPr vert="horz" wrap="none" lIns="0" tIns="0" rIns="0" bIns="0" rtlCol="0">
            <a:spAutoFit/>
          </a:bodyPr>
          <a:lstStyle/>
          <a:p>
            <a:pPr>
              <a:lnSpc>
                <a:spcPts val="2398"/>
              </a:lnSpc>
            </a:pPr>
            <a:r>
              <a:rPr lang="zh-CN" altLang="en-US" sz="2400" dirty="0">
                <a:solidFill>
                  <a:srgbClr val="000000"/>
                </a:solidFill>
                <a:latin typeface="Times New Roman"/>
              </a:rPr>
              <a:t>每當提起內部控制，一般認為</a:t>
            </a:r>
          </a:p>
          <a:p>
            <a:pPr>
              <a:lnSpc>
                <a:spcPts val="2874"/>
              </a:lnSpc>
            </a:pPr>
            <a:r>
              <a:rPr lang="zh-CN" altLang="en-US" sz="2400" dirty="0">
                <a:solidFill>
                  <a:srgbClr val="000000"/>
                </a:solidFill>
                <a:latin typeface="Times New Roman"/>
              </a:rPr>
              <a:t>它包括以下幾方面：</a:t>
            </a:r>
          </a:p>
        </p:txBody>
      </p:sp>
      <p:sp>
        <p:nvSpPr>
          <p:cNvPr id="6" name="TextBox 5"/>
          <p:cNvSpPr txBox="1"/>
          <p:nvPr/>
        </p:nvSpPr>
        <p:spPr>
          <a:xfrm>
            <a:off x="4909953" y="2990900"/>
            <a:ext cx="1492396" cy="795089"/>
          </a:xfrm>
          <a:prstGeom prst="rect">
            <a:avLst/>
          </a:prstGeom>
          <a:noFill/>
        </p:spPr>
        <p:txBody>
          <a:bodyPr vert="horz" wrap="none" lIns="0" tIns="0" rIns="0" bIns="0" rtlCol="0">
            <a:spAutoFit/>
          </a:bodyPr>
          <a:lstStyle/>
          <a:p>
            <a:pPr>
              <a:lnSpc>
                <a:spcPts val="2582"/>
              </a:lnSpc>
            </a:pPr>
            <a:r>
              <a:rPr lang="en-US" altLang="zh-CN" sz="2400" dirty="0">
                <a:solidFill>
                  <a:srgbClr val="761437"/>
                </a:solidFill>
                <a:latin typeface="Times New Roman"/>
              </a:rPr>
              <a:t>•  </a:t>
            </a:r>
            <a:r>
              <a:rPr lang="zh-CN" altLang="en-US" sz="2400" dirty="0">
                <a:solidFill>
                  <a:srgbClr val="000000"/>
                </a:solidFill>
                <a:latin typeface="Times New Roman"/>
              </a:rPr>
              <a:t>成本控制</a:t>
            </a:r>
          </a:p>
          <a:p>
            <a:pPr>
              <a:lnSpc>
                <a:spcPts val="1000"/>
              </a:lnSpc>
            </a:pPr>
            <a:endParaRPr lang="zh-CN" altLang="en-US" sz="2400" dirty="0">
              <a:solidFill>
                <a:srgbClr val="000000"/>
              </a:solidFill>
              <a:latin typeface="Times New Roman"/>
            </a:endParaRPr>
          </a:p>
          <a:p>
            <a:pPr>
              <a:lnSpc>
                <a:spcPts val="2600"/>
              </a:lnSpc>
            </a:pPr>
            <a:r>
              <a:rPr lang="en-US" altLang="zh-CN" sz="2400" dirty="0">
                <a:solidFill>
                  <a:srgbClr val="761437"/>
                </a:solidFill>
                <a:latin typeface="Times New Roman"/>
              </a:rPr>
              <a:t>•  </a:t>
            </a:r>
            <a:r>
              <a:rPr lang="zh-CN" altLang="en-US" sz="2400" dirty="0">
                <a:solidFill>
                  <a:srgbClr val="000000"/>
                </a:solidFill>
                <a:latin typeface="Times New Roman"/>
              </a:rPr>
              <a:t>反欺詐</a:t>
            </a:r>
          </a:p>
        </p:txBody>
      </p:sp>
      <p:sp>
        <p:nvSpPr>
          <p:cNvPr id="7" name="TextBox 6"/>
          <p:cNvSpPr txBox="1"/>
          <p:nvPr/>
        </p:nvSpPr>
        <p:spPr>
          <a:xfrm>
            <a:off x="4909953" y="3879392"/>
            <a:ext cx="4610236" cy="333425"/>
          </a:xfrm>
          <a:prstGeom prst="rect">
            <a:avLst/>
          </a:prstGeom>
          <a:noFill/>
        </p:spPr>
        <p:txBody>
          <a:bodyPr vert="horz" wrap="none" lIns="0" tIns="0" rIns="0" bIns="0" rtlCol="0">
            <a:spAutoFit/>
          </a:bodyPr>
          <a:lstStyle/>
          <a:p>
            <a:pPr>
              <a:lnSpc>
                <a:spcPts val="2582"/>
              </a:lnSpc>
            </a:pPr>
            <a:r>
              <a:rPr lang="en-US" altLang="zh-CN" sz="2400" dirty="0">
                <a:solidFill>
                  <a:srgbClr val="761437"/>
                </a:solidFill>
                <a:latin typeface="Times New Roman"/>
              </a:rPr>
              <a:t>•  </a:t>
            </a:r>
            <a:r>
              <a:rPr lang="zh-CN" altLang="en-US" sz="2400" dirty="0">
                <a:solidFill>
                  <a:srgbClr val="000000"/>
                </a:solidFill>
                <a:latin typeface="Times New Roman"/>
              </a:rPr>
              <a:t>加強控制 </a:t>
            </a:r>
            <a:r>
              <a:rPr lang="en-US" altLang="zh-CN" sz="2400" b="1" dirty="0">
                <a:solidFill>
                  <a:srgbClr val="000000"/>
                </a:solidFill>
                <a:latin typeface="Times New Roman"/>
              </a:rPr>
              <a:t>= </a:t>
            </a:r>
            <a:r>
              <a:rPr lang="zh-CN" altLang="en-US" sz="2400" dirty="0">
                <a:solidFill>
                  <a:srgbClr val="000000"/>
                </a:solidFill>
                <a:latin typeface="Times New Roman"/>
              </a:rPr>
              <a:t>官僚作風 </a:t>
            </a:r>
            <a:r>
              <a:rPr lang="en-US" altLang="zh-CN" sz="2400" b="1" dirty="0">
                <a:solidFill>
                  <a:srgbClr val="000000"/>
                </a:solidFill>
                <a:latin typeface="Times New Roman"/>
              </a:rPr>
              <a:t>= </a:t>
            </a:r>
            <a:r>
              <a:rPr lang="zh-CN" altLang="en-US" sz="2400" dirty="0">
                <a:solidFill>
                  <a:srgbClr val="000000"/>
                </a:solidFill>
                <a:latin typeface="Times New Roman"/>
              </a:rPr>
              <a:t>降低運作</a:t>
            </a:r>
          </a:p>
        </p:txBody>
      </p:sp>
      <p:sp>
        <p:nvSpPr>
          <p:cNvPr id="8" name="TextBox 7"/>
          <p:cNvSpPr txBox="1"/>
          <p:nvPr/>
        </p:nvSpPr>
        <p:spPr>
          <a:xfrm>
            <a:off x="5176666" y="4317542"/>
            <a:ext cx="3077766" cy="333425"/>
          </a:xfrm>
          <a:prstGeom prst="rect">
            <a:avLst/>
          </a:prstGeom>
          <a:noFill/>
        </p:spPr>
        <p:txBody>
          <a:bodyPr vert="horz" wrap="none" lIns="0" tIns="0" rIns="0" bIns="0" rtlCol="0">
            <a:spAutoFit/>
          </a:bodyPr>
          <a:lstStyle/>
          <a:p>
            <a:pPr>
              <a:lnSpc>
                <a:spcPts val="2582"/>
              </a:lnSpc>
            </a:pPr>
            <a:r>
              <a:rPr lang="zh-CN" altLang="en-US" sz="2400" dirty="0">
                <a:solidFill>
                  <a:srgbClr val="000000"/>
                </a:solidFill>
                <a:latin typeface="Times New Roman"/>
              </a:rPr>
              <a:t>的靈活性 </a:t>
            </a:r>
            <a:r>
              <a:rPr lang="en-US" altLang="zh-CN" sz="2400" b="1" dirty="0">
                <a:solidFill>
                  <a:srgbClr val="000000"/>
                </a:solidFill>
                <a:latin typeface="Times New Roman"/>
              </a:rPr>
              <a:t>= </a:t>
            </a:r>
            <a:r>
              <a:rPr lang="zh-CN" altLang="en-US" sz="2400" dirty="0">
                <a:solidFill>
                  <a:srgbClr val="000000"/>
                </a:solidFill>
                <a:latin typeface="Times New Roman"/>
              </a:rPr>
              <a:t>更差的業績</a:t>
            </a:r>
          </a:p>
        </p:txBody>
      </p:sp>
      <p:sp>
        <p:nvSpPr>
          <p:cNvPr id="9" name="TextBox 8"/>
          <p:cNvSpPr txBox="1"/>
          <p:nvPr/>
        </p:nvSpPr>
        <p:spPr>
          <a:xfrm>
            <a:off x="4909953" y="4810368"/>
            <a:ext cx="4576574" cy="436017"/>
          </a:xfrm>
          <a:prstGeom prst="rect">
            <a:avLst/>
          </a:prstGeom>
          <a:noFill/>
        </p:spPr>
        <p:txBody>
          <a:bodyPr vert="horz" wrap="none" lIns="0" tIns="0" rIns="0" bIns="0" rtlCol="0">
            <a:spAutoFit/>
          </a:bodyPr>
          <a:lstStyle/>
          <a:p>
            <a:pPr>
              <a:lnSpc>
                <a:spcPts val="3441"/>
              </a:lnSpc>
            </a:pPr>
            <a:r>
              <a:rPr lang="en-US" altLang="zh-CN" sz="3198" dirty="0">
                <a:solidFill>
                  <a:srgbClr val="761437"/>
                </a:solidFill>
                <a:latin typeface="Times New Roman"/>
              </a:rPr>
              <a:t>• </a:t>
            </a:r>
            <a:r>
              <a:rPr lang="zh-CN" altLang="en-US" sz="3198" dirty="0">
                <a:solidFill>
                  <a:srgbClr val="000000"/>
                </a:solidFill>
                <a:latin typeface="Times New Roman"/>
              </a:rPr>
              <a:t>但這不是現代內部控制 </a:t>
            </a:r>
            <a:r>
              <a:rPr lang="en-US" altLang="zh-CN" sz="3198" b="1" dirty="0">
                <a:solidFill>
                  <a:srgbClr val="000000"/>
                </a:solidFill>
                <a:latin typeface="Times New Roman"/>
              </a:rPr>
              <a:t>!</a:t>
            </a:r>
            <a:endParaRPr lang="zh-CN" altLang="en-US" sz="3198" b="1" dirty="0">
              <a:solidFill>
                <a:srgbClr val="000000"/>
              </a:solidFill>
              <a:latin typeface="Times New Roman"/>
            </a:endParaRPr>
          </a:p>
        </p:txBody>
      </p:sp>
      <p:sp>
        <p:nvSpPr>
          <p:cNvPr id="10" name="TextBox 9"/>
          <p:cNvSpPr txBox="1"/>
          <p:nvPr/>
        </p:nvSpPr>
        <p:spPr>
          <a:xfrm>
            <a:off x="8067681" y="6285482"/>
            <a:ext cx="1477969" cy="461665"/>
          </a:xfrm>
          <a:prstGeom prst="rect">
            <a:avLst/>
          </a:prstGeom>
          <a:noFill/>
        </p:spPr>
        <p:txBody>
          <a:bodyPr vert="horz" wrap="none" lIns="0" tIns="0" rIns="0" bIns="0" rtlCol="0">
            <a:spAutoFit/>
          </a:bodyPr>
          <a:lstStyle/>
          <a:p>
            <a:pPr>
              <a:lnSpc>
                <a:spcPts val="1800"/>
              </a:lnSpc>
            </a:pPr>
            <a:r>
              <a:rPr lang="en-US" altLang="zh-CN" dirty="0" err="1">
                <a:solidFill>
                  <a:srgbClr val="000000"/>
                </a:solidFill>
                <a:latin typeface="Times New Roman"/>
              </a:rPr>
              <a:t>Pwc</a:t>
            </a:r>
            <a:endParaRPr lang="en-US" altLang="zh-CN" dirty="0">
              <a:solidFill>
                <a:srgbClr val="000000"/>
              </a:solidFill>
              <a:latin typeface="Times New Roman"/>
            </a:endParaRPr>
          </a:p>
          <a:p>
            <a:pPr>
              <a:lnSpc>
                <a:spcPts val="1779"/>
              </a:lnSpc>
            </a:pPr>
            <a:r>
              <a:rPr lang="zh-CN" altLang="en-US" sz="1478" dirty="0">
                <a:solidFill>
                  <a:srgbClr val="000000"/>
                </a:solidFill>
                <a:latin typeface="Times New Roman"/>
              </a:rPr>
              <a:t>普     華     永     道</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myslide5">
    <p:spTree>
      <p:nvGrpSpPr>
        <p:cNvPr id="1" name=""/>
        <p:cNvGrpSpPr/>
        <p:nvPr/>
      </p:nvGrpSpPr>
      <p:grpSpPr>
        <a:xfrm>
          <a:off x="0" y="0"/>
          <a:ext cx="0" cy="0"/>
          <a:chOff x="0" y="0"/>
          <a:chExt cx="0" cy="0"/>
        </a:xfrm>
      </p:grpSpPr>
      <p:pic>
        <p:nvPicPr>
          <p:cNvPr id="2" name="图片 1" descr="ws_18B.tmp"/>
          <p:cNvPicPr>
            <a:picLocks/>
          </p:cNvPicPr>
          <p:nvPr/>
        </p:nvPicPr>
        <p:blipFill>
          <a:blip r:embed="rId2"/>
          <a:stretch>
            <a:fillRect/>
          </a:stretch>
        </p:blipFill>
        <p:spPr>
          <a:xfrm>
            <a:off x="0" y="0"/>
            <a:ext cx="9880600" cy="6819900"/>
          </a:xfrm>
          <a:prstGeom prst="rect">
            <a:avLst/>
          </a:prstGeom>
        </p:spPr>
      </p:pic>
      <p:sp>
        <p:nvSpPr>
          <p:cNvPr id="3" name="TextBox 2"/>
          <p:cNvSpPr txBox="1"/>
          <p:nvPr/>
        </p:nvSpPr>
        <p:spPr>
          <a:xfrm>
            <a:off x="509403" y="6341571"/>
            <a:ext cx="72136" cy="133370"/>
          </a:xfrm>
          <a:prstGeom prst="rect">
            <a:avLst/>
          </a:prstGeom>
          <a:noFill/>
        </p:spPr>
        <p:txBody>
          <a:bodyPr vert="horz" wrap="none" lIns="0" tIns="0" rIns="0" bIns="0" rtlCol="0">
            <a:spAutoFit/>
          </a:bodyPr>
          <a:lstStyle/>
          <a:p>
            <a:pPr>
              <a:lnSpc>
                <a:spcPts val="1016"/>
              </a:lnSpc>
            </a:pPr>
            <a:r>
              <a:rPr lang="en-US" altLang="zh-CN" sz="1098" dirty="0">
                <a:solidFill>
                  <a:srgbClr val="761437"/>
                </a:solidFill>
                <a:latin typeface="Times New Roman"/>
              </a:rPr>
              <a:t>5</a:t>
            </a:r>
            <a:endParaRPr lang="zh-CN" altLang="en-US" sz="1098" dirty="0">
              <a:solidFill>
                <a:srgbClr val="761437"/>
              </a:solidFill>
              <a:latin typeface="Times New Roman"/>
            </a:endParaRPr>
          </a:p>
        </p:txBody>
      </p:sp>
      <p:sp>
        <p:nvSpPr>
          <p:cNvPr id="4" name="TextBox 3"/>
          <p:cNvSpPr txBox="1"/>
          <p:nvPr/>
        </p:nvSpPr>
        <p:spPr>
          <a:xfrm>
            <a:off x="903358" y="507695"/>
            <a:ext cx="2769989" cy="461665"/>
          </a:xfrm>
          <a:prstGeom prst="rect">
            <a:avLst/>
          </a:prstGeom>
          <a:noFill/>
        </p:spPr>
        <p:txBody>
          <a:bodyPr vert="horz" wrap="none" lIns="0" tIns="0" rIns="0" bIns="0" rtlCol="0">
            <a:spAutoFit/>
          </a:bodyPr>
          <a:lstStyle/>
          <a:p>
            <a:pPr>
              <a:lnSpc>
                <a:spcPts val="3596"/>
              </a:lnSpc>
            </a:pPr>
            <a:r>
              <a:rPr lang="zh-CN" altLang="en-US" sz="3600" dirty="0">
                <a:solidFill>
                  <a:srgbClr val="FFFFFF"/>
                </a:solidFill>
                <a:latin typeface="Times New Roman"/>
              </a:rPr>
              <a:t>內部控制定義</a:t>
            </a:r>
          </a:p>
        </p:txBody>
      </p:sp>
      <p:sp>
        <p:nvSpPr>
          <p:cNvPr id="5" name="TextBox 4"/>
          <p:cNvSpPr txBox="1"/>
          <p:nvPr/>
        </p:nvSpPr>
        <p:spPr>
          <a:xfrm>
            <a:off x="741802" y="1700541"/>
            <a:ext cx="8531182" cy="897682"/>
          </a:xfrm>
          <a:prstGeom prst="rect">
            <a:avLst/>
          </a:prstGeom>
          <a:noFill/>
        </p:spPr>
        <p:txBody>
          <a:bodyPr vert="horz" wrap="none" lIns="0" tIns="0" rIns="0" bIns="0" rtlCol="0">
            <a:spAutoFit/>
          </a:bodyPr>
          <a:lstStyle/>
          <a:p>
            <a:pPr>
              <a:lnSpc>
                <a:spcPts val="2959"/>
              </a:lnSpc>
            </a:pPr>
            <a:r>
              <a:rPr lang="zh-CN" altLang="en-US" sz="2961" dirty="0">
                <a:solidFill>
                  <a:srgbClr val="000000"/>
                </a:solidFill>
                <a:latin typeface="Times New Roman"/>
              </a:rPr>
              <a:t>內部控制  </a:t>
            </a:r>
            <a:r>
              <a:rPr lang="zh-CN" altLang="en-US" sz="2802" dirty="0">
                <a:solidFill>
                  <a:srgbClr val="000000"/>
                </a:solidFill>
                <a:latin typeface="Times New Roman"/>
              </a:rPr>
              <a:t>是由公司董事會批准，管理層和其他有關人</a:t>
            </a:r>
          </a:p>
          <a:p>
            <a:pPr>
              <a:lnSpc>
                <a:spcPts val="1000"/>
              </a:lnSpc>
            </a:pPr>
            <a:endParaRPr lang="zh-CN" altLang="en-US" sz="2802" dirty="0">
              <a:solidFill>
                <a:srgbClr val="000000"/>
              </a:solidFill>
              <a:latin typeface="Times New Roman"/>
            </a:endParaRPr>
          </a:p>
          <a:p>
            <a:pPr>
              <a:lnSpc>
                <a:spcPts val="3016"/>
              </a:lnSpc>
            </a:pPr>
            <a:r>
              <a:rPr lang="zh-CN" altLang="en-US" sz="2802" dirty="0">
                <a:solidFill>
                  <a:srgbClr val="000000"/>
                </a:solidFill>
                <a:latin typeface="Times New Roman"/>
              </a:rPr>
              <a:t>實施，為達到以下目標而提供合理保證的程</a:t>
            </a:r>
            <a:r>
              <a:rPr lang="zh-TW" altLang="en-US" sz="2802" dirty="0">
                <a:solidFill>
                  <a:srgbClr val="000000"/>
                </a:solidFill>
                <a:latin typeface="Times New Roman"/>
              </a:rPr>
              <a:t>序</a:t>
            </a:r>
            <a:r>
              <a:rPr lang="zh-CN" altLang="en-US" sz="2802" dirty="0">
                <a:solidFill>
                  <a:srgbClr val="000000"/>
                </a:solidFill>
                <a:latin typeface="Times New Roman"/>
              </a:rPr>
              <a:t>：</a:t>
            </a:r>
          </a:p>
        </p:txBody>
      </p:sp>
      <p:sp>
        <p:nvSpPr>
          <p:cNvPr id="6" name="TextBox 5"/>
          <p:cNvSpPr txBox="1"/>
          <p:nvPr/>
        </p:nvSpPr>
        <p:spPr>
          <a:xfrm>
            <a:off x="856114" y="2863092"/>
            <a:ext cx="2385268" cy="282129"/>
          </a:xfrm>
          <a:prstGeom prst="rect">
            <a:avLst/>
          </a:prstGeom>
          <a:noFill/>
        </p:spPr>
        <p:txBody>
          <a:bodyPr vert="horz" wrap="none" lIns="0" tIns="0" rIns="0" bIns="0" rtlCol="0">
            <a:spAutoFit/>
          </a:bodyPr>
          <a:lstStyle/>
          <a:p>
            <a:pPr>
              <a:lnSpc>
                <a:spcPts val="2228"/>
              </a:lnSpc>
            </a:pPr>
            <a:r>
              <a:rPr lang="en-US" altLang="zh-CN" sz="1998" dirty="0">
                <a:solidFill>
                  <a:srgbClr val="761437"/>
                </a:solidFill>
                <a:latin typeface="Times New Roman"/>
              </a:rPr>
              <a:t>•  </a:t>
            </a:r>
            <a:r>
              <a:rPr lang="zh-CN" altLang="en-US" sz="2112" dirty="0">
                <a:solidFill>
                  <a:srgbClr val="000000"/>
                </a:solidFill>
                <a:latin typeface="Times New Roman"/>
              </a:rPr>
              <a:t>經營的效率和效果</a:t>
            </a:r>
          </a:p>
        </p:txBody>
      </p:sp>
      <p:sp>
        <p:nvSpPr>
          <p:cNvPr id="7" name="TextBox 6"/>
          <p:cNvSpPr txBox="1"/>
          <p:nvPr/>
        </p:nvSpPr>
        <p:spPr>
          <a:xfrm>
            <a:off x="1656213" y="3183834"/>
            <a:ext cx="6492162" cy="218008"/>
          </a:xfrm>
          <a:prstGeom prst="rect">
            <a:avLst/>
          </a:prstGeom>
          <a:noFill/>
        </p:spPr>
        <p:txBody>
          <a:bodyPr vert="horz" wrap="none" lIns="0" tIns="0" rIns="0" bIns="0" rtlCol="0">
            <a:spAutoFit/>
          </a:bodyPr>
          <a:lstStyle/>
          <a:p>
            <a:pPr>
              <a:lnSpc>
                <a:spcPts val="1691"/>
              </a:lnSpc>
            </a:pPr>
            <a:r>
              <a:rPr lang="zh-CN" altLang="en-US" sz="1693" dirty="0">
                <a:solidFill>
                  <a:srgbClr val="000000"/>
                </a:solidFill>
                <a:latin typeface="Times New Roman"/>
              </a:rPr>
              <a:t>強調公司的基本經營目標，包括績效和利潤目標及資源的安全可靠性</a:t>
            </a:r>
          </a:p>
        </p:txBody>
      </p:sp>
      <p:sp>
        <p:nvSpPr>
          <p:cNvPr id="8" name="TextBox 7"/>
          <p:cNvSpPr txBox="1"/>
          <p:nvPr/>
        </p:nvSpPr>
        <p:spPr>
          <a:xfrm>
            <a:off x="856114" y="3737868"/>
            <a:ext cx="2385268" cy="282129"/>
          </a:xfrm>
          <a:prstGeom prst="rect">
            <a:avLst/>
          </a:prstGeom>
          <a:noFill/>
        </p:spPr>
        <p:txBody>
          <a:bodyPr vert="horz" wrap="none" lIns="0" tIns="0" rIns="0" bIns="0" rtlCol="0">
            <a:spAutoFit/>
          </a:bodyPr>
          <a:lstStyle/>
          <a:p>
            <a:pPr>
              <a:lnSpc>
                <a:spcPts val="2228"/>
              </a:lnSpc>
            </a:pPr>
            <a:r>
              <a:rPr lang="en-US" altLang="zh-CN" sz="1998" dirty="0">
                <a:solidFill>
                  <a:srgbClr val="761437"/>
                </a:solidFill>
                <a:latin typeface="Times New Roman"/>
              </a:rPr>
              <a:t>•  </a:t>
            </a:r>
            <a:r>
              <a:rPr lang="zh-CN" altLang="en-US" sz="2112" dirty="0">
                <a:solidFill>
                  <a:srgbClr val="000000"/>
                </a:solidFill>
                <a:latin typeface="Times New Roman"/>
              </a:rPr>
              <a:t>財務報告的可靠性</a:t>
            </a:r>
          </a:p>
        </p:txBody>
      </p:sp>
      <p:sp>
        <p:nvSpPr>
          <p:cNvPr id="9" name="TextBox 8"/>
          <p:cNvSpPr txBox="1"/>
          <p:nvPr/>
        </p:nvSpPr>
        <p:spPr>
          <a:xfrm>
            <a:off x="1656213" y="4058610"/>
            <a:ext cx="4111703" cy="218008"/>
          </a:xfrm>
          <a:prstGeom prst="rect">
            <a:avLst/>
          </a:prstGeom>
          <a:noFill/>
        </p:spPr>
        <p:txBody>
          <a:bodyPr vert="horz" wrap="none" lIns="0" tIns="0" rIns="0" bIns="0" rtlCol="0">
            <a:spAutoFit/>
          </a:bodyPr>
          <a:lstStyle/>
          <a:p>
            <a:pPr>
              <a:lnSpc>
                <a:spcPts val="1691"/>
              </a:lnSpc>
            </a:pPr>
            <a:r>
              <a:rPr lang="zh-CN" altLang="en-US" sz="1693" dirty="0">
                <a:solidFill>
                  <a:srgbClr val="000000"/>
                </a:solidFill>
                <a:latin typeface="Times New Roman"/>
              </a:rPr>
              <a:t>包括可靠的財務報表及其他財務資訊的準備</a:t>
            </a:r>
          </a:p>
        </p:txBody>
      </p:sp>
      <p:sp>
        <p:nvSpPr>
          <p:cNvPr id="10" name="TextBox 9"/>
          <p:cNvSpPr txBox="1"/>
          <p:nvPr/>
        </p:nvSpPr>
        <p:spPr>
          <a:xfrm>
            <a:off x="856114" y="4612644"/>
            <a:ext cx="2656176" cy="282129"/>
          </a:xfrm>
          <a:prstGeom prst="rect">
            <a:avLst/>
          </a:prstGeom>
          <a:noFill/>
        </p:spPr>
        <p:txBody>
          <a:bodyPr vert="horz" wrap="none" lIns="0" tIns="0" rIns="0" bIns="0" rtlCol="0">
            <a:spAutoFit/>
          </a:bodyPr>
          <a:lstStyle/>
          <a:p>
            <a:pPr>
              <a:lnSpc>
                <a:spcPts val="2228"/>
              </a:lnSpc>
            </a:pPr>
            <a:r>
              <a:rPr lang="en-US" altLang="zh-CN" sz="1998" dirty="0">
                <a:solidFill>
                  <a:srgbClr val="761437"/>
                </a:solidFill>
                <a:latin typeface="Times New Roman"/>
              </a:rPr>
              <a:t>•  </a:t>
            </a:r>
            <a:r>
              <a:rPr lang="zh-CN" altLang="en-US" sz="2112" dirty="0">
                <a:solidFill>
                  <a:srgbClr val="000000"/>
                </a:solidFill>
                <a:latin typeface="Times New Roman"/>
              </a:rPr>
              <a:t>法律及法規的合規性</a:t>
            </a:r>
          </a:p>
        </p:txBody>
      </p:sp>
      <p:sp>
        <p:nvSpPr>
          <p:cNvPr id="11" name="TextBox 10"/>
          <p:cNvSpPr txBox="1"/>
          <p:nvPr/>
        </p:nvSpPr>
        <p:spPr>
          <a:xfrm>
            <a:off x="1656213" y="4933386"/>
            <a:ext cx="6492162" cy="218008"/>
          </a:xfrm>
          <a:prstGeom prst="rect">
            <a:avLst/>
          </a:prstGeom>
          <a:noFill/>
        </p:spPr>
        <p:txBody>
          <a:bodyPr vert="horz" wrap="none" lIns="0" tIns="0" rIns="0" bIns="0" rtlCol="0">
            <a:spAutoFit/>
          </a:bodyPr>
          <a:lstStyle/>
          <a:p>
            <a:pPr>
              <a:lnSpc>
                <a:spcPts val="1691"/>
              </a:lnSpc>
            </a:pPr>
            <a:r>
              <a:rPr lang="zh-CN" altLang="en-US" sz="1693" dirty="0">
                <a:solidFill>
                  <a:srgbClr val="000000"/>
                </a:solidFill>
                <a:latin typeface="Times New Roman"/>
              </a:rPr>
              <a:t>包括公司必須遵守的法律、法規，以維護良好的信譽，避免負面影響</a:t>
            </a:r>
          </a:p>
        </p:txBody>
      </p:sp>
      <p:sp>
        <p:nvSpPr>
          <p:cNvPr id="12" name="TextBox 11"/>
          <p:cNvSpPr txBox="1"/>
          <p:nvPr/>
        </p:nvSpPr>
        <p:spPr>
          <a:xfrm>
            <a:off x="5775585" y="5443402"/>
            <a:ext cx="3930563" cy="230832"/>
          </a:xfrm>
          <a:prstGeom prst="rect">
            <a:avLst/>
          </a:prstGeom>
          <a:noFill/>
        </p:spPr>
        <p:txBody>
          <a:bodyPr vert="horz" wrap="none" lIns="0" tIns="0" rIns="0" bIns="0" rtlCol="0">
            <a:spAutoFit/>
          </a:bodyPr>
          <a:lstStyle/>
          <a:p>
            <a:pPr>
              <a:lnSpc>
                <a:spcPts val="1848"/>
              </a:lnSpc>
            </a:pPr>
            <a:r>
              <a:rPr lang="en-US" altLang="zh-CN" sz="1998" b="1" dirty="0">
                <a:solidFill>
                  <a:srgbClr val="000000"/>
                </a:solidFill>
                <a:latin typeface="Times New Roman"/>
              </a:rPr>
              <a:t>——COSO</a:t>
            </a:r>
            <a:r>
              <a:rPr lang="zh-CN" altLang="en-US" sz="1998" b="1" dirty="0">
                <a:solidFill>
                  <a:srgbClr val="000000"/>
                </a:solidFill>
                <a:latin typeface="Times New Roman"/>
              </a:rPr>
              <a:t>及美國審計準則第</a:t>
            </a:r>
            <a:r>
              <a:rPr lang="en-US" altLang="zh-CN" sz="1998" b="1" dirty="0">
                <a:solidFill>
                  <a:srgbClr val="000000"/>
                </a:solidFill>
                <a:latin typeface="Times New Roman"/>
              </a:rPr>
              <a:t>319</a:t>
            </a:r>
            <a:r>
              <a:rPr lang="zh-CN" altLang="en-US" sz="1998" b="1" dirty="0">
                <a:solidFill>
                  <a:srgbClr val="000000"/>
                </a:solidFill>
                <a:latin typeface="Times New Roman"/>
              </a:rPr>
              <a:t>條</a:t>
            </a:r>
          </a:p>
        </p:txBody>
      </p:sp>
      <p:sp>
        <p:nvSpPr>
          <p:cNvPr id="13" name="TextBox 12"/>
          <p:cNvSpPr txBox="1"/>
          <p:nvPr/>
        </p:nvSpPr>
        <p:spPr>
          <a:xfrm>
            <a:off x="8067681" y="6285482"/>
            <a:ext cx="1477969" cy="461665"/>
          </a:xfrm>
          <a:prstGeom prst="rect">
            <a:avLst/>
          </a:prstGeom>
          <a:noFill/>
        </p:spPr>
        <p:txBody>
          <a:bodyPr vert="horz" wrap="none" lIns="0" tIns="0" rIns="0" bIns="0" rtlCol="0">
            <a:spAutoFit/>
          </a:bodyPr>
          <a:lstStyle/>
          <a:p>
            <a:pPr>
              <a:lnSpc>
                <a:spcPts val="1800"/>
              </a:lnSpc>
            </a:pPr>
            <a:r>
              <a:rPr lang="en-US" altLang="zh-CN" dirty="0" err="1">
                <a:solidFill>
                  <a:srgbClr val="000000"/>
                </a:solidFill>
                <a:latin typeface="Times New Roman"/>
              </a:rPr>
              <a:t>Pwc</a:t>
            </a:r>
            <a:endParaRPr lang="en-US" altLang="zh-CN" dirty="0">
              <a:solidFill>
                <a:srgbClr val="000000"/>
              </a:solidFill>
              <a:latin typeface="Times New Roman"/>
            </a:endParaRPr>
          </a:p>
          <a:p>
            <a:pPr>
              <a:lnSpc>
                <a:spcPts val="1779"/>
              </a:lnSpc>
            </a:pPr>
            <a:r>
              <a:rPr lang="zh-CN" altLang="en-US" sz="1478" dirty="0">
                <a:solidFill>
                  <a:srgbClr val="000000"/>
                </a:solidFill>
                <a:latin typeface="Times New Roman"/>
              </a:rPr>
              <a:t>普     華     永     道</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myslide6">
    <p:spTree>
      <p:nvGrpSpPr>
        <p:cNvPr id="1" name=""/>
        <p:cNvGrpSpPr/>
        <p:nvPr/>
      </p:nvGrpSpPr>
      <p:grpSpPr>
        <a:xfrm>
          <a:off x="0" y="0"/>
          <a:ext cx="0" cy="0"/>
          <a:chOff x="0" y="0"/>
          <a:chExt cx="0" cy="0"/>
        </a:xfrm>
      </p:grpSpPr>
      <p:pic>
        <p:nvPicPr>
          <p:cNvPr id="2" name="图片 1" descr="ws_18D.tmp"/>
          <p:cNvPicPr>
            <a:picLocks/>
          </p:cNvPicPr>
          <p:nvPr/>
        </p:nvPicPr>
        <p:blipFill>
          <a:blip r:embed="rId2"/>
          <a:stretch>
            <a:fillRect/>
          </a:stretch>
        </p:blipFill>
        <p:spPr>
          <a:xfrm>
            <a:off x="0" y="0"/>
            <a:ext cx="9880600" cy="6819900"/>
          </a:xfrm>
          <a:prstGeom prst="rect">
            <a:avLst/>
          </a:prstGeom>
        </p:spPr>
      </p:pic>
      <p:sp>
        <p:nvSpPr>
          <p:cNvPr id="3" name="TextBox 2"/>
          <p:cNvSpPr txBox="1"/>
          <p:nvPr/>
        </p:nvSpPr>
        <p:spPr>
          <a:xfrm>
            <a:off x="509403" y="6341571"/>
            <a:ext cx="72136" cy="133370"/>
          </a:xfrm>
          <a:prstGeom prst="rect">
            <a:avLst/>
          </a:prstGeom>
          <a:noFill/>
        </p:spPr>
        <p:txBody>
          <a:bodyPr vert="horz" wrap="none" lIns="0" tIns="0" rIns="0" bIns="0" rtlCol="0">
            <a:spAutoFit/>
          </a:bodyPr>
          <a:lstStyle/>
          <a:p>
            <a:pPr>
              <a:lnSpc>
                <a:spcPts val="1016"/>
              </a:lnSpc>
            </a:pPr>
            <a:r>
              <a:rPr lang="en-US" altLang="zh-CN" sz="1098" dirty="0">
                <a:solidFill>
                  <a:srgbClr val="761437"/>
                </a:solidFill>
                <a:latin typeface="Times New Roman"/>
              </a:rPr>
              <a:t>6</a:t>
            </a:r>
            <a:endParaRPr lang="zh-CN" altLang="en-US" sz="1098" dirty="0">
              <a:solidFill>
                <a:srgbClr val="761437"/>
              </a:solidFill>
              <a:latin typeface="Times New Roman"/>
            </a:endParaRPr>
          </a:p>
        </p:txBody>
      </p:sp>
      <p:sp>
        <p:nvSpPr>
          <p:cNvPr id="4" name="TextBox 3"/>
          <p:cNvSpPr txBox="1"/>
          <p:nvPr/>
        </p:nvSpPr>
        <p:spPr>
          <a:xfrm>
            <a:off x="903358" y="478739"/>
            <a:ext cx="4539704" cy="500137"/>
          </a:xfrm>
          <a:prstGeom prst="rect">
            <a:avLst/>
          </a:prstGeom>
          <a:noFill/>
        </p:spPr>
        <p:txBody>
          <a:bodyPr vert="horz" wrap="none" lIns="0" tIns="0" rIns="0" bIns="0" rtlCol="0">
            <a:spAutoFit/>
          </a:bodyPr>
          <a:lstStyle/>
          <a:p>
            <a:pPr>
              <a:lnSpc>
                <a:spcPts val="3874"/>
              </a:lnSpc>
            </a:pPr>
            <a:r>
              <a:rPr lang="zh-CN" altLang="en-US" sz="3600" dirty="0">
                <a:solidFill>
                  <a:srgbClr val="FFFFFF"/>
                </a:solidFill>
                <a:latin typeface="Times New Roman"/>
              </a:rPr>
              <a:t>內部控制體系 </a:t>
            </a:r>
            <a:r>
              <a:rPr lang="en-US" altLang="zh-CN" sz="3600" b="1" dirty="0">
                <a:solidFill>
                  <a:srgbClr val="FFFFFF"/>
                </a:solidFill>
                <a:latin typeface="Times New Roman"/>
              </a:rPr>
              <a:t>– COSO</a:t>
            </a:r>
            <a:endParaRPr lang="zh-CN" altLang="en-US" sz="3600" b="1" dirty="0">
              <a:solidFill>
                <a:srgbClr val="FFFFFF"/>
              </a:solidFill>
              <a:latin typeface="Times New Roman"/>
            </a:endParaRPr>
          </a:p>
        </p:txBody>
      </p:sp>
      <p:sp>
        <p:nvSpPr>
          <p:cNvPr id="5" name="TextBox 4"/>
          <p:cNvSpPr txBox="1"/>
          <p:nvPr/>
        </p:nvSpPr>
        <p:spPr>
          <a:xfrm>
            <a:off x="706761" y="1528282"/>
            <a:ext cx="6161943" cy="1179810"/>
          </a:xfrm>
          <a:prstGeom prst="rect">
            <a:avLst/>
          </a:prstGeom>
          <a:noFill/>
        </p:spPr>
        <p:txBody>
          <a:bodyPr vert="horz" wrap="none" lIns="0" tIns="0" rIns="0" bIns="0" rtlCol="0">
            <a:spAutoFit/>
          </a:bodyPr>
          <a:lstStyle/>
          <a:p>
            <a:pPr>
              <a:lnSpc>
                <a:spcPts val="1996"/>
              </a:lnSpc>
            </a:pPr>
            <a:r>
              <a:rPr lang="en-US" altLang="zh-CN" sz="1998" dirty="0">
                <a:solidFill>
                  <a:srgbClr val="000000"/>
                </a:solidFill>
                <a:latin typeface="Times New Roman"/>
              </a:rPr>
              <a:t>1992</a:t>
            </a:r>
            <a:r>
              <a:rPr lang="zh-CN" altLang="en-US" sz="1998" dirty="0">
                <a:solidFill>
                  <a:srgbClr val="000000"/>
                </a:solidFill>
                <a:latin typeface="Times New Roman"/>
              </a:rPr>
              <a:t>年完成的報告</a:t>
            </a:r>
            <a:r>
              <a:rPr lang="en-US" altLang="zh-CN" sz="1998" dirty="0">
                <a:solidFill>
                  <a:srgbClr val="000000"/>
                </a:solidFill>
                <a:latin typeface="Times New Roman"/>
              </a:rPr>
              <a:t>《</a:t>
            </a:r>
            <a:r>
              <a:rPr lang="zh-CN" altLang="en-US" sz="1998" dirty="0">
                <a:solidFill>
                  <a:srgbClr val="000000"/>
                </a:solidFill>
                <a:latin typeface="Times New Roman"/>
              </a:rPr>
              <a:t>內部控制的整體框架</a:t>
            </a:r>
            <a:r>
              <a:rPr lang="en-US" altLang="zh-CN" sz="1998" dirty="0">
                <a:solidFill>
                  <a:srgbClr val="000000"/>
                </a:solidFill>
                <a:latin typeface="Times New Roman"/>
              </a:rPr>
              <a:t>》</a:t>
            </a:r>
            <a:r>
              <a:rPr lang="zh-CN" altLang="en-US" sz="1998" dirty="0">
                <a:solidFill>
                  <a:srgbClr val="000000"/>
                </a:solidFill>
                <a:latin typeface="Times New Roman"/>
              </a:rPr>
              <a:t>從根本上統</a:t>
            </a:r>
          </a:p>
          <a:p>
            <a:pPr>
              <a:lnSpc>
                <a:spcPts val="1000"/>
              </a:lnSpc>
            </a:pPr>
            <a:endParaRPr lang="zh-CN" altLang="en-US" sz="1998" dirty="0">
              <a:solidFill>
                <a:srgbClr val="000000"/>
              </a:solidFill>
              <a:latin typeface="Times New Roman"/>
            </a:endParaRPr>
          </a:p>
          <a:p>
            <a:pPr>
              <a:lnSpc>
                <a:spcPts val="2600"/>
              </a:lnSpc>
            </a:pPr>
            <a:r>
              <a:rPr lang="zh-CN" altLang="en-US" sz="1998" dirty="0">
                <a:solidFill>
                  <a:srgbClr val="000000"/>
                </a:solidFill>
                <a:latin typeface="Times New Roman"/>
              </a:rPr>
              <a:t>一了對內部控制的認識，其所設計的內部控制模型也被</a:t>
            </a:r>
          </a:p>
          <a:p>
            <a:pPr>
              <a:lnSpc>
                <a:spcPts val="1000"/>
              </a:lnSpc>
            </a:pPr>
            <a:endParaRPr lang="zh-CN" altLang="en-US" sz="1998" dirty="0">
              <a:solidFill>
                <a:srgbClr val="000000"/>
              </a:solidFill>
              <a:latin typeface="Times New Roman"/>
            </a:endParaRPr>
          </a:p>
          <a:p>
            <a:pPr>
              <a:lnSpc>
                <a:spcPts val="2600"/>
              </a:lnSpc>
            </a:pPr>
            <a:r>
              <a:rPr lang="zh-CN" altLang="en-US" sz="1998" dirty="0">
                <a:solidFill>
                  <a:srgbClr val="000000"/>
                </a:solidFill>
                <a:latin typeface="Times New Roman"/>
              </a:rPr>
              <a:t>全世界公認為內部控制的標準模型。</a:t>
            </a:r>
          </a:p>
        </p:txBody>
      </p:sp>
      <p:sp>
        <p:nvSpPr>
          <p:cNvPr id="6" name="TextBox 5"/>
          <p:cNvSpPr txBox="1"/>
          <p:nvPr/>
        </p:nvSpPr>
        <p:spPr>
          <a:xfrm>
            <a:off x="693808" y="4283435"/>
            <a:ext cx="6112571" cy="187552"/>
          </a:xfrm>
          <a:prstGeom prst="rect">
            <a:avLst/>
          </a:prstGeom>
          <a:noFill/>
        </p:spPr>
        <p:txBody>
          <a:bodyPr vert="horz" wrap="none" lIns="0" tIns="0" rIns="0" bIns="0" rtlCol="0">
            <a:spAutoFit/>
          </a:bodyPr>
          <a:lstStyle/>
          <a:p>
            <a:pPr>
              <a:lnSpc>
                <a:spcPts val="1442"/>
              </a:lnSpc>
            </a:pPr>
            <a:r>
              <a:rPr lang="en-US" altLang="zh-CN" sz="1602" dirty="0">
                <a:solidFill>
                  <a:srgbClr val="000000"/>
                </a:solidFill>
                <a:latin typeface="Times New Roman"/>
              </a:rPr>
              <a:t>The </a:t>
            </a:r>
            <a:r>
              <a:rPr lang="en-US" altLang="zh-CN" sz="1602" b="1" dirty="0">
                <a:solidFill>
                  <a:srgbClr val="000000"/>
                </a:solidFill>
                <a:latin typeface="Times New Roman"/>
              </a:rPr>
              <a:t>Committee Of Sponsoring Organization </a:t>
            </a:r>
            <a:r>
              <a:rPr lang="en-US" altLang="zh-CN" sz="1602" dirty="0">
                <a:solidFill>
                  <a:srgbClr val="000000"/>
                </a:solidFill>
                <a:latin typeface="Times New Roman"/>
              </a:rPr>
              <a:t>of </a:t>
            </a:r>
            <a:r>
              <a:rPr lang="en-US" altLang="zh-CN" sz="1602" dirty="0" err="1">
                <a:solidFill>
                  <a:srgbClr val="000000"/>
                </a:solidFill>
                <a:latin typeface="Times New Roman"/>
              </a:rPr>
              <a:t>Treadway</a:t>
            </a:r>
            <a:r>
              <a:rPr lang="en-US" altLang="zh-CN" sz="1602" dirty="0">
                <a:solidFill>
                  <a:srgbClr val="000000"/>
                </a:solidFill>
                <a:latin typeface="Times New Roman"/>
              </a:rPr>
              <a:t> Commission)</a:t>
            </a:r>
            <a:endParaRPr lang="zh-CN" altLang="en-US" sz="1602" dirty="0">
              <a:solidFill>
                <a:srgbClr val="000000"/>
              </a:solidFill>
              <a:latin typeface="Times New Roman"/>
            </a:endParaRPr>
          </a:p>
        </p:txBody>
      </p:sp>
      <p:sp>
        <p:nvSpPr>
          <p:cNvPr id="7" name="TextBox 6"/>
          <p:cNvSpPr txBox="1"/>
          <p:nvPr/>
        </p:nvSpPr>
        <p:spPr>
          <a:xfrm>
            <a:off x="841635" y="4850862"/>
            <a:ext cx="5956759" cy="1359346"/>
          </a:xfrm>
          <a:prstGeom prst="rect">
            <a:avLst/>
          </a:prstGeom>
          <a:noFill/>
        </p:spPr>
        <p:txBody>
          <a:bodyPr vert="horz" wrap="none" lIns="0" tIns="0" rIns="0" bIns="0" rtlCol="0">
            <a:spAutoFit/>
          </a:bodyPr>
          <a:lstStyle/>
          <a:p>
            <a:pPr>
              <a:lnSpc>
                <a:spcPts val="1482"/>
              </a:lnSpc>
            </a:pPr>
            <a:r>
              <a:rPr lang="en-US" altLang="zh-CN" sz="1602" dirty="0">
                <a:solidFill>
                  <a:srgbClr val="000000"/>
                </a:solidFill>
                <a:latin typeface="Times New Roman"/>
              </a:rPr>
              <a:t>COSO</a:t>
            </a:r>
            <a:r>
              <a:rPr lang="zh-CN" altLang="en-US" sz="1602" dirty="0">
                <a:solidFill>
                  <a:srgbClr val="000000"/>
                </a:solidFill>
                <a:latin typeface="Times New Roman"/>
              </a:rPr>
              <a:t>致力於通過強化商業道德、建立完善有效的內部控制和法人</a:t>
            </a:r>
          </a:p>
          <a:p>
            <a:pPr>
              <a:lnSpc>
                <a:spcPts val="2209"/>
              </a:lnSpc>
            </a:pPr>
            <a:r>
              <a:rPr lang="zh-CN" altLang="en-US" sz="1602" dirty="0">
                <a:solidFill>
                  <a:srgbClr val="000000"/>
                </a:solidFill>
                <a:latin typeface="Times New Roman"/>
              </a:rPr>
              <a:t>治理結構以提高財務報告的品質。它從屬於</a:t>
            </a:r>
            <a:r>
              <a:rPr lang="en-US" altLang="zh-CN" sz="1602" dirty="0">
                <a:solidFill>
                  <a:srgbClr val="000000"/>
                </a:solidFill>
                <a:latin typeface="Times New Roman"/>
              </a:rPr>
              <a:t>1985</a:t>
            </a:r>
            <a:r>
              <a:rPr lang="zh-CN" altLang="en-US" sz="1602" dirty="0">
                <a:solidFill>
                  <a:srgbClr val="000000"/>
                </a:solidFill>
                <a:latin typeface="Times New Roman"/>
              </a:rPr>
              <a:t>年成立的反虛假財</a:t>
            </a:r>
          </a:p>
          <a:p>
            <a:pPr>
              <a:lnSpc>
                <a:spcPts val="2310"/>
              </a:lnSpc>
            </a:pPr>
            <a:r>
              <a:rPr lang="zh-CN" altLang="en-US" sz="1602" dirty="0">
                <a:solidFill>
                  <a:srgbClr val="000000"/>
                </a:solidFill>
                <a:latin typeface="Times New Roman"/>
              </a:rPr>
              <a:t>務報告委員會</a:t>
            </a:r>
            <a:r>
              <a:rPr lang="en-US" altLang="zh-CN" sz="1602" dirty="0">
                <a:solidFill>
                  <a:srgbClr val="000000"/>
                </a:solidFill>
                <a:latin typeface="Times New Roman"/>
              </a:rPr>
              <a:t>(</a:t>
            </a:r>
            <a:r>
              <a:rPr lang="zh-CN" altLang="en-US" sz="1602" dirty="0">
                <a:solidFill>
                  <a:srgbClr val="000000"/>
                </a:solidFill>
                <a:latin typeface="Times New Roman"/>
              </a:rPr>
              <a:t>也被稱為</a:t>
            </a:r>
            <a:r>
              <a:rPr lang="en-US" altLang="zh-CN" sz="1602" dirty="0" err="1">
                <a:solidFill>
                  <a:srgbClr val="000000"/>
                </a:solidFill>
                <a:latin typeface="Times New Roman"/>
              </a:rPr>
              <a:t>Treadway</a:t>
            </a:r>
            <a:r>
              <a:rPr lang="zh-CN" altLang="en-US" sz="1602" dirty="0">
                <a:solidFill>
                  <a:srgbClr val="000000"/>
                </a:solidFill>
                <a:latin typeface="Times New Roman"/>
              </a:rPr>
              <a:t>委員會</a:t>
            </a:r>
            <a:r>
              <a:rPr lang="en-US" altLang="zh-CN" sz="1602" dirty="0">
                <a:solidFill>
                  <a:srgbClr val="000000"/>
                </a:solidFill>
                <a:latin typeface="Times New Roman"/>
              </a:rPr>
              <a:t>)</a:t>
            </a:r>
            <a:r>
              <a:rPr lang="zh-CN" altLang="en-US" sz="1602" dirty="0">
                <a:solidFill>
                  <a:srgbClr val="000000"/>
                </a:solidFill>
                <a:latin typeface="Times New Roman"/>
              </a:rPr>
              <a:t>， 是由美國註冊會計師協</a:t>
            </a:r>
          </a:p>
          <a:p>
            <a:pPr>
              <a:lnSpc>
                <a:spcPts val="2316"/>
              </a:lnSpc>
            </a:pPr>
            <a:r>
              <a:rPr lang="zh-CN" altLang="en-US" sz="1602" dirty="0">
                <a:solidFill>
                  <a:srgbClr val="000000"/>
                </a:solidFill>
                <a:latin typeface="Times New Roman"/>
              </a:rPr>
              <a:t>會</a:t>
            </a:r>
            <a:r>
              <a:rPr lang="en-US" altLang="zh-CN" sz="1602" dirty="0">
                <a:solidFill>
                  <a:srgbClr val="000000"/>
                </a:solidFill>
                <a:latin typeface="Times New Roman"/>
              </a:rPr>
              <a:t>(AICPA)</a:t>
            </a:r>
            <a:r>
              <a:rPr lang="zh-CN" altLang="en-US" sz="1602" dirty="0">
                <a:solidFill>
                  <a:srgbClr val="000000"/>
                </a:solidFill>
                <a:latin typeface="Times New Roman"/>
              </a:rPr>
              <a:t>、內部審計協會</a:t>
            </a:r>
            <a:r>
              <a:rPr lang="en-US" altLang="zh-CN" sz="1602" dirty="0">
                <a:solidFill>
                  <a:srgbClr val="000000"/>
                </a:solidFill>
                <a:latin typeface="Times New Roman"/>
              </a:rPr>
              <a:t>(IIA)</a:t>
            </a:r>
            <a:r>
              <a:rPr lang="zh-CN" altLang="en-US" sz="1602" dirty="0">
                <a:solidFill>
                  <a:srgbClr val="000000"/>
                </a:solidFill>
                <a:latin typeface="Times New Roman"/>
              </a:rPr>
              <a:t>、財務經理協會</a:t>
            </a:r>
            <a:r>
              <a:rPr lang="en-US" altLang="zh-CN" sz="1602" dirty="0">
                <a:solidFill>
                  <a:srgbClr val="000000"/>
                </a:solidFill>
                <a:latin typeface="Times New Roman"/>
              </a:rPr>
              <a:t>(FEI)</a:t>
            </a:r>
            <a:r>
              <a:rPr lang="zh-CN" altLang="en-US" sz="1602" dirty="0">
                <a:solidFill>
                  <a:srgbClr val="000000"/>
                </a:solidFill>
                <a:latin typeface="Times New Roman"/>
              </a:rPr>
              <a:t>、美國會計學</a:t>
            </a:r>
          </a:p>
          <a:p>
            <a:pPr>
              <a:lnSpc>
                <a:spcPts val="2310"/>
              </a:lnSpc>
            </a:pPr>
            <a:r>
              <a:rPr lang="zh-CN" altLang="en-US" sz="1602" dirty="0">
                <a:solidFill>
                  <a:srgbClr val="000000"/>
                </a:solidFill>
                <a:latin typeface="Times New Roman"/>
              </a:rPr>
              <a:t>會</a:t>
            </a:r>
            <a:r>
              <a:rPr lang="en-US" altLang="zh-CN" sz="1602" dirty="0">
                <a:solidFill>
                  <a:srgbClr val="000000"/>
                </a:solidFill>
                <a:latin typeface="Times New Roman"/>
              </a:rPr>
              <a:t>(AAA)</a:t>
            </a:r>
            <a:r>
              <a:rPr lang="zh-CN" altLang="en-US" sz="1602" dirty="0">
                <a:solidFill>
                  <a:srgbClr val="000000"/>
                </a:solidFill>
                <a:latin typeface="Times New Roman"/>
              </a:rPr>
              <a:t>、管理會計學會</a:t>
            </a:r>
            <a:r>
              <a:rPr lang="en-US" altLang="zh-CN" sz="1602" dirty="0">
                <a:solidFill>
                  <a:srgbClr val="000000"/>
                </a:solidFill>
                <a:latin typeface="Times New Roman"/>
              </a:rPr>
              <a:t>(IMA) </a:t>
            </a:r>
            <a:r>
              <a:rPr lang="zh-CN" altLang="en-US" sz="1602" dirty="0">
                <a:solidFill>
                  <a:srgbClr val="000000"/>
                </a:solidFill>
                <a:latin typeface="Times New Roman"/>
              </a:rPr>
              <a:t>等多個專業團體組成。</a:t>
            </a:r>
          </a:p>
        </p:txBody>
      </p:sp>
      <p:sp>
        <p:nvSpPr>
          <p:cNvPr id="8" name="TextBox 7"/>
          <p:cNvSpPr txBox="1"/>
          <p:nvPr/>
        </p:nvSpPr>
        <p:spPr>
          <a:xfrm>
            <a:off x="8067681" y="6285482"/>
            <a:ext cx="1477969" cy="461665"/>
          </a:xfrm>
          <a:prstGeom prst="rect">
            <a:avLst/>
          </a:prstGeom>
          <a:noFill/>
        </p:spPr>
        <p:txBody>
          <a:bodyPr vert="horz" wrap="none" lIns="0" tIns="0" rIns="0" bIns="0" rtlCol="0">
            <a:spAutoFit/>
          </a:bodyPr>
          <a:lstStyle/>
          <a:p>
            <a:pPr>
              <a:lnSpc>
                <a:spcPts val="1800"/>
              </a:lnSpc>
            </a:pPr>
            <a:r>
              <a:rPr lang="en-US" altLang="zh-CN" dirty="0" err="1">
                <a:solidFill>
                  <a:srgbClr val="000000"/>
                </a:solidFill>
                <a:latin typeface="Times New Roman"/>
              </a:rPr>
              <a:t>Pwc</a:t>
            </a:r>
            <a:endParaRPr lang="en-US" altLang="zh-CN" dirty="0">
              <a:solidFill>
                <a:srgbClr val="000000"/>
              </a:solidFill>
              <a:latin typeface="Times New Roman"/>
            </a:endParaRPr>
          </a:p>
          <a:p>
            <a:pPr>
              <a:lnSpc>
                <a:spcPts val="1779"/>
              </a:lnSpc>
            </a:pPr>
            <a:r>
              <a:rPr lang="zh-CN" altLang="en-US" sz="1478" dirty="0">
                <a:solidFill>
                  <a:srgbClr val="000000"/>
                </a:solidFill>
                <a:latin typeface="Times New Roman"/>
              </a:rPr>
              <a:t>普     華     永     道</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myslide7">
    <p:spTree>
      <p:nvGrpSpPr>
        <p:cNvPr id="1" name=""/>
        <p:cNvGrpSpPr/>
        <p:nvPr/>
      </p:nvGrpSpPr>
      <p:grpSpPr>
        <a:xfrm>
          <a:off x="0" y="0"/>
          <a:ext cx="0" cy="0"/>
          <a:chOff x="0" y="0"/>
          <a:chExt cx="0" cy="0"/>
        </a:xfrm>
      </p:grpSpPr>
      <p:pic>
        <p:nvPicPr>
          <p:cNvPr id="2" name="图片 1" descr="ws_18F.tmp"/>
          <p:cNvPicPr>
            <a:picLocks/>
          </p:cNvPicPr>
          <p:nvPr/>
        </p:nvPicPr>
        <p:blipFill>
          <a:blip r:embed="rId2"/>
          <a:stretch>
            <a:fillRect/>
          </a:stretch>
        </p:blipFill>
        <p:spPr>
          <a:xfrm>
            <a:off x="0" y="0"/>
            <a:ext cx="9880600" cy="6819900"/>
          </a:xfrm>
          <a:prstGeom prst="rect">
            <a:avLst/>
          </a:prstGeom>
        </p:spPr>
      </p:pic>
      <p:sp>
        <p:nvSpPr>
          <p:cNvPr id="3" name="TextBox 2"/>
          <p:cNvSpPr txBox="1"/>
          <p:nvPr/>
        </p:nvSpPr>
        <p:spPr>
          <a:xfrm>
            <a:off x="5287000" y="1783245"/>
            <a:ext cx="141064" cy="108235"/>
          </a:xfrm>
          <a:prstGeom prst="rect">
            <a:avLst/>
          </a:prstGeom>
          <a:noFill/>
        </p:spPr>
        <p:txBody>
          <a:bodyPr vert="horz" wrap="none" lIns="0" tIns="0" rIns="0" bIns="0" rtlCol="0">
            <a:spAutoFit/>
          </a:bodyPr>
          <a:lstStyle/>
          <a:p>
            <a:pPr>
              <a:lnSpc>
                <a:spcPts val="777"/>
              </a:lnSpc>
            </a:pPr>
            <a:r>
              <a:rPr lang="zh-CN" altLang="en-US" sz="1098" dirty="0">
                <a:solidFill>
                  <a:srgbClr val="E6D19A"/>
                </a:solidFill>
                <a:latin typeface="Times New Roman"/>
              </a:rPr>
              <a:t>告</a:t>
            </a:r>
          </a:p>
        </p:txBody>
      </p:sp>
      <p:sp>
        <p:nvSpPr>
          <p:cNvPr id="4" name="TextBox 3"/>
          <p:cNvSpPr txBox="1"/>
          <p:nvPr/>
        </p:nvSpPr>
        <p:spPr>
          <a:xfrm>
            <a:off x="4409933" y="2015656"/>
            <a:ext cx="141064" cy="102592"/>
          </a:xfrm>
          <a:prstGeom prst="rect">
            <a:avLst/>
          </a:prstGeom>
          <a:noFill/>
        </p:spPr>
        <p:txBody>
          <a:bodyPr vert="horz" wrap="none" lIns="0" tIns="0" rIns="0" bIns="0" rtlCol="0">
            <a:spAutoFit/>
          </a:bodyPr>
          <a:lstStyle/>
          <a:p>
            <a:pPr>
              <a:lnSpc>
                <a:spcPts val="777"/>
              </a:lnSpc>
            </a:pPr>
            <a:r>
              <a:rPr lang="zh-CN" altLang="en-US" sz="1098" dirty="0">
                <a:solidFill>
                  <a:srgbClr val="E6D19A"/>
                </a:solidFill>
                <a:latin typeface="Times New Roman"/>
              </a:rPr>
              <a:t>營</a:t>
            </a:r>
          </a:p>
        </p:txBody>
      </p:sp>
      <p:sp>
        <p:nvSpPr>
          <p:cNvPr id="5" name="TextBox 4"/>
          <p:cNvSpPr txBox="1"/>
          <p:nvPr/>
        </p:nvSpPr>
        <p:spPr>
          <a:xfrm>
            <a:off x="5089642" y="1980603"/>
            <a:ext cx="141064" cy="102592"/>
          </a:xfrm>
          <a:prstGeom prst="rect">
            <a:avLst/>
          </a:prstGeom>
          <a:noFill/>
        </p:spPr>
        <p:txBody>
          <a:bodyPr vert="horz" wrap="none" lIns="0" tIns="0" rIns="0" bIns="0" rtlCol="0">
            <a:spAutoFit/>
          </a:bodyPr>
          <a:lstStyle/>
          <a:p>
            <a:pPr>
              <a:lnSpc>
                <a:spcPts val="777"/>
              </a:lnSpc>
            </a:pPr>
            <a:r>
              <a:rPr lang="zh-CN" altLang="en-US" sz="1098" dirty="0">
                <a:solidFill>
                  <a:srgbClr val="E6D19A"/>
                </a:solidFill>
                <a:latin typeface="Times New Roman"/>
              </a:rPr>
              <a:t>務</a:t>
            </a:r>
          </a:p>
        </p:txBody>
      </p:sp>
      <p:sp>
        <p:nvSpPr>
          <p:cNvPr id="6" name="TextBox 5"/>
          <p:cNvSpPr txBox="1"/>
          <p:nvPr/>
        </p:nvSpPr>
        <p:spPr>
          <a:xfrm>
            <a:off x="5188706" y="1882308"/>
            <a:ext cx="141064" cy="102592"/>
          </a:xfrm>
          <a:prstGeom prst="rect">
            <a:avLst/>
          </a:prstGeom>
          <a:noFill/>
        </p:spPr>
        <p:txBody>
          <a:bodyPr vert="horz" wrap="none" lIns="0" tIns="0" rIns="0" bIns="0" rtlCol="0">
            <a:spAutoFit/>
          </a:bodyPr>
          <a:lstStyle/>
          <a:p>
            <a:pPr>
              <a:lnSpc>
                <a:spcPts val="777"/>
              </a:lnSpc>
            </a:pPr>
            <a:r>
              <a:rPr lang="zh-CN" altLang="en-US" sz="1098" dirty="0">
                <a:solidFill>
                  <a:srgbClr val="E6D19A"/>
                </a:solidFill>
                <a:latin typeface="Times New Roman"/>
              </a:rPr>
              <a:t>報</a:t>
            </a:r>
          </a:p>
        </p:txBody>
      </p:sp>
      <p:sp>
        <p:nvSpPr>
          <p:cNvPr id="7" name="TextBox 6"/>
          <p:cNvSpPr txBox="1"/>
          <p:nvPr/>
        </p:nvSpPr>
        <p:spPr>
          <a:xfrm>
            <a:off x="4508996" y="1916592"/>
            <a:ext cx="141064" cy="102592"/>
          </a:xfrm>
          <a:prstGeom prst="rect">
            <a:avLst/>
          </a:prstGeom>
          <a:noFill/>
        </p:spPr>
        <p:txBody>
          <a:bodyPr vert="horz" wrap="none" lIns="0" tIns="0" rIns="0" bIns="0" rtlCol="0">
            <a:spAutoFit/>
          </a:bodyPr>
          <a:lstStyle/>
          <a:p>
            <a:pPr>
              <a:lnSpc>
                <a:spcPts val="777"/>
              </a:lnSpc>
            </a:pPr>
            <a:r>
              <a:rPr lang="zh-CN" altLang="en-US" sz="1098" dirty="0">
                <a:solidFill>
                  <a:srgbClr val="E6D19A"/>
                </a:solidFill>
                <a:latin typeface="Times New Roman"/>
              </a:rPr>
              <a:t>運</a:t>
            </a:r>
          </a:p>
        </p:txBody>
      </p:sp>
      <p:sp>
        <p:nvSpPr>
          <p:cNvPr id="8" name="TextBox 7"/>
          <p:cNvSpPr txBox="1"/>
          <p:nvPr/>
        </p:nvSpPr>
        <p:spPr>
          <a:xfrm>
            <a:off x="4990579" y="2079667"/>
            <a:ext cx="141064" cy="102592"/>
          </a:xfrm>
          <a:prstGeom prst="rect">
            <a:avLst/>
          </a:prstGeom>
          <a:noFill/>
        </p:spPr>
        <p:txBody>
          <a:bodyPr vert="horz" wrap="none" lIns="0" tIns="0" rIns="0" bIns="0" rtlCol="0">
            <a:spAutoFit/>
          </a:bodyPr>
          <a:lstStyle/>
          <a:p>
            <a:pPr>
              <a:lnSpc>
                <a:spcPts val="777"/>
              </a:lnSpc>
            </a:pPr>
            <a:r>
              <a:rPr lang="zh-CN" altLang="en-US" sz="1098" dirty="0">
                <a:solidFill>
                  <a:srgbClr val="E6D19A"/>
                </a:solidFill>
                <a:latin typeface="Times New Roman"/>
              </a:rPr>
              <a:t>財</a:t>
            </a:r>
          </a:p>
        </p:txBody>
      </p:sp>
      <p:sp>
        <p:nvSpPr>
          <p:cNvPr id="9" name="TextBox 8"/>
          <p:cNvSpPr txBox="1"/>
          <p:nvPr/>
        </p:nvSpPr>
        <p:spPr>
          <a:xfrm>
            <a:off x="5648190" y="2031650"/>
            <a:ext cx="141064" cy="108235"/>
          </a:xfrm>
          <a:prstGeom prst="rect">
            <a:avLst/>
          </a:prstGeom>
          <a:noFill/>
        </p:spPr>
        <p:txBody>
          <a:bodyPr vert="horz" wrap="none" lIns="0" tIns="0" rIns="0" bIns="0" rtlCol="0">
            <a:spAutoFit/>
          </a:bodyPr>
          <a:lstStyle/>
          <a:p>
            <a:pPr>
              <a:lnSpc>
                <a:spcPts val="777"/>
              </a:lnSpc>
            </a:pPr>
            <a:r>
              <a:rPr lang="zh-CN" altLang="en-US" sz="1098" dirty="0">
                <a:solidFill>
                  <a:srgbClr val="E6D19A"/>
                </a:solidFill>
                <a:latin typeface="Times New Roman"/>
              </a:rPr>
              <a:t>合</a:t>
            </a:r>
          </a:p>
        </p:txBody>
      </p:sp>
      <p:sp>
        <p:nvSpPr>
          <p:cNvPr id="10" name="TextBox 9"/>
          <p:cNvSpPr txBox="1"/>
          <p:nvPr/>
        </p:nvSpPr>
        <p:spPr>
          <a:xfrm>
            <a:off x="5747254" y="1932586"/>
            <a:ext cx="141064" cy="102592"/>
          </a:xfrm>
          <a:prstGeom prst="rect">
            <a:avLst/>
          </a:prstGeom>
          <a:noFill/>
        </p:spPr>
        <p:txBody>
          <a:bodyPr vert="horz" wrap="none" lIns="0" tIns="0" rIns="0" bIns="0" rtlCol="0">
            <a:spAutoFit/>
          </a:bodyPr>
          <a:lstStyle/>
          <a:p>
            <a:pPr>
              <a:lnSpc>
                <a:spcPts val="777"/>
              </a:lnSpc>
            </a:pPr>
            <a:r>
              <a:rPr lang="zh-CN" altLang="en-US" sz="1098" dirty="0">
                <a:solidFill>
                  <a:srgbClr val="E6D19A"/>
                </a:solidFill>
                <a:latin typeface="Times New Roman"/>
              </a:rPr>
              <a:t>規</a:t>
            </a:r>
          </a:p>
        </p:txBody>
      </p:sp>
      <p:sp>
        <p:nvSpPr>
          <p:cNvPr id="11" name="TextBox 10"/>
          <p:cNvSpPr txBox="1"/>
          <p:nvPr/>
        </p:nvSpPr>
        <p:spPr>
          <a:xfrm>
            <a:off x="5846317" y="1834291"/>
            <a:ext cx="141064" cy="108235"/>
          </a:xfrm>
          <a:prstGeom prst="rect">
            <a:avLst/>
          </a:prstGeom>
          <a:noFill/>
        </p:spPr>
        <p:txBody>
          <a:bodyPr vert="horz" wrap="none" lIns="0" tIns="0" rIns="0" bIns="0" rtlCol="0">
            <a:spAutoFit/>
          </a:bodyPr>
          <a:lstStyle/>
          <a:p>
            <a:pPr>
              <a:lnSpc>
                <a:spcPts val="777"/>
              </a:lnSpc>
            </a:pPr>
            <a:r>
              <a:rPr lang="zh-CN" altLang="en-US" sz="1098" dirty="0">
                <a:solidFill>
                  <a:srgbClr val="E6D19A"/>
                </a:solidFill>
                <a:latin typeface="Times New Roman"/>
              </a:rPr>
              <a:t>性</a:t>
            </a:r>
          </a:p>
        </p:txBody>
      </p:sp>
      <p:sp>
        <p:nvSpPr>
          <p:cNvPr id="12" name="TextBox 11"/>
          <p:cNvSpPr txBox="1"/>
          <p:nvPr/>
        </p:nvSpPr>
        <p:spPr>
          <a:xfrm>
            <a:off x="1603631" y="2233320"/>
            <a:ext cx="307777" cy="153888"/>
          </a:xfrm>
          <a:prstGeom prst="rect">
            <a:avLst/>
          </a:prstGeom>
          <a:noFill/>
        </p:spPr>
        <p:txBody>
          <a:bodyPr vert="horz" wrap="none" lIns="0" tIns="0" rIns="0" bIns="0" rtlCol="0">
            <a:spAutoFit/>
          </a:bodyPr>
          <a:lstStyle/>
          <a:p>
            <a:pPr>
              <a:lnSpc>
                <a:spcPts val="1199"/>
              </a:lnSpc>
            </a:pPr>
            <a:r>
              <a:rPr lang="zh-CN" altLang="en-US" sz="1200" dirty="0">
                <a:solidFill>
                  <a:srgbClr val="5F5F5F"/>
                </a:solidFill>
                <a:latin typeface="Times New Roman"/>
              </a:rPr>
              <a:t>監督</a:t>
            </a:r>
          </a:p>
        </p:txBody>
      </p:sp>
      <p:sp>
        <p:nvSpPr>
          <p:cNvPr id="13" name="TextBox 12"/>
          <p:cNvSpPr txBox="1"/>
          <p:nvPr/>
        </p:nvSpPr>
        <p:spPr>
          <a:xfrm>
            <a:off x="576459" y="2497734"/>
            <a:ext cx="2154436" cy="153888"/>
          </a:xfrm>
          <a:prstGeom prst="rect">
            <a:avLst/>
          </a:prstGeom>
          <a:noFill/>
        </p:spPr>
        <p:txBody>
          <a:bodyPr vert="horz" wrap="none" lIns="0" tIns="0" rIns="0" bIns="0" rtlCol="0">
            <a:spAutoFit/>
          </a:bodyPr>
          <a:lstStyle/>
          <a:p>
            <a:pPr>
              <a:lnSpc>
                <a:spcPts val="1199"/>
              </a:lnSpc>
            </a:pPr>
            <a:r>
              <a:rPr lang="zh-CN" altLang="en-US" sz="1200" dirty="0">
                <a:solidFill>
                  <a:srgbClr val="5F5F5F"/>
                </a:solidFill>
                <a:latin typeface="Times New Roman"/>
              </a:rPr>
              <a:t>不斷評估內部控制系統的表現。</a:t>
            </a:r>
          </a:p>
        </p:txBody>
      </p:sp>
      <p:sp>
        <p:nvSpPr>
          <p:cNvPr id="14" name="TextBox 13"/>
          <p:cNvSpPr txBox="1"/>
          <p:nvPr/>
        </p:nvSpPr>
        <p:spPr>
          <a:xfrm>
            <a:off x="576459" y="2782722"/>
            <a:ext cx="1692771" cy="153888"/>
          </a:xfrm>
          <a:prstGeom prst="rect">
            <a:avLst/>
          </a:prstGeom>
          <a:noFill/>
        </p:spPr>
        <p:txBody>
          <a:bodyPr vert="horz" wrap="none" lIns="0" tIns="0" rIns="0" bIns="0" rtlCol="0">
            <a:spAutoFit/>
          </a:bodyPr>
          <a:lstStyle/>
          <a:p>
            <a:pPr>
              <a:lnSpc>
                <a:spcPts val="1199"/>
              </a:lnSpc>
            </a:pPr>
            <a:r>
              <a:rPr lang="zh-CN" altLang="en-US" sz="1200" dirty="0">
                <a:solidFill>
                  <a:srgbClr val="5F5F5F"/>
                </a:solidFill>
                <a:latin typeface="Times New Roman"/>
              </a:rPr>
              <a:t>整合即時和獨立的評估。</a:t>
            </a:r>
          </a:p>
        </p:txBody>
      </p:sp>
      <p:sp>
        <p:nvSpPr>
          <p:cNvPr id="18" name="TextBox 17"/>
          <p:cNvSpPr txBox="1"/>
          <p:nvPr/>
        </p:nvSpPr>
        <p:spPr>
          <a:xfrm>
            <a:off x="576459" y="3057042"/>
            <a:ext cx="1384995" cy="153888"/>
          </a:xfrm>
          <a:prstGeom prst="rect">
            <a:avLst/>
          </a:prstGeom>
          <a:noFill/>
        </p:spPr>
        <p:txBody>
          <a:bodyPr vert="horz" wrap="none" lIns="0" tIns="0" rIns="0" bIns="0" rtlCol="0">
            <a:spAutoFit/>
          </a:bodyPr>
          <a:lstStyle/>
          <a:p>
            <a:pPr>
              <a:lnSpc>
                <a:spcPts val="1199"/>
              </a:lnSpc>
            </a:pPr>
            <a:r>
              <a:rPr lang="zh-CN" altLang="en-US" sz="1200" dirty="0">
                <a:solidFill>
                  <a:srgbClr val="5F5F5F"/>
                </a:solidFill>
                <a:latin typeface="Times New Roman"/>
              </a:rPr>
              <a:t>管理層和監督活動。</a:t>
            </a:r>
          </a:p>
        </p:txBody>
      </p:sp>
      <p:sp>
        <p:nvSpPr>
          <p:cNvPr id="19" name="TextBox 18"/>
          <p:cNvSpPr txBox="1"/>
          <p:nvPr/>
        </p:nvSpPr>
        <p:spPr>
          <a:xfrm>
            <a:off x="614559" y="3322218"/>
            <a:ext cx="1077218" cy="153888"/>
          </a:xfrm>
          <a:prstGeom prst="rect">
            <a:avLst/>
          </a:prstGeom>
          <a:noFill/>
        </p:spPr>
        <p:txBody>
          <a:bodyPr vert="horz" wrap="none" lIns="0" tIns="0" rIns="0" bIns="0" rtlCol="0">
            <a:spAutoFit/>
          </a:bodyPr>
          <a:lstStyle/>
          <a:p>
            <a:pPr>
              <a:lnSpc>
                <a:spcPts val="1199"/>
              </a:lnSpc>
            </a:pPr>
            <a:r>
              <a:rPr lang="zh-CN" altLang="en-US" sz="1200" dirty="0">
                <a:solidFill>
                  <a:srgbClr val="5F5F5F"/>
                </a:solidFill>
                <a:latin typeface="Times New Roman"/>
              </a:rPr>
              <a:t>內部審計工作。</a:t>
            </a:r>
          </a:p>
        </p:txBody>
      </p:sp>
      <p:sp>
        <p:nvSpPr>
          <p:cNvPr id="34" name="TextBox 33"/>
          <p:cNvSpPr txBox="1"/>
          <p:nvPr/>
        </p:nvSpPr>
        <p:spPr>
          <a:xfrm>
            <a:off x="509403" y="6341571"/>
            <a:ext cx="70532" cy="128240"/>
          </a:xfrm>
          <a:prstGeom prst="rect">
            <a:avLst/>
          </a:prstGeom>
          <a:noFill/>
        </p:spPr>
        <p:txBody>
          <a:bodyPr vert="horz" wrap="none" lIns="0" tIns="0" rIns="0" bIns="0" rtlCol="0">
            <a:spAutoFit/>
          </a:bodyPr>
          <a:lstStyle/>
          <a:p>
            <a:pPr>
              <a:lnSpc>
                <a:spcPts val="1016"/>
              </a:lnSpc>
            </a:pPr>
            <a:r>
              <a:rPr lang="en-US" altLang="zh-CN" sz="1098" dirty="0">
                <a:solidFill>
                  <a:srgbClr val="761437"/>
                </a:solidFill>
                <a:latin typeface="Times New Roman"/>
              </a:rPr>
              <a:t>7</a:t>
            </a:r>
            <a:endParaRPr lang="zh-CN" altLang="en-US" sz="1098" dirty="0">
              <a:solidFill>
                <a:srgbClr val="761437"/>
              </a:solidFill>
              <a:latin typeface="Times New Roman"/>
            </a:endParaRPr>
          </a:p>
        </p:txBody>
      </p:sp>
      <p:sp>
        <p:nvSpPr>
          <p:cNvPr id="35" name="TextBox 34"/>
          <p:cNvSpPr txBox="1"/>
          <p:nvPr/>
        </p:nvSpPr>
        <p:spPr>
          <a:xfrm>
            <a:off x="830205" y="526029"/>
            <a:ext cx="4222310" cy="436017"/>
          </a:xfrm>
          <a:prstGeom prst="rect">
            <a:avLst/>
          </a:prstGeom>
          <a:noFill/>
        </p:spPr>
        <p:txBody>
          <a:bodyPr vert="horz" wrap="none" lIns="0" tIns="0" rIns="0" bIns="0" rtlCol="0">
            <a:spAutoFit/>
          </a:bodyPr>
          <a:lstStyle/>
          <a:p>
            <a:pPr>
              <a:lnSpc>
                <a:spcPts val="3418"/>
              </a:lnSpc>
            </a:pPr>
            <a:r>
              <a:rPr lang="en-US" altLang="zh-CN" sz="3798" dirty="0">
                <a:solidFill>
                  <a:srgbClr val="FFFFFF"/>
                </a:solidFill>
                <a:latin typeface="Times New Roman"/>
              </a:rPr>
              <a:t>COSO</a:t>
            </a:r>
            <a:r>
              <a:rPr lang="zh-CN" altLang="en-US" sz="3798" dirty="0">
                <a:solidFill>
                  <a:srgbClr val="FFFFFF"/>
                </a:solidFill>
                <a:latin typeface="Times New Roman"/>
              </a:rPr>
              <a:t>內部控制框架</a:t>
            </a:r>
          </a:p>
        </p:txBody>
      </p:sp>
      <p:sp>
        <p:nvSpPr>
          <p:cNvPr id="36" name="TextBox 35"/>
          <p:cNvSpPr txBox="1"/>
          <p:nvPr/>
        </p:nvSpPr>
        <p:spPr>
          <a:xfrm>
            <a:off x="525405" y="2182266"/>
            <a:ext cx="2154436" cy="1256754"/>
          </a:xfrm>
          <a:prstGeom prst="rect">
            <a:avLst/>
          </a:prstGeom>
          <a:noFill/>
          <a:effectLst/>
        </p:spPr>
        <p:txBody>
          <a:bodyPr vert="horz" wrap="none" lIns="0" tIns="0" rIns="0" bIns="0" rtlCol="0">
            <a:spAutoFit/>
          </a:bodyPr>
          <a:lstStyle/>
          <a:p>
            <a:pPr marL="0" marR="0" lvl="0" indent="0" defTabSz="914400" eaLnBrk="1" fontAlgn="auto" latinLnBrk="0" hangingPunct="1">
              <a:lnSpc>
                <a:spcPts val="1199"/>
              </a:lnSpc>
              <a:buClrTx/>
              <a:buSzTx/>
              <a:buNone/>
              <a:tabLst>
                <a:tab pos="38100" algn="l"/>
                <a:tab pos="1028700" algn="l"/>
              </a:tabLst>
              <a:defRPr/>
            </a:pPr>
            <a:r>
              <a:rPr lang="zh-CN" altLang="en-US" dirty="0">
                <a:noFill/>
              </a:rPr>
              <a:t>		</a:t>
            </a:r>
            <a:r>
              <a:rPr lang="zh-CN" altLang="en-US" sz="1200" dirty="0">
                <a:noFill/>
                <a:latin typeface="Times New Roman"/>
              </a:rPr>
              <a:t>監督</a:t>
            </a:r>
          </a:p>
          <a:p>
            <a:pPr marL="0" marR="0" lvl="0" indent="0" defTabSz="914400" eaLnBrk="1" fontAlgn="auto" latinLnBrk="0" hangingPunct="1">
              <a:lnSpc>
                <a:spcPts val="2082"/>
              </a:lnSpc>
              <a:buClrTx/>
              <a:buSzTx/>
              <a:buNone/>
              <a:tabLst>
                <a:tab pos="38100" algn="l"/>
                <a:tab pos="1028700" algn="l"/>
              </a:tabLst>
              <a:defRPr/>
            </a:pPr>
            <a:r>
              <a:rPr lang="zh-CN" altLang="en-US" sz="1200" dirty="0">
                <a:noFill/>
                <a:latin typeface="Times New Roman"/>
              </a:rPr>
              <a:t>不斷評估內部控制系統的表現。</a:t>
            </a:r>
          </a:p>
          <a:p>
            <a:pPr marL="0" marR="0" lvl="0" indent="0" defTabSz="914400" eaLnBrk="1" fontAlgn="auto" latinLnBrk="0" hangingPunct="1">
              <a:lnSpc>
                <a:spcPts val="1000"/>
              </a:lnSpc>
              <a:buClrTx/>
              <a:buSzTx/>
              <a:buNone/>
              <a:tabLst>
                <a:tab pos="38100" algn="l"/>
                <a:tab pos="1028700" algn="l"/>
              </a:tabLst>
              <a:defRPr/>
            </a:pPr>
            <a:endParaRPr lang="zh-CN" altLang="en-US" sz="1200" dirty="0">
              <a:latin typeface="Times New Roman"/>
            </a:endParaRPr>
          </a:p>
          <a:p>
            <a:pPr marL="0" marR="0" lvl="0" indent="0" defTabSz="914400" eaLnBrk="1" fontAlgn="auto" latinLnBrk="0" hangingPunct="1">
              <a:lnSpc>
                <a:spcPts val="1244"/>
              </a:lnSpc>
              <a:buClrTx/>
              <a:buSzTx/>
              <a:buNone/>
              <a:tabLst>
                <a:tab pos="38100" algn="l"/>
                <a:tab pos="1028700" algn="l"/>
              </a:tabLst>
              <a:defRPr/>
            </a:pPr>
            <a:r>
              <a:rPr lang="zh-CN" altLang="en-US" sz="1200" dirty="0">
                <a:noFill/>
                <a:latin typeface="Times New Roman"/>
              </a:rPr>
              <a:t>整合即時和獨立的評估。</a:t>
            </a:r>
          </a:p>
          <a:p>
            <a:pPr marL="0" marR="0" lvl="0" indent="0" defTabSz="914400" eaLnBrk="1" fontAlgn="auto" latinLnBrk="0" hangingPunct="1">
              <a:lnSpc>
                <a:spcPts val="2160"/>
              </a:lnSpc>
              <a:buClrTx/>
              <a:buSzTx/>
              <a:buNone/>
              <a:tabLst>
                <a:tab pos="38100" algn="l"/>
                <a:tab pos="1028700" algn="l"/>
              </a:tabLst>
              <a:defRPr/>
            </a:pPr>
            <a:r>
              <a:rPr lang="zh-CN" altLang="en-US" sz="1200" dirty="0">
                <a:noFill/>
                <a:latin typeface="Times New Roman"/>
              </a:rPr>
              <a:t>管理層和監督活動。</a:t>
            </a:r>
          </a:p>
          <a:p>
            <a:pPr marL="0" marR="0" lvl="0" indent="0" defTabSz="914400" eaLnBrk="1" fontAlgn="auto" latinLnBrk="0" hangingPunct="1">
              <a:lnSpc>
                <a:spcPts val="2088"/>
              </a:lnSpc>
              <a:buClrTx/>
              <a:buSzTx/>
              <a:buNone/>
              <a:tabLst>
                <a:tab pos="38100" algn="l"/>
                <a:tab pos="1028700" algn="l"/>
              </a:tabLst>
              <a:defRPr/>
            </a:pPr>
            <a:r>
              <a:rPr lang="zh-CN" altLang="en-US" sz="1200" dirty="0">
                <a:noFill/>
                <a:latin typeface="Times New Roman"/>
              </a:rPr>
              <a:t>	內部審計工作。</a:t>
            </a:r>
          </a:p>
        </p:txBody>
      </p:sp>
      <p:sp>
        <p:nvSpPr>
          <p:cNvPr id="37" name="TextBox 36"/>
          <p:cNvSpPr txBox="1"/>
          <p:nvPr/>
        </p:nvSpPr>
        <p:spPr>
          <a:xfrm>
            <a:off x="4511428" y="2445615"/>
            <a:ext cx="705321" cy="1141338"/>
          </a:xfrm>
          <a:prstGeom prst="rect">
            <a:avLst/>
          </a:prstGeom>
          <a:noFill/>
        </p:spPr>
        <p:txBody>
          <a:bodyPr vert="horz" wrap="none" lIns="0" tIns="0" rIns="0" bIns="0" rtlCol="0">
            <a:spAutoFit/>
          </a:bodyPr>
          <a:lstStyle/>
          <a:p>
            <a:pPr marL="0" marR="0" lvl="0" indent="0" defTabSz="914400" eaLnBrk="1" fontAlgn="auto" latinLnBrk="0" hangingPunct="1">
              <a:lnSpc>
                <a:spcPts val="1097"/>
              </a:lnSpc>
              <a:buClrTx/>
              <a:buSzTx/>
              <a:buNone/>
              <a:tabLst>
                <a:tab pos="63500" algn="l"/>
                <a:tab pos="203200" algn="l"/>
              </a:tabLst>
              <a:defRPr/>
            </a:pPr>
            <a:r>
              <a:rPr lang="zh-CN" altLang="en-US" dirty="0"/>
              <a:t>		</a:t>
            </a:r>
            <a:r>
              <a:rPr lang="zh-CN" altLang="en-US" sz="1098" dirty="0">
                <a:solidFill>
                  <a:srgbClr val="E6D19A"/>
                </a:solidFill>
                <a:latin typeface="Times New Roman"/>
              </a:rPr>
              <a:t>監控</a:t>
            </a:r>
          </a:p>
          <a:p>
            <a:pPr marL="0" marR="0" lvl="0" indent="0" defTabSz="914400" eaLnBrk="1" fontAlgn="auto" latinLnBrk="0" hangingPunct="1">
              <a:lnSpc>
                <a:spcPts val="1000"/>
              </a:lnSpc>
              <a:buClrTx/>
              <a:buSzTx/>
              <a:buNone/>
              <a:tabLst>
                <a:tab pos="63500" algn="l"/>
                <a:tab pos="203200" algn="l"/>
              </a:tabLst>
              <a:defRPr/>
            </a:pPr>
            <a:endParaRPr lang="zh-CN" altLang="en-US" sz="1098" dirty="0">
              <a:solidFill>
                <a:srgbClr val="E6D19A"/>
              </a:solidFill>
              <a:latin typeface="Times New Roman"/>
            </a:endParaRPr>
          </a:p>
          <a:p>
            <a:pPr marL="0" marR="0" lvl="0" indent="0" defTabSz="914400" eaLnBrk="1" fontAlgn="auto" latinLnBrk="0" hangingPunct="1">
              <a:lnSpc>
                <a:spcPts val="1550"/>
              </a:lnSpc>
              <a:buClrTx/>
              <a:buSzTx/>
              <a:buNone/>
              <a:tabLst>
                <a:tab pos="63500" algn="l"/>
                <a:tab pos="203200" algn="l"/>
              </a:tabLst>
              <a:defRPr/>
            </a:pPr>
            <a:r>
              <a:rPr lang="zh-CN" altLang="en-US" sz="1098" dirty="0">
                <a:solidFill>
                  <a:srgbClr val="E6D19A"/>
                </a:solidFill>
                <a:latin typeface="Times New Roman"/>
              </a:rPr>
              <a:t>資訊和溝通</a:t>
            </a:r>
          </a:p>
          <a:p>
            <a:pPr marL="0" marR="0" lvl="0" indent="0" defTabSz="914400" eaLnBrk="1" fontAlgn="auto" latinLnBrk="0" hangingPunct="1">
              <a:lnSpc>
                <a:spcPts val="1000"/>
              </a:lnSpc>
              <a:buClrTx/>
              <a:buSzTx/>
              <a:buNone/>
              <a:tabLst>
                <a:tab pos="63500" algn="l"/>
                <a:tab pos="203200" algn="l"/>
              </a:tabLst>
              <a:defRPr/>
            </a:pPr>
            <a:endParaRPr lang="zh-CN" altLang="en-US" sz="1098" dirty="0">
              <a:solidFill>
                <a:srgbClr val="E6D19A"/>
              </a:solidFill>
              <a:latin typeface="Times New Roman"/>
            </a:endParaRPr>
          </a:p>
          <a:p>
            <a:pPr marL="0" marR="0" lvl="0" indent="0" defTabSz="914400" eaLnBrk="1" fontAlgn="auto" latinLnBrk="0" hangingPunct="1">
              <a:lnSpc>
                <a:spcPts val="1472"/>
              </a:lnSpc>
              <a:buClrTx/>
              <a:buSzTx/>
              <a:buNone/>
              <a:tabLst>
                <a:tab pos="63500" algn="l"/>
                <a:tab pos="203200" algn="l"/>
              </a:tabLst>
              <a:defRPr/>
            </a:pPr>
            <a:r>
              <a:rPr lang="zh-CN" altLang="en-US" sz="1098" dirty="0">
                <a:solidFill>
                  <a:srgbClr val="E6D19A"/>
                </a:solidFill>
                <a:latin typeface="Times New Roman"/>
              </a:rPr>
              <a:t>	控制活動</a:t>
            </a:r>
          </a:p>
          <a:p>
            <a:pPr marL="0" marR="0" lvl="0" indent="0" defTabSz="914400" eaLnBrk="1" fontAlgn="auto" latinLnBrk="0" hangingPunct="1">
              <a:lnSpc>
                <a:spcPts val="1000"/>
              </a:lnSpc>
              <a:buClrTx/>
              <a:buSzTx/>
              <a:buNone/>
              <a:tabLst>
                <a:tab pos="63500" algn="l"/>
                <a:tab pos="203200" algn="l"/>
              </a:tabLst>
              <a:defRPr/>
            </a:pPr>
            <a:endParaRPr lang="zh-CN" altLang="en-US" sz="1098" dirty="0">
              <a:solidFill>
                <a:srgbClr val="E6D19A"/>
              </a:solidFill>
              <a:latin typeface="Times New Roman"/>
            </a:endParaRPr>
          </a:p>
          <a:p>
            <a:pPr marL="0" marR="0" lvl="0" indent="0" defTabSz="914400" eaLnBrk="1" fontAlgn="auto" latinLnBrk="0" hangingPunct="1">
              <a:lnSpc>
                <a:spcPts val="1664"/>
              </a:lnSpc>
              <a:buClrTx/>
              <a:buSzTx/>
              <a:buNone/>
              <a:tabLst>
                <a:tab pos="63500" algn="l"/>
                <a:tab pos="203200" algn="l"/>
              </a:tabLst>
              <a:defRPr/>
            </a:pPr>
            <a:r>
              <a:rPr lang="zh-CN" altLang="en-US" sz="1098" dirty="0">
                <a:solidFill>
                  <a:srgbClr val="E6D19A"/>
                </a:solidFill>
                <a:latin typeface="Times New Roman"/>
              </a:rPr>
              <a:t>	風險評估</a:t>
            </a:r>
          </a:p>
        </p:txBody>
      </p:sp>
      <p:sp>
        <p:nvSpPr>
          <p:cNvPr id="38" name="TextBox 37"/>
          <p:cNvSpPr txBox="1"/>
          <p:nvPr/>
        </p:nvSpPr>
        <p:spPr>
          <a:xfrm>
            <a:off x="5863215" y="2351918"/>
            <a:ext cx="654025" cy="1231106"/>
          </a:xfrm>
          <a:prstGeom prst="rect">
            <a:avLst/>
          </a:prstGeom>
          <a:noFill/>
        </p:spPr>
        <p:txBody>
          <a:bodyPr vert="horz" wrap="none" lIns="0" tIns="0" rIns="0" bIns="0" rtlCol="0">
            <a:spAutoFit/>
          </a:bodyPr>
          <a:lstStyle/>
          <a:p>
            <a:pPr marL="0" marR="0" lvl="0" indent="0" defTabSz="914400" eaLnBrk="1" fontAlgn="auto" latinLnBrk="0" hangingPunct="1">
              <a:lnSpc>
                <a:spcPts val="1097"/>
              </a:lnSpc>
              <a:buClrTx/>
              <a:buSzTx/>
              <a:buNone/>
              <a:tabLst>
                <a:tab pos="165100" algn="l"/>
                <a:tab pos="330200" algn="l"/>
                <a:tab pos="508000" algn="l"/>
              </a:tabLst>
              <a:defRPr/>
            </a:pPr>
            <a:r>
              <a:rPr lang="zh-CN" altLang="en-US" dirty="0"/>
              <a:t>			</a:t>
            </a:r>
            <a:r>
              <a:rPr lang="zh-CN" altLang="en-US" sz="1098" dirty="0">
                <a:solidFill>
                  <a:srgbClr val="E6D19A"/>
                </a:solidFill>
                <a:latin typeface="Times New Roman"/>
              </a:rPr>
              <a:t>活</a:t>
            </a:r>
          </a:p>
          <a:p>
            <a:pPr marL="0" marR="0" lvl="0" indent="0" defTabSz="914400" eaLnBrk="1" fontAlgn="auto" latinLnBrk="0" hangingPunct="1">
              <a:lnSpc>
                <a:spcPts val="1284"/>
              </a:lnSpc>
              <a:buClrTx/>
              <a:buSzTx/>
              <a:buNone/>
              <a:tabLst>
                <a:tab pos="165100" algn="l"/>
                <a:tab pos="330200" algn="l"/>
                <a:tab pos="508000" algn="l"/>
              </a:tabLst>
              <a:defRPr/>
            </a:pPr>
            <a:r>
              <a:rPr lang="zh-CN" altLang="en-US" sz="1098" dirty="0">
                <a:solidFill>
                  <a:srgbClr val="E6D19A"/>
                </a:solidFill>
                <a:latin typeface="Times New Roman"/>
              </a:rPr>
              <a:t>		活 動</a:t>
            </a:r>
          </a:p>
          <a:p>
            <a:pPr marL="0" marR="0" lvl="0" indent="0" defTabSz="914400" eaLnBrk="1" fontAlgn="auto" latinLnBrk="0" hangingPunct="1">
              <a:lnSpc>
                <a:spcPts val="1254"/>
              </a:lnSpc>
              <a:buClrTx/>
              <a:buSzTx/>
              <a:buNone/>
              <a:tabLst>
                <a:tab pos="165100" algn="l"/>
                <a:tab pos="330200" algn="l"/>
                <a:tab pos="508000" algn="l"/>
              </a:tabLst>
              <a:defRPr/>
            </a:pPr>
            <a:r>
              <a:rPr lang="zh-CN" altLang="en-US" sz="1098" dirty="0">
                <a:solidFill>
                  <a:srgbClr val="E6D19A"/>
                </a:solidFill>
                <a:latin typeface="Times New Roman"/>
              </a:rPr>
              <a:t>	業 動 </a:t>
            </a:r>
            <a:r>
              <a:rPr lang="en-US" altLang="zh-CN" sz="1098" b="1" dirty="0">
                <a:solidFill>
                  <a:srgbClr val="E6D19A"/>
                </a:solidFill>
                <a:latin typeface="Times New Roman"/>
              </a:rPr>
              <a:t>2</a:t>
            </a:r>
          </a:p>
          <a:p>
            <a:pPr marL="0" marR="0" lvl="0" indent="0" defTabSz="914400" eaLnBrk="1" fontAlgn="auto" latinLnBrk="0" hangingPunct="1">
              <a:lnSpc>
                <a:spcPts val="1164"/>
              </a:lnSpc>
              <a:buClrTx/>
              <a:buSzTx/>
              <a:buNone/>
              <a:tabLst>
                <a:tab pos="165100" algn="l"/>
                <a:tab pos="330200" algn="l"/>
                <a:tab pos="508000" algn="l"/>
              </a:tabLst>
              <a:defRPr/>
            </a:pPr>
            <a:r>
              <a:rPr lang="zh-CN" altLang="en-US" sz="1098" dirty="0">
                <a:solidFill>
                  <a:srgbClr val="E6D19A"/>
                </a:solidFill>
                <a:latin typeface="Times New Roman"/>
              </a:rPr>
              <a:t>業 務 </a:t>
            </a:r>
            <a:r>
              <a:rPr lang="en-US" altLang="zh-CN" sz="1098" b="1" dirty="0">
                <a:solidFill>
                  <a:srgbClr val="E6D19A"/>
                </a:solidFill>
                <a:latin typeface="Times New Roman"/>
              </a:rPr>
              <a:t>1</a:t>
            </a:r>
          </a:p>
          <a:p>
            <a:pPr marL="0" marR="0" lvl="0" indent="0" defTabSz="914400" eaLnBrk="1" fontAlgn="auto" latinLnBrk="0" hangingPunct="1">
              <a:lnSpc>
                <a:spcPts val="1260"/>
              </a:lnSpc>
              <a:buClrTx/>
              <a:buSzTx/>
              <a:buNone/>
              <a:tabLst>
                <a:tab pos="165100" algn="l"/>
                <a:tab pos="330200" algn="l"/>
                <a:tab pos="508000" algn="l"/>
              </a:tabLst>
              <a:defRPr/>
            </a:pPr>
            <a:r>
              <a:rPr lang="zh-CN" altLang="en-US" sz="1098" dirty="0">
                <a:solidFill>
                  <a:srgbClr val="E6D19A"/>
                </a:solidFill>
                <a:latin typeface="Times New Roman"/>
              </a:rPr>
              <a:t>務 單</a:t>
            </a:r>
          </a:p>
          <a:p>
            <a:pPr marL="0" marR="0" lvl="0" indent="0" defTabSz="914400" eaLnBrk="1" fontAlgn="auto" latinLnBrk="0" hangingPunct="1">
              <a:lnSpc>
                <a:spcPts val="1248"/>
              </a:lnSpc>
              <a:buClrTx/>
              <a:buSzTx/>
              <a:buNone/>
              <a:tabLst>
                <a:tab pos="165100" algn="l"/>
                <a:tab pos="330200" algn="l"/>
                <a:tab pos="508000" algn="l"/>
              </a:tabLst>
              <a:defRPr/>
            </a:pPr>
            <a:r>
              <a:rPr lang="zh-CN" altLang="en-US" sz="1098" dirty="0">
                <a:solidFill>
                  <a:srgbClr val="E6D19A"/>
                </a:solidFill>
                <a:latin typeface="Times New Roman"/>
              </a:rPr>
              <a:t>單 位</a:t>
            </a:r>
          </a:p>
          <a:p>
            <a:pPr marL="0" marR="0" lvl="0" indent="0" defTabSz="914400" eaLnBrk="1" fontAlgn="auto" latinLnBrk="0" hangingPunct="1">
              <a:lnSpc>
                <a:spcPts val="1200"/>
              </a:lnSpc>
              <a:buClrTx/>
              <a:buSzTx/>
              <a:buNone/>
              <a:tabLst>
                <a:tab pos="165100" algn="l"/>
                <a:tab pos="330200" algn="l"/>
                <a:tab pos="508000" algn="l"/>
              </a:tabLst>
              <a:defRPr/>
            </a:pPr>
            <a:r>
              <a:rPr lang="zh-CN" altLang="en-US" sz="1098" dirty="0">
                <a:solidFill>
                  <a:srgbClr val="E6D19A"/>
                </a:solidFill>
                <a:latin typeface="Times New Roman"/>
              </a:rPr>
              <a:t>位 </a:t>
            </a:r>
            <a:r>
              <a:rPr lang="en-US" altLang="zh-CN" sz="1098" b="1" dirty="0">
                <a:solidFill>
                  <a:srgbClr val="E6D19A"/>
                </a:solidFill>
                <a:latin typeface="Times New Roman"/>
              </a:rPr>
              <a:t>B</a:t>
            </a:r>
          </a:p>
          <a:p>
            <a:pPr marL="0" marR="0" lvl="0" indent="0" defTabSz="914400" eaLnBrk="1" fontAlgn="auto" latinLnBrk="0" hangingPunct="1">
              <a:lnSpc>
                <a:spcPts val="1002"/>
              </a:lnSpc>
              <a:buClrTx/>
              <a:buSzTx/>
              <a:buNone/>
              <a:tabLst>
                <a:tab pos="165100" algn="l"/>
                <a:tab pos="330200" algn="l"/>
                <a:tab pos="508000" algn="l"/>
              </a:tabLst>
              <a:defRPr/>
            </a:pPr>
            <a:r>
              <a:rPr lang="en-US" altLang="zh-CN" sz="1098" b="1" dirty="0">
                <a:solidFill>
                  <a:srgbClr val="E6D19A"/>
                </a:solidFill>
                <a:latin typeface="Times New Roman"/>
              </a:rPr>
              <a:t>A</a:t>
            </a:r>
            <a:endParaRPr lang="zh-CN" altLang="en-US" sz="1098" b="1" dirty="0">
              <a:solidFill>
                <a:srgbClr val="E6D19A"/>
              </a:solidFill>
              <a:latin typeface="Times New Roman"/>
            </a:endParaRPr>
          </a:p>
        </p:txBody>
      </p:sp>
      <p:sp>
        <p:nvSpPr>
          <p:cNvPr id="40" name="TextBox 39"/>
          <p:cNvSpPr txBox="1"/>
          <p:nvPr/>
        </p:nvSpPr>
        <p:spPr>
          <a:xfrm>
            <a:off x="558933" y="3761595"/>
            <a:ext cx="4616648" cy="320601"/>
          </a:xfrm>
          <a:prstGeom prst="rect">
            <a:avLst/>
          </a:prstGeom>
          <a:noFill/>
        </p:spPr>
        <p:txBody>
          <a:bodyPr vert="horz" wrap="none" lIns="0" tIns="0" rIns="0" bIns="0" rtlCol="0">
            <a:spAutoFit/>
          </a:bodyPr>
          <a:lstStyle/>
          <a:p>
            <a:pPr marL="0" marR="0" lvl="0" indent="0" defTabSz="914400" eaLnBrk="1" fontAlgn="auto" latinLnBrk="0" hangingPunct="1">
              <a:lnSpc>
                <a:spcPts val="1097"/>
              </a:lnSpc>
              <a:buClrTx/>
              <a:buSzTx/>
              <a:buNone/>
              <a:tabLst>
                <a:tab pos="4013200" algn="l"/>
              </a:tabLst>
              <a:defRPr/>
            </a:pPr>
            <a:r>
              <a:rPr lang="zh-CN" altLang="en-US" dirty="0"/>
              <a:t>	</a:t>
            </a:r>
            <a:r>
              <a:rPr lang="zh-CN" altLang="en-US" sz="1098" dirty="0">
                <a:solidFill>
                  <a:srgbClr val="E6D19A"/>
                </a:solidFill>
                <a:latin typeface="Times New Roman"/>
              </a:rPr>
              <a:t>控制環境</a:t>
            </a:r>
          </a:p>
          <a:p>
            <a:pPr marL="0" marR="0" lvl="0" indent="0" defTabSz="914400" eaLnBrk="1" fontAlgn="auto" latinLnBrk="0" hangingPunct="1">
              <a:lnSpc>
                <a:spcPts val="1352"/>
              </a:lnSpc>
              <a:buClrTx/>
              <a:buSzTx/>
              <a:buNone/>
              <a:tabLst>
                <a:tab pos="4013200" algn="l"/>
              </a:tabLst>
              <a:defRPr/>
            </a:pPr>
            <a:r>
              <a:rPr lang="zh-CN" altLang="en-US" sz="1200" dirty="0">
                <a:solidFill>
                  <a:srgbClr val="000000"/>
                </a:solidFill>
                <a:latin typeface="Times New Roman"/>
              </a:rPr>
              <a:t>信息和溝通</a:t>
            </a:r>
          </a:p>
        </p:txBody>
      </p:sp>
      <p:sp>
        <p:nvSpPr>
          <p:cNvPr id="42" name="TextBox 41"/>
          <p:cNvSpPr txBox="1"/>
          <p:nvPr/>
        </p:nvSpPr>
        <p:spPr>
          <a:xfrm>
            <a:off x="3411861" y="4313580"/>
            <a:ext cx="3282950" cy="2308324"/>
          </a:xfrm>
          <a:prstGeom prst="rect">
            <a:avLst/>
          </a:prstGeom>
          <a:noFill/>
        </p:spPr>
        <p:txBody>
          <a:bodyPr vert="horz" wrap="none" lIns="0" tIns="0" rIns="0" bIns="0" rtlCol="0">
            <a:spAutoFit/>
          </a:bodyPr>
          <a:lstStyle/>
          <a:p>
            <a:pPr marL="0" marR="0" lvl="0" indent="0" defTabSz="914400" eaLnBrk="1" fontAlgn="auto" latinLnBrk="0" hangingPunct="1">
              <a:lnSpc>
                <a:spcPts val="1199"/>
              </a:lnSpc>
              <a:buClrTx/>
              <a:buSzTx/>
              <a:buNone/>
              <a:tabLst>
                <a:tab pos="444500" algn="l"/>
                <a:tab pos="609600" algn="l"/>
                <a:tab pos="1320800" algn="l"/>
              </a:tabLst>
              <a:defRPr/>
            </a:pPr>
            <a:r>
              <a:rPr lang="zh-CN" altLang="en-US" dirty="0"/>
              <a:t>			</a:t>
            </a:r>
            <a:r>
              <a:rPr lang="zh-CN" altLang="en-US" sz="1200" dirty="0">
                <a:solidFill>
                  <a:srgbClr val="FFFFFF"/>
                </a:solidFill>
                <a:latin typeface="Times New Roman"/>
              </a:rPr>
              <a:t>控制環境</a:t>
            </a:r>
          </a:p>
          <a:p>
            <a:pPr marL="0" marR="0" lvl="0" indent="0" defTabSz="914400" eaLnBrk="1" fontAlgn="auto" latinLnBrk="0" hangingPunct="1">
              <a:lnSpc>
                <a:spcPts val="1000"/>
              </a:lnSpc>
              <a:buClrTx/>
              <a:buSzTx/>
              <a:buNone/>
              <a:tabLst>
                <a:tab pos="444500" algn="l"/>
                <a:tab pos="609600" algn="l"/>
                <a:tab pos="1320800" algn="l"/>
              </a:tabLst>
              <a:defRPr/>
            </a:pPr>
            <a:endParaRPr lang="zh-CN" altLang="en-US" sz="1200" dirty="0">
              <a:solidFill>
                <a:srgbClr val="FFFFFF"/>
              </a:solidFill>
              <a:latin typeface="Times New Roman"/>
            </a:endParaRPr>
          </a:p>
          <a:p>
            <a:pPr marL="0" marR="0" lvl="0" indent="0" defTabSz="914400" eaLnBrk="1" fontAlgn="auto" latinLnBrk="0" hangingPunct="1">
              <a:lnSpc>
                <a:spcPts val="1244"/>
              </a:lnSpc>
              <a:buClrTx/>
              <a:buSzTx/>
              <a:buNone/>
              <a:tabLst>
                <a:tab pos="444500" algn="l"/>
                <a:tab pos="609600" algn="l"/>
                <a:tab pos="1320800" algn="l"/>
              </a:tabLst>
              <a:defRPr/>
            </a:pPr>
            <a:r>
              <a:rPr lang="zh-CN" altLang="en-US" sz="1200" dirty="0">
                <a:solidFill>
                  <a:srgbClr val="FFFFFF"/>
                </a:solidFill>
                <a:latin typeface="Times New Roman"/>
              </a:rPr>
              <a:t>	營造單位氣氛－讓公司員工建立內部</a:t>
            </a:r>
          </a:p>
          <a:p>
            <a:pPr marL="0" marR="0" lvl="0" indent="0" defTabSz="914400" eaLnBrk="1" fontAlgn="auto" latinLnBrk="0" hangingPunct="1">
              <a:lnSpc>
                <a:spcPts val="1356"/>
              </a:lnSpc>
              <a:buClrTx/>
              <a:buSzTx/>
              <a:buNone/>
              <a:tabLst>
                <a:tab pos="444500" algn="l"/>
                <a:tab pos="609600" algn="l"/>
                <a:tab pos="1320800" algn="l"/>
              </a:tabLst>
              <a:defRPr/>
            </a:pPr>
            <a:r>
              <a:rPr lang="zh-CN" altLang="en-US" sz="1200" dirty="0">
                <a:solidFill>
                  <a:srgbClr val="FFFFFF"/>
                </a:solidFill>
                <a:latin typeface="Times New Roman"/>
              </a:rPr>
              <a:t>	控制</a:t>
            </a:r>
          </a:p>
          <a:p>
            <a:pPr marL="0" marR="0" lvl="0" indent="0" defTabSz="914400" eaLnBrk="1" fontAlgn="auto" latinLnBrk="0" hangingPunct="1">
              <a:lnSpc>
                <a:spcPts val="1000"/>
              </a:lnSpc>
              <a:buClrTx/>
              <a:buSzTx/>
              <a:buNone/>
              <a:tabLst>
                <a:tab pos="444500" algn="l"/>
                <a:tab pos="609600" algn="l"/>
                <a:tab pos="1320800" algn="l"/>
              </a:tabLst>
              <a:defRPr/>
            </a:pPr>
            <a:endParaRPr lang="zh-CN" altLang="en-US" sz="1200" dirty="0">
              <a:solidFill>
                <a:srgbClr val="FFFFFF"/>
              </a:solidFill>
              <a:latin typeface="Times New Roman"/>
            </a:endParaRPr>
          </a:p>
          <a:p>
            <a:pPr marL="0" marR="0" lvl="0" indent="0" defTabSz="914400" eaLnBrk="1" fontAlgn="auto" latinLnBrk="0" hangingPunct="1">
              <a:lnSpc>
                <a:spcPts val="1244"/>
              </a:lnSpc>
              <a:buClrTx/>
              <a:buSzTx/>
              <a:buNone/>
              <a:tabLst>
                <a:tab pos="444500" algn="l"/>
                <a:tab pos="609600" algn="l"/>
                <a:tab pos="1320800" algn="l"/>
              </a:tabLst>
              <a:defRPr/>
            </a:pPr>
            <a:r>
              <a:rPr lang="zh-CN" altLang="en-US" sz="1200" dirty="0">
                <a:solidFill>
                  <a:srgbClr val="FFFFFF"/>
                </a:solidFill>
                <a:latin typeface="Times New Roman"/>
              </a:rPr>
              <a:t>	因素包括正直，道德價值，能力，權</a:t>
            </a:r>
          </a:p>
          <a:p>
            <a:pPr marL="0" marR="0" lvl="0" indent="0" defTabSz="914400" eaLnBrk="1" fontAlgn="auto" latinLnBrk="0" hangingPunct="1">
              <a:lnSpc>
                <a:spcPts val="1356"/>
              </a:lnSpc>
              <a:buClrTx/>
              <a:buSzTx/>
              <a:buNone/>
              <a:tabLst>
                <a:tab pos="444500" algn="l"/>
                <a:tab pos="609600" algn="l"/>
                <a:tab pos="1320800" algn="l"/>
              </a:tabLst>
              <a:defRPr/>
            </a:pPr>
            <a:r>
              <a:rPr lang="zh-CN" altLang="en-US" sz="1200" dirty="0">
                <a:solidFill>
                  <a:srgbClr val="FFFFFF"/>
                </a:solidFill>
                <a:latin typeface="Times New Roman"/>
              </a:rPr>
              <a:t>	威和責任</a:t>
            </a:r>
          </a:p>
          <a:p>
            <a:pPr marL="0" marR="0" lvl="0" indent="0" defTabSz="914400" eaLnBrk="1" fontAlgn="auto" latinLnBrk="0" hangingPunct="1">
              <a:lnSpc>
                <a:spcPts val="2166"/>
              </a:lnSpc>
              <a:buClrTx/>
              <a:buSzTx/>
              <a:buNone/>
              <a:tabLst>
                <a:tab pos="444500" algn="l"/>
                <a:tab pos="609600" algn="l"/>
                <a:tab pos="1320800" algn="l"/>
              </a:tabLst>
              <a:defRPr/>
            </a:pPr>
            <a:r>
              <a:rPr lang="zh-CN" altLang="en-US" sz="1200" dirty="0">
                <a:solidFill>
                  <a:srgbClr val="FFFFFF"/>
                </a:solidFill>
                <a:latin typeface="Times New Roman"/>
              </a:rPr>
              <a:t>	是其他內部控制組成部分的基礎</a:t>
            </a:r>
          </a:p>
          <a:p>
            <a:pPr marL="0" marR="0" lvl="0" indent="0" defTabSz="914400" eaLnBrk="1" fontAlgn="auto" latinLnBrk="0" hangingPunct="1">
              <a:lnSpc>
                <a:spcPts val="1000"/>
              </a:lnSpc>
              <a:buClrTx/>
              <a:buSzTx/>
              <a:buNone/>
              <a:tabLst>
                <a:tab pos="444500" algn="l"/>
                <a:tab pos="609600" algn="l"/>
                <a:tab pos="1320800" algn="l"/>
              </a:tabLst>
              <a:defRPr/>
            </a:pPr>
            <a:endParaRPr lang="zh-CN" altLang="en-US" sz="1200" dirty="0">
              <a:solidFill>
                <a:srgbClr val="FFFFFF"/>
              </a:solidFill>
              <a:latin typeface="Times New Roman"/>
            </a:endParaRPr>
          </a:p>
          <a:p>
            <a:pPr marL="0" marR="0" lvl="0" indent="0" defTabSz="914400" eaLnBrk="1" fontAlgn="auto" latinLnBrk="0" hangingPunct="1">
              <a:lnSpc>
                <a:spcPts val="1000"/>
              </a:lnSpc>
              <a:buClrTx/>
              <a:buSzTx/>
              <a:buNone/>
              <a:tabLst>
                <a:tab pos="444500" algn="l"/>
                <a:tab pos="609600" algn="l"/>
                <a:tab pos="1320800" algn="l"/>
              </a:tabLst>
              <a:defRPr/>
            </a:pPr>
            <a:endParaRPr lang="zh-CN" altLang="en-US" sz="1200" dirty="0">
              <a:solidFill>
                <a:srgbClr val="FFFFFF"/>
              </a:solidFill>
              <a:latin typeface="Times New Roman"/>
            </a:endParaRPr>
          </a:p>
          <a:p>
            <a:pPr marL="0" marR="0" lvl="0" indent="0" defTabSz="914400" eaLnBrk="1" fontAlgn="auto" latinLnBrk="0" hangingPunct="1">
              <a:lnSpc>
                <a:spcPts val="1000"/>
              </a:lnSpc>
              <a:buClrTx/>
              <a:buSzTx/>
              <a:buNone/>
              <a:tabLst>
                <a:tab pos="444500" algn="l"/>
                <a:tab pos="609600" algn="l"/>
                <a:tab pos="1320800" algn="l"/>
              </a:tabLst>
              <a:defRPr/>
            </a:pPr>
            <a:endParaRPr lang="zh-CN" altLang="en-US" sz="1200" dirty="0">
              <a:solidFill>
                <a:srgbClr val="FFFFFF"/>
              </a:solidFill>
              <a:latin typeface="Times New Roman"/>
            </a:endParaRPr>
          </a:p>
          <a:p>
            <a:pPr marL="0" marR="0" lvl="0" indent="0" defTabSz="914400" eaLnBrk="1" fontAlgn="auto" latinLnBrk="0" hangingPunct="1">
              <a:lnSpc>
                <a:spcPts val="2552"/>
              </a:lnSpc>
              <a:buClrTx/>
              <a:buSzTx/>
              <a:buNone/>
              <a:tabLst>
                <a:tab pos="444500" algn="l"/>
                <a:tab pos="609600" algn="l"/>
                <a:tab pos="1320800" algn="l"/>
              </a:tabLst>
              <a:defRPr/>
            </a:pPr>
            <a:r>
              <a:rPr lang="zh-CN" altLang="en-US" sz="1602" dirty="0">
                <a:solidFill>
                  <a:srgbClr val="761437"/>
                </a:solidFill>
                <a:latin typeface="Times New Roman"/>
              </a:rPr>
              <a:t>所有的五個部分必須同時作用才能使</a:t>
            </a:r>
          </a:p>
          <a:p>
            <a:pPr marL="0" marR="0" lvl="0" indent="0" defTabSz="914400" eaLnBrk="1" fontAlgn="auto" latinLnBrk="0" hangingPunct="1">
              <a:lnSpc>
                <a:spcPts val="1842"/>
              </a:lnSpc>
              <a:buClrTx/>
              <a:buSzTx/>
              <a:buNone/>
              <a:tabLst>
                <a:tab pos="444500" algn="l"/>
                <a:tab pos="609600" algn="l"/>
                <a:tab pos="1320800" algn="l"/>
              </a:tabLst>
              <a:defRPr/>
            </a:pPr>
            <a:r>
              <a:rPr lang="zh-CN" altLang="en-US" sz="1602" dirty="0">
                <a:solidFill>
                  <a:srgbClr val="761437"/>
                </a:solidFill>
                <a:latin typeface="Times New Roman"/>
              </a:rPr>
              <a:t>		內部控制得以產生影響</a:t>
            </a:r>
          </a:p>
        </p:txBody>
      </p:sp>
      <p:sp>
        <p:nvSpPr>
          <p:cNvPr id="43" name="TextBox 42"/>
          <p:cNvSpPr txBox="1"/>
          <p:nvPr/>
        </p:nvSpPr>
        <p:spPr>
          <a:xfrm>
            <a:off x="7573905" y="4161180"/>
            <a:ext cx="1978106" cy="2603277"/>
          </a:xfrm>
          <a:prstGeom prst="rect">
            <a:avLst/>
          </a:prstGeom>
          <a:noFill/>
        </p:spPr>
        <p:txBody>
          <a:bodyPr vert="horz" wrap="none" lIns="0" tIns="0" rIns="0" bIns="0" rtlCol="0">
            <a:spAutoFit/>
          </a:bodyPr>
          <a:lstStyle/>
          <a:p>
            <a:pPr marL="0" marR="0" lvl="0" indent="0" defTabSz="914400" eaLnBrk="1" fontAlgn="auto" latinLnBrk="0" hangingPunct="1">
              <a:lnSpc>
                <a:spcPts val="1199"/>
              </a:lnSpc>
              <a:buClrTx/>
              <a:buSzTx/>
              <a:buNone/>
              <a:tabLst>
                <a:tab pos="495300" algn="l"/>
              </a:tabLst>
              <a:defRPr/>
            </a:pPr>
            <a:r>
              <a:rPr lang="zh-CN" altLang="en-US" sz="1200" dirty="0">
                <a:solidFill>
                  <a:srgbClr val="FFFFFF"/>
                </a:solidFill>
                <a:latin typeface="Times New Roman"/>
              </a:rPr>
              <a:t>風險評估</a:t>
            </a:r>
          </a:p>
          <a:p>
            <a:pPr marL="0" marR="0" lvl="0" indent="0" defTabSz="914400" eaLnBrk="1" fontAlgn="auto" latinLnBrk="0" hangingPunct="1">
              <a:lnSpc>
                <a:spcPts val="1000"/>
              </a:lnSpc>
              <a:buClrTx/>
              <a:buSzTx/>
              <a:buNone/>
              <a:tabLst>
                <a:tab pos="495300" algn="l"/>
              </a:tabLst>
              <a:defRPr/>
            </a:pPr>
            <a:endParaRPr lang="zh-CN" altLang="en-US" sz="1200" dirty="0">
              <a:solidFill>
                <a:srgbClr val="FFFFFF"/>
              </a:solidFill>
              <a:latin typeface="Times New Roman"/>
            </a:endParaRPr>
          </a:p>
          <a:p>
            <a:pPr marL="0" marR="0" lvl="0" indent="0" defTabSz="914400" eaLnBrk="1" fontAlgn="auto" latinLnBrk="0" hangingPunct="1">
              <a:lnSpc>
                <a:spcPts val="1244"/>
              </a:lnSpc>
              <a:buClrTx/>
              <a:buSzTx/>
              <a:buNone/>
              <a:tabLst>
                <a:tab pos="495300" algn="l"/>
              </a:tabLst>
              <a:defRPr/>
            </a:pPr>
            <a:r>
              <a:rPr lang="zh-CN" altLang="en-US" sz="1200" dirty="0">
                <a:solidFill>
                  <a:srgbClr val="FFFFFF"/>
                </a:solidFill>
                <a:latin typeface="Times New Roman"/>
              </a:rPr>
              <a:t>風險評估是為了達到企業</a:t>
            </a:r>
          </a:p>
          <a:p>
            <a:pPr marL="0" marR="0" lvl="0" indent="0" defTabSz="914400" eaLnBrk="1" fontAlgn="auto" latinLnBrk="0" hangingPunct="1">
              <a:lnSpc>
                <a:spcPts val="1434"/>
              </a:lnSpc>
              <a:buClrTx/>
              <a:buSzTx/>
              <a:buNone/>
              <a:tabLst>
                <a:tab pos="495300" algn="l"/>
              </a:tabLst>
              <a:defRPr/>
            </a:pPr>
            <a:r>
              <a:rPr lang="zh-CN" altLang="en-US" sz="1200" dirty="0">
                <a:solidFill>
                  <a:srgbClr val="FFFFFF"/>
                </a:solidFill>
                <a:latin typeface="Times New Roman"/>
              </a:rPr>
              <a:t>目標而確認和分析相關的</a:t>
            </a:r>
          </a:p>
          <a:p>
            <a:pPr marL="0" marR="0" lvl="0" indent="0" defTabSz="914400" eaLnBrk="1" fontAlgn="auto" latinLnBrk="0" hangingPunct="1">
              <a:lnSpc>
                <a:spcPts val="1362"/>
              </a:lnSpc>
              <a:buClrTx/>
              <a:buSzTx/>
              <a:buNone/>
              <a:tabLst>
                <a:tab pos="495300" algn="l"/>
              </a:tabLst>
              <a:defRPr/>
            </a:pPr>
            <a:r>
              <a:rPr lang="zh-CN" altLang="en-US" sz="1200" dirty="0">
                <a:solidFill>
                  <a:srgbClr val="FFFFFF"/>
                </a:solidFill>
                <a:latin typeface="Times New Roman"/>
              </a:rPr>
              <a:t>風險</a:t>
            </a:r>
            <a:r>
              <a:rPr lang="en-US" altLang="zh-CN" sz="1200" dirty="0">
                <a:solidFill>
                  <a:srgbClr val="FFFFFF"/>
                </a:solidFill>
                <a:latin typeface="Times New Roman"/>
              </a:rPr>
              <a:t>-</a:t>
            </a:r>
            <a:r>
              <a:rPr lang="zh-CN" altLang="en-US" sz="1200" dirty="0">
                <a:solidFill>
                  <a:srgbClr val="FFFFFF"/>
                </a:solidFill>
                <a:latin typeface="Times New Roman"/>
              </a:rPr>
              <a:t>形成內部控制活動的</a:t>
            </a:r>
          </a:p>
          <a:p>
            <a:pPr marL="0" marR="0" lvl="0" indent="0" defTabSz="914400" eaLnBrk="1" fontAlgn="auto" latinLnBrk="0" hangingPunct="1">
              <a:lnSpc>
                <a:spcPts val="1512"/>
              </a:lnSpc>
              <a:buClrTx/>
              <a:buSzTx/>
              <a:buNone/>
              <a:tabLst>
                <a:tab pos="495300" algn="l"/>
              </a:tabLst>
              <a:defRPr/>
            </a:pPr>
            <a:r>
              <a:rPr lang="zh-CN" altLang="en-US" sz="1200" dirty="0">
                <a:solidFill>
                  <a:srgbClr val="FFFFFF"/>
                </a:solidFill>
                <a:latin typeface="Times New Roman"/>
              </a:rPr>
              <a:t>基礎</a:t>
            </a:r>
          </a:p>
          <a:p>
            <a:pPr marL="0" marR="0" lvl="0" indent="0" defTabSz="914400" eaLnBrk="1" fontAlgn="auto" latinLnBrk="0" hangingPunct="1">
              <a:lnSpc>
                <a:spcPts val="1000"/>
              </a:lnSpc>
              <a:buClrTx/>
              <a:buSzTx/>
              <a:buNone/>
              <a:tabLst>
                <a:tab pos="495300" algn="l"/>
              </a:tabLst>
              <a:defRPr/>
            </a:pPr>
            <a:endParaRPr lang="zh-CN" altLang="en-US" sz="1200" dirty="0">
              <a:solidFill>
                <a:srgbClr val="FFFFFF"/>
              </a:solidFill>
              <a:latin typeface="Times New Roman"/>
            </a:endParaRPr>
          </a:p>
          <a:p>
            <a:pPr marL="0" marR="0" lvl="0" indent="0" defTabSz="914400" eaLnBrk="1" fontAlgn="auto" latinLnBrk="0" hangingPunct="1">
              <a:lnSpc>
                <a:spcPts val="1000"/>
              </a:lnSpc>
              <a:buClrTx/>
              <a:buSzTx/>
              <a:buNone/>
              <a:tabLst>
                <a:tab pos="495300" algn="l"/>
              </a:tabLst>
              <a:defRPr/>
            </a:pPr>
            <a:endParaRPr lang="zh-CN" altLang="en-US" sz="1200" dirty="0">
              <a:solidFill>
                <a:srgbClr val="FFFFFF"/>
              </a:solidFill>
              <a:latin typeface="Times New Roman"/>
            </a:endParaRPr>
          </a:p>
          <a:p>
            <a:pPr marL="0" marR="0" lvl="0" indent="0" defTabSz="914400" eaLnBrk="1" fontAlgn="auto" latinLnBrk="0" hangingPunct="1">
              <a:lnSpc>
                <a:spcPts val="1000"/>
              </a:lnSpc>
              <a:buClrTx/>
              <a:buSzTx/>
              <a:buNone/>
              <a:tabLst>
                <a:tab pos="495300" algn="l"/>
              </a:tabLst>
              <a:defRPr/>
            </a:pPr>
            <a:endParaRPr lang="zh-CN" altLang="en-US" sz="1200" dirty="0">
              <a:solidFill>
                <a:srgbClr val="FFFFFF"/>
              </a:solidFill>
              <a:latin typeface="Times New Roman"/>
            </a:endParaRPr>
          </a:p>
          <a:p>
            <a:pPr marL="0" marR="0" lvl="0" indent="0" defTabSz="914400" eaLnBrk="1" fontAlgn="auto" latinLnBrk="0" hangingPunct="1">
              <a:lnSpc>
                <a:spcPts val="1000"/>
              </a:lnSpc>
              <a:buClrTx/>
              <a:buSzTx/>
              <a:buNone/>
              <a:tabLst>
                <a:tab pos="495300" algn="l"/>
              </a:tabLst>
              <a:defRPr/>
            </a:pPr>
            <a:endParaRPr lang="zh-CN" altLang="en-US" sz="1200" dirty="0">
              <a:solidFill>
                <a:srgbClr val="FFFFFF"/>
              </a:solidFill>
              <a:latin typeface="Times New Roman"/>
            </a:endParaRPr>
          </a:p>
          <a:p>
            <a:pPr marL="0" marR="0" lvl="0" indent="0" defTabSz="914400" eaLnBrk="1" fontAlgn="auto" latinLnBrk="0" hangingPunct="1">
              <a:lnSpc>
                <a:spcPts val="1000"/>
              </a:lnSpc>
              <a:buClrTx/>
              <a:buSzTx/>
              <a:buNone/>
              <a:tabLst>
                <a:tab pos="495300" algn="l"/>
              </a:tabLst>
              <a:defRPr/>
            </a:pPr>
            <a:endParaRPr lang="zh-CN" altLang="en-US" sz="1200" dirty="0">
              <a:solidFill>
                <a:srgbClr val="FFFFFF"/>
              </a:solidFill>
              <a:latin typeface="Times New Roman"/>
            </a:endParaRPr>
          </a:p>
          <a:p>
            <a:pPr marL="0" marR="0" lvl="0" indent="0" defTabSz="914400" eaLnBrk="1" fontAlgn="auto" latinLnBrk="0" hangingPunct="1">
              <a:lnSpc>
                <a:spcPts val="1000"/>
              </a:lnSpc>
              <a:buClrTx/>
              <a:buSzTx/>
              <a:buNone/>
              <a:tabLst>
                <a:tab pos="495300" algn="l"/>
              </a:tabLst>
              <a:defRPr/>
            </a:pPr>
            <a:endParaRPr lang="zh-CN" altLang="en-US" sz="1200" dirty="0">
              <a:solidFill>
                <a:srgbClr val="FFFFFF"/>
              </a:solidFill>
              <a:latin typeface="Times New Roman"/>
            </a:endParaRPr>
          </a:p>
          <a:p>
            <a:pPr marL="0" marR="0" lvl="0" indent="0" defTabSz="914400" eaLnBrk="1" fontAlgn="auto" latinLnBrk="0" hangingPunct="1">
              <a:lnSpc>
                <a:spcPts val="1000"/>
              </a:lnSpc>
              <a:buClrTx/>
              <a:buSzTx/>
              <a:buNone/>
              <a:tabLst>
                <a:tab pos="495300" algn="l"/>
              </a:tabLst>
              <a:defRPr/>
            </a:pPr>
            <a:endParaRPr lang="zh-CN" altLang="en-US" sz="1200" dirty="0">
              <a:solidFill>
                <a:srgbClr val="FFFFFF"/>
              </a:solidFill>
              <a:latin typeface="Times New Roman"/>
            </a:endParaRPr>
          </a:p>
          <a:p>
            <a:pPr marL="0" marR="0" lvl="0" indent="0" defTabSz="914400" eaLnBrk="1" fontAlgn="auto" latinLnBrk="0" hangingPunct="1">
              <a:lnSpc>
                <a:spcPts val="1000"/>
              </a:lnSpc>
              <a:buClrTx/>
              <a:buSzTx/>
              <a:buNone/>
              <a:tabLst>
                <a:tab pos="495300" algn="l"/>
              </a:tabLst>
              <a:defRPr/>
            </a:pPr>
            <a:endParaRPr lang="zh-CN" altLang="en-US" sz="1200" dirty="0">
              <a:solidFill>
                <a:srgbClr val="FFFFFF"/>
              </a:solidFill>
              <a:latin typeface="Times New Roman"/>
            </a:endParaRPr>
          </a:p>
          <a:p>
            <a:pPr marL="0" marR="0" lvl="0" indent="0" defTabSz="914400" eaLnBrk="1" fontAlgn="auto" latinLnBrk="0" hangingPunct="1">
              <a:lnSpc>
                <a:spcPts val="2776"/>
              </a:lnSpc>
              <a:buClrTx/>
              <a:buSzTx/>
              <a:buNone/>
              <a:tabLst>
                <a:tab pos="495300" algn="l"/>
              </a:tabLst>
              <a:defRPr/>
            </a:pPr>
            <a:r>
              <a:rPr lang="zh-CN" altLang="en-US" sz="1200" dirty="0">
                <a:solidFill>
                  <a:srgbClr val="FFFFFF"/>
                </a:solidFill>
                <a:latin typeface="Times New Roman"/>
              </a:rPr>
              <a:t>	</a:t>
            </a:r>
            <a:r>
              <a:rPr lang="en-US" altLang="zh-CN" dirty="0" err="1">
                <a:solidFill>
                  <a:srgbClr val="000000"/>
                </a:solidFill>
                <a:latin typeface="Times New Roman"/>
              </a:rPr>
              <a:t>Pwc</a:t>
            </a:r>
            <a:endParaRPr lang="en-US" altLang="zh-CN" dirty="0">
              <a:solidFill>
                <a:srgbClr val="000000"/>
              </a:solidFill>
              <a:latin typeface="Times New Roman"/>
            </a:endParaRPr>
          </a:p>
          <a:p>
            <a:pPr marL="0" marR="0" lvl="0" indent="0" defTabSz="914400" eaLnBrk="1" fontAlgn="auto" latinLnBrk="0" hangingPunct="1">
              <a:lnSpc>
                <a:spcPts val="1779"/>
              </a:lnSpc>
              <a:buClrTx/>
              <a:buSzTx/>
              <a:buNone/>
              <a:tabLst>
                <a:tab pos="495300" algn="l"/>
              </a:tabLst>
              <a:defRPr/>
            </a:pPr>
            <a:r>
              <a:rPr lang="en-US" altLang="zh-CN" dirty="0">
                <a:solidFill>
                  <a:srgbClr val="000000"/>
                </a:solidFill>
                <a:latin typeface="Times New Roman"/>
              </a:rPr>
              <a:t>	</a:t>
            </a:r>
            <a:r>
              <a:rPr lang="zh-CN" altLang="en-US" sz="1478" dirty="0">
                <a:solidFill>
                  <a:srgbClr val="000000"/>
                </a:solidFill>
                <a:latin typeface="Times New Roman"/>
              </a:rPr>
              <a:t>普     華     永     道</a:t>
            </a:r>
          </a:p>
        </p:txBody>
      </p:sp>
      <p:sp>
        <p:nvSpPr>
          <p:cNvPr id="44" name="Rectangle 1"/>
          <p:cNvSpPr>
            <a:spLocks noChangeArrowheads="1"/>
          </p:cNvSpPr>
          <p:nvPr/>
        </p:nvSpPr>
        <p:spPr bwMode="auto">
          <a:xfrm>
            <a:off x="0" y="-206452"/>
            <a:ext cx="1172116" cy="4129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88872"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TW" sz="1800" b="0" i="0" u="none" strike="noStrike" cap="none" normalizeH="0" baseline="0" dirty="0">
                <a:ln>
                  <a:noFill/>
                </a:ln>
                <a:solidFill>
                  <a:schemeClr val="tx1"/>
                </a:solidFill>
                <a:effectLst/>
                <a:latin typeface="Arial" pitchFamily="34" charset="0"/>
                <a:ea typeface="新細明體" pitchFamily="18" charset="-120"/>
                <a:cs typeface="新細明體" pitchFamily="18" charset="-120"/>
              </a:rPr>
              <a:t>內部控制 </a:t>
            </a:r>
          </a:p>
        </p:txBody>
      </p:sp>
      <p:sp>
        <p:nvSpPr>
          <p:cNvPr id="45" name="TextBox 40"/>
          <p:cNvSpPr txBox="1"/>
          <p:nvPr/>
        </p:nvSpPr>
        <p:spPr>
          <a:xfrm>
            <a:off x="558933" y="4195470"/>
            <a:ext cx="2462213" cy="1077218"/>
          </a:xfrm>
          <a:prstGeom prst="rect">
            <a:avLst/>
          </a:prstGeom>
          <a:noFill/>
          <a:effectLst/>
        </p:spPr>
        <p:txBody>
          <a:bodyPr vert="horz" wrap="none" lIns="0" tIns="0" rIns="0" bIns="0" rtlCol="0">
            <a:spAutoFit/>
          </a:bodyPr>
          <a:lstStyle/>
          <a:p>
            <a:pPr>
              <a:lnSpc>
                <a:spcPts val="1199"/>
              </a:lnSpc>
            </a:pPr>
            <a:r>
              <a:rPr lang="zh-CN" altLang="en-US" sz="1200" dirty="0">
                <a:solidFill>
                  <a:srgbClr val="000000"/>
                </a:solidFill>
                <a:latin typeface="Times New Roman"/>
              </a:rPr>
              <a:t>及時地獲取，確定並交流相關的資訊</a:t>
            </a:r>
          </a:p>
          <a:p>
            <a:pPr>
              <a:lnSpc>
                <a:spcPts val="2160"/>
              </a:lnSpc>
            </a:pPr>
            <a:r>
              <a:rPr lang="zh-CN" altLang="en-US" sz="1200" dirty="0">
                <a:solidFill>
                  <a:srgbClr val="000000"/>
                </a:solidFill>
                <a:latin typeface="Times New Roman"/>
              </a:rPr>
              <a:t>從內部和外部獲取資訊</a:t>
            </a:r>
          </a:p>
          <a:p>
            <a:pPr>
              <a:lnSpc>
                <a:spcPts val="2160"/>
              </a:lnSpc>
            </a:pPr>
            <a:r>
              <a:rPr lang="zh-CN" altLang="en-US" sz="1200" dirty="0">
                <a:solidFill>
                  <a:srgbClr val="000000"/>
                </a:solidFill>
                <a:latin typeface="Times New Roman"/>
              </a:rPr>
              <a:t>使得形成從職責方面的指示到管理層</a:t>
            </a:r>
          </a:p>
          <a:p>
            <a:pPr>
              <a:lnSpc>
                <a:spcPts val="1440"/>
              </a:lnSpc>
            </a:pPr>
            <a:r>
              <a:rPr lang="zh-CN" altLang="en-US" sz="1200" dirty="0">
                <a:solidFill>
                  <a:srgbClr val="000000"/>
                </a:solidFill>
                <a:latin typeface="Times New Roman"/>
              </a:rPr>
              <a:t>有關管理行動的發現總結等各方面各</a:t>
            </a:r>
          </a:p>
          <a:p>
            <a:pPr>
              <a:lnSpc>
                <a:spcPts val="1440"/>
              </a:lnSpc>
            </a:pPr>
            <a:r>
              <a:rPr lang="zh-CN" altLang="en-US" sz="1200" dirty="0">
                <a:solidFill>
                  <a:srgbClr val="000000"/>
                </a:solidFill>
                <a:latin typeface="Times New Roman"/>
              </a:rPr>
              <a:t>類內部控制成功的措施的資訊流</a:t>
            </a:r>
          </a:p>
        </p:txBody>
      </p:sp>
      <p:sp>
        <p:nvSpPr>
          <p:cNvPr id="46" name="TextBox 38"/>
          <p:cNvSpPr txBox="1"/>
          <p:nvPr/>
        </p:nvSpPr>
        <p:spPr>
          <a:xfrm>
            <a:off x="7491609" y="2234082"/>
            <a:ext cx="2059859" cy="1269578"/>
          </a:xfrm>
          <a:prstGeom prst="rect">
            <a:avLst/>
          </a:prstGeom>
          <a:noFill/>
        </p:spPr>
        <p:txBody>
          <a:bodyPr vert="horz" wrap="none" lIns="0" tIns="0" rIns="0" bIns="0" rtlCol="0">
            <a:spAutoFit/>
          </a:bodyPr>
          <a:lstStyle/>
          <a:p>
            <a:pPr>
              <a:lnSpc>
                <a:spcPts val="1199"/>
              </a:lnSpc>
            </a:pPr>
            <a:r>
              <a:rPr lang="zh-CN" altLang="en-US" sz="1200" dirty="0">
                <a:solidFill>
                  <a:srgbClr val="000000"/>
                </a:solidFill>
                <a:latin typeface="Times New Roman"/>
              </a:rPr>
              <a:t>控制活動</a:t>
            </a:r>
          </a:p>
          <a:p>
            <a:pPr>
              <a:lnSpc>
                <a:spcPts val="2166"/>
              </a:lnSpc>
            </a:pPr>
            <a:r>
              <a:rPr lang="zh-CN" altLang="en-US" sz="1200" dirty="0">
                <a:solidFill>
                  <a:srgbClr val="000000"/>
                </a:solidFill>
                <a:latin typeface="Times New Roman"/>
              </a:rPr>
              <a:t>確保管理活動付諸實施的政策</a:t>
            </a:r>
            <a:r>
              <a:rPr lang="en-US" altLang="zh-CN" sz="1200" dirty="0">
                <a:solidFill>
                  <a:srgbClr val="000000"/>
                </a:solidFill>
                <a:latin typeface="Times New Roman"/>
              </a:rPr>
              <a:t>/</a:t>
            </a:r>
          </a:p>
          <a:p>
            <a:pPr>
              <a:lnSpc>
                <a:spcPts val="1512"/>
              </a:lnSpc>
            </a:pPr>
            <a:r>
              <a:rPr lang="zh-CN" altLang="en-US" sz="1200" dirty="0">
                <a:solidFill>
                  <a:srgbClr val="000000"/>
                </a:solidFill>
                <a:latin typeface="Times New Roman"/>
              </a:rPr>
              <a:t>流程。</a:t>
            </a:r>
          </a:p>
          <a:p>
            <a:pPr>
              <a:lnSpc>
                <a:spcPts val="2166"/>
              </a:lnSpc>
            </a:pPr>
            <a:r>
              <a:rPr lang="zh-CN" altLang="en-US" sz="1200" dirty="0">
                <a:solidFill>
                  <a:srgbClr val="000000"/>
                </a:solidFill>
                <a:latin typeface="Times New Roman"/>
              </a:rPr>
              <a:t>措施包括審批、授權、確認、</a:t>
            </a:r>
          </a:p>
          <a:p>
            <a:pPr>
              <a:lnSpc>
                <a:spcPts val="1434"/>
              </a:lnSpc>
            </a:pPr>
            <a:r>
              <a:rPr lang="zh-CN" altLang="en-US" sz="1200" dirty="0">
                <a:solidFill>
                  <a:srgbClr val="000000"/>
                </a:solidFill>
                <a:latin typeface="Times New Roman"/>
              </a:rPr>
              <a:t>建議、業績考核、資產安全和</a:t>
            </a:r>
          </a:p>
          <a:p>
            <a:pPr>
              <a:lnSpc>
                <a:spcPts val="1440"/>
              </a:lnSpc>
            </a:pPr>
            <a:r>
              <a:rPr lang="zh-CN" altLang="en-US" sz="1200" dirty="0">
                <a:solidFill>
                  <a:srgbClr val="000000"/>
                </a:solidFill>
                <a:latin typeface="Times New Roman"/>
              </a:rPr>
              <a:t>職責分離。</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myslide8">
    <p:spTree>
      <p:nvGrpSpPr>
        <p:cNvPr id="1" name=""/>
        <p:cNvGrpSpPr/>
        <p:nvPr/>
      </p:nvGrpSpPr>
      <p:grpSpPr>
        <a:xfrm>
          <a:off x="0" y="0"/>
          <a:ext cx="0" cy="0"/>
          <a:chOff x="0" y="0"/>
          <a:chExt cx="0" cy="0"/>
        </a:xfrm>
      </p:grpSpPr>
      <p:pic>
        <p:nvPicPr>
          <p:cNvPr id="2" name="图片 1" descr="ws_191.tmp"/>
          <p:cNvPicPr>
            <a:picLocks/>
          </p:cNvPicPr>
          <p:nvPr/>
        </p:nvPicPr>
        <p:blipFill>
          <a:blip r:embed="rId2"/>
          <a:stretch>
            <a:fillRect/>
          </a:stretch>
        </p:blipFill>
        <p:spPr>
          <a:xfrm>
            <a:off x="0" y="0"/>
            <a:ext cx="9880600" cy="6819900"/>
          </a:xfrm>
          <a:prstGeom prst="rect">
            <a:avLst/>
          </a:prstGeom>
        </p:spPr>
      </p:pic>
      <p:sp>
        <p:nvSpPr>
          <p:cNvPr id="3" name="TextBox 2"/>
          <p:cNvSpPr txBox="1"/>
          <p:nvPr/>
        </p:nvSpPr>
        <p:spPr>
          <a:xfrm>
            <a:off x="509403" y="6341571"/>
            <a:ext cx="72136" cy="133370"/>
          </a:xfrm>
          <a:prstGeom prst="rect">
            <a:avLst/>
          </a:prstGeom>
          <a:noFill/>
        </p:spPr>
        <p:txBody>
          <a:bodyPr vert="horz" wrap="none" lIns="0" tIns="0" rIns="0" bIns="0" rtlCol="0">
            <a:spAutoFit/>
          </a:bodyPr>
          <a:lstStyle/>
          <a:p>
            <a:pPr>
              <a:lnSpc>
                <a:spcPts val="1016"/>
              </a:lnSpc>
            </a:pPr>
            <a:r>
              <a:rPr lang="en-US" altLang="zh-CN" sz="1098" dirty="0">
                <a:solidFill>
                  <a:srgbClr val="761437"/>
                </a:solidFill>
                <a:latin typeface="Times New Roman"/>
              </a:rPr>
              <a:t>8</a:t>
            </a:r>
            <a:endParaRPr lang="zh-CN" altLang="en-US" sz="1098" dirty="0">
              <a:solidFill>
                <a:srgbClr val="761437"/>
              </a:solidFill>
              <a:latin typeface="Times New Roman"/>
            </a:endParaRPr>
          </a:p>
        </p:txBody>
      </p:sp>
      <p:sp>
        <p:nvSpPr>
          <p:cNvPr id="4" name="TextBox 3"/>
          <p:cNvSpPr txBox="1"/>
          <p:nvPr/>
        </p:nvSpPr>
        <p:spPr>
          <a:xfrm>
            <a:off x="412629" y="478739"/>
            <a:ext cx="5966377" cy="1295226"/>
          </a:xfrm>
          <a:prstGeom prst="rect">
            <a:avLst/>
          </a:prstGeom>
          <a:noFill/>
        </p:spPr>
        <p:txBody>
          <a:bodyPr vert="horz" wrap="none" lIns="0" tIns="0" rIns="0" bIns="0" rtlCol="0">
            <a:spAutoFit/>
          </a:bodyPr>
          <a:lstStyle/>
          <a:p>
            <a:pPr marL="0" marR="0" lvl="0" indent="0" defTabSz="914400" eaLnBrk="1" fontAlgn="auto" latinLnBrk="0" hangingPunct="1">
              <a:lnSpc>
                <a:spcPts val="3874"/>
              </a:lnSpc>
              <a:buClrTx/>
              <a:buSzTx/>
              <a:buNone/>
              <a:tabLst>
                <a:tab pos="495300" algn="l"/>
              </a:tabLst>
              <a:defRPr/>
            </a:pPr>
            <a:r>
              <a:rPr lang="zh-CN" altLang="en-US" dirty="0"/>
              <a:t>	</a:t>
            </a:r>
            <a:r>
              <a:rPr lang="zh-CN" altLang="en-US" sz="3600" dirty="0">
                <a:solidFill>
                  <a:srgbClr val="FFFFFF"/>
                </a:solidFill>
                <a:latin typeface="Times New Roman"/>
              </a:rPr>
              <a:t>內部控制體系 </a:t>
            </a:r>
            <a:r>
              <a:rPr lang="en-US" altLang="zh-CN" sz="3600" b="1" dirty="0">
                <a:solidFill>
                  <a:srgbClr val="FFFFFF"/>
                </a:solidFill>
                <a:latin typeface="Times New Roman"/>
              </a:rPr>
              <a:t>– COSO</a:t>
            </a:r>
            <a:r>
              <a:rPr lang="zh-CN" altLang="en-US" sz="3600" b="1" dirty="0">
                <a:solidFill>
                  <a:srgbClr val="FFFFFF"/>
                </a:solidFill>
                <a:latin typeface="Times New Roman"/>
              </a:rPr>
              <a:t>模型</a:t>
            </a:r>
          </a:p>
          <a:p>
            <a:pPr marL="0" marR="0" lvl="0" indent="0" defTabSz="914400" eaLnBrk="1" fontAlgn="auto" latinLnBrk="0" hangingPunct="1">
              <a:lnSpc>
                <a:spcPts val="1000"/>
              </a:lnSpc>
              <a:buClrTx/>
              <a:buSzTx/>
              <a:buNone/>
              <a:tabLst>
                <a:tab pos="495300" algn="l"/>
              </a:tabLst>
              <a:defRPr/>
            </a:pPr>
            <a:endParaRPr lang="zh-CN" altLang="en-US" sz="3600" b="1" dirty="0">
              <a:solidFill>
                <a:srgbClr val="FFFFFF"/>
              </a:solidFill>
              <a:latin typeface="Times New Roman"/>
            </a:endParaRPr>
          </a:p>
          <a:p>
            <a:pPr marL="0" marR="0" lvl="0" indent="0" defTabSz="914400" eaLnBrk="1" fontAlgn="auto" latinLnBrk="0" hangingPunct="1">
              <a:lnSpc>
                <a:spcPts val="1000"/>
              </a:lnSpc>
              <a:buClrTx/>
              <a:buSzTx/>
              <a:buNone/>
              <a:tabLst>
                <a:tab pos="495300" algn="l"/>
              </a:tabLst>
              <a:defRPr/>
            </a:pPr>
            <a:endParaRPr lang="zh-CN" altLang="en-US" sz="3600" b="1" dirty="0">
              <a:solidFill>
                <a:srgbClr val="FFFFFF"/>
              </a:solidFill>
              <a:latin typeface="Times New Roman"/>
            </a:endParaRPr>
          </a:p>
          <a:p>
            <a:pPr marL="0" marR="0" lvl="0" indent="0" defTabSz="914400" eaLnBrk="1" fontAlgn="auto" latinLnBrk="0" hangingPunct="1">
              <a:lnSpc>
                <a:spcPts val="1000"/>
              </a:lnSpc>
              <a:buClrTx/>
              <a:buSzTx/>
              <a:buNone/>
              <a:tabLst>
                <a:tab pos="495300" algn="l"/>
              </a:tabLst>
              <a:defRPr/>
            </a:pPr>
            <a:endParaRPr lang="zh-CN" altLang="en-US" sz="3600" b="1" dirty="0">
              <a:solidFill>
                <a:srgbClr val="FFFFFF"/>
              </a:solidFill>
              <a:latin typeface="Times New Roman"/>
            </a:endParaRPr>
          </a:p>
          <a:p>
            <a:pPr marL="0" marR="0" lvl="0" indent="0" defTabSz="914400" eaLnBrk="1" fontAlgn="auto" latinLnBrk="0" hangingPunct="1">
              <a:lnSpc>
                <a:spcPts val="3150"/>
              </a:lnSpc>
              <a:buClrTx/>
              <a:buSzTx/>
              <a:buNone/>
              <a:tabLst>
                <a:tab pos="495300" algn="l"/>
              </a:tabLst>
              <a:defRPr/>
            </a:pPr>
            <a:r>
              <a:rPr lang="zh-CN" altLang="en-US" sz="2537" dirty="0">
                <a:solidFill>
                  <a:srgbClr val="000000"/>
                </a:solidFill>
                <a:latin typeface="Times New Roman"/>
              </a:rPr>
              <a:t>要素一 ：控制環境 － 內部控制的基礎</a:t>
            </a:r>
          </a:p>
        </p:txBody>
      </p:sp>
      <p:sp>
        <p:nvSpPr>
          <p:cNvPr id="5" name="TextBox 4"/>
          <p:cNvSpPr txBox="1"/>
          <p:nvPr/>
        </p:nvSpPr>
        <p:spPr>
          <a:xfrm>
            <a:off x="1385702" y="2905404"/>
            <a:ext cx="153888" cy="153888"/>
          </a:xfrm>
          <a:prstGeom prst="rect">
            <a:avLst/>
          </a:prstGeom>
          <a:noFill/>
        </p:spPr>
        <p:txBody>
          <a:bodyPr vert="horz" wrap="none" lIns="0" tIns="0" rIns="0" bIns="0" rtlCol="0">
            <a:spAutoFit/>
          </a:bodyPr>
          <a:lstStyle/>
          <a:p>
            <a:pPr>
              <a:lnSpc>
                <a:spcPts val="1199"/>
              </a:lnSpc>
            </a:pPr>
            <a:r>
              <a:rPr lang="zh-CN" altLang="en-US" sz="1200" dirty="0">
                <a:solidFill>
                  <a:srgbClr val="000000"/>
                </a:solidFill>
                <a:latin typeface="Times New Roman"/>
              </a:rPr>
              <a:t>營</a:t>
            </a:r>
          </a:p>
        </p:txBody>
      </p:sp>
      <p:sp>
        <p:nvSpPr>
          <p:cNvPr id="6" name="TextBox 5"/>
          <p:cNvSpPr txBox="1"/>
          <p:nvPr/>
        </p:nvSpPr>
        <p:spPr>
          <a:xfrm>
            <a:off x="1725550" y="2610510"/>
            <a:ext cx="461665" cy="743793"/>
          </a:xfrm>
          <a:prstGeom prst="rect">
            <a:avLst/>
          </a:prstGeom>
          <a:noFill/>
        </p:spPr>
        <p:txBody>
          <a:bodyPr vert="horz" wrap="none" lIns="0" tIns="0" rIns="0" bIns="0" rtlCol="0">
            <a:spAutoFit/>
          </a:bodyPr>
          <a:lstStyle/>
          <a:p>
            <a:pPr marL="0" marR="0" lvl="0" indent="0" defTabSz="914400" eaLnBrk="1" fontAlgn="auto" latinLnBrk="0" hangingPunct="1">
              <a:lnSpc>
                <a:spcPts val="1199"/>
              </a:lnSpc>
              <a:buClrTx/>
              <a:buSzTx/>
              <a:buNone/>
              <a:tabLst>
                <a:tab pos="139700" algn="l"/>
                <a:tab pos="304800" algn="l"/>
              </a:tabLst>
              <a:defRPr/>
            </a:pPr>
            <a:r>
              <a:rPr lang="zh-CN" altLang="en-US" sz="1200" dirty="0">
                <a:solidFill>
                  <a:srgbClr val="000000"/>
                </a:solidFill>
                <a:latin typeface="Times New Roman"/>
              </a:rPr>
              <a:t>經</a:t>
            </a:r>
          </a:p>
          <a:p>
            <a:pPr marL="0" marR="0" lvl="0" indent="0" defTabSz="914400" eaLnBrk="1" fontAlgn="auto" latinLnBrk="0" hangingPunct="1">
              <a:lnSpc>
                <a:spcPts val="1000"/>
              </a:lnSpc>
              <a:buClrTx/>
              <a:buSzTx/>
              <a:buNone/>
              <a:tabLst>
                <a:tab pos="139700" algn="l"/>
                <a:tab pos="304800" algn="l"/>
              </a:tabLst>
              <a:defRPr/>
            </a:pPr>
            <a:endParaRPr lang="zh-CN" altLang="en-US" sz="1200" dirty="0">
              <a:solidFill>
                <a:srgbClr val="000000"/>
              </a:solidFill>
              <a:latin typeface="Times New Roman"/>
            </a:endParaRPr>
          </a:p>
          <a:p>
            <a:pPr marL="0" marR="0" lvl="0" indent="0" defTabSz="914400" eaLnBrk="1" fontAlgn="auto" latinLnBrk="0" hangingPunct="1">
              <a:lnSpc>
                <a:spcPts val="1802"/>
              </a:lnSpc>
              <a:buClrTx/>
              <a:buSzTx/>
              <a:buNone/>
              <a:tabLst>
                <a:tab pos="139700" algn="l"/>
                <a:tab pos="304800" algn="l"/>
              </a:tabLst>
              <a:defRPr/>
            </a:pPr>
            <a:r>
              <a:rPr lang="zh-CN" altLang="en-US" sz="1200" dirty="0">
                <a:solidFill>
                  <a:srgbClr val="000000"/>
                </a:solidFill>
                <a:latin typeface="Times New Roman"/>
              </a:rPr>
              <a:t>		財</a:t>
            </a:r>
          </a:p>
          <a:p>
            <a:pPr marL="0" marR="0" lvl="0" indent="0" defTabSz="914400" eaLnBrk="1" fontAlgn="auto" latinLnBrk="0" hangingPunct="1">
              <a:lnSpc>
                <a:spcPts val="1848"/>
              </a:lnSpc>
              <a:buClrTx/>
              <a:buSzTx/>
              <a:buNone/>
              <a:tabLst>
                <a:tab pos="139700" algn="l"/>
                <a:tab pos="304800" algn="l"/>
              </a:tabLst>
              <a:defRPr/>
            </a:pPr>
            <a:r>
              <a:rPr lang="zh-CN" altLang="en-US" sz="1200" dirty="0">
                <a:solidFill>
                  <a:srgbClr val="000000"/>
                </a:solidFill>
                <a:latin typeface="Times New Roman"/>
              </a:rPr>
              <a:t>	監控</a:t>
            </a:r>
          </a:p>
        </p:txBody>
      </p:sp>
      <p:sp>
        <p:nvSpPr>
          <p:cNvPr id="7" name="TextBox 6"/>
          <p:cNvSpPr txBox="1"/>
          <p:nvPr/>
        </p:nvSpPr>
        <p:spPr>
          <a:xfrm>
            <a:off x="2184270" y="2813964"/>
            <a:ext cx="153888" cy="153888"/>
          </a:xfrm>
          <a:prstGeom prst="rect">
            <a:avLst/>
          </a:prstGeom>
          <a:noFill/>
        </p:spPr>
        <p:txBody>
          <a:bodyPr vert="horz" wrap="none" lIns="0" tIns="0" rIns="0" bIns="0" rtlCol="0">
            <a:spAutoFit/>
          </a:bodyPr>
          <a:lstStyle/>
          <a:p>
            <a:pPr>
              <a:lnSpc>
                <a:spcPts val="1199"/>
              </a:lnSpc>
            </a:pPr>
            <a:r>
              <a:rPr lang="zh-CN" altLang="en-US" sz="1200" dirty="0">
                <a:solidFill>
                  <a:srgbClr val="000000"/>
                </a:solidFill>
                <a:latin typeface="Times New Roman"/>
              </a:rPr>
              <a:t>務</a:t>
            </a:r>
          </a:p>
        </p:txBody>
      </p:sp>
      <p:sp>
        <p:nvSpPr>
          <p:cNvPr id="8" name="TextBox 7"/>
          <p:cNvSpPr txBox="1"/>
          <p:nvPr/>
        </p:nvSpPr>
        <p:spPr>
          <a:xfrm>
            <a:off x="2339718" y="2524404"/>
            <a:ext cx="294953" cy="297325"/>
          </a:xfrm>
          <a:prstGeom prst="rect">
            <a:avLst/>
          </a:prstGeom>
          <a:noFill/>
        </p:spPr>
        <p:txBody>
          <a:bodyPr vert="horz" wrap="none" lIns="0" tIns="0" rIns="0" bIns="0" rtlCol="0">
            <a:spAutoFit/>
          </a:bodyPr>
          <a:lstStyle/>
          <a:p>
            <a:pPr marL="0" marR="0" lvl="0" indent="0" defTabSz="914400" eaLnBrk="1" fontAlgn="auto" latinLnBrk="0" hangingPunct="1">
              <a:lnSpc>
                <a:spcPts val="1199"/>
              </a:lnSpc>
              <a:buClrTx/>
              <a:buSzTx/>
              <a:buNone/>
              <a:tabLst>
                <a:tab pos="139700" algn="l"/>
              </a:tabLst>
              <a:defRPr/>
            </a:pPr>
            <a:r>
              <a:rPr lang="zh-CN" altLang="en-US" dirty="0"/>
              <a:t>	</a:t>
            </a:r>
            <a:r>
              <a:rPr lang="zh-CN" altLang="en-US" sz="1200" dirty="0">
                <a:solidFill>
                  <a:srgbClr val="000000"/>
                </a:solidFill>
                <a:latin typeface="Times New Roman"/>
              </a:rPr>
              <a:t>告</a:t>
            </a:r>
          </a:p>
          <a:p>
            <a:pPr marL="0" marR="0" lvl="0" indent="0" defTabSz="914400" eaLnBrk="1" fontAlgn="auto" latinLnBrk="0" hangingPunct="1">
              <a:lnSpc>
                <a:spcPts val="1080"/>
              </a:lnSpc>
              <a:buClrTx/>
              <a:buSzTx/>
              <a:buNone/>
              <a:tabLst>
                <a:tab pos="139700" algn="l"/>
              </a:tabLst>
              <a:defRPr/>
            </a:pPr>
            <a:r>
              <a:rPr lang="zh-CN" altLang="en-US" sz="1200" dirty="0">
                <a:solidFill>
                  <a:srgbClr val="000000"/>
                </a:solidFill>
                <a:latin typeface="Times New Roman"/>
              </a:rPr>
              <a:t>報</a:t>
            </a:r>
          </a:p>
        </p:txBody>
      </p:sp>
      <p:sp>
        <p:nvSpPr>
          <p:cNvPr id="9" name="TextBox 8"/>
          <p:cNvSpPr txBox="1"/>
          <p:nvPr/>
        </p:nvSpPr>
        <p:spPr>
          <a:xfrm>
            <a:off x="2713092" y="2926740"/>
            <a:ext cx="153888" cy="153888"/>
          </a:xfrm>
          <a:prstGeom prst="rect">
            <a:avLst/>
          </a:prstGeom>
          <a:noFill/>
        </p:spPr>
        <p:txBody>
          <a:bodyPr vert="horz" wrap="none" lIns="0" tIns="0" rIns="0" bIns="0" rtlCol="0">
            <a:spAutoFit/>
          </a:bodyPr>
          <a:lstStyle/>
          <a:p>
            <a:pPr>
              <a:lnSpc>
                <a:spcPts val="1199"/>
              </a:lnSpc>
            </a:pPr>
            <a:r>
              <a:rPr lang="zh-CN" altLang="en-US" sz="1200" dirty="0">
                <a:solidFill>
                  <a:srgbClr val="000000"/>
                </a:solidFill>
                <a:latin typeface="Times New Roman"/>
              </a:rPr>
              <a:t>合</a:t>
            </a:r>
          </a:p>
        </p:txBody>
      </p:sp>
      <p:sp>
        <p:nvSpPr>
          <p:cNvPr id="10" name="TextBox 9"/>
          <p:cNvSpPr txBox="1"/>
          <p:nvPr/>
        </p:nvSpPr>
        <p:spPr>
          <a:xfrm>
            <a:off x="2871589" y="2737764"/>
            <a:ext cx="153888" cy="153888"/>
          </a:xfrm>
          <a:prstGeom prst="rect">
            <a:avLst/>
          </a:prstGeom>
          <a:noFill/>
        </p:spPr>
        <p:txBody>
          <a:bodyPr vert="horz" wrap="none" lIns="0" tIns="0" rIns="0" bIns="0" rtlCol="0">
            <a:spAutoFit/>
          </a:bodyPr>
          <a:lstStyle/>
          <a:p>
            <a:pPr>
              <a:lnSpc>
                <a:spcPts val="1199"/>
              </a:lnSpc>
            </a:pPr>
            <a:r>
              <a:rPr lang="zh-CN" altLang="en-US" sz="1200" dirty="0">
                <a:solidFill>
                  <a:srgbClr val="000000"/>
                </a:solidFill>
                <a:latin typeface="Times New Roman"/>
              </a:rPr>
              <a:t>規</a:t>
            </a:r>
          </a:p>
        </p:txBody>
      </p:sp>
      <p:sp>
        <p:nvSpPr>
          <p:cNvPr id="11" name="TextBox 10"/>
          <p:cNvSpPr txBox="1"/>
          <p:nvPr/>
        </p:nvSpPr>
        <p:spPr>
          <a:xfrm>
            <a:off x="3098662" y="2585364"/>
            <a:ext cx="153888" cy="153888"/>
          </a:xfrm>
          <a:prstGeom prst="rect">
            <a:avLst/>
          </a:prstGeom>
          <a:noFill/>
        </p:spPr>
        <p:txBody>
          <a:bodyPr vert="horz" wrap="none" lIns="0" tIns="0" rIns="0" bIns="0" rtlCol="0">
            <a:spAutoFit/>
          </a:bodyPr>
          <a:lstStyle/>
          <a:p>
            <a:pPr>
              <a:lnSpc>
                <a:spcPts val="1199"/>
              </a:lnSpc>
            </a:pPr>
            <a:r>
              <a:rPr lang="zh-CN" altLang="en-US" sz="1200" dirty="0">
                <a:solidFill>
                  <a:srgbClr val="000000"/>
                </a:solidFill>
                <a:latin typeface="Times New Roman"/>
              </a:rPr>
              <a:t>性</a:t>
            </a:r>
          </a:p>
        </p:txBody>
      </p:sp>
      <p:sp>
        <p:nvSpPr>
          <p:cNvPr id="12" name="TextBox 11"/>
          <p:cNvSpPr txBox="1"/>
          <p:nvPr/>
        </p:nvSpPr>
        <p:spPr>
          <a:xfrm>
            <a:off x="3513201" y="3199536"/>
            <a:ext cx="153888" cy="153888"/>
          </a:xfrm>
          <a:prstGeom prst="rect">
            <a:avLst/>
          </a:prstGeom>
          <a:noFill/>
        </p:spPr>
        <p:txBody>
          <a:bodyPr vert="horz" wrap="none" lIns="0" tIns="0" rIns="0" bIns="0" rtlCol="0">
            <a:spAutoFit/>
          </a:bodyPr>
          <a:lstStyle/>
          <a:p>
            <a:pPr>
              <a:lnSpc>
                <a:spcPts val="1199"/>
              </a:lnSpc>
            </a:pPr>
            <a:r>
              <a:rPr lang="zh-CN" altLang="en-US" sz="1200" dirty="0">
                <a:solidFill>
                  <a:srgbClr val="000000"/>
                </a:solidFill>
                <a:latin typeface="Times New Roman"/>
              </a:rPr>
              <a:t>活</a:t>
            </a:r>
          </a:p>
        </p:txBody>
      </p:sp>
      <p:sp>
        <p:nvSpPr>
          <p:cNvPr id="13" name="TextBox 12"/>
          <p:cNvSpPr txBox="1"/>
          <p:nvPr/>
        </p:nvSpPr>
        <p:spPr>
          <a:xfrm>
            <a:off x="4972437" y="2670784"/>
            <a:ext cx="2014975" cy="666849"/>
          </a:xfrm>
          <a:prstGeom prst="rect">
            <a:avLst/>
          </a:prstGeom>
          <a:noFill/>
        </p:spPr>
        <p:txBody>
          <a:bodyPr vert="horz" wrap="none" lIns="0" tIns="0" rIns="0" bIns="0" rtlCol="0">
            <a:spAutoFit/>
          </a:bodyPr>
          <a:lstStyle/>
          <a:p>
            <a:pPr>
              <a:lnSpc>
                <a:spcPts val="1798"/>
              </a:lnSpc>
            </a:pPr>
            <a:r>
              <a:rPr lang="zh-CN" altLang="en-US" dirty="0">
                <a:solidFill>
                  <a:srgbClr val="FFFFFF"/>
                </a:solidFill>
                <a:latin typeface="Times New Roman"/>
              </a:rPr>
              <a:t>控制環境：</a:t>
            </a:r>
          </a:p>
          <a:p>
            <a:pPr>
              <a:lnSpc>
                <a:spcPts val="1000"/>
              </a:lnSpc>
            </a:pPr>
            <a:endParaRPr lang="zh-CN" altLang="en-US" dirty="0">
              <a:solidFill>
                <a:srgbClr val="FFFFFF"/>
              </a:solidFill>
              <a:latin typeface="Times New Roman"/>
            </a:endParaRPr>
          </a:p>
          <a:p>
            <a:pPr>
              <a:lnSpc>
                <a:spcPts val="2409"/>
              </a:lnSpc>
            </a:pPr>
            <a:r>
              <a:rPr lang="en-US" altLang="zh-CN" dirty="0">
                <a:solidFill>
                  <a:srgbClr val="FFFFFF"/>
                </a:solidFill>
                <a:latin typeface="Times New Roman"/>
              </a:rPr>
              <a:t>• </a:t>
            </a:r>
            <a:r>
              <a:rPr lang="zh-CN" altLang="en-US" dirty="0">
                <a:solidFill>
                  <a:srgbClr val="FFFFFF"/>
                </a:solidFill>
                <a:latin typeface="Times New Roman"/>
              </a:rPr>
              <a:t>是企業的整體氣氛</a:t>
            </a:r>
          </a:p>
        </p:txBody>
      </p:sp>
      <p:sp>
        <p:nvSpPr>
          <p:cNvPr id="14" name="TextBox 13"/>
          <p:cNvSpPr txBox="1"/>
          <p:nvPr/>
        </p:nvSpPr>
        <p:spPr>
          <a:xfrm>
            <a:off x="1703443" y="3505860"/>
            <a:ext cx="769441" cy="1231106"/>
          </a:xfrm>
          <a:prstGeom prst="rect">
            <a:avLst/>
          </a:prstGeom>
          <a:noFill/>
        </p:spPr>
        <p:txBody>
          <a:bodyPr vert="horz" wrap="none" lIns="0" tIns="0" rIns="0" bIns="0" rtlCol="0">
            <a:spAutoFit/>
          </a:bodyPr>
          <a:lstStyle/>
          <a:p>
            <a:pPr marL="0" marR="0" lvl="0" indent="0" defTabSz="914400" eaLnBrk="1" fontAlgn="auto" latinLnBrk="0" hangingPunct="1">
              <a:lnSpc>
                <a:spcPts val="1199"/>
              </a:lnSpc>
              <a:buClrTx/>
              <a:buSzTx/>
              <a:buNone/>
              <a:tabLst>
                <a:tab pos="88900" algn="l"/>
              </a:tabLst>
              <a:defRPr/>
            </a:pPr>
            <a:r>
              <a:rPr lang="zh-CN" altLang="en-US" sz="1200" dirty="0">
                <a:solidFill>
                  <a:srgbClr val="000000"/>
                </a:solidFill>
                <a:latin typeface="Times New Roman"/>
              </a:rPr>
              <a:t>資訊和溝通</a:t>
            </a:r>
          </a:p>
          <a:p>
            <a:pPr marL="0" marR="0" lvl="0" indent="0" defTabSz="914400" eaLnBrk="1" fontAlgn="auto" latinLnBrk="0" hangingPunct="1">
              <a:lnSpc>
                <a:spcPts val="1000"/>
              </a:lnSpc>
              <a:buClrTx/>
              <a:buSzTx/>
              <a:buNone/>
              <a:tabLst>
                <a:tab pos="88900" algn="l"/>
              </a:tabLst>
              <a:defRPr/>
            </a:pPr>
            <a:endParaRPr lang="zh-CN" altLang="en-US" sz="1200" dirty="0">
              <a:solidFill>
                <a:srgbClr val="000000"/>
              </a:solidFill>
              <a:latin typeface="Times New Roman"/>
            </a:endParaRPr>
          </a:p>
          <a:p>
            <a:pPr marL="0" marR="0" lvl="0" indent="0" defTabSz="914400" eaLnBrk="1" fontAlgn="auto" latinLnBrk="0" hangingPunct="1">
              <a:lnSpc>
                <a:spcPts val="1000"/>
              </a:lnSpc>
              <a:buClrTx/>
              <a:buSzTx/>
              <a:buNone/>
              <a:tabLst>
                <a:tab pos="88900" algn="l"/>
              </a:tabLst>
              <a:defRPr/>
            </a:pPr>
            <a:endParaRPr lang="zh-CN" altLang="en-US" sz="1200" dirty="0">
              <a:solidFill>
                <a:srgbClr val="000000"/>
              </a:solidFill>
              <a:latin typeface="Times New Roman"/>
            </a:endParaRPr>
          </a:p>
          <a:p>
            <a:pPr marL="0" marR="0" lvl="0" indent="0" defTabSz="914400" eaLnBrk="1" fontAlgn="auto" latinLnBrk="0" hangingPunct="1">
              <a:lnSpc>
                <a:spcPts val="1312"/>
              </a:lnSpc>
              <a:buClrTx/>
              <a:buSzTx/>
              <a:buNone/>
              <a:tabLst>
                <a:tab pos="88900" algn="l"/>
              </a:tabLst>
              <a:defRPr/>
            </a:pPr>
            <a:r>
              <a:rPr lang="zh-CN" altLang="en-US" sz="1200" dirty="0">
                <a:solidFill>
                  <a:srgbClr val="000000"/>
                </a:solidFill>
                <a:latin typeface="Times New Roman"/>
              </a:rPr>
              <a:t>	控制活動</a:t>
            </a:r>
          </a:p>
          <a:p>
            <a:pPr marL="0" marR="0" lvl="0" indent="0" defTabSz="914400" eaLnBrk="1" fontAlgn="auto" latinLnBrk="0" hangingPunct="1">
              <a:lnSpc>
                <a:spcPts val="1000"/>
              </a:lnSpc>
              <a:buClrTx/>
              <a:buSzTx/>
              <a:buNone/>
              <a:tabLst>
                <a:tab pos="88900" algn="l"/>
              </a:tabLst>
              <a:defRPr/>
            </a:pPr>
            <a:endParaRPr lang="zh-CN" altLang="en-US" sz="1200" dirty="0">
              <a:solidFill>
                <a:srgbClr val="000000"/>
              </a:solidFill>
              <a:latin typeface="Times New Roman"/>
            </a:endParaRPr>
          </a:p>
          <a:p>
            <a:pPr marL="0" marR="0" lvl="0" indent="0" defTabSz="914400" eaLnBrk="1" fontAlgn="auto" latinLnBrk="0" hangingPunct="1">
              <a:lnSpc>
                <a:spcPts val="1400"/>
              </a:lnSpc>
              <a:buClrTx/>
              <a:buSzTx/>
              <a:buNone/>
              <a:tabLst>
                <a:tab pos="88900" algn="l"/>
              </a:tabLst>
              <a:defRPr/>
            </a:pPr>
            <a:r>
              <a:rPr lang="zh-CN" altLang="en-US" sz="1200" dirty="0">
                <a:solidFill>
                  <a:srgbClr val="000000"/>
                </a:solidFill>
                <a:latin typeface="Times New Roman"/>
              </a:rPr>
              <a:t>	風險評估</a:t>
            </a:r>
          </a:p>
          <a:p>
            <a:pPr marL="0" marR="0" lvl="0" indent="0" defTabSz="914400" eaLnBrk="1" fontAlgn="auto" latinLnBrk="0" hangingPunct="1">
              <a:lnSpc>
                <a:spcPts val="1000"/>
              </a:lnSpc>
              <a:buClrTx/>
              <a:buSzTx/>
              <a:buNone/>
              <a:tabLst>
                <a:tab pos="88900" algn="l"/>
              </a:tabLst>
              <a:defRPr/>
            </a:pPr>
            <a:endParaRPr lang="zh-CN" altLang="en-US" sz="1200" dirty="0">
              <a:solidFill>
                <a:srgbClr val="000000"/>
              </a:solidFill>
              <a:latin typeface="Times New Roman"/>
            </a:endParaRPr>
          </a:p>
          <a:p>
            <a:pPr marL="0" marR="0" lvl="0" indent="0" defTabSz="914400" eaLnBrk="1" fontAlgn="auto" latinLnBrk="0" hangingPunct="1">
              <a:lnSpc>
                <a:spcPts val="1718"/>
              </a:lnSpc>
              <a:buClrTx/>
              <a:buSzTx/>
              <a:buNone/>
              <a:tabLst>
                <a:tab pos="88900" algn="l"/>
              </a:tabLst>
              <a:defRPr/>
            </a:pPr>
            <a:r>
              <a:rPr lang="zh-CN" altLang="en-US" sz="1200" dirty="0">
                <a:solidFill>
                  <a:srgbClr val="000000"/>
                </a:solidFill>
                <a:latin typeface="Times New Roman"/>
              </a:rPr>
              <a:t>	控制環境</a:t>
            </a:r>
          </a:p>
        </p:txBody>
      </p:sp>
      <p:sp>
        <p:nvSpPr>
          <p:cNvPr id="15" name="TextBox 14"/>
          <p:cNvSpPr txBox="1"/>
          <p:nvPr/>
        </p:nvSpPr>
        <p:spPr>
          <a:xfrm>
            <a:off x="2997323" y="3376320"/>
            <a:ext cx="689291" cy="936154"/>
          </a:xfrm>
          <a:prstGeom prst="rect">
            <a:avLst/>
          </a:prstGeom>
          <a:noFill/>
        </p:spPr>
        <p:txBody>
          <a:bodyPr vert="horz" wrap="none" lIns="0" tIns="0" rIns="0" bIns="0" rtlCol="0">
            <a:spAutoFit/>
          </a:bodyPr>
          <a:lstStyle/>
          <a:p>
            <a:pPr marL="0" marR="0" lvl="0" indent="0" defTabSz="914400" eaLnBrk="1" fontAlgn="auto" latinLnBrk="0" hangingPunct="1">
              <a:lnSpc>
                <a:spcPts val="1247"/>
              </a:lnSpc>
              <a:buClrTx/>
              <a:buSzTx/>
              <a:buNone/>
              <a:tabLst>
                <a:tab pos="165100" algn="l"/>
                <a:tab pos="342900" algn="l"/>
              </a:tabLst>
              <a:defRPr/>
            </a:pPr>
            <a:r>
              <a:rPr lang="zh-CN" altLang="en-US" dirty="0"/>
              <a:t>		</a:t>
            </a:r>
            <a:r>
              <a:rPr lang="zh-CN" altLang="en-US" sz="1200" dirty="0">
                <a:solidFill>
                  <a:srgbClr val="000000"/>
                </a:solidFill>
                <a:latin typeface="Times New Roman"/>
              </a:rPr>
              <a:t>活 動</a:t>
            </a:r>
          </a:p>
          <a:p>
            <a:pPr marL="0" marR="0" lvl="0" indent="0" defTabSz="914400" eaLnBrk="1" fontAlgn="auto" latinLnBrk="0" hangingPunct="1">
              <a:lnSpc>
                <a:spcPts val="1800"/>
              </a:lnSpc>
              <a:buClrTx/>
              <a:buSzTx/>
              <a:buNone/>
              <a:tabLst>
                <a:tab pos="165100" algn="l"/>
                <a:tab pos="342900" algn="l"/>
              </a:tabLst>
              <a:defRPr/>
            </a:pPr>
            <a:r>
              <a:rPr lang="zh-CN" altLang="en-US" sz="1200" dirty="0">
                <a:solidFill>
                  <a:srgbClr val="000000"/>
                </a:solidFill>
                <a:latin typeface="Times New Roman"/>
              </a:rPr>
              <a:t>	單 動 </a:t>
            </a:r>
            <a:r>
              <a:rPr lang="en-US" altLang="zh-CN" sz="1200" b="1" dirty="0">
                <a:solidFill>
                  <a:srgbClr val="000000"/>
                </a:solidFill>
                <a:latin typeface="Times New Roman"/>
              </a:rPr>
              <a:t>2</a:t>
            </a:r>
          </a:p>
          <a:p>
            <a:pPr marL="0" marR="0" lvl="0" indent="0" defTabSz="914400" eaLnBrk="1" fontAlgn="auto" latinLnBrk="0" hangingPunct="1">
              <a:lnSpc>
                <a:spcPts val="1434"/>
              </a:lnSpc>
              <a:buClrTx/>
              <a:buSzTx/>
              <a:buNone/>
              <a:tabLst>
                <a:tab pos="165100" algn="l"/>
                <a:tab pos="342900" algn="l"/>
              </a:tabLst>
              <a:defRPr/>
            </a:pPr>
            <a:r>
              <a:rPr lang="zh-CN" altLang="en-US" sz="1200" dirty="0">
                <a:solidFill>
                  <a:srgbClr val="000000"/>
                </a:solidFill>
                <a:latin typeface="Times New Roman"/>
              </a:rPr>
              <a:t>單 元 </a:t>
            </a:r>
            <a:r>
              <a:rPr lang="en-US" altLang="zh-CN" sz="1200" b="1" dirty="0">
                <a:solidFill>
                  <a:srgbClr val="000000"/>
                </a:solidFill>
                <a:latin typeface="Times New Roman"/>
              </a:rPr>
              <a:t>1</a:t>
            </a:r>
          </a:p>
          <a:p>
            <a:pPr marL="0" marR="0" lvl="0" indent="0" defTabSz="914400" eaLnBrk="1" fontAlgn="auto" latinLnBrk="0" hangingPunct="1">
              <a:lnSpc>
                <a:spcPts val="1454"/>
              </a:lnSpc>
              <a:buClrTx/>
              <a:buSzTx/>
              <a:buNone/>
              <a:tabLst>
                <a:tab pos="165100" algn="l"/>
                <a:tab pos="342900" algn="l"/>
              </a:tabLst>
              <a:defRPr/>
            </a:pPr>
            <a:r>
              <a:rPr lang="zh-CN" altLang="en-US" sz="1200" dirty="0">
                <a:solidFill>
                  <a:srgbClr val="000000"/>
                </a:solidFill>
                <a:latin typeface="Times New Roman"/>
              </a:rPr>
              <a:t>元 </a:t>
            </a:r>
            <a:r>
              <a:rPr lang="en-US" altLang="zh-CN" sz="1200" b="1" dirty="0">
                <a:solidFill>
                  <a:srgbClr val="000000"/>
                </a:solidFill>
                <a:latin typeface="Times New Roman"/>
              </a:rPr>
              <a:t>B</a:t>
            </a:r>
          </a:p>
          <a:p>
            <a:pPr marL="0" marR="0" lvl="0" indent="0" defTabSz="914400" eaLnBrk="1" fontAlgn="auto" latinLnBrk="0" hangingPunct="1">
              <a:lnSpc>
                <a:spcPts val="1398"/>
              </a:lnSpc>
              <a:buClrTx/>
              <a:buSzTx/>
              <a:buNone/>
              <a:tabLst>
                <a:tab pos="165100" algn="l"/>
                <a:tab pos="342900" algn="l"/>
              </a:tabLst>
              <a:defRPr/>
            </a:pPr>
            <a:r>
              <a:rPr lang="en-US" altLang="zh-CN" sz="1200" b="1" dirty="0">
                <a:solidFill>
                  <a:srgbClr val="000000"/>
                </a:solidFill>
                <a:latin typeface="Times New Roman"/>
              </a:rPr>
              <a:t>A</a:t>
            </a:r>
            <a:endParaRPr lang="zh-CN" altLang="en-US" sz="1200" b="1" dirty="0">
              <a:solidFill>
                <a:srgbClr val="000000"/>
              </a:solidFill>
              <a:latin typeface="Times New Roman"/>
            </a:endParaRPr>
          </a:p>
        </p:txBody>
      </p:sp>
      <p:sp>
        <p:nvSpPr>
          <p:cNvPr id="16" name="TextBox 15"/>
          <p:cNvSpPr txBox="1"/>
          <p:nvPr/>
        </p:nvSpPr>
        <p:spPr>
          <a:xfrm>
            <a:off x="4972437" y="3528034"/>
            <a:ext cx="2014975" cy="1141338"/>
          </a:xfrm>
          <a:prstGeom prst="rect">
            <a:avLst/>
          </a:prstGeom>
          <a:noFill/>
        </p:spPr>
        <p:txBody>
          <a:bodyPr vert="horz" wrap="none" lIns="0" tIns="0" rIns="0" bIns="0" rtlCol="0">
            <a:spAutoFit/>
          </a:bodyPr>
          <a:lstStyle/>
          <a:p>
            <a:pPr>
              <a:lnSpc>
                <a:spcPts val="1919"/>
              </a:lnSpc>
            </a:pPr>
            <a:r>
              <a:rPr lang="en-US" altLang="zh-CN" dirty="0">
                <a:solidFill>
                  <a:srgbClr val="FFFFFF"/>
                </a:solidFill>
                <a:latin typeface="Times New Roman"/>
              </a:rPr>
              <a:t>• </a:t>
            </a:r>
            <a:r>
              <a:rPr lang="zh-CN" altLang="en-US" dirty="0">
                <a:solidFill>
                  <a:srgbClr val="FFFFFF"/>
                </a:solidFill>
                <a:latin typeface="Times New Roman"/>
              </a:rPr>
              <a:t>影響員工的控制意</a:t>
            </a:r>
          </a:p>
          <a:p>
            <a:pPr>
              <a:lnSpc>
                <a:spcPts val="1000"/>
              </a:lnSpc>
            </a:pPr>
            <a:endParaRPr lang="zh-CN" altLang="en-US" dirty="0">
              <a:solidFill>
                <a:srgbClr val="FFFFFF"/>
              </a:solidFill>
              <a:latin typeface="Times New Roman"/>
            </a:endParaRPr>
          </a:p>
          <a:p>
            <a:pPr>
              <a:lnSpc>
                <a:spcPts val="2462"/>
              </a:lnSpc>
            </a:pPr>
            <a:r>
              <a:rPr lang="en-US" altLang="zh-CN" dirty="0">
                <a:solidFill>
                  <a:srgbClr val="FFFFFF"/>
                </a:solidFill>
                <a:latin typeface="Times New Roman"/>
              </a:rPr>
              <a:t>• </a:t>
            </a:r>
            <a:r>
              <a:rPr lang="zh-CN" altLang="en-US" dirty="0">
                <a:solidFill>
                  <a:srgbClr val="FFFFFF"/>
                </a:solidFill>
                <a:latin typeface="Times New Roman"/>
              </a:rPr>
              <a:t>是其他要素的基礎</a:t>
            </a:r>
          </a:p>
          <a:p>
            <a:pPr>
              <a:lnSpc>
                <a:spcPts val="1000"/>
              </a:lnSpc>
            </a:pPr>
            <a:endParaRPr lang="zh-CN" altLang="en-US" dirty="0">
              <a:solidFill>
                <a:srgbClr val="FFFFFF"/>
              </a:solidFill>
              <a:latin typeface="Times New Roman"/>
            </a:endParaRPr>
          </a:p>
          <a:p>
            <a:pPr>
              <a:lnSpc>
                <a:spcPts val="2462"/>
              </a:lnSpc>
            </a:pPr>
            <a:r>
              <a:rPr lang="en-US" altLang="zh-CN" dirty="0">
                <a:solidFill>
                  <a:srgbClr val="FFFFFF"/>
                </a:solidFill>
                <a:latin typeface="Times New Roman"/>
              </a:rPr>
              <a:t>• </a:t>
            </a:r>
            <a:r>
              <a:rPr lang="zh-CN" altLang="en-US" dirty="0">
                <a:solidFill>
                  <a:srgbClr val="FFFFFF"/>
                </a:solidFill>
                <a:latin typeface="Times New Roman"/>
              </a:rPr>
              <a:t>提供紀律約束和架</a:t>
            </a:r>
          </a:p>
        </p:txBody>
      </p:sp>
      <p:sp>
        <p:nvSpPr>
          <p:cNvPr id="17" name="TextBox 16"/>
          <p:cNvSpPr txBox="1"/>
          <p:nvPr/>
        </p:nvSpPr>
        <p:spPr>
          <a:xfrm>
            <a:off x="8067681" y="6285482"/>
            <a:ext cx="1477969" cy="461665"/>
          </a:xfrm>
          <a:prstGeom prst="rect">
            <a:avLst/>
          </a:prstGeom>
          <a:noFill/>
        </p:spPr>
        <p:txBody>
          <a:bodyPr vert="horz" wrap="none" lIns="0" tIns="0" rIns="0" bIns="0" rtlCol="0">
            <a:spAutoFit/>
          </a:bodyPr>
          <a:lstStyle/>
          <a:p>
            <a:pPr>
              <a:lnSpc>
                <a:spcPts val="1800"/>
              </a:lnSpc>
            </a:pPr>
            <a:r>
              <a:rPr lang="en-US" altLang="zh-CN" dirty="0" err="1">
                <a:solidFill>
                  <a:srgbClr val="000000"/>
                </a:solidFill>
                <a:latin typeface="Times New Roman"/>
              </a:rPr>
              <a:t>Pwc</a:t>
            </a:r>
            <a:endParaRPr lang="en-US" altLang="zh-CN" dirty="0">
              <a:solidFill>
                <a:srgbClr val="000000"/>
              </a:solidFill>
              <a:latin typeface="Times New Roman"/>
            </a:endParaRPr>
          </a:p>
          <a:p>
            <a:pPr>
              <a:lnSpc>
                <a:spcPts val="1779"/>
              </a:lnSpc>
            </a:pPr>
            <a:r>
              <a:rPr lang="zh-CN" altLang="en-US" sz="1478" dirty="0">
                <a:solidFill>
                  <a:srgbClr val="000000"/>
                </a:solidFill>
                <a:latin typeface="Times New Roman"/>
              </a:rPr>
              <a:t>普     華     永     道</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myslide9">
    <p:spTree>
      <p:nvGrpSpPr>
        <p:cNvPr id="1" name=""/>
        <p:cNvGrpSpPr/>
        <p:nvPr/>
      </p:nvGrpSpPr>
      <p:grpSpPr>
        <a:xfrm>
          <a:off x="0" y="0"/>
          <a:ext cx="0" cy="0"/>
          <a:chOff x="0" y="0"/>
          <a:chExt cx="0" cy="0"/>
        </a:xfrm>
      </p:grpSpPr>
      <p:pic>
        <p:nvPicPr>
          <p:cNvPr id="2" name="图片 1" descr="ws_193.tmp"/>
          <p:cNvPicPr>
            <a:picLocks/>
          </p:cNvPicPr>
          <p:nvPr/>
        </p:nvPicPr>
        <p:blipFill>
          <a:blip r:embed="rId2"/>
          <a:stretch>
            <a:fillRect/>
          </a:stretch>
        </p:blipFill>
        <p:spPr>
          <a:xfrm>
            <a:off x="0" y="0"/>
            <a:ext cx="9880600" cy="6819900"/>
          </a:xfrm>
          <a:prstGeom prst="rect">
            <a:avLst/>
          </a:prstGeom>
        </p:spPr>
      </p:pic>
      <p:sp>
        <p:nvSpPr>
          <p:cNvPr id="3" name="TextBox 2"/>
          <p:cNvSpPr txBox="1"/>
          <p:nvPr/>
        </p:nvSpPr>
        <p:spPr>
          <a:xfrm>
            <a:off x="509403" y="6341571"/>
            <a:ext cx="72136" cy="133370"/>
          </a:xfrm>
          <a:prstGeom prst="rect">
            <a:avLst/>
          </a:prstGeom>
          <a:noFill/>
        </p:spPr>
        <p:txBody>
          <a:bodyPr vert="horz" wrap="none" lIns="0" tIns="0" rIns="0" bIns="0" rtlCol="0">
            <a:spAutoFit/>
          </a:bodyPr>
          <a:lstStyle/>
          <a:p>
            <a:pPr>
              <a:lnSpc>
                <a:spcPts val="1016"/>
              </a:lnSpc>
            </a:pPr>
            <a:r>
              <a:rPr lang="en-US" altLang="zh-CN" sz="1098" dirty="0">
                <a:solidFill>
                  <a:srgbClr val="761437"/>
                </a:solidFill>
                <a:latin typeface="Times New Roman"/>
              </a:rPr>
              <a:t>9</a:t>
            </a:r>
            <a:endParaRPr lang="zh-CN" altLang="en-US" sz="1098" dirty="0">
              <a:solidFill>
                <a:srgbClr val="761437"/>
              </a:solidFill>
              <a:latin typeface="Times New Roman"/>
            </a:endParaRPr>
          </a:p>
        </p:txBody>
      </p:sp>
      <p:sp>
        <p:nvSpPr>
          <p:cNvPr id="4" name="TextBox 3"/>
          <p:cNvSpPr txBox="1"/>
          <p:nvPr/>
        </p:nvSpPr>
        <p:spPr>
          <a:xfrm>
            <a:off x="903358" y="507695"/>
            <a:ext cx="1846659" cy="461665"/>
          </a:xfrm>
          <a:prstGeom prst="rect">
            <a:avLst/>
          </a:prstGeom>
          <a:noFill/>
        </p:spPr>
        <p:txBody>
          <a:bodyPr vert="horz" wrap="none" lIns="0" tIns="0" rIns="0" bIns="0" rtlCol="0">
            <a:spAutoFit/>
          </a:bodyPr>
          <a:lstStyle/>
          <a:p>
            <a:pPr>
              <a:lnSpc>
                <a:spcPts val="3596"/>
              </a:lnSpc>
            </a:pPr>
            <a:r>
              <a:rPr lang="zh-CN" altLang="en-US" sz="3600" dirty="0">
                <a:solidFill>
                  <a:srgbClr val="FFFFFF"/>
                </a:solidFill>
                <a:latin typeface="Times New Roman"/>
              </a:rPr>
              <a:t>控制環境</a:t>
            </a:r>
          </a:p>
        </p:txBody>
      </p:sp>
      <p:sp>
        <p:nvSpPr>
          <p:cNvPr id="5" name="TextBox 4"/>
          <p:cNvSpPr txBox="1"/>
          <p:nvPr/>
        </p:nvSpPr>
        <p:spPr>
          <a:xfrm>
            <a:off x="565029" y="1511437"/>
            <a:ext cx="3231654" cy="359073"/>
          </a:xfrm>
          <a:prstGeom prst="rect">
            <a:avLst/>
          </a:prstGeom>
          <a:noFill/>
        </p:spPr>
        <p:txBody>
          <a:bodyPr vert="horz" wrap="none" lIns="0" tIns="0" rIns="0" bIns="0" rtlCol="0">
            <a:spAutoFit/>
          </a:bodyPr>
          <a:lstStyle/>
          <a:p>
            <a:pPr>
              <a:lnSpc>
                <a:spcPts val="2799"/>
              </a:lnSpc>
            </a:pPr>
            <a:r>
              <a:rPr lang="zh-CN" altLang="en-US" sz="2802" dirty="0">
                <a:solidFill>
                  <a:srgbClr val="000000"/>
                </a:solidFill>
                <a:latin typeface="Times New Roman"/>
              </a:rPr>
              <a:t>控制環境主要包括：</a:t>
            </a:r>
          </a:p>
        </p:txBody>
      </p:sp>
      <p:sp>
        <p:nvSpPr>
          <p:cNvPr id="6" name="TextBox 5"/>
          <p:cNvSpPr txBox="1"/>
          <p:nvPr/>
        </p:nvSpPr>
        <p:spPr>
          <a:xfrm>
            <a:off x="1461903" y="2244902"/>
            <a:ext cx="3071354" cy="910506"/>
          </a:xfrm>
          <a:prstGeom prst="rect">
            <a:avLst/>
          </a:prstGeom>
          <a:noFill/>
        </p:spPr>
        <p:txBody>
          <a:bodyPr vert="horz" wrap="none" lIns="0" tIns="0" rIns="0" bIns="0" rtlCol="0">
            <a:spAutoFit/>
          </a:bodyPr>
          <a:lstStyle/>
          <a:p>
            <a:pPr>
              <a:lnSpc>
                <a:spcPts val="2398"/>
              </a:lnSpc>
            </a:pPr>
            <a:r>
              <a:rPr lang="en-US" altLang="zh-CN" sz="2400" dirty="0">
                <a:solidFill>
                  <a:srgbClr val="000000"/>
                </a:solidFill>
                <a:latin typeface="Times New Roman"/>
              </a:rPr>
              <a:t>1. </a:t>
            </a:r>
            <a:r>
              <a:rPr lang="zh-CN" altLang="en-US" sz="2400" dirty="0">
                <a:solidFill>
                  <a:srgbClr val="000000"/>
                </a:solidFill>
                <a:latin typeface="Times New Roman"/>
              </a:rPr>
              <a:t>員工的誠信和道德觀</a:t>
            </a:r>
          </a:p>
          <a:p>
            <a:pPr>
              <a:lnSpc>
                <a:spcPts val="1000"/>
              </a:lnSpc>
            </a:pPr>
            <a:endParaRPr lang="zh-CN" altLang="en-US" sz="2400" dirty="0">
              <a:solidFill>
                <a:srgbClr val="000000"/>
              </a:solidFill>
              <a:latin typeface="Times New Roman"/>
            </a:endParaRPr>
          </a:p>
          <a:p>
            <a:pPr>
              <a:lnSpc>
                <a:spcPts val="1000"/>
              </a:lnSpc>
            </a:pPr>
            <a:endParaRPr lang="zh-CN" altLang="en-US" sz="2400" dirty="0">
              <a:solidFill>
                <a:srgbClr val="000000"/>
              </a:solidFill>
              <a:latin typeface="Times New Roman"/>
            </a:endParaRPr>
          </a:p>
          <a:p>
            <a:pPr>
              <a:lnSpc>
                <a:spcPts val="2722"/>
              </a:lnSpc>
            </a:pPr>
            <a:r>
              <a:rPr lang="en-US" altLang="zh-CN" sz="2400" dirty="0">
                <a:solidFill>
                  <a:srgbClr val="000000"/>
                </a:solidFill>
                <a:latin typeface="Times New Roman"/>
              </a:rPr>
              <a:t>•   </a:t>
            </a:r>
            <a:r>
              <a:rPr lang="zh-CN" altLang="en-US" sz="2400" dirty="0">
                <a:solidFill>
                  <a:srgbClr val="000000"/>
                </a:solidFill>
                <a:latin typeface="Times New Roman"/>
              </a:rPr>
              <a:t>員工的勝任能力</a:t>
            </a:r>
          </a:p>
        </p:txBody>
      </p:sp>
      <p:sp>
        <p:nvSpPr>
          <p:cNvPr id="7" name="TextBox 6"/>
          <p:cNvSpPr txBox="1"/>
          <p:nvPr/>
        </p:nvSpPr>
        <p:spPr>
          <a:xfrm>
            <a:off x="1461903" y="3445052"/>
            <a:ext cx="3108223" cy="307777"/>
          </a:xfrm>
          <a:prstGeom prst="rect">
            <a:avLst/>
          </a:prstGeom>
          <a:noFill/>
        </p:spPr>
        <p:txBody>
          <a:bodyPr vert="horz" wrap="none" lIns="0" tIns="0" rIns="0" bIns="0" rtlCol="0">
            <a:spAutoFit/>
          </a:bodyPr>
          <a:lstStyle/>
          <a:p>
            <a:pPr>
              <a:lnSpc>
                <a:spcPts val="2398"/>
              </a:lnSpc>
            </a:pPr>
            <a:r>
              <a:rPr lang="en-US" altLang="zh-CN" sz="2400" dirty="0">
                <a:solidFill>
                  <a:srgbClr val="000000"/>
                </a:solidFill>
                <a:latin typeface="Times New Roman"/>
              </a:rPr>
              <a:t>•   </a:t>
            </a:r>
            <a:r>
              <a:rPr lang="zh-CN" altLang="en-US" sz="2400" dirty="0">
                <a:solidFill>
                  <a:srgbClr val="000000"/>
                </a:solidFill>
                <a:latin typeface="Times New Roman"/>
              </a:rPr>
              <a:t>董事會和審計委員會</a:t>
            </a:r>
          </a:p>
        </p:txBody>
      </p:sp>
      <p:sp>
        <p:nvSpPr>
          <p:cNvPr id="8" name="TextBox 7"/>
          <p:cNvSpPr txBox="1"/>
          <p:nvPr/>
        </p:nvSpPr>
        <p:spPr>
          <a:xfrm>
            <a:off x="1461903" y="4044746"/>
            <a:ext cx="4339329" cy="910506"/>
          </a:xfrm>
          <a:prstGeom prst="rect">
            <a:avLst/>
          </a:prstGeom>
          <a:noFill/>
        </p:spPr>
        <p:txBody>
          <a:bodyPr vert="horz" wrap="none" lIns="0" tIns="0" rIns="0" bIns="0" rtlCol="0">
            <a:spAutoFit/>
          </a:bodyPr>
          <a:lstStyle/>
          <a:p>
            <a:pPr>
              <a:lnSpc>
                <a:spcPts val="2398"/>
              </a:lnSpc>
            </a:pPr>
            <a:r>
              <a:rPr lang="en-US" altLang="zh-CN" sz="2400" dirty="0">
                <a:solidFill>
                  <a:srgbClr val="000000"/>
                </a:solidFill>
                <a:latin typeface="Times New Roman"/>
              </a:rPr>
              <a:t>•   </a:t>
            </a:r>
            <a:r>
              <a:rPr lang="zh-CN" altLang="en-US" sz="2400" dirty="0">
                <a:solidFill>
                  <a:srgbClr val="000000"/>
                </a:solidFill>
                <a:latin typeface="Times New Roman"/>
              </a:rPr>
              <a:t>管理層的經營理念和經營風格</a:t>
            </a:r>
          </a:p>
          <a:p>
            <a:pPr>
              <a:lnSpc>
                <a:spcPts val="1000"/>
              </a:lnSpc>
            </a:pPr>
            <a:endParaRPr lang="zh-CN" altLang="en-US" sz="2400" dirty="0">
              <a:solidFill>
                <a:srgbClr val="000000"/>
              </a:solidFill>
              <a:latin typeface="Times New Roman"/>
            </a:endParaRPr>
          </a:p>
          <a:p>
            <a:pPr>
              <a:lnSpc>
                <a:spcPts val="1000"/>
              </a:lnSpc>
            </a:pPr>
            <a:endParaRPr lang="zh-CN" altLang="en-US" sz="2400" dirty="0">
              <a:solidFill>
                <a:srgbClr val="000000"/>
              </a:solidFill>
              <a:latin typeface="Times New Roman"/>
            </a:endParaRPr>
          </a:p>
          <a:p>
            <a:pPr>
              <a:lnSpc>
                <a:spcPts val="2728"/>
              </a:lnSpc>
            </a:pPr>
            <a:r>
              <a:rPr lang="en-US" altLang="zh-CN" sz="2400" dirty="0">
                <a:solidFill>
                  <a:srgbClr val="000000"/>
                </a:solidFill>
                <a:latin typeface="Times New Roman"/>
              </a:rPr>
              <a:t>•   </a:t>
            </a:r>
            <a:r>
              <a:rPr lang="zh-CN" altLang="en-US" sz="2400" dirty="0">
                <a:solidFill>
                  <a:srgbClr val="000000"/>
                </a:solidFill>
                <a:latin typeface="Times New Roman"/>
              </a:rPr>
              <a:t>組織結構</a:t>
            </a:r>
          </a:p>
        </p:txBody>
      </p:sp>
      <p:sp>
        <p:nvSpPr>
          <p:cNvPr id="9" name="TextBox 8"/>
          <p:cNvSpPr txBox="1"/>
          <p:nvPr/>
        </p:nvSpPr>
        <p:spPr>
          <a:xfrm>
            <a:off x="1461903" y="5244896"/>
            <a:ext cx="3416000" cy="910506"/>
          </a:xfrm>
          <a:prstGeom prst="rect">
            <a:avLst/>
          </a:prstGeom>
          <a:noFill/>
        </p:spPr>
        <p:txBody>
          <a:bodyPr vert="horz" wrap="none" lIns="0" tIns="0" rIns="0" bIns="0" rtlCol="0">
            <a:spAutoFit/>
          </a:bodyPr>
          <a:lstStyle/>
          <a:p>
            <a:pPr>
              <a:lnSpc>
                <a:spcPts val="2398"/>
              </a:lnSpc>
            </a:pPr>
            <a:r>
              <a:rPr lang="en-US" altLang="zh-CN" sz="2400" dirty="0">
                <a:solidFill>
                  <a:srgbClr val="000000"/>
                </a:solidFill>
                <a:latin typeface="Times New Roman"/>
              </a:rPr>
              <a:t>•   </a:t>
            </a:r>
            <a:r>
              <a:rPr lang="zh-CN" altLang="en-US" sz="2400" dirty="0">
                <a:solidFill>
                  <a:srgbClr val="000000"/>
                </a:solidFill>
                <a:latin typeface="Times New Roman"/>
              </a:rPr>
              <a:t>管理層授權和職責分工</a:t>
            </a:r>
          </a:p>
          <a:p>
            <a:pPr>
              <a:lnSpc>
                <a:spcPts val="1000"/>
              </a:lnSpc>
            </a:pPr>
            <a:endParaRPr lang="zh-CN" altLang="en-US" sz="2400" dirty="0">
              <a:solidFill>
                <a:srgbClr val="000000"/>
              </a:solidFill>
              <a:latin typeface="Times New Roman"/>
            </a:endParaRPr>
          </a:p>
          <a:p>
            <a:pPr>
              <a:lnSpc>
                <a:spcPts val="1000"/>
              </a:lnSpc>
            </a:pPr>
            <a:endParaRPr lang="zh-CN" altLang="en-US" sz="2400" dirty="0">
              <a:solidFill>
                <a:srgbClr val="000000"/>
              </a:solidFill>
              <a:latin typeface="Times New Roman"/>
            </a:endParaRPr>
          </a:p>
          <a:p>
            <a:pPr>
              <a:lnSpc>
                <a:spcPts val="2728"/>
              </a:lnSpc>
            </a:pPr>
            <a:r>
              <a:rPr lang="en-US" altLang="zh-CN" sz="2400" dirty="0">
                <a:solidFill>
                  <a:srgbClr val="000000"/>
                </a:solidFill>
                <a:latin typeface="Times New Roman"/>
              </a:rPr>
              <a:t>•   </a:t>
            </a:r>
            <a:r>
              <a:rPr lang="zh-CN" altLang="en-US" sz="2400" dirty="0">
                <a:solidFill>
                  <a:srgbClr val="000000"/>
                </a:solidFill>
                <a:latin typeface="Times New Roman"/>
              </a:rPr>
              <a:t>人力資源政策和措施</a:t>
            </a:r>
          </a:p>
        </p:txBody>
      </p:sp>
      <p:sp>
        <p:nvSpPr>
          <p:cNvPr id="10" name="TextBox 9"/>
          <p:cNvSpPr txBox="1"/>
          <p:nvPr/>
        </p:nvSpPr>
        <p:spPr>
          <a:xfrm>
            <a:off x="8067681" y="6285482"/>
            <a:ext cx="1477969" cy="461665"/>
          </a:xfrm>
          <a:prstGeom prst="rect">
            <a:avLst/>
          </a:prstGeom>
          <a:noFill/>
        </p:spPr>
        <p:txBody>
          <a:bodyPr vert="horz" wrap="none" lIns="0" tIns="0" rIns="0" bIns="0" rtlCol="0">
            <a:spAutoFit/>
          </a:bodyPr>
          <a:lstStyle/>
          <a:p>
            <a:pPr>
              <a:lnSpc>
                <a:spcPts val="1800"/>
              </a:lnSpc>
            </a:pPr>
            <a:r>
              <a:rPr lang="en-US" altLang="zh-CN" dirty="0" err="1">
                <a:solidFill>
                  <a:srgbClr val="000000"/>
                </a:solidFill>
                <a:latin typeface="Times New Roman"/>
              </a:rPr>
              <a:t>Pwc</a:t>
            </a:r>
            <a:endParaRPr lang="en-US" altLang="zh-CN" dirty="0">
              <a:solidFill>
                <a:srgbClr val="000000"/>
              </a:solidFill>
              <a:latin typeface="Times New Roman"/>
            </a:endParaRPr>
          </a:p>
          <a:p>
            <a:pPr>
              <a:lnSpc>
                <a:spcPts val="1779"/>
              </a:lnSpc>
            </a:pPr>
            <a:r>
              <a:rPr lang="zh-CN" altLang="en-US" sz="1478" dirty="0">
                <a:solidFill>
                  <a:srgbClr val="000000"/>
                </a:solidFill>
                <a:latin typeface="Times New Roman"/>
              </a:rPr>
              <a:t>普     華     永     道</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myslide10">
    <p:spTree>
      <p:nvGrpSpPr>
        <p:cNvPr id="1" name=""/>
        <p:cNvGrpSpPr/>
        <p:nvPr/>
      </p:nvGrpSpPr>
      <p:grpSpPr>
        <a:xfrm>
          <a:off x="0" y="0"/>
          <a:ext cx="0" cy="0"/>
          <a:chOff x="0" y="0"/>
          <a:chExt cx="0" cy="0"/>
        </a:xfrm>
      </p:grpSpPr>
      <p:pic>
        <p:nvPicPr>
          <p:cNvPr id="2" name="图片 1" descr="ws_195.tmp"/>
          <p:cNvPicPr>
            <a:picLocks/>
          </p:cNvPicPr>
          <p:nvPr/>
        </p:nvPicPr>
        <p:blipFill>
          <a:blip r:embed="rId2"/>
          <a:stretch>
            <a:fillRect/>
          </a:stretch>
        </p:blipFill>
        <p:spPr>
          <a:xfrm>
            <a:off x="0" y="0"/>
            <a:ext cx="9880600" cy="6819900"/>
          </a:xfrm>
          <a:prstGeom prst="rect">
            <a:avLst/>
          </a:prstGeom>
        </p:spPr>
      </p:pic>
      <p:sp>
        <p:nvSpPr>
          <p:cNvPr id="3" name="TextBox 2"/>
          <p:cNvSpPr txBox="1"/>
          <p:nvPr/>
        </p:nvSpPr>
        <p:spPr>
          <a:xfrm>
            <a:off x="1458850" y="2394864"/>
            <a:ext cx="153888" cy="153888"/>
          </a:xfrm>
          <a:prstGeom prst="rect">
            <a:avLst/>
          </a:prstGeom>
          <a:noFill/>
        </p:spPr>
        <p:txBody>
          <a:bodyPr vert="horz" wrap="none" lIns="0" tIns="0" rIns="0" bIns="0" rtlCol="0">
            <a:spAutoFit/>
          </a:bodyPr>
          <a:lstStyle/>
          <a:p>
            <a:pPr>
              <a:lnSpc>
                <a:spcPts val="1199"/>
              </a:lnSpc>
            </a:pPr>
            <a:r>
              <a:rPr lang="zh-CN" altLang="en-US" sz="1200" dirty="0">
                <a:solidFill>
                  <a:srgbClr val="000000"/>
                </a:solidFill>
                <a:latin typeface="Times New Roman"/>
              </a:rPr>
              <a:t>經</a:t>
            </a:r>
          </a:p>
        </p:txBody>
      </p:sp>
      <p:sp>
        <p:nvSpPr>
          <p:cNvPr id="4" name="TextBox 3"/>
          <p:cNvSpPr txBox="1"/>
          <p:nvPr/>
        </p:nvSpPr>
        <p:spPr>
          <a:xfrm>
            <a:off x="509403" y="6341571"/>
            <a:ext cx="144270" cy="133370"/>
          </a:xfrm>
          <a:prstGeom prst="rect">
            <a:avLst/>
          </a:prstGeom>
          <a:noFill/>
        </p:spPr>
        <p:txBody>
          <a:bodyPr vert="horz" wrap="none" lIns="0" tIns="0" rIns="0" bIns="0" rtlCol="0">
            <a:spAutoFit/>
          </a:bodyPr>
          <a:lstStyle/>
          <a:p>
            <a:pPr>
              <a:lnSpc>
                <a:spcPts val="1016"/>
              </a:lnSpc>
            </a:pPr>
            <a:r>
              <a:rPr lang="en-US" altLang="zh-CN" sz="1098" dirty="0">
                <a:solidFill>
                  <a:srgbClr val="761437"/>
                </a:solidFill>
                <a:latin typeface="Times New Roman"/>
              </a:rPr>
              <a:t>10</a:t>
            </a:r>
            <a:endParaRPr lang="zh-CN" altLang="en-US" sz="1098" dirty="0">
              <a:solidFill>
                <a:srgbClr val="761437"/>
              </a:solidFill>
              <a:latin typeface="Times New Roman"/>
            </a:endParaRPr>
          </a:p>
        </p:txBody>
      </p:sp>
      <p:sp>
        <p:nvSpPr>
          <p:cNvPr id="5" name="TextBox 4"/>
          <p:cNvSpPr txBox="1"/>
          <p:nvPr/>
        </p:nvSpPr>
        <p:spPr>
          <a:xfrm>
            <a:off x="608464" y="478739"/>
            <a:ext cx="5889433" cy="1372171"/>
          </a:xfrm>
          <a:prstGeom prst="rect">
            <a:avLst/>
          </a:prstGeom>
          <a:noFill/>
        </p:spPr>
        <p:txBody>
          <a:bodyPr vert="horz" wrap="none" lIns="0" tIns="0" rIns="0" bIns="0" rtlCol="0">
            <a:spAutoFit/>
          </a:bodyPr>
          <a:lstStyle/>
          <a:p>
            <a:pPr marL="0" marR="0" lvl="0" indent="0" defTabSz="914400" eaLnBrk="1" fontAlgn="auto" latinLnBrk="0" hangingPunct="1">
              <a:lnSpc>
                <a:spcPts val="3874"/>
              </a:lnSpc>
              <a:buClrTx/>
              <a:buSzTx/>
              <a:buNone/>
              <a:tabLst>
                <a:tab pos="304800" algn="l"/>
              </a:tabLst>
              <a:defRPr/>
            </a:pPr>
            <a:r>
              <a:rPr lang="zh-CN" altLang="en-US" dirty="0"/>
              <a:t>	</a:t>
            </a:r>
            <a:r>
              <a:rPr lang="zh-CN" altLang="en-US" sz="3600" dirty="0">
                <a:solidFill>
                  <a:srgbClr val="FFFFFF"/>
                </a:solidFill>
                <a:latin typeface="Times New Roman"/>
              </a:rPr>
              <a:t>內部控制體系  </a:t>
            </a:r>
            <a:r>
              <a:rPr lang="en-US" altLang="zh-CN" sz="3600" b="1" dirty="0">
                <a:solidFill>
                  <a:srgbClr val="FFFFFF"/>
                </a:solidFill>
                <a:latin typeface="Times New Roman"/>
              </a:rPr>
              <a:t>– COSO</a:t>
            </a:r>
            <a:r>
              <a:rPr lang="zh-CN" altLang="en-US" sz="3600" b="1" dirty="0">
                <a:solidFill>
                  <a:srgbClr val="FFFFFF"/>
                </a:solidFill>
                <a:latin typeface="Times New Roman"/>
              </a:rPr>
              <a:t>模型</a:t>
            </a:r>
          </a:p>
          <a:p>
            <a:pPr marL="0" marR="0" lvl="0" indent="0" defTabSz="914400" eaLnBrk="1" fontAlgn="auto" latinLnBrk="0" hangingPunct="1">
              <a:lnSpc>
                <a:spcPts val="1000"/>
              </a:lnSpc>
              <a:buClrTx/>
              <a:buSzTx/>
              <a:buNone/>
              <a:tabLst>
                <a:tab pos="304800" algn="l"/>
              </a:tabLst>
              <a:defRPr/>
            </a:pPr>
            <a:endParaRPr lang="zh-CN" altLang="en-US" sz="3600" b="1" dirty="0">
              <a:solidFill>
                <a:srgbClr val="FFFFFF"/>
              </a:solidFill>
              <a:latin typeface="Times New Roman"/>
            </a:endParaRPr>
          </a:p>
          <a:p>
            <a:pPr marL="0" marR="0" lvl="0" indent="0" defTabSz="914400" eaLnBrk="1" fontAlgn="auto" latinLnBrk="0" hangingPunct="1">
              <a:lnSpc>
                <a:spcPts val="1000"/>
              </a:lnSpc>
              <a:buClrTx/>
              <a:buSzTx/>
              <a:buNone/>
              <a:tabLst>
                <a:tab pos="304800" algn="l"/>
              </a:tabLst>
              <a:defRPr/>
            </a:pPr>
            <a:endParaRPr lang="zh-CN" altLang="en-US" sz="3600" b="1" dirty="0">
              <a:solidFill>
                <a:srgbClr val="FFFFFF"/>
              </a:solidFill>
              <a:latin typeface="Times New Roman"/>
            </a:endParaRPr>
          </a:p>
          <a:p>
            <a:pPr marL="0" marR="0" lvl="0" indent="0" defTabSz="914400" eaLnBrk="1" fontAlgn="auto" latinLnBrk="0" hangingPunct="1">
              <a:lnSpc>
                <a:spcPts val="1000"/>
              </a:lnSpc>
              <a:buClrTx/>
              <a:buSzTx/>
              <a:buNone/>
              <a:tabLst>
                <a:tab pos="304800" algn="l"/>
              </a:tabLst>
              <a:defRPr/>
            </a:pPr>
            <a:endParaRPr lang="zh-CN" altLang="en-US" sz="3600" b="1" dirty="0">
              <a:solidFill>
                <a:srgbClr val="FFFFFF"/>
              </a:solidFill>
              <a:latin typeface="Times New Roman"/>
            </a:endParaRPr>
          </a:p>
          <a:p>
            <a:pPr marL="0" marR="0" lvl="0" indent="0" defTabSz="914400" eaLnBrk="1" fontAlgn="auto" latinLnBrk="0" hangingPunct="1">
              <a:lnSpc>
                <a:spcPts val="1000"/>
              </a:lnSpc>
              <a:buClrTx/>
              <a:buSzTx/>
              <a:buNone/>
              <a:tabLst>
                <a:tab pos="304800" algn="l"/>
              </a:tabLst>
              <a:defRPr/>
            </a:pPr>
            <a:endParaRPr lang="zh-CN" altLang="en-US" sz="3600" b="1" dirty="0">
              <a:solidFill>
                <a:srgbClr val="FFFFFF"/>
              </a:solidFill>
              <a:latin typeface="Times New Roman"/>
            </a:endParaRPr>
          </a:p>
          <a:p>
            <a:pPr marL="0" marR="0" lvl="0" indent="0" defTabSz="914400" eaLnBrk="1" fontAlgn="auto" latinLnBrk="0" hangingPunct="1">
              <a:lnSpc>
                <a:spcPts val="2762"/>
              </a:lnSpc>
              <a:buClrTx/>
              <a:buSzTx/>
              <a:buNone/>
              <a:tabLst>
                <a:tab pos="304800" algn="l"/>
              </a:tabLst>
              <a:defRPr/>
            </a:pPr>
            <a:r>
              <a:rPr lang="zh-CN" altLang="en-US" sz="2537" dirty="0">
                <a:solidFill>
                  <a:srgbClr val="000000"/>
                </a:solidFill>
                <a:latin typeface="Times New Roman"/>
              </a:rPr>
              <a:t>要素二：風險評估</a:t>
            </a:r>
          </a:p>
        </p:txBody>
      </p:sp>
      <p:sp>
        <p:nvSpPr>
          <p:cNvPr id="6" name="TextBox 5"/>
          <p:cNvSpPr txBox="1"/>
          <p:nvPr/>
        </p:nvSpPr>
        <p:spPr>
          <a:xfrm>
            <a:off x="1119002" y="2689758"/>
            <a:ext cx="153888" cy="153888"/>
          </a:xfrm>
          <a:prstGeom prst="rect">
            <a:avLst/>
          </a:prstGeom>
          <a:noFill/>
        </p:spPr>
        <p:txBody>
          <a:bodyPr vert="horz" wrap="none" lIns="0" tIns="0" rIns="0" bIns="0" rtlCol="0">
            <a:spAutoFit/>
          </a:bodyPr>
          <a:lstStyle/>
          <a:p>
            <a:pPr>
              <a:lnSpc>
                <a:spcPts val="1199"/>
              </a:lnSpc>
            </a:pPr>
            <a:r>
              <a:rPr lang="zh-CN" altLang="en-US" sz="1200" dirty="0">
                <a:solidFill>
                  <a:srgbClr val="000000"/>
                </a:solidFill>
                <a:latin typeface="Times New Roman"/>
              </a:rPr>
              <a:t>營</a:t>
            </a:r>
          </a:p>
        </p:txBody>
      </p:sp>
      <p:sp>
        <p:nvSpPr>
          <p:cNvPr id="7" name="TextBox 6"/>
          <p:cNvSpPr txBox="1"/>
          <p:nvPr/>
        </p:nvSpPr>
        <p:spPr>
          <a:xfrm>
            <a:off x="1436743" y="2308758"/>
            <a:ext cx="936154" cy="1577355"/>
          </a:xfrm>
          <a:prstGeom prst="rect">
            <a:avLst/>
          </a:prstGeom>
          <a:noFill/>
        </p:spPr>
        <p:txBody>
          <a:bodyPr vert="horz" wrap="none" lIns="0" tIns="0" rIns="0" bIns="0" rtlCol="0">
            <a:spAutoFit/>
          </a:bodyPr>
          <a:lstStyle/>
          <a:p>
            <a:pPr marL="0" marR="0" lvl="0" indent="0" defTabSz="914400" eaLnBrk="1" fontAlgn="auto" latinLnBrk="0" hangingPunct="1">
              <a:lnSpc>
                <a:spcPts val="1199"/>
              </a:lnSpc>
              <a:buClrTx/>
              <a:buSzTx/>
              <a:buNone/>
              <a:tabLst>
                <a:tab pos="88900" algn="l"/>
                <a:tab pos="152400" algn="l"/>
                <a:tab pos="317500" algn="l"/>
                <a:tab pos="469900" algn="l"/>
                <a:tab pos="635000" algn="l"/>
                <a:tab pos="774700" algn="l"/>
              </a:tabLst>
              <a:defRPr/>
            </a:pPr>
            <a:r>
              <a:rPr lang="zh-CN" altLang="en-US" dirty="0"/>
              <a:t>						</a:t>
            </a:r>
            <a:r>
              <a:rPr lang="zh-CN" altLang="en-US" sz="1200" dirty="0">
                <a:solidFill>
                  <a:srgbClr val="000000"/>
                </a:solidFill>
                <a:latin typeface="Times New Roman"/>
              </a:rPr>
              <a:t>告</a:t>
            </a:r>
          </a:p>
          <a:p>
            <a:pPr marL="0" marR="0" lvl="0" indent="0" defTabSz="914400" eaLnBrk="1" fontAlgn="auto" latinLnBrk="0" hangingPunct="1">
              <a:lnSpc>
                <a:spcPts val="1074"/>
              </a:lnSpc>
              <a:buClrTx/>
              <a:buSzTx/>
              <a:buNone/>
              <a:tabLst>
                <a:tab pos="88900" algn="l"/>
                <a:tab pos="152400" algn="l"/>
                <a:tab pos="317500" algn="l"/>
                <a:tab pos="469900" algn="l"/>
                <a:tab pos="635000" algn="l"/>
                <a:tab pos="774700" algn="l"/>
              </a:tabLst>
              <a:defRPr/>
            </a:pPr>
            <a:r>
              <a:rPr lang="zh-CN" altLang="en-US" sz="1200" dirty="0">
                <a:solidFill>
                  <a:srgbClr val="000000"/>
                </a:solidFill>
                <a:latin typeface="Times New Roman"/>
              </a:rPr>
              <a:t>					報</a:t>
            </a:r>
          </a:p>
          <a:p>
            <a:pPr marL="0" marR="0" lvl="0" indent="0" defTabSz="914400" eaLnBrk="1" fontAlgn="auto" latinLnBrk="0" hangingPunct="1">
              <a:lnSpc>
                <a:spcPts val="1200"/>
              </a:lnSpc>
              <a:buClrTx/>
              <a:buSzTx/>
              <a:buNone/>
              <a:tabLst>
                <a:tab pos="88900" algn="l"/>
                <a:tab pos="152400" algn="l"/>
                <a:tab pos="317500" algn="l"/>
                <a:tab pos="469900" algn="l"/>
                <a:tab pos="635000" algn="l"/>
                <a:tab pos="774700" algn="l"/>
              </a:tabLst>
              <a:defRPr/>
            </a:pPr>
            <a:r>
              <a:rPr lang="zh-CN" altLang="en-US" sz="1200" dirty="0">
                <a:solidFill>
                  <a:srgbClr val="000000"/>
                </a:solidFill>
                <a:latin typeface="Times New Roman"/>
              </a:rPr>
              <a:t>				務</a:t>
            </a:r>
          </a:p>
          <a:p>
            <a:pPr marL="0" marR="0" lvl="0" indent="0" defTabSz="914400" eaLnBrk="1" fontAlgn="auto" latinLnBrk="0" hangingPunct="1">
              <a:lnSpc>
                <a:spcPts val="1200"/>
              </a:lnSpc>
              <a:buClrTx/>
              <a:buSzTx/>
              <a:buNone/>
              <a:tabLst>
                <a:tab pos="88900" algn="l"/>
                <a:tab pos="152400" algn="l"/>
                <a:tab pos="317500" algn="l"/>
                <a:tab pos="469900" algn="l"/>
                <a:tab pos="635000" algn="l"/>
                <a:tab pos="774700" algn="l"/>
              </a:tabLst>
              <a:defRPr/>
            </a:pPr>
            <a:r>
              <a:rPr lang="zh-CN" altLang="en-US" sz="1200" dirty="0">
                <a:solidFill>
                  <a:srgbClr val="000000"/>
                </a:solidFill>
                <a:latin typeface="Times New Roman"/>
              </a:rPr>
              <a:t>			財</a:t>
            </a:r>
          </a:p>
          <a:p>
            <a:pPr marL="0" marR="0" lvl="0" indent="0" defTabSz="914400" eaLnBrk="1" fontAlgn="auto" latinLnBrk="0" hangingPunct="1">
              <a:lnSpc>
                <a:spcPts val="1854"/>
              </a:lnSpc>
              <a:buClrTx/>
              <a:buSzTx/>
              <a:buNone/>
              <a:tabLst>
                <a:tab pos="88900" algn="l"/>
                <a:tab pos="152400" algn="l"/>
                <a:tab pos="317500" algn="l"/>
                <a:tab pos="469900" algn="l"/>
                <a:tab pos="635000" algn="l"/>
                <a:tab pos="774700" algn="l"/>
              </a:tabLst>
              <a:defRPr/>
            </a:pPr>
            <a:r>
              <a:rPr lang="zh-CN" altLang="en-US" sz="1200" dirty="0">
                <a:solidFill>
                  <a:srgbClr val="000000"/>
                </a:solidFill>
                <a:latin typeface="Times New Roman"/>
              </a:rPr>
              <a:t>		監控</a:t>
            </a:r>
          </a:p>
          <a:p>
            <a:pPr marL="0" marR="0" lvl="0" indent="0" defTabSz="914400" eaLnBrk="1" fontAlgn="auto" latinLnBrk="0" hangingPunct="1">
              <a:lnSpc>
                <a:spcPts val="1000"/>
              </a:lnSpc>
              <a:buClrTx/>
              <a:buSzTx/>
              <a:buNone/>
              <a:tabLst>
                <a:tab pos="88900" algn="l"/>
                <a:tab pos="152400" algn="l"/>
                <a:tab pos="317500" algn="l"/>
                <a:tab pos="469900" algn="l"/>
                <a:tab pos="635000" algn="l"/>
                <a:tab pos="774700" algn="l"/>
              </a:tabLst>
              <a:defRPr/>
            </a:pPr>
            <a:endParaRPr lang="zh-CN" altLang="en-US" sz="1200" dirty="0">
              <a:solidFill>
                <a:srgbClr val="000000"/>
              </a:solidFill>
              <a:latin typeface="Times New Roman"/>
            </a:endParaRPr>
          </a:p>
          <a:p>
            <a:pPr marL="0" marR="0" lvl="0" indent="0" defTabSz="914400" eaLnBrk="1" fontAlgn="auto" latinLnBrk="0" hangingPunct="1">
              <a:lnSpc>
                <a:spcPts val="1400"/>
              </a:lnSpc>
              <a:buClrTx/>
              <a:buSzTx/>
              <a:buNone/>
              <a:tabLst>
                <a:tab pos="88900" algn="l"/>
                <a:tab pos="152400" algn="l"/>
                <a:tab pos="317500" algn="l"/>
                <a:tab pos="469900" algn="l"/>
                <a:tab pos="635000" algn="l"/>
                <a:tab pos="774700" algn="l"/>
              </a:tabLst>
              <a:defRPr/>
            </a:pPr>
            <a:r>
              <a:rPr lang="zh-CN" altLang="en-US" sz="1200" dirty="0">
                <a:solidFill>
                  <a:srgbClr val="000000"/>
                </a:solidFill>
                <a:latin typeface="Times New Roman"/>
              </a:rPr>
              <a:t>資訊和溝通</a:t>
            </a:r>
          </a:p>
          <a:p>
            <a:pPr marL="0" marR="0" lvl="0" indent="0" defTabSz="914400" eaLnBrk="1" fontAlgn="auto" latinLnBrk="0" hangingPunct="1">
              <a:lnSpc>
                <a:spcPts val="1000"/>
              </a:lnSpc>
              <a:buClrTx/>
              <a:buSzTx/>
              <a:buNone/>
              <a:tabLst>
                <a:tab pos="88900" algn="l"/>
                <a:tab pos="152400" algn="l"/>
                <a:tab pos="317500" algn="l"/>
                <a:tab pos="469900" algn="l"/>
                <a:tab pos="635000" algn="l"/>
                <a:tab pos="774700" algn="l"/>
              </a:tabLst>
              <a:defRPr/>
            </a:pPr>
            <a:endParaRPr lang="zh-CN" altLang="en-US" sz="1200" dirty="0">
              <a:solidFill>
                <a:srgbClr val="000000"/>
              </a:solidFill>
              <a:latin typeface="Times New Roman"/>
            </a:endParaRPr>
          </a:p>
          <a:p>
            <a:pPr marL="0" marR="0" lvl="0" indent="0" defTabSz="914400" eaLnBrk="1" fontAlgn="auto" latinLnBrk="0" hangingPunct="1">
              <a:lnSpc>
                <a:spcPts val="1000"/>
              </a:lnSpc>
              <a:buClrTx/>
              <a:buSzTx/>
              <a:buNone/>
              <a:tabLst>
                <a:tab pos="88900" algn="l"/>
                <a:tab pos="152400" algn="l"/>
                <a:tab pos="317500" algn="l"/>
                <a:tab pos="469900" algn="l"/>
                <a:tab pos="635000" algn="l"/>
                <a:tab pos="774700" algn="l"/>
              </a:tabLst>
              <a:defRPr/>
            </a:pPr>
            <a:endParaRPr lang="zh-CN" altLang="en-US" sz="1200" dirty="0">
              <a:solidFill>
                <a:srgbClr val="000000"/>
              </a:solidFill>
              <a:latin typeface="Times New Roman"/>
            </a:endParaRPr>
          </a:p>
          <a:p>
            <a:pPr marL="0" marR="0" lvl="0" indent="0" defTabSz="914400" eaLnBrk="1" fontAlgn="auto" latinLnBrk="0" hangingPunct="1">
              <a:lnSpc>
                <a:spcPts val="1312"/>
              </a:lnSpc>
              <a:buClrTx/>
              <a:buSzTx/>
              <a:buNone/>
              <a:tabLst>
                <a:tab pos="88900" algn="l"/>
                <a:tab pos="152400" algn="l"/>
                <a:tab pos="317500" algn="l"/>
                <a:tab pos="469900" algn="l"/>
                <a:tab pos="635000" algn="l"/>
                <a:tab pos="774700" algn="l"/>
              </a:tabLst>
              <a:defRPr/>
            </a:pPr>
            <a:r>
              <a:rPr lang="zh-CN" altLang="en-US" sz="1200" dirty="0">
                <a:solidFill>
                  <a:srgbClr val="000000"/>
                </a:solidFill>
                <a:latin typeface="Times New Roman"/>
              </a:rPr>
              <a:t>	控制活動</a:t>
            </a:r>
          </a:p>
        </p:txBody>
      </p:sp>
      <p:sp>
        <p:nvSpPr>
          <p:cNvPr id="8" name="TextBox 7"/>
          <p:cNvSpPr txBox="1"/>
          <p:nvPr/>
        </p:nvSpPr>
        <p:spPr>
          <a:xfrm>
            <a:off x="2446392" y="2711094"/>
            <a:ext cx="153888" cy="153888"/>
          </a:xfrm>
          <a:prstGeom prst="rect">
            <a:avLst/>
          </a:prstGeom>
          <a:noFill/>
        </p:spPr>
        <p:txBody>
          <a:bodyPr vert="horz" wrap="none" lIns="0" tIns="0" rIns="0" bIns="0" rtlCol="0">
            <a:spAutoFit/>
          </a:bodyPr>
          <a:lstStyle/>
          <a:p>
            <a:pPr>
              <a:lnSpc>
                <a:spcPts val="1199"/>
              </a:lnSpc>
            </a:pPr>
            <a:r>
              <a:rPr lang="zh-CN" altLang="en-US" sz="1200" dirty="0">
                <a:solidFill>
                  <a:srgbClr val="000000"/>
                </a:solidFill>
                <a:latin typeface="Times New Roman"/>
              </a:rPr>
              <a:t>合</a:t>
            </a:r>
          </a:p>
        </p:txBody>
      </p:sp>
      <p:sp>
        <p:nvSpPr>
          <p:cNvPr id="9" name="TextBox 8"/>
          <p:cNvSpPr txBox="1"/>
          <p:nvPr/>
        </p:nvSpPr>
        <p:spPr>
          <a:xfrm>
            <a:off x="2604889" y="2368956"/>
            <a:ext cx="817531" cy="1551707"/>
          </a:xfrm>
          <a:prstGeom prst="rect">
            <a:avLst/>
          </a:prstGeom>
          <a:noFill/>
        </p:spPr>
        <p:txBody>
          <a:bodyPr vert="horz" wrap="none" lIns="0" tIns="0" rIns="0" bIns="0" rtlCol="0">
            <a:spAutoFit/>
          </a:bodyPr>
          <a:lstStyle/>
          <a:p>
            <a:pPr marL="0" marR="0" lvl="0" indent="0" defTabSz="914400" eaLnBrk="1" fontAlgn="auto" latinLnBrk="0" hangingPunct="1">
              <a:lnSpc>
                <a:spcPts val="1199"/>
              </a:lnSpc>
              <a:buClrTx/>
              <a:buSzTx/>
              <a:buNone/>
              <a:tabLst>
                <a:tab pos="127000" algn="l"/>
                <a:tab pos="215900" algn="l"/>
                <a:tab pos="292100" algn="l"/>
                <a:tab pos="469900" algn="l"/>
                <a:tab pos="635000" algn="l"/>
              </a:tabLst>
              <a:defRPr/>
            </a:pPr>
            <a:r>
              <a:rPr lang="zh-CN" altLang="en-US" dirty="0"/>
              <a:t>		</a:t>
            </a:r>
            <a:r>
              <a:rPr lang="zh-CN" altLang="en-US" sz="1200" dirty="0">
                <a:solidFill>
                  <a:srgbClr val="000000"/>
                </a:solidFill>
                <a:latin typeface="Times New Roman"/>
              </a:rPr>
              <a:t>性</a:t>
            </a:r>
          </a:p>
          <a:p>
            <a:pPr marL="0" marR="0" lvl="0" indent="0" defTabSz="914400" eaLnBrk="1" fontAlgn="auto" latinLnBrk="0" hangingPunct="1">
              <a:lnSpc>
                <a:spcPts val="1200"/>
              </a:lnSpc>
              <a:buClrTx/>
              <a:buSzTx/>
              <a:buNone/>
              <a:tabLst>
                <a:tab pos="127000" algn="l"/>
                <a:tab pos="215900" algn="l"/>
                <a:tab pos="292100" algn="l"/>
                <a:tab pos="469900" algn="l"/>
                <a:tab pos="635000" algn="l"/>
              </a:tabLst>
              <a:defRPr/>
            </a:pPr>
            <a:r>
              <a:rPr lang="zh-CN" altLang="en-US" sz="1200" dirty="0">
                <a:solidFill>
                  <a:srgbClr val="000000"/>
                </a:solidFill>
                <a:latin typeface="Times New Roman"/>
              </a:rPr>
              <a:t>規</a:t>
            </a:r>
          </a:p>
          <a:p>
            <a:pPr marL="0" marR="0" lvl="0" indent="0" defTabSz="914400" eaLnBrk="1" fontAlgn="auto" latinLnBrk="0" hangingPunct="1">
              <a:lnSpc>
                <a:spcPts val="1000"/>
              </a:lnSpc>
              <a:buClrTx/>
              <a:buSzTx/>
              <a:buNone/>
              <a:tabLst>
                <a:tab pos="127000" algn="l"/>
                <a:tab pos="215900" algn="l"/>
                <a:tab pos="292100" algn="l"/>
                <a:tab pos="469900" algn="l"/>
                <a:tab pos="635000" algn="l"/>
              </a:tabLst>
              <a:defRPr/>
            </a:pPr>
            <a:endParaRPr lang="zh-CN" altLang="en-US" sz="1200" dirty="0">
              <a:solidFill>
                <a:srgbClr val="000000"/>
              </a:solidFill>
              <a:latin typeface="Times New Roman"/>
            </a:endParaRPr>
          </a:p>
          <a:p>
            <a:pPr marL="0" marR="0" lvl="0" indent="0" defTabSz="914400" eaLnBrk="1" fontAlgn="auto" latinLnBrk="0" hangingPunct="1">
              <a:lnSpc>
                <a:spcPts val="1000"/>
              </a:lnSpc>
              <a:buClrTx/>
              <a:buSzTx/>
              <a:buNone/>
              <a:tabLst>
                <a:tab pos="127000" algn="l"/>
                <a:tab pos="215900" algn="l"/>
                <a:tab pos="292100" algn="l"/>
                <a:tab pos="469900" algn="l"/>
                <a:tab pos="635000" algn="l"/>
              </a:tabLst>
              <a:defRPr/>
            </a:pPr>
            <a:endParaRPr lang="zh-CN" altLang="en-US" sz="1200" dirty="0">
              <a:solidFill>
                <a:srgbClr val="000000"/>
              </a:solidFill>
              <a:latin typeface="Times New Roman"/>
            </a:endParaRPr>
          </a:p>
          <a:p>
            <a:pPr marL="0" marR="0" lvl="0" indent="0" defTabSz="914400" eaLnBrk="1" fontAlgn="auto" latinLnBrk="0" hangingPunct="1">
              <a:lnSpc>
                <a:spcPts val="1642"/>
              </a:lnSpc>
              <a:buClrTx/>
              <a:buSzTx/>
              <a:buNone/>
              <a:tabLst>
                <a:tab pos="127000" algn="l"/>
                <a:tab pos="215900" algn="l"/>
                <a:tab pos="292100" algn="l"/>
                <a:tab pos="469900" algn="l"/>
                <a:tab pos="635000" algn="l"/>
              </a:tabLst>
              <a:defRPr/>
            </a:pPr>
            <a:r>
              <a:rPr lang="zh-CN" altLang="en-US" sz="1200" dirty="0">
                <a:solidFill>
                  <a:srgbClr val="000000"/>
                </a:solidFill>
                <a:latin typeface="Times New Roman"/>
              </a:rPr>
              <a:t>					活</a:t>
            </a:r>
          </a:p>
          <a:p>
            <a:pPr marL="0" marR="0" lvl="0" indent="0" defTabSz="914400" eaLnBrk="1" fontAlgn="auto" latinLnBrk="0" hangingPunct="1">
              <a:lnSpc>
                <a:spcPts val="1440"/>
              </a:lnSpc>
              <a:buClrTx/>
              <a:buSzTx/>
              <a:buNone/>
              <a:tabLst>
                <a:tab pos="127000" algn="l"/>
                <a:tab pos="215900" algn="l"/>
                <a:tab pos="292100" algn="l"/>
                <a:tab pos="469900" algn="l"/>
                <a:tab pos="635000" algn="l"/>
              </a:tabLst>
              <a:defRPr/>
            </a:pPr>
            <a:r>
              <a:rPr lang="zh-CN" altLang="en-US" sz="1200" dirty="0">
                <a:solidFill>
                  <a:srgbClr val="000000"/>
                </a:solidFill>
                <a:latin typeface="Times New Roman"/>
              </a:rPr>
              <a:t>				活 動</a:t>
            </a:r>
          </a:p>
          <a:p>
            <a:pPr marL="0" marR="0" lvl="0" indent="0" defTabSz="914400" eaLnBrk="1" fontAlgn="auto" latinLnBrk="0" hangingPunct="1">
              <a:lnSpc>
                <a:spcPts val="1800"/>
              </a:lnSpc>
              <a:buClrTx/>
              <a:buSzTx/>
              <a:buNone/>
              <a:tabLst>
                <a:tab pos="127000" algn="l"/>
                <a:tab pos="215900" algn="l"/>
                <a:tab pos="292100" algn="l"/>
                <a:tab pos="469900" algn="l"/>
                <a:tab pos="635000" algn="l"/>
              </a:tabLst>
              <a:defRPr/>
            </a:pPr>
            <a:r>
              <a:rPr lang="zh-CN" altLang="en-US" sz="1200" dirty="0">
                <a:solidFill>
                  <a:srgbClr val="000000"/>
                </a:solidFill>
                <a:latin typeface="Times New Roman"/>
              </a:rPr>
              <a:t>			單 動 </a:t>
            </a:r>
            <a:r>
              <a:rPr lang="en-US" altLang="zh-CN" sz="1200" b="1" dirty="0">
                <a:solidFill>
                  <a:srgbClr val="000000"/>
                </a:solidFill>
                <a:latin typeface="Times New Roman"/>
              </a:rPr>
              <a:t>2</a:t>
            </a:r>
          </a:p>
          <a:p>
            <a:pPr marL="0" marR="0" lvl="0" indent="0" defTabSz="914400" eaLnBrk="1" fontAlgn="auto" latinLnBrk="0" hangingPunct="1">
              <a:lnSpc>
                <a:spcPts val="1434"/>
              </a:lnSpc>
              <a:buClrTx/>
              <a:buSzTx/>
              <a:buNone/>
              <a:tabLst>
                <a:tab pos="127000" algn="l"/>
                <a:tab pos="215900" algn="l"/>
                <a:tab pos="292100" algn="l"/>
                <a:tab pos="469900" algn="l"/>
                <a:tab pos="635000" algn="l"/>
              </a:tabLst>
              <a:defRPr/>
            </a:pPr>
            <a:r>
              <a:rPr lang="en-US" altLang="zh-CN" sz="1200" b="1" dirty="0">
                <a:solidFill>
                  <a:srgbClr val="000000"/>
                </a:solidFill>
                <a:latin typeface="Times New Roman"/>
              </a:rPr>
              <a:t>	</a:t>
            </a:r>
            <a:r>
              <a:rPr lang="zh-CN" altLang="en-US" sz="1200" dirty="0">
                <a:solidFill>
                  <a:srgbClr val="000000"/>
                </a:solidFill>
                <a:latin typeface="Times New Roman"/>
              </a:rPr>
              <a:t>單 元 </a:t>
            </a:r>
            <a:r>
              <a:rPr lang="en-US" altLang="zh-CN" sz="1200" b="1" dirty="0">
                <a:solidFill>
                  <a:srgbClr val="000000"/>
                </a:solidFill>
                <a:latin typeface="Times New Roman"/>
              </a:rPr>
              <a:t>1</a:t>
            </a:r>
          </a:p>
          <a:p>
            <a:pPr marL="0" marR="0" lvl="0" indent="0" defTabSz="914400" eaLnBrk="1" fontAlgn="auto" latinLnBrk="0" hangingPunct="1">
              <a:lnSpc>
                <a:spcPts val="1454"/>
              </a:lnSpc>
              <a:buClrTx/>
              <a:buSzTx/>
              <a:buNone/>
              <a:tabLst>
                <a:tab pos="127000" algn="l"/>
                <a:tab pos="215900" algn="l"/>
                <a:tab pos="292100" algn="l"/>
                <a:tab pos="469900" algn="l"/>
                <a:tab pos="635000" algn="l"/>
              </a:tabLst>
              <a:defRPr/>
            </a:pPr>
            <a:r>
              <a:rPr lang="en-US" altLang="zh-CN" sz="1200" b="1" dirty="0">
                <a:solidFill>
                  <a:srgbClr val="000000"/>
                </a:solidFill>
                <a:latin typeface="Times New Roman"/>
              </a:rPr>
              <a:t>	</a:t>
            </a:r>
            <a:r>
              <a:rPr lang="zh-CN" altLang="en-US" sz="1200" dirty="0">
                <a:solidFill>
                  <a:srgbClr val="000000"/>
                </a:solidFill>
                <a:latin typeface="Times New Roman"/>
              </a:rPr>
              <a:t>元 </a:t>
            </a:r>
            <a:r>
              <a:rPr lang="en-US" altLang="zh-CN" sz="1200" b="1" dirty="0">
                <a:solidFill>
                  <a:srgbClr val="000000"/>
                </a:solidFill>
                <a:latin typeface="Times New Roman"/>
              </a:rPr>
              <a:t>B</a:t>
            </a:r>
            <a:endParaRPr lang="zh-CN" altLang="en-US" sz="1200" b="1" dirty="0">
              <a:solidFill>
                <a:srgbClr val="000000"/>
              </a:solidFill>
              <a:latin typeface="Times New Roman"/>
            </a:endParaRPr>
          </a:p>
        </p:txBody>
      </p:sp>
      <p:sp>
        <p:nvSpPr>
          <p:cNvPr id="10" name="TextBox 9"/>
          <p:cNvSpPr txBox="1"/>
          <p:nvPr/>
        </p:nvSpPr>
        <p:spPr>
          <a:xfrm>
            <a:off x="4096140" y="2495517"/>
            <a:ext cx="4142160" cy="1141338"/>
          </a:xfrm>
          <a:prstGeom prst="rect">
            <a:avLst/>
          </a:prstGeom>
          <a:noFill/>
        </p:spPr>
        <p:txBody>
          <a:bodyPr vert="horz" wrap="none" lIns="0" tIns="0" rIns="0" bIns="0" rtlCol="0">
            <a:spAutoFit/>
          </a:bodyPr>
          <a:lstStyle/>
          <a:p>
            <a:pPr marL="0" marR="0" lvl="0" indent="0" defTabSz="914400" eaLnBrk="1" fontAlgn="auto" latinLnBrk="0" hangingPunct="1">
              <a:lnSpc>
                <a:spcPts val="1798"/>
              </a:lnSpc>
              <a:buClrTx/>
              <a:buSzTx/>
              <a:buNone/>
              <a:tabLst>
                <a:tab pos="76200" algn="l"/>
              </a:tabLst>
              <a:defRPr/>
            </a:pPr>
            <a:r>
              <a:rPr lang="zh-CN" altLang="en-US" dirty="0">
                <a:solidFill>
                  <a:srgbClr val="FFFFFF"/>
                </a:solidFill>
                <a:latin typeface="Times New Roman"/>
              </a:rPr>
              <a:t>評估風險是為了有效控制風險</a:t>
            </a:r>
          </a:p>
          <a:p>
            <a:pPr marL="0" marR="0" lvl="0" indent="0" defTabSz="914400" eaLnBrk="1" fontAlgn="auto" latinLnBrk="0" hangingPunct="1">
              <a:lnSpc>
                <a:spcPts val="2670"/>
              </a:lnSpc>
              <a:buClrTx/>
              <a:buSzTx/>
              <a:buNone/>
              <a:tabLst>
                <a:tab pos="76200" algn="l"/>
              </a:tabLst>
              <a:defRPr/>
            </a:pPr>
            <a:r>
              <a:rPr lang="zh-CN" altLang="en-US" dirty="0">
                <a:solidFill>
                  <a:srgbClr val="FFFFFF"/>
                </a:solidFill>
                <a:latin typeface="Times New Roman"/>
              </a:rPr>
              <a:t>	</a:t>
            </a:r>
            <a:r>
              <a:rPr lang="en-US" altLang="zh-CN" sz="1302" dirty="0">
                <a:solidFill>
                  <a:srgbClr val="FFFFFF"/>
                </a:solidFill>
                <a:latin typeface="Times New Roman"/>
              </a:rPr>
              <a:t>•  </a:t>
            </a:r>
            <a:r>
              <a:rPr lang="zh-CN" altLang="en-US" dirty="0">
                <a:solidFill>
                  <a:srgbClr val="FFFFFF"/>
                </a:solidFill>
                <a:latin typeface="Times New Roman"/>
              </a:rPr>
              <a:t>管理層對風險的識別</a:t>
            </a:r>
          </a:p>
          <a:p>
            <a:pPr marL="0" marR="0" lvl="0" indent="0" defTabSz="914400" eaLnBrk="1" fontAlgn="auto" latinLnBrk="0" hangingPunct="1">
              <a:lnSpc>
                <a:spcPts val="2160"/>
              </a:lnSpc>
              <a:buClrTx/>
              <a:buSzTx/>
              <a:buNone/>
              <a:tabLst>
                <a:tab pos="76200" algn="l"/>
              </a:tabLst>
              <a:defRPr/>
            </a:pPr>
            <a:r>
              <a:rPr lang="zh-CN" altLang="en-US" dirty="0">
                <a:solidFill>
                  <a:srgbClr val="FFFFFF"/>
                </a:solidFill>
                <a:latin typeface="Times New Roman"/>
              </a:rPr>
              <a:t>	</a:t>
            </a:r>
            <a:r>
              <a:rPr lang="en-US" altLang="zh-CN" sz="1302" dirty="0">
                <a:solidFill>
                  <a:srgbClr val="FFFFFF"/>
                </a:solidFill>
                <a:latin typeface="Times New Roman"/>
              </a:rPr>
              <a:t>•  </a:t>
            </a:r>
            <a:r>
              <a:rPr lang="zh-CN" altLang="en-US" dirty="0">
                <a:solidFill>
                  <a:srgbClr val="FFFFFF"/>
                </a:solidFill>
                <a:latin typeface="Times New Roman"/>
              </a:rPr>
              <a:t>是目標實現過程中相關內外部風險分析</a:t>
            </a:r>
          </a:p>
          <a:p>
            <a:pPr marL="0" marR="0" lvl="0" indent="0" defTabSz="914400" eaLnBrk="1" fontAlgn="auto" latinLnBrk="0" hangingPunct="1">
              <a:lnSpc>
                <a:spcPts val="2166"/>
              </a:lnSpc>
              <a:buClrTx/>
              <a:buSzTx/>
              <a:buNone/>
              <a:tabLst>
                <a:tab pos="76200" algn="l"/>
              </a:tabLst>
              <a:defRPr/>
            </a:pPr>
            <a:r>
              <a:rPr lang="zh-CN" altLang="en-US" dirty="0">
                <a:solidFill>
                  <a:srgbClr val="FFFFFF"/>
                </a:solidFill>
                <a:latin typeface="Times New Roman"/>
              </a:rPr>
              <a:t>	</a:t>
            </a:r>
            <a:r>
              <a:rPr lang="en-US" altLang="zh-CN" sz="1302" dirty="0">
                <a:solidFill>
                  <a:srgbClr val="FFFFFF"/>
                </a:solidFill>
                <a:latin typeface="Times New Roman"/>
              </a:rPr>
              <a:t>•  </a:t>
            </a:r>
            <a:r>
              <a:rPr lang="zh-CN" altLang="en-US" dirty="0">
                <a:solidFill>
                  <a:srgbClr val="FFFFFF"/>
                </a:solidFill>
                <a:latin typeface="Times New Roman"/>
              </a:rPr>
              <a:t>估計風險的重大程度，可能性</a:t>
            </a:r>
          </a:p>
        </p:txBody>
      </p:sp>
      <p:sp>
        <p:nvSpPr>
          <p:cNvPr id="11" name="TextBox 10"/>
          <p:cNvSpPr txBox="1"/>
          <p:nvPr/>
        </p:nvSpPr>
        <p:spPr>
          <a:xfrm>
            <a:off x="1525901" y="4015638"/>
            <a:ext cx="615553" cy="153888"/>
          </a:xfrm>
          <a:prstGeom prst="rect">
            <a:avLst/>
          </a:prstGeom>
          <a:noFill/>
        </p:spPr>
        <p:txBody>
          <a:bodyPr vert="horz" wrap="none" lIns="0" tIns="0" rIns="0" bIns="0" rtlCol="0">
            <a:spAutoFit/>
          </a:bodyPr>
          <a:lstStyle/>
          <a:p>
            <a:pPr>
              <a:lnSpc>
                <a:spcPts val="1199"/>
              </a:lnSpc>
            </a:pPr>
            <a:r>
              <a:rPr lang="zh-CN" altLang="en-US" sz="1200" dirty="0">
                <a:solidFill>
                  <a:srgbClr val="000000"/>
                </a:solidFill>
                <a:latin typeface="Times New Roman"/>
              </a:rPr>
              <a:t>風險評估</a:t>
            </a:r>
          </a:p>
        </p:txBody>
      </p:sp>
      <p:sp>
        <p:nvSpPr>
          <p:cNvPr id="12" name="TextBox 11"/>
          <p:cNvSpPr txBox="1"/>
          <p:nvPr/>
        </p:nvSpPr>
        <p:spPr>
          <a:xfrm>
            <a:off x="2730623" y="3954830"/>
            <a:ext cx="110608" cy="141834"/>
          </a:xfrm>
          <a:prstGeom prst="rect">
            <a:avLst/>
          </a:prstGeom>
          <a:noFill/>
        </p:spPr>
        <p:txBody>
          <a:bodyPr vert="horz" wrap="none" lIns="0" tIns="0" rIns="0" bIns="0" rtlCol="0">
            <a:spAutoFit/>
          </a:bodyPr>
          <a:lstStyle/>
          <a:p>
            <a:pPr>
              <a:lnSpc>
                <a:spcPts val="1080"/>
              </a:lnSpc>
            </a:pPr>
            <a:r>
              <a:rPr lang="en-US" altLang="zh-CN" sz="1200" b="1" dirty="0">
                <a:solidFill>
                  <a:srgbClr val="000000"/>
                </a:solidFill>
                <a:latin typeface="Times New Roman"/>
              </a:rPr>
              <a:t>A</a:t>
            </a:r>
            <a:endParaRPr lang="zh-CN" altLang="en-US" sz="1200" b="1" dirty="0">
              <a:solidFill>
                <a:srgbClr val="000000"/>
              </a:solidFill>
              <a:latin typeface="Times New Roman"/>
            </a:endParaRPr>
          </a:p>
        </p:txBody>
      </p:sp>
      <p:sp>
        <p:nvSpPr>
          <p:cNvPr id="13" name="TextBox 12"/>
          <p:cNvSpPr txBox="1"/>
          <p:nvPr/>
        </p:nvSpPr>
        <p:spPr>
          <a:xfrm>
            <a:off x="1525901" y="4360062"/>
            <a:ext cx="8321189" cy="2423740"/>
          </a:xfrm>
          <a:prstGeom prst="rect">
            <a:avLst/>
          </a:prstGeom>
          <a:noFill/>
        </p:spPr>
        <p:txBody>
          <a:bodyPr vert="horz" wrap="none" lIns="0" tIns="0" rIns="0" bIns="0" rtlCol="0">
            <a:spAutoFit/>
          </a:bodyPr>
          <a:lstStyle/>
          <a:p>
            <a:pPr marL="0" marR="0" lvl="0" indent="0" defTabSz="914400" eaLnBrk="1" fontAlgn="auto" latinLnBrk="0" hangingPunct="1">
              <a:lnSpc>
                <a:spcPts val="1199"/>
              </a:lnSpc>
              <a:buClrTx/>
              <a:buSzTx/>
              <a:buNone/>
              <a:tabLst>
                <a:tab pos="1587500" algn="l"/>
                <a:tab pos="6540500" algn="l"/>
              </a:tabLst>
              <a:defRPr/>
            </a:pPr>
            <a:r>
              <a:rPr lang="zh-CN" altLang="en-US" sz="1200" dirty="0">
                <a:solidFill>
                  <a:srgbClr val="000000"/>
                </a:solidFill>
                <a:latin typeface="Times New Roman"/>
              </a:rPr>
              <a:t>控制環境</a:t>
            </a:r>
          </a:p>
          <a:p>
            <a:pPr marL="0" marR="0" lvl="0" indent="0" defTabSz="914400" eaLnBrk="1" fontAlgn="auto" latinLnBrk="0" hangingPunct="1">
              <a:lnSpc>
                <a:spcPts val="1000"/>
              </a:lnSpc>
              <a:buClrTx/>
              <a:buSzTx/>
              <a:buNone/>
              <a:tabLst>
                <a:tab pos="1587500" algn="l"/>
                <a:tab pos="6540500" algn="l"/>
              </a:tabLst>
              <a:defRPr/>
            </a:pPr>
            <a:endParaRPr lang="zh-CN" altLang="en-US" sz="1200" dirty="0">
              <a:solidFill>
                <a:srgbClr val="000000"/>
              </a:solidFill>
              <a:latin typeface="Times New Roman"/>
            </a:endParaRPr>
          </a:p>
          <a:p>
            <a:pPr marL="0" marR="0" lvl="0" indent="0" defTabSz="914400" eaLnBrk="1" fontAlgn="auto" latinLnBrk="0" hangingPunct="1">
              <a:lnSpc>
                <a:spcPts val="1000"/>
              </a:lnSpc>
              <a:buClrTx/>
              <a:buSzTx/>
              <a:buNone/>
              <a:tabLst>
                <a:tab pos="1587500" algn="l"/>
                <a:tab pos="6540500" algn="l"/>
              </a:tabLst>
              <a:defRPr/>
            </a:pPr>
            <a:endParaRPr lang="zh-CN" altLang="en-US" sz="1200" dirty="0">
              <a:solidFill>
                <a:srgbClr val="000000"/>
              </a:solidFill>
              <a:latin typeface="Times New Roman"/>
            </a:endParaRPr>
          </a:p>
          <a:p>
            <a:pPr marL="0" marR="0" lvl="0" indent="0" defTabSz="914400" eaLnBrk="1" fontAlgn="auto" latinLnBrk="0" hangingPunct="1">
              <a:lnSpc>
                <a:spcPts val="1000"/>
              </a:lnSpc>
              <a:buClrTx/>
              <a:buSzTx/>
              <a:buNone/>
              <a:tabLst>
                <a:tab pos="1587500" algn="l"/>
                <a:tab pos="6540500" algn="l"/>
              </a:tabLst>
              <a:defRPr/>
            </a:pPr>
            <a:endParaRPr lang="zh-CN" altLang="en-US" sz="1200" dirty="0">
              <a:solidFill>
                <a:srgbClr val="000000"/>
              </a:solidFill>
              <a:latin typeface="Times New Roman"/>
            </a:endParaRPr>
          </a:p>
          <a:p>
            <a:pPr marL="0" marR="0" lvl="0" indent="0" defTabSz="914400" eaLnBrk="1" fontAlgn="auto" latinLnBrk="0" hangingPunct="1">
              <a:lnSpc>
                <a:spcPts val="1000"/>
              </a:lnSpc>
              <a:buClrTx/>
              <a:buSzTx/>
              <a:buNone/>
              <a:tabLst>
                <a:tab pos="1587500" algn="l"/>
                <a:tab pos="6540500" algn="l"/>
              </a:tabLst>
              <a:defRPr/>
            </a:pPr>
            <a:endParaRPr lang="zh-CN" altLang="en-US" sz="1200" dirty="0">
              <a:solidFill>
                <a:srgbClr val="000000"/>
              </a:solidFill>
              <a:latin typeface="Times New Roman"/>
            </a:endParaRPr>
          </a:p>
          <a:p>
            <a:pPr marL="0" marR="0" lvl="0" indent="0" defTabSz="914400" eaLnBrk="1" fontAlgn="auto" latinLnBrk="0" hangingPunct="1">
              <a:lnSpc>
                <a:spcPts val="1000"/>
              </a:lnSpc>
              <a:buClrTx/>
              <a:buSzTx/>
              <a:buNone/>
              <a:tabLst>
                <a:tab pos="1587500" algn="l"/>
                <a:tab pos="6540500" algn="l"/>
              </a:tabLst>
              <a:defRPr/>
            </a:pPr>
            <a:endParaRPr lang="zh-CN" altLang="en-US" sz="1200" dirty="0">
              <a:solidFill>
                <a:srgbClr val="000000"/>
              </a:solidFill>
              <a:latin typeface="Times New Roman"/>
            </a:endParaRPr>
          </a:p>
          <a:p>
            <a:pPr marL="0" marR="0" lvl="0" indent="0" defTabSz="914400" eaLnBrk="1" fontAlgn="auto" latinLnBrk="0" hangingPunct="1">
              <a:lnSpc>
                <a:spcPts val="2770"/>
              </a:lnSpc>
              <a:buClrTx/>
              <a:buSzTx/>
              <a:buNone/>
              <a:tabLst>
                <a:tab pos="1587500" algn="l"/>
                <a:tab pos="6540500" algn="l"/>
              </a:tabLst>
              <a:defRPr/>
            </a:pPr>
            <a:r>
              <a:rPr lang="zh-CN" altLang="en-US" sz="1200" dirty="0">
                <a:solidFill>
                  <a:srgbClr val="000000"/>
                </a:solidFill>
                <a:latin typeface="Times New Roman"/>
              </a:rPr>
              <a:t>	</a:t>
            </a:r>
            <a:r>
              <a:rPr lang="zh-CN" altLang="en-US" dirty="0">
                <a:solidFill>
                  <a:srgbClr val="FFFFFF"/>
                </a:solidFill>
                <a:latin typeface="Times New Roman"/>
              </a:rPr>
              <a:t>隨著經濟，產業，制度和操作環境的不斷變化，需</a:t>
            </a:r>
          </a:p>
          <a:p>
            <a:pPr marL="0" marR="0" lvl="0" indent="0" defTabSz="914400" eaLnBrk="1" fontAlgn="auto" latinLnBrk="0" hangingPunct="1">
              <a:lnSpc>
                <a:spcPts val="2160"/>
              </a:lnSpc>
              <a:buClrTx/>
              <a:buSzTx/>
              <a:buNone/>
              <a:tabLst>
                <a:tab pos="1587500" algn="l"/>
                <a:tab pos="6540500" algn="l"/>
              </a:tabLst>
              <a:defRPr/>
            </a:pPr>
            <a:r>
              <a:rPr lang="zh-CN" altLang="en-US" dirty="0">
                <a:solidFill>
                  <a:srgbClr val="FFFFFF"/>
                </a:solidFill>
                <a:latin typeface="Times New Roman"/>
              </a:rPr>
              <a:t>	要建立相應機制以發現和處理這些變化所帶來的特</a:t>
            </a:r>
          </a:p>
          <a:p>
            <a:pPr marL="0" marR="0" lvl="0" indent="0" defTabSz="914400" eaLnBrk="1" fontAlgn="auto" latinLnBrk="0" hangingPunct="1">
              <a:lnSpc>
                <a:spcPts val="2166"/>
              </a:lnSpc>
              <a:buClrTx/>
              <a:buSzTx/>
              <a:buNone/>
              <a:tabLst>
                <a:tab pos="1587500" algn="l"/>
                <a:tab pos="6540500" algn="l"/>
              </a:tabLst>
              <a:defRPr/>
            </a:pPr>
            <a:r>
              <a:rPr lang="zh-CN" altLang="en-US" dirty="0">
                <a:solidFill>
                  <a:srgbClr val="FFFFFF"/>
                </a:solidFill>
                <a:latin typeface="Times New Roman"/>
              </a:rPr>
              <a:t>	殊風險</a:t>
            </a:r>
          </a:p>
          <a:p>
            <a:pPr marL="0" marR="0" lvl="0" indent="0" defTabSz="914400" eaLnBrk="1" fontAlgn="auto" latinLnBrk="0" hangingPunct="1">
              <a:lnSpc>
                <a:spcPts val="1000"/>
              </a:lnSpc>
              <a:buClrTx/>
              <a:buSzTx/>
              <a:buNone/>
              <a:tabLst>
                <a:tab pos="1587500" algn="l"/>
                <a:tab pos="6540500" algn="l"/>
              </a:tabLst>
              <a:defRPr/>
            </a:pPr>
            <a:endParaRPr lang="zh-CN" altLang="en-US" dirty="0">
              <a:solidFill>
                <a:srgbClr val="FFFFFF"/>
              </a:solidFill>
              <a:latin typeface="Times New Roman"/>
            </a:endParaRPr>
          </a:p>
          <a:p>
            <a:pPr marL="0" marR="0" lvl="0" indent="0" defTabSz="914400" eaLnBrk="1" fontAlgn="auto" latinLnBrk="0" hangingPunct="1">
              <a:lnSpc>
                <a:spcPts val="2666"/>
              </a:lnSpc>
              <a:buClrTx/>
              <a:buSzTx/>
              <a:buNone/>
              <a:tabLst>
                <a:tab pos="1587500" algn="l"/>
                <a:tab pos="6540500" algn="l"/>
              </a:tabLst>
              <a:defRPr/>
            </a:pPr>
            <a:r>
              <a:rPr lang="zh-CN" altLang="en-US" dirty="0">
                <a:solidFill>
                  <a:srgbClr val="FFFFFF"/>
                </a:solidFill>
                <a:latin typeface="Times New Roman"/>
              </a:rPr>
              <a:t>		</a:t>
            </a:r>
            <a:r>
              <a:rPr lang="en-US" altLang="zh-CN" dirty="0" err="1">
                <a:solidFill>
                  <a:srgbClr val="000000"/>
                </a:solidFill>
                <a:latin typeface="Times New Roman"/>
              </a:rPr>
              <a:t>Pwc</a:t>
            </a:r>
            <a:endParaRPr lang="en-US" altLang="zh-CN" dirty="0">
              <a:solidFill>
                <a:srgbClr val="000000"/>
              </a:solidFill>
              <a:latin typeface="Times New Roman"/>
            </a:endParaRPr>
          </a:p>
          <a:p>
            <a:pPr marL="0" marR="0" lvl="0" indent="0" defTabSz="914400" eaLnBrk="1" fontAlgn="auto" latinLnBrk="0" hangingPunct="1">
              <a:lnSpc>
                <a:spcPts val="1779"/>
              </a:lnSpc>
              <a:buClrTx/>
              <a:buSzTx/>
              <a:buNone/>
              <a:tabLst>
                <a:tab pos="1587500" algn="l"/>
                <a:tab pos="6540500" algn="l"/>
              </a:tabLst>
              <a:defRPr/>
            </a:pPr>
            <a:r>
              <a:rPr lang="en-US" altLang="zh-CN" dirty="0">
                <a:solidFill>
                  <a:srgbClr val="000000"/>
                </a:solidFill>
                <a:latin typeface="Times New Roman"/>
              </a:rPr>
              <a:t>		</a:t>
            </a:r>
            <a:r>
              <a:rPr lang="zh-CN" altLang="en-US" sz="1478" dirty="0">
                <a:solidFill>
                  <a:srgbClr val="000000"/>
                </a:solidFill>
                <a:latin typeface="Times New Roman"/>
              </a:rPr>
              <a:t>普     華     永     道</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myslide11">
    <p:spTree>
      <p:nvGrpSpPr>
        <p:cNvPr id="1" name=""/>
        <p:cNvGrpSpPr/>
        <p:nvPr/>
      </p:nvGrpSpPr>
      <p:grpSpPr>
        <a:xfrm>
          <a:off x="0" y="0"/>
          <a:ext cx="0" cy="0"/>
          <a:chOff x="0" y="0"/>
          <a:chExt cx="0" cy="0"/>
        </a:xfrm>
      </p:grpSpPr>
      <p:pic>
        <p:nvPicPr>
          <p:cNvPr id="2" name="图片 1" descr="ws_197.tmp"/>
          <p:cNvPicPr>
            <a:picLocks/>
          </p:cNvPicPr>
          <p:nvPr/>
        </p:nvPicPr>
        <p:blipFill>
          <a:blip r:embed="rId2"/>
          <a:stretch>
            <a:fillRect/>
          </a:stretch>
        </p:blipFill>
        <p:spPr>
          <a:xfrm>
            <a:off x="0" y="0"/>
            <a:ext cx="9880600" cy="6819900"/>
          </a:xfrm>
          <a:prstGeom prst="rect">
            <a:avLst/>
          </a:prstGeom>
        </p:spPr>
      </p:pic>
      <p:sp>
        <p:nvSpPr>
          <p:cNvPr id="3" name="TextBox 2"/>
          <p:cNvSpPr txBox="1"/>
          <p:nvPr/>
        </p:nvSpPr>
        <p:spPr>
          <a:xfrm>
            <a:off x="509403" y="6341571"/>
            <a:ext cx="144270" cy="133370"/>
          </a:xfrm>
          <a:prstGeom prst="rect">
            <a:avLst/>
          </a:prstGeom>
          <a:noFill/>
        </p:spPr>
        <p:txBody>
          <a:bodyPr vert="horz" wrap="none" lIns="0" tIns="0" rIns="0" bIns="0" rtlCol="0">
            <a:spAutoFit/>
          </a:bodyPr>
          <a:lstStyle/>
          <a:p>
            <a:pPr>
              <a:lnSpc>
                <a:spcPts val="1016"/>
              </a:lnSpc>
            </a:pPr>
            <a:r>
              <a:rPr lang="en-US" altLang="zh-CN" sz="1098" dirty="0">
                <a:solidFill>
                  <a:srgbClr val="761437"/>
                </a:solidFill>
                <a:latin typeface="Times New Roman"/>
              </a:rPr>
              <a:t>11</a:t>
            </a:r>
            <a:endParaRPr lang="zh-CN" altLang="en-US" sz="1098" dirty="0">
              <a:solidFill>
                <a:srgbClr val="761437"/>
              </a:solidFill>
              <a:latin typeface="Times New Roman"/>
            </a:endParaRPr>
          </a:p>
        </p:txBody>
      </p:sp>
      <p:sp>
        <p:nvSpPr>
          <p:cNvPr id="4" name="TextBox 3"/>
          <p:cNvSpPr txBox="1"/>
          <p:nvPr/>
        </p:nvSpPr>
        <p:spPr>
          <a:xfrm>
            <a:off x="1388751" y="376971"/>
            <a:ext cx="2051844" cy="512961"/>
          </a:xfrm>
          <a:prstGeom prst="rect">
            <a:avLst/>
          </a:prstGeom>
          <a:noFill/>
        </p:spPr>
        <p:txBody>
          <a:bodyPr vert="horz" wrap="none" lIns="0" tIns="0" rIns="0" bIns="0" rtlCol="0">
            <a:spAutoFit/>
          </a:bodyPr>
          <a:lstStyle/>
          <a:p>
            <a:pPr>
              <a:lnSpc>
                <a:spcPts val="3998"/>
              </a:lnSpc>
            </a:pPr>
            <a:r>
              <a:rPr lang="zh-CN" altLang="en-US" sz="4002" dirty="0">
                <a:solidFill>
                  <a:srgbClr val="FFFFFF"/>
                </a:solidFill>
                <a:latin typeface="Times New Roman"/>
              </a:rPr>
              <a:t>風險評估</a:t>
            </a:r>
          </a:p>
        </p:txBody>
      </p:sp>
      <p:sp>
        <p:nvSpPr>
          <p:cNvPr id="5" name="TextBox 4"/>
          <p:cNvSpPr txBox="1"/>
          <p:nvPr/>
        </p:nvSpPr>
        <p:spPr>
          <a:xfrm>
            <a:off x="476637" y="1383421"/>
            <a:ext cx="718145" cy="359073"/>
          </a:xfrm>
          <a:prstGeom prst="rect">
            <a:avLst/>
          </a:prstGeom>
          <a:noFill/>
        </p:spPr>
        <p:txBody>
          <a:bodyPr vert="horz" wrap="none" lIns="0" tIns="0" rIns="0" bIns="0" rtlCol="0">
            <a:spAutoFit/>
          </a:bodyPr>
          <a:lstStyle/>
          <a:p>
            <a:pPr>
              <a:lnSpc>
                <a:spcPts val="2799"/>
              </a:lnSpc>
            </a:pPr>
            <a:r>
              <a:rPr lang="zh-CN" altLang="en-US" sz="2802" dirty="0">
                <a:solidFill>
                  <a:srgbClr val="502800"/>
                </a:solidFill>
                <a:latin typeface="Times New Roman"/>
              </a:rPr>
              <a:t>目標</a:t>
            </a:r>
          </a:p>
        </p:txBody>
      </p:sp>
      <p:sp>
        <p:nvSpPr>
          <p:cNvPr id="6" name="TextBox 5"/>
          <p:cNvSpPr txBox="1"/>
          <p:nvPr/>
        </p:nvSpPr>
        <p:spPr>
          <a:xfrm>
            <a:off x="2192527" y="1383421"/>
            <a:ext cx="1436291" cy="359073"/>
          </a:xfrm>
          <a:prstGeom prst="rect">
            <a:avLst/>
          </a:prstGeom>
          <a:noFill/>
        </p:spPr>
        <p:txBody>
          <a:bodyPr vert="horz" wrap="none" lIns="0" tIns="0" rIns="0" bIns="0" rtlCol="0">
            <a:spAutoFit/>
          </a:bodyPr>
          <a:lstStyle/>
          <a:p>
            <a:pPr>
              <a:lnSpc>
                <a:spcPts val="2799"/>
              </a:lnSpc>
            </a:pPr>
            <a:r>
              <a:rPr lang="zh-CN" altLang="en-US" sz="2802" dirty="0">
                <a:solidFill>
                  <a:srgbClr val="502800"/>
                </a:solidFill>
                <a:latin typeface="Times New Roman"/>
              </a:rPr>
              <a:t>風險識別</a:t>
            </a:r>
          </a:p>
        </p:txBody>
      </p:sp>
      <p:sp>
        <p:nvSpPr>
          <p:cNvPr id="7" name="TextBox 6"/>
          <p:cNvSpPr txBox="1"/>
          <p:nvPr/>
        </p:nvSpPr>
        <p:spPr>
          <a:xfrm>
            <a:off x="4064341" y="1383421"/>
            <a:ext cx="1436291" cy="359073"/>
          </a:xfrm>
          <a:prstGeom prst="rect">
            <a:avLst/>
          </a:prstGeom>
          <a:noFill/>
        </p:spPr>
        <p:txBody>
          <a:bodyPr vert="horz" wrap="none" lIns="0" tIns="0" rIns="0" bIns="0" rtlCol="0">
            <a:spAutoFit/>
          </a:bodyPr>
          <a:lstStyle/>
          <a:p>
            <a:pPr>
              <a:lnSpc>
                <a:spcPts val="2799"/>
              </a:lnSpc>
            </a:pPr>
            <a:r>
              <a:rPr lang="zh-CN" altLang="en-US" sz="2802" dirty="0">
                <a:solidFill>
                  <a:srgbClr val="502800"/>
                </a:solidFill>
                <a:latin typeface="Times New Roman"/>
              </a:rPr>
              <a:t>風險分析</a:t>
            </a:r>
          </a:p>
        </p:txBody>
      </p:sp>
      <p:sp>
        <p:nvSpPr>
          <p:cNvPr id="8" name="TextBox 7"/>
          <p:cNvSpPr txBox="1"/>
          <p:nvPr/>
        </p:nvSpPr>
        <p:spPr>
          <a:xfrm>
            <a:off x="5937651" y="1383421"/>
            <a:ext cx="1436291" cy="359073"/>
          </a:xfrm>
          <a:prstGeom prst="rect">
            <a:avLst/>
          </a:prstGeom>
          <a:noFill/>
        </p:spPr>
        <p:txBody>
          <a:bodyPr vert="horz" wrap="none" lIns="0" tIns="0" rIns="0" bIns="0" rtlCol="0">
            <a:spAutoFit/>
          </a:bodyPr>
          <a:lstStyle/>
          <a:p>
            <a:pPr>
              <a:lnSpc>
                <a:spcPts val="2799"/>
              </a:lnSpc>
            </a:pPr>
            <a:r>
              <a:rPr lang="zh-CN" altLang="en-US" sz="2802" dirty="0">
                <a:solidFill>
                  <a:srgbClr val="502800"/>
                </a:solidFill>
                <a:latin typeface="Times New Roman"/>
              </a:rPr>
              <a:t>主要風險</a:t>
            </a:r>
          </a:p>
        </p:txBody>
      </p:sp>
      <p:sp>
        <p:nvSpPr>
          <p:cNvPr id="9" name="TextBox 8"/>
          <p:cNvSpPr txBox="1"/>
          <p:nvPr/>
        </p:nvSpPr>
        <p:spPr>
          <a:xfrm>
            <a:off x="7858985" y="1383421"/>
            <a:ext cx="718145" cy="359073"/>
          </a:xfrm>
          <a:prstGeom prst="rect">
            <a:avLst/>
          </a:prstGeom>
          <a:noFill/>
        </p:spPr>
        <p:txBody>
          <a:bodyPr vert="horz" wrap="none" lIns="0" tIns="0" rIns="0" bIns="0" rtlCol="0">
            <a:spAutoFit/>
          </a:bodyPr>
          <a:lstStyle/>
          <a:p>
            <a:pPr>
              <a:lnSpc>
                <a:spcPts val="2799"/>
              </a:lnSpc>
            </a:pPr>
            <a:r>
              <a:rPr lang="zh-CN" altLang="en-US" sz="2802" dirty="0">
                <a:solidFill>
                  <a:srgbClr val="502800"/>
                </a:solidFill>
                <a:latin typeface="Times New Roman"/>
              </a:rPr>
              <a:t>措施</a:t>
            </a:r>
          </a:p>
        </p:txBody>
      </p:sp>
      <p:sp>
        <p:nvSpPr>
          <p:cNvPr id="10" name="TextBox 9"/>
          <p:cNvSpPr txBox="1"/>
          <p:nvPr/>
        </p:nvSpPr>
        <p:spPr>
          <a:xfrm>
            <a:off x="803010" y="2368498"/>
            <a:ext cx="205184" cy="820738"/>
          </a:xfrm>
          <a:prstGeom prst="rect">
            <a:avLst/>
          </a:prstGeom>
          <a:noFill/>
        </p:spPr>
        <p:txBody>
          <a:bodyPr vert="horz" wrap="none" lIns="0" tIns="0" rIns="0" bIns="0" rtlCol="0">
            <a:spAutoFit/>
          </a:bodyPr>
          <a:lstStyle/>
          <a:p>
            <a:pPr>
              <a:lnSpc>
                <a:spcPts val="1601"/>
              </a:lnSpc>
            </a:pPr>
            <a:r>
              <a:rPr lang="zh-CN" altLang="en-US" sz="1603" dirty="0">
                <a:solidFill>
                  <a:srgbClr val="502800"/>
                </a:solidFill>
                <a:latin typeface="Times New Roman"/>
              </a:rPr>
              <a:t>經</a:t>
            </a:r>
          </a:p>
          <a:p>
            <a:pPr>
              <a:lnSpc>
                <a:spcPts val="1575"/>
              </a:lnSpc>
            </a:pPr>
            <a:r>
              <a:rPr lang="zh-CN" altLang="en-US" sz="1603" dirty="0">
                <a:solidFill>
                  <a:srgbClr val="502800"/>
                </a:solidFill>
                <a:latin typeface="Times New Roman"/>
              </a:rPr>
              <a:t>營</a:t>
            </a:r>
          </a:p>
          <a:p>
            <a:pPr>
              <a:lnSpc>
                <a:spcPts val="1575"/>
              </a:lnSpc>
            </a:pPr>
            <a:r>
              <a:rPr lang="zh-CN" altLang="en-US" sz="1603" dirty="0">
                <a:solidFill>
                  <a:srgbClr val="502800"/>
                </a:solidFill>
                <a:latin typeface="Times New Roman"/>
              </a:rPr>
              <a:t>效</a:t>
            </a:r>
          </a:p>
          <a:p>
            <a:pPr>
              <a:lnSpc>
                <a:spcPts val="1575"/>
              </a:lnSpc>
            </a:pPr>
            <a:r>
              <a:rPr lang="zh-CN" altLang="en-US" sz="1603" dirty="0">
                <a:solidFill>
                  <a:srgbClr val="502800"/>
                </a:solidFill>
                <a:latin typeface="Times New Roman"/>
              </a:rPr>
              <a:t>率</a:t>
            </a:r>
          </a:p>
        </p:txBody>
      </p:sp>
      <p:sp>
        <p:nvSpPr>
          <p:cNvPr id="11" name="TextBox 10"/>
          <p:cNvSpPr txBox="1"/>
          <p:nvPr/>
        </p:nvSpPr>
        <p:spPr>
          <a:xfrm>
            <a:off x="1048029" y="2468778"/>
            <a:ext cx="205184" cy="615553"/>
          </a:xfrm>
          <a:prstGeom prst="rect">
            <a:avLst/>
          </a:prstGeom>
          <a:noFill/>
        </p:spPr>
        <p:txBody>
          <a:bodyPr vert="horz" wrap="none" lIns="0" tIns="0" rIns="0" bIns="0" rtlCol="0">
            <a:spAutoFit/>
          </a:bodyPr>
          <a:lstStyle/>
          <a:p>
            <a:pPr>
              <a:lnSpc>
                <a:spcPts val="1601"/>
              </a:lnSpc>
            </a:pPr>
            <a:r>
              <a:rPr lang="zh-CN" altLang="en-US" sz="1603" dirty="0">
                <a:solidFill>
                  <a:srgbClr val="502800"/>
                </a:solidFill>
                <a:latin typeface="Times New Roman"/>
              </a:rPr>
              <a:t>和</a:t>
            </a:r>
          </a:p>
          <a:p>
            <a:pPr>
              <a:lnSpc>
                <a:spcPts val="1578"/>
              </a:lnSpc>
            </a:pPr>
            <a:r>
              <a:rPr lang="zh-CN" altLang="en-US" sz="1603" dirty="0">
                <a:solidFill>
                  <a:srgbClr val="502800"/>
                </a:solidFill>
                <a:latin typeface="Times New Roman"/>
              </a:rPr>
              <a:t>效</a:t>
            </a:r>
          </a:p>
          <a:p>
            <a:pPr>
              <a:lnSpc>
                <a:spcPts val="1578"/>
              </a:lnSpc>
            </a:pPr>
            <a:r>
              <a:rPr lang="zh-CN" altLang="en-US" sz="1603" dirty="0">
                <a:solidFill>
                  <a:srgbClr val="502800"/>
                </a:solidFill>
                <a:latin typeface="Times New Roman"/>
              </a:rPr>
              <a:t>果</a:t>
            </a:r>
          </a:p>
        </p:txBody>
      </p:sp>
      <p:sp>
        <p:nvSpPr>
          <p:cNvPr id="12" name="TextBox 11"/>
          <p:cNvSpPr txBox="1"/>
          <p:nvPr/>
        </p:nvSpPr>
        <p:spPr>
          <a:xfrm>
            <a:off x="822094" y="3799406"/>
            <a:ext cx="205184" cy="820738"/>
          </a:xfrm>
          <a:prstGeom prst="rect">
            <a:avLst/>
          </a:prstGeom>
          <a:noFill/>
        </p:spPr>
        <p:txBody>
          <a:bodyPr vert="horz" wrap="none" lIns="0" tIns="0" rIns="0" bIns="0" rtlCol="0">
            <a:spAutoFit/>
          </a:bodyPr>
          <a:lstStyle/>
          <a:p>
            <a:pPr>
              <a:lnSpc>
                <a:spcPts val="1601"/>
              </a:lnSpc>
            </a:pPr>
            <a:r>
              <a:rPr lang="zh-CN" altLang="en-US" sz="1603" dirty="0">
                <a:solidFill>
                  <a:srgbClr val="502800"/>
                </a:solidFill>
                <a:latin typeface="Times New Roman"/>
              </a:rPr>
              <a:t>財</a:t>
            </a:r>
          </a:p>
          <a:p>
            <a:pPr>
              <a:lnSpc>
                <a:spcPts val="1575"/>
              </a:lnSpc>
            </a:pPr>
            <a:r>
              <a:rPr lang="zh-CN" altLang="en-US" sz="1603" dirty="0">
                <a:solidFill>
                  <a:srgbClr val="502800"/>
                </a:solidFill>
                <a:latin typeface="Times New Roman"/>
              </a:rPr>
              <a:t>務</a:t>
            </a:r>
          </a:p>
          <a:p>
            <a:pPr>
              <a:lnSpc>
                <a:spcPts val="1575"/>
              </a:lnSpc>
            </a:pPr>
            <a:r>
              <a:rPr lang="zh-CN" altLang="en-US" sz="1603" dirty="0">
                <a:solidFill>
                  <a:srgbClr val="502800"/>
                </a:solidFill>
                <a:latin typeface="Times New Roman"/>
              </a:rPr>
              <a:t>報</a:t>
            </a:r>
          </a:p>
          <a:p>
            <a:pPr>
              <a:lnSpc>
                <a:spcPts val="1575"/>
              </a:lnSpc>
            </a:pPr>
            <a:r>
              <a:rPr lang="zh-CN" altLang="en-US" sz="1603" dirty="0">
                <a:solidFill>
                  <a:srgbClr val="502800"/>
                </a:solidFill>
                <a:latin typeface="Times New Roman"/>
              </a:rPr>
              <a:t>告</a:t>
            </a:r>
          </a:p>
        </p:txBody>
      </p:sp>
      <p:sp>
        <p:nvSpPr>
          <p:cNvPr id="13" name="TextBox 12"/>
          <p:cNvSpPr txBox="1"/>
          <p:nvPr/>
        </p:nvSpPr>
        <p:spPr>
          <a:xfrm>
            <a:off x="850109" y="5101457"/>
            <a:ext cx="205184" cy="1025922"/>
          </a:xfrm>
          <a:prstGeom prst="rect">
            <a:avLst/>
          </a:prstGeom>
          <a:noFill/>
        </p:spPr>
        <p:txBody>
          <a:bodyPr vert="horz" wrap="none" lIns="0" tIns="0" rIns="0" bIns="0" rtlCol="0">
            <a:spAutoFit/>
          </a:bodyPr>
          <a:lstStyle/>
          <a:p>
            <a:pPr>
              <a:lnSpc>
                <a:spcPts val="1601"/>
              </a:lnSpc>
            </a:pPr>
            <a:r>
              <a:rPr lang="zh-CN" altLang="en-US" sz="1603" dirty="0">
                <a:solidFill>
                  <a:srgbClr val="502800"/>
                </a:solidFill>
                <a:latin typeface="Times New Roman"/>
              </a:rPr>
              <a:t>法</a:t>
            </a:r>
          </a:p>
          <a:p>
            <a:pPr>
              <a:lnSpc>
                <a:spcPts val="1580"/>
              </a:lnSpc>
            </a:pPr>
            <a:r>
              <a:rPr lang="zh-CN" altLang="en-US" sz="1603" dirty="0">
                <a:solidFill>
                  <a:srgbClr val="502800"/>
                </a:solidFill>
                <a:latin typeface="Times New Roman"/>
              </a:rPr>
              <a:t>律</a:t>
            </a:r>
          </a:p>
          <a:p>
            <a:pPr>
              <a:lnSpc>
                <a:spcPts val="1580"/>
              </a:lnSpc>
            </a:pPr>
            <a:r>
              <a:rPr lang="zh-CN" altLang="en-US" sz="1603" dirty="0">
                <a:solidFill>
                  <a:srgbClr val="502800"/>
                </a:solidFill>
                <a:latin typeface="Times New Roman"/>
              </a:rPr>
              <a:t>及</a:t>
            </a:r>
          </a:p>
          <a:p>
            <a:pPr>
              <a:lnSpc>
                <a:spcPts val="1569"/>
              </a:lnSpc>
            </a:pPr>
            <a:r>
              <a:rPr lang="zh-CN" altLang="en-US" sz="1603" dirty="0">
                <a:solidFill>
                  <a:srgbClr val="502800"/>
                </a:solidFill>
                <a:latin typeface="Times New Roman"/>
              </a:rPr>
              <a:t>法</a:t>
            </a:r>
          </a:p>
          <a:p>
            <a:pPr>
              <a:lnSpc>
                <a:spcPts val="1579"/>
              </a:lnSpc>
            </a:pPr>
            <a:r>
              <a:rPr lang="zh-CN" altLang="en-US" sz="1603" dirty="0">
                <a:solidFill>
                  <a:srgbClr val="502800"/>
                </a:solidFill>
                <a:latin typeface="Times New Roman"/>
              </a:rPr>
              <a:t>規</a:t>
            </a:r>
          </a:p>
        </p:txBody>
      </p:sp>
      <p:sp>
        <p:nvSpPr>
          <p:cNvPr id="14" name="TextBox 13"/>
          <p:cNvSpPr txBox="1"/>
          <p:nvPr/>
        </p:nvSpPr>
        <p:spPr>
          <a:xfrm>
            <a:off x="1065933" y="3799446"/>
            <a:ext cx="205184" cy="820738"/>
          </a:xfrm>
          <a:prstGeom prst="rect">
            <a:avLst/>
          </a:prstGeom>
          <a:noFill/>
        </p:spPr>
        <p:txBody>
          <a:bodyPr vert="horz" wrap="none" lIns="0" tIns="0" rIns="0" bIns="0" rtlCol="0">
            <a:spAutoFit/>
          </a:bodyPr>
          <a:lstStyle/>
          <a:p>
            <a:pPr>
              <a:lnSpc>
                <a:spcPts val="1601"/>
              </a:lnSpc>
            </a:pPr>
            <a:r>
              <a:rPr lang="zh-CN" altLang="en-US" sz="1603" dirty="0">
                <a:solidFill>
                  <a:srgbClr val="502800"/>
                </a:solidFill>
                <a:latin typeface="Times New Roman"/>
              </a:rPr>
              <a:t>的</a:t>
            </a:r>
          </a:p>
          <a:p>
            <a:pPr>
              <a:lnSpc>
                <a:spcPts val="1575"/>
              </a:lnSpc>
            </a:pPr>
            <a:r>
              <a:rPr lang="zh-CN" altLang="en-US" sz="1603" dirty="0">
                <a:solidFill>
                  <a:srgbClr val="502800"/>
                </a:solidFill>
                <a:latin typeface="Times New Roman"/>
              </a:rPr>
              <a:t>可</a:t>
            </a:r>
          </a:p>
          <a:p>
            <a:pPr>
              <a:lnSpc>
                <a:spcPts val="1575"/>
              </a:lnSpc>
            </a:pPr>
            <a:r>
              <a:rPr lang="zh-CN" altLang="en-US" sz="1603" dirty="0">
                <a:solidFill>
                  <a:srgbClr val="502800"/>
                </a:solidFill>
                <a:latin typeface="Times New Roman"/>
              </a:rPr>
              <a:t>靠</a:t>
            </a:r>
          </a:p>
          <a:p>
            <a:pPr>
              <a:lnSpc>
                <a:spcPts val="1575"/>
              </a:lnSpc>
            </a:pPr>
            <a:r>
              <a:rPr lang="zh-CN" altLang="en-US" sz="1603" dirty="0">
                <a:solidFill>
                  <a:srgbClr val="502800"/>
                </a:solidFill>
                <a:latin typeface="Times New Roman"/>
              </a:rPr>
              <a:t>性</a:t>
            </a:r>
          </a:p>
        </p:txBody>
      </p:sp>
      <p:sp>
        <p:nvSpPr>
          <p:cNvPr id="15" name="TextBox 14"/>
          <p:cNvSpPr txBox="1"/>
          <p:nvPr/>
        </p:nvSpPr>
        <p:spPr>
          <a:xfrm>
            <a:off x="1094091" y="5201493"/>
            <a:ext cx="205184" cy="820738"/>
          </a:xfrm>
          <a:prstGeom prst="rect">
            <a:avLst/>
          </a:prstGeom>
          <a:noFill/>
        </p:spPr>
        <p:txBody>
          <a:bodyPr vert="horz" wrap="none" lIns="0" tIns="0" rIns="0" bIns="0" rtlCol="0">
            <a:spAutoFit/>
          </a:bodyPr>
          <a:lstStyle/>
          <a:p>
            <a:pPr>
              <a:lnSpc>
                <a:spcPts val="1601"/>
              </a:lnSpc>
            </a:pPr>
            <a:r>
              <a:rPr lang="zh-CN" altLang="en-US" sz="1603" dirty="0">
                <a:solidFill>
                  <a:srgbClr val="502800"/>
                </a:solidFill>
                <a:latin typeface="Times New Roman"/>
              </a:rPr>
              <a:t>的</a:t>
            </a:r>
          </a:p>
          <a:p>
            <a:pPr>
              <a:lnSpc>
                <a:spcPts val="1575"/>
              </a:lnSpc>
            </a:pPr>
            <a:r>
              <a:rPr lang="zh-CN" altLang="en-US" sz="1603" dirty="0">
                <a:solidFill>
                  <a:srgbClr val="502800"/>
                </a:solidFill>
                <a:latin typeface="Times New Roman"/>
              </a:rPr>
              <a:t>合</a:t>
            </a:r>
          </a:p>
          <a:p>
            <a:pPr>
              <a:lnSpc>
                <a:spcPts val="1575"/>
              </a:lnSpc>
            </a:pPr>
            <a:r>
              <a:rPr lang="zh-CN" altLang="en-US" sz="1603" dirty="0">
                <a:solidFill>
                  <a:srgbClr val="502800"/>
                </a:solidFill>
                <a:latin typeface="Times New Roman"/>
              </a:rPr>
              <a:t>規</a:t>
            </a:r>
          </a:p>
          <a:p>
            <a:pPr>
              <a:lnSpc>
                <a:spcPts val="1575"/>
              </a:lnSpc>
            </a:pPr>
            <a:r>
              <a:rPr lang="zh-CN" altLang="en-US" sz="1603" dirty="0">
                <a:solidFill>
                  <a:srgbClr val="502800"/>
                </a:solidFill>
                <a:latin typeface="Times New Roman"/>
              </a:rPr>
              <a:t>性</a:t>
            </a:r>
          </a:p>
        </p:txBody>
      </p:sp>
      <p:sp>
        <p:nvSpPr>
          <p:cNvPr id="16" name="TextBox 15"/>
          <p:cNvSpPr txBox="1"/>
          <p:nvPr/>
        </p:nvSpPr>
        <p:spPr>
          <a:xfrm>
            <a:off x="4739714" y="3654111"/>
            <a:ext cx="307777" cy="615553"/>
          </a:xfrm>
          <a:prstGeom prst="rect">
            <a:avLst/>
          </a:prstGeom>
          <a:noFill/>
        </p:spPr>
        <p:txBody>
          <a:bodyPr vert="horz" wrap="none" lIns="0" tIns="0" rIns="0" bIns="0" rtlCol="0">
            <a:spAutoFit/>
          </a:bodyPr>
          <a:lstStyle/>
          <a:p>
            <a:pPr>
              <a:lnSpc>
                <a:spcPts val="2399"/>
              </a:lnSpc>
            </a:pPr>
            <a:r>
              <a:rPr lang="zh-CN" altLang="en-US" sz="2401" dirty="0">
                <a:solidFill>
                  <a:srgbClr val="502800"/>
                </a:solidFill>
                <a:latin typeface="Times New Roman"/>
              </a:rPr>
              <a:t>過</a:t>
            </a:r>
          </a:p>
          <a:p>
            <a:pPr>
              <a:lnSpc>
                <a:spcPts val="2364"/>
              </a:lnSpc>
            </a:pPr>
            <a:r>
              <a:rPr lang="zh-CN" altLang="en-US" sz="2401" dirty="0">
                <a:solidFill>
                  <a:srgbClr val="502800"/>
                </a:solidFill>
                <a:latin typeface="Times New Roman"/>
              </a:rPr>
              <a:t>濾</a:t>
            </a:r>
          </a:p>
        </p:txBody>
      </p:sp>
      <p:sp>
        <p:nvSpPr>
          <p:cNvPr id="17" name="TextBox 16"/>
          <p:cNvSpPr txBox="1"/>
          <p:nvPr/>
        </p:nvSpPr>
        <p:spPr>
          <a:xfrm>
            <a:off x="8067681" y="6285482"/>
            <a:ext cx="1477969" cy="461665"/>
          </a:xfrm>
          <a:prstGeom prst="rect">
            <a:avLst/>
          </a:prstGeom>
          <a:noFill/>
        </p:spPr>
        <p:txBody>
          <a:bodyPr vert="horz" wrap="none" lIns="0" tIns="0" rIns="0" bIns="0" rtlCol="0">
            <a:spAutoFit/>
          </a:bodyPr>
          <a:lstStyle/>
          <a:p>
            <a:pPr>
              <a:lnSpc>
                <a:spcPts val="1800"/>
              </a:lnSpc>
            </a:pPr>
            <a:r>
              <a:rPr lang="en-US" altLang="zh-CN" dirty="0" err="1">
                <a:solidFill>
                  <a:srgbClr val="000000"/>
                </a:solidFill>
                <a:latin typeface="Times New Roman"/>
              </a:rPr>
              <a:t>Pwc</a:t>
            </a:r>
            <a:endParaRPr lang="en-US" altLang="zh-CN" dirty="0">
              <a:solidFill>
                <a:srgbClr val="000000"/>
              </a:solidFill>
              <a:latin typeface="Times New Roman"/>
            </a:endParaRPr>
          </a:p>
          <a:p>
            <a:pPr>
              <a:lnSpc>
                <a:spcPts val="1779"/>
              </a:lnSpc>
            </a:pPr>
            <a:r>
              <a:rPr lang="zh-CN" altLang="en-US" sz="1478" dirty="0">
                <a:solidFill>
                  <a:srgbClr val="000000"/>
                </a:solidFill>
                <a:latin typeface="Times New Roman"/>
              </a:rPr>
              <a:t>普     華     永     道</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myslide12">
    <p:spTree>
      <p:nvGrpSpPr>
        <p:cNvPr id="1" name=""/>
        <p:cNvGrpSpPr/>
        <p:nvPr/>
      </p:nvGrpSpPr>
      <p:grpSpPr>
        <a:xfrm>
          <a:off x="0" y="0"/>
          <a:ext cx="0" cy="0"/>
          <a:chOff x="0" y="0"/>
          <a:chExt cx="0" cy="0"/>
        </a:xfrm>
      </p:grpSpPr>
      <p:pic>
        <p:nvPicPr>
          <p:cNvPr id="2" name="图片 1" descr="ws_199.tmp"/>
          <p:cNvPicPr>
            <a:picLocks/>
          </p:cNvPicPr>
          <p:nvPr/>
        </p:nvPicPr>
        <p:blipFill>
          <a:blip r:embed="rId2"/>
          <a:stretch>
            <a:fillRect/>
          </a:stretch>
        </p:blipFill>
        <p:spPr>
          <a:xfrm>
            <a:off x="0" y="0"/>
            <a:ext cx="9880600" cy="6819900"/>
          </a:xfrm>
          <a:prstGeom prst="rect">
            <a:avLst/>
          </a:prstGeom>
        </p:spPr>
      </p:pic>
      <p:sp>
        <p:nvSpPr>
          <p:cNvPr id="3" name="TextBox 2"/>
          <p:cNvSpPr txBox="1"/>
          <p:nvPr/>
        </p:nvSpPr>
        <p:spPr>
          <a:xfrm>
            <a:off x="509403" y="6341571"/>
            <a:ext cx="144270" cy="133370"/>
          </a:xfrm>
          <a:prstGeom prst="rect">
            <a:avLst/>
          </a:prstGeom>
          <a:noFill/>
        </p:spPr>
        <p:txBody>
          <a:bodyPr vert="horz" wrap="none" lIns="0" tIns="0" rIns="0" bIns="0" rtlCol="0">
            <a:spAutoFit/>
          </a:bodyPr>
          <a:lstStyle/>
          <a:p>
            <a:pPr>
              <a:lnSpc>
                <a:spcPts val="1016"/>
              </a:lnSpc>
            </a:pPr>
            <a:r>
              <a:rPr lang="en-US" altLang="zh-CN" sz="1098" dirty="0">
                <a:solidFill>
                  <a:srgbClr val="761437"/>
                </a:solidFill>
                <a:latin typeface="Times New Roman"/>
              </a:rPr>
              <a:t>12</a:t>
            </a:r>
            <a:endParaRPr lang="zh-CN" altLang="en-US" sz="1098" dirty="0">
              <a:solidFill>
                <a:srgbClr val="761437"/>
              </a:solidFill>
              <a:latin typeface="Times New Roman"/>
            </a:endParaRPr>
          </a:p>
        </p:txBody>
      </p:sp>
      <p:sp>
        <p:nvSpPr>
          <p:cNvPr id="4" name="TextBox 3"/>
          <p:cNvSpPr txBox="1"/>
          <p:nvPr/>
        </p:nvSpPr>
        <p:spPr>
          <a:xfrm>
            <a:off x="438537" y="478739"/>
            <a:ext cx="5940729" cy="1231106"/>
          </a:xfrm>
          <a:prstGeom prst="rect">
            <a:avLst/>
          </a:prstGeom>
          <a:noFill/>
        </p:spPr>
        <p:txBody>
          <a:bodyPr vert="horz" wrap="none" lIns="0" tIns="0" rIns="0" bIns="0" rtlCol="0">
            <a:spAutoFit/>
          </a:bodyPr>
          <a:lstStyle/>
          <a:p>
            <a:pPr marL="0" marR="0" lvl="0" indent="0" defTabSz="914400" eaLnBrk="1" fontAlgn="auto" latinLnBrk="0" hangingPunct="1">
              <a:lnSpc>
                <a:spcPts val="3874"/>
              </a:lnSpc>
              <a:buClrTx/>
              <a:buSzTx/>
              <a:buNone/>
              <a:tabLst>
                <a:tab pos="469900" algn="l"/>
              </a:tabLst>
              <a:defRPr/>
            </a:pPr>
            <a:r>
              <a:rPr lang="zh-CN" altLang="en-US" dirty="0"/>
              <a:t>	</a:t>
            </a:r>
            <a:r>
              <a:rPr lang="zh-CN" altLang="en-US" sz="3600" dirty="0">
                <a:solidFill>
                  <a:srgbClr val="FFFFFF"/>
                </a:solidFill>
                <a:latin typeface="Times New Roman"/>
              </a:rPr>
              <a:t>內部控制體系 </a:t>
            </a:r>
            <a:r>
              <a:rPr lang="en-US" altLang="zh-CN" sz="3600" b="1" dirty="0">
                <a:solidFill>
                  <a:srgbClr val="FFFFFF"/>
                </a:solidFill>
                <a:latin typeface="Times New Roman"/>
              </a:rPr>
              <a:t>– COSO</a:t>
            </a:r>
            <a:r>
              <a:rPr lang="zh-CN" altLang="en-US" sz="3600" b="1" dirty="0">
                <a:solidFill>
                  <a:srgbClr val="FFFFFF"/>
                </a:solidFill>
                <a:latin typeface="Times New Roman"/>
              </a:rPr>
              <a:t>模型</a:t>
            </a:r>
          </a:p>
          <a:p>
            <a:pPr marL="0" marR="0" lvl="0" indent="0" defTabSz="914400" eaLnBrk="1" fontAlgn="auto" latinLnBrk="0" hangingPunct="1">
              <a:lnSpc>
                <a:spcPts val="1000"/>
              </a:lnSpc>
              <a:buClrTx/>
              <a:buSzTx/>
              <a:buNone/>
              <a:tabLst>
                <a:tab pos="469900" algn="l"/>
              </a:tabLst>
              <a:defRPr/>
            </a:pPr>
            <a:endParaRPr lang="zh-CN" altLang="en-US" sz="3600" b="1" dirty="0">
              <a:solidFill>
                <a:srgbClr val="FFFFFF"/>
              </a:solidFill>
              <a:latin typeface="Times New Roman"/>
            </a:endParaRPr>
          </a:p>
          <a:p>
            <a:pPr marL="0" marR="0" lvl="0" indent="0" defTabSz="914400" eaLnBrk="1" fontAlgn="auto" latinLnBrk="0" hangingPunct="1">
              <a:lnSpc>
                <a:spcPts val="1000"/>
              </a:lnSpc>
              <a:buClrTx/>
              <a:buSzTx/>
              <a:buNone/>
              <a:tabLst>
                <a:tab pos="469900" algn="l"/>
              </a:tabLst>
              <a:defRPr/>
            </a:pPr>
            <a:endParaRPr lang="zh-CN" altLang="en-US" sz="3600" b="1" dirty="0">
              <a:solidFill>
                <a:srgbClr val="FFFFFF"/>
              </a:solidFill>
              <a:latin typeface="Times New Roman"/>
            </a:endParaRPr>
          </a:p>
          <a:p>
            <a:pPr marL="0" marR="0" lvl="0" indent="0" defTabSz="914400" eaLnBrk="1" fontAlgn="auto" latinLnBrk="0" hangingPunct="1">
              <a:lnSpc>
                <a:spcPts val="3668"/>
              </a:lnSpc>
              <a:buClrTx/>
              <a:buSzTx/>
              <a:buNone/>
              <a:tabLst>
                <a:tab pos="469900" algn="l"/>
              </a:tabLst>
              <a:defRPr/>
            </a:pPr>
            <a:r>
              <a:rPr lang="zh-CN" altLang="en-US" sz="2537" dirty="0">
                <a:solidFill>
                  <a:srgbClr val="000000"/>
                </a:solidFill>
                <a:latin typeface="Times New Roman"/>
              </a:rPr>
              <a:t>要素</a:t>
            </a:r>
            <a:r>
              <a:rPr lang="en-US" altLang="zh-CN" sz="2400" b="1" i="1" dirty="0">
                <a:solidFill>
                  <a:srgbClr val="000000"/>
                </a:solidFill>
                <a:latin typeface="Times New Roman"/>
              </a:rPr>
              <a:t>3</a:t>
            </a:r>
            <a:r>
              <a:rPr lang="zh-CN" altLang="en-US" sz="2537" dirty="0">
                <a:solidFill>
                  <a:srgbClr val="000000"/>
                </a:solidFill>
                <a:latin typeface="Times New Roman"/>
              </a:rPr>
              <a:t>：控制活動</a:t>
            </a:r>
          </a:p>
        </p:txBody>
      </p:sp>
      <p:sp>
        <p:nvSpPr>
          <p:cNvPr id="5" name="TextBox 4"/>
          <p:cNvSpPr txBox="1"/>
          <p:nvPr/>
        </p:nvSpPr>
        <p:spPr>
          <a:xfrm>
            <a:off x="1119002" y="2689758"/>
            <a:ext cx="153888" cy="153888"/>
          </a:xfrm>
          <a:prstGeom prst="rect">
            <a:avLst/>
          </a:prstGeom>
          <a:noFill/>
        </p:spPr>
        <p:txBody>
          <a:bodyPr vert="horz" wrap="none" lIns="0" tIns="0" rIns="0" bIns="0" rtlCol="0">
            <a:spAutoFit/>
          </a:bodyPr>
          <a:lstStyle/>
          <a:p>
            <a:pPr>
              <a:lnSpc>
                <a:spcPts val="1199"/>
              </a:lnSpc>
            </a:pPr>
            <a:r>
              <a:rPr lang="zh-CN" altLang="en-US" sz="1200" dirty="0">
                <a:solidFill>
                  <a:srgbClr val="000000"/>
                </a:solidFill>
                <a:latin typeface="Times New Roman"/>
              </a:rPr>
              <a:t>營</a:t>
            </a:r>
          </a:p>
        </p:txBody>
      </p:sp>
      <p:sp>
        <p:nvSpPr>
          <p:cNvPr id="6" name="TextBox 5"/>
          <p:cNvSpPr txBox="1"/>
          <p:nvPr/>
        </p:nvSpPr>
        <p:spPr>
          <a:xfrm>
            <a:off x="1458850" y="2394864"/>
            <a:ext cx="153888" cy="153888"/>
          </a:xfrm>
          <a:prstGeom prst="rect">
            <a:avLst/>
          </a:prstGeom>
          <a:noFill/>
        </p:spPr>
        <p:txBody>
          <a:bodyPr vert="horz" wrap="none" lIns="0" tIns="0" rIns="0" bIns="0" rtlCol="0">
            <a:spAutoFit/>
          </a:bodyPr>
          <a:lstStyle/>
          <a:p>
            <a:pPr>
              <a:lnSpc>
                <a:spcPts val="1199"/>
              </a:lnSpc>
            </a:pPr>
            <a:r>
              <a:rPr lang="zh-CN" altLang="en-US" sz="1200" dirty="0">
                <a:solidFill>
                  <a:srgbClr val="000000"/>
                </a:solidFill>
                <a:latin typeface="Times New Roman"/>
              </a:rPr>
              <a:t>經</a:t>
            </a:r>
          </a:p>
        </p:txBody>
      </p:sp>
      <p:sp>
        <p:nvSpPr>
          <p:cNvPr id="7" name="TextBox 6"/>
          <p:cNvSpPr txBox="1"/>
          <p:nvPr/>
        </p:nvSpPr>
        <p:spPr>
          <a:xfrm>
            <a:off x="1763647" y="2749956"/>
            <a:ext cx="153888" cy="153888"/>
          </a:xfrm>
          <a:prstGeom prst="rect">
            <a:avLst/>
          </a:prstGeom>
          <a:noFill/>
        </p:spPr>
        <p:txBody>
          <a:bodyPr vert="horz" wrap="none" lIns="0" tIns="0" rIns="0" bIns="0" rtlCol="0">
            <a:spAutoFit/>
          </a:bodyPr>
          <a:lstStyle/>
          <a:p>
            <a:pPr>
              <a:lnSpc>
                <a:spcPts val="1199"/>
              </a:lnSpc>
            </a:pPr>
            <a:r>
              <a:rPr lang="zh-CN" altLang="en-US" sz="1200" dirty="0">
                <a:solidFill>
                  <a:srgbClr val="000000"/>
                </a:solidFill>
                <a:latin typeface="Times New Roman"/>
              </a:rPr>
              <a:t>財</a:t>
            </a:r>
          </a:p>
        </p:txBody>
      </p:sp>
      <p:sp>
        <p:nvSpPr>
          <p:cNvPr id="8" name="TextBox 7"/>
          <p:cNvSpPr txBox="1"/>
          <p:nvPr/>
        </p:nvSpPr>
        <p:spPr>
          <a:xfrm>
            <a:off x="1917570" y="2597556"/>
            <a:ext cx="153888" cy="153888"/>
          </a:xfrm>
          <a:prstGeom prst="rect">
            <a:avLst/>
          </a:prstGeom>
          <a:noFill/>
        </p:spPr>
        <p:txBody>
          <a:bodyPr vert="horz" wrap="none" lIns="0" tIns="0" rIns="0" bIns="0" rtlCol="0">
            <a:spAutoFit/>
          </a:bodyPr>
          <a:lstStyle/>
          <a:p>
            <a:pPr>
              <a:lnSpc>
                <a:spcPts val="1199"/>
              </a:lnSpc>
            </a:pPr>
            <a:r>
              <a:rPr lang="zh-CN" altLang="en-US" sz="1200" dirty="0">
                <a:solidFill>
                  <a:srgbClr val="000000"/>
                </a:solidFill>
                <a:latin typeface="Times New Roman"/>
              </a:rPr>
              <a:t>務</a:t>
            </a:r>
          </a:p>
        </p:txBody>
      </p:sp>
      <p:sp>
        <p:nvSpPr>
          <p:cNvPr id="9" name="TextBox 8"/>
          <p:cNvSpPr txBox="1"/>
          <p:nvPr/>
        </p:nvSpPr>
        <p:spPr>
          <a:xfrm>
            <a:off x="2073018" y="2308758"/>
            <a:ext cx="294953" cy="297325"/>
          </a:xfrm>
          <a:prstGeom prst="rect">
            <a:avLst/>
          </a:prstGeom>
          <a:noFill/>
        </p:spPr>
        <p:txBody>
          <a:bodyPr vert="horz" wrap="none" lIns="0" tIns="0" rIns="0" bIns="0" rtlCol="0">
            <a:spAutoFit/>
          </a:bodyPr>
          <a:lstStyle/>
          <a:p>
            <a:pPr marL="0" marR="0" lvl="0" indent="0" defTabSz="914400" eaLnBrk="1" fontAlgn="auto" latinLnBrk="0" hangingPunct="1">
              <a:lnSpc>
                <a:spcPts val="1199"/>
              </a:lnSpc>
              <a:buClrTx/>
              <a:buSzTx/>
              <a:buNone/>
              <a:tabLst>
                <a:tab pos="139700" algn="l"/>
              </a:tabLst>
              <a:defRPr/>
            </a:pPr>
            <a:r>
              <a:rPr lang="zh-CN" altLang="en-US" dirty="0"/>
              <a:t>	</a:t>
            </a:r>
            <a:r>
              <a:rPr lang="zh-CN" altLang="en-US" sz="1200" dirty="0">
                <a:solidFill>
                  <a:srgbClr val="000000"/>
                </a:solidFill>
                <a:latin typeface="Times New Roman"/>
              </a:rPr>
              <a:t>告</a:t>
            </a:r>
          </a:p>
          <a:p>
            <a:pPr marL="0" marR="0" lvl="0" indent="0" defTabSz="914400" eaLnBrk="1" fontAlgn="auto" latinLnBrk="0" hangingPunct="1">
              <a:lnSpc>
                <a:spcPts val="1074"/>
              </a:lnSpc>
              <a:buClrTx/>
              <a:buSzTx/>
              <a:buNone/>
              <a:tabLst>
                <a:tab pos="139700" algn="l"/>
              </a:tabLst>
              <a:defRPr/>
            </a:pPr>
            <a:r>
              <a:rPr lang="zh-CN" altLang="en-US" sz="1200" dirty="0">
                <a:solidFill>
                  <a:srgbClr val="000000"/>
                </a:solidFill>
                <a:latin typeface="Times New Roman"/>
              </a:rPr>
              <a:t>報</a:t>
            </a:r>
          </a:p>
        </p:txBody>
      </p:sp>
      <p:sp>
        <p:nvSpPr>
          <p:cNvPr id="10" name="TextBox 9"/>
          <p:cNvSpPr txBox="1"/>
          <p:nvPr/>
        </p:nvSpPr>
        <p:spPr>
          <a:xfrm>
            <a:off x="2446392" y="2711094"/>
            <a:ext cx="153888" cy="153888"/>
          </a:xfrm>
          <a:prstGeom prst="rect">
            <a:avLst/>
          </a:prstGeom>
          <a:noFill/>
        </p:spPr>
        <p:txBody>
          <a:bodyPr vert="horz" wrap="none" lIns="0" tIns="0" rIns="0" bIns="0" rtlCol="0">
            <a:spAutoFit/>
          </a:bodyPr>
          <a:lstStyle/>
          <a:p>
            <a:pPr>
              <a:lnSpc>
                <a:spcPts val="1199"/>
              </a:lnSpc>
            </a:pPr>
            <a:r>
              <a:rPr lang="zh-CN" altLang="en-US" sz="1200" dirty="0">
                <a:solidFill>
                  <a:srgbClr val="000000"/>
                </a:solidFill>
                <a:latin typeface="Times New Roman"/>
              </a:rPr>
              <a:t>合</a:t>
            </a:r>
          </a:p>
        </p:txBody>
      </p:sp>
      <p:sp>
        <p:nvSpPr>
          <p:cNvPr id="11" name="TextBox 10"/>
          <p:cNvSpPr txBox="1"/>
          <p:nvPr/>
        </p:nvSpPr>
        <p:spPr>
          <a:xfrm>
            <a:off x="2604889" y="2521356"/>
            <a:ext cx="153888" cy="153888"/>
          </a:xfrm>
          <a:prstGeom prst="rect">
            <a:avLst/>
          </a:prstGeom>
          <a:noFill/>
        </p:spPr>
        <p:txBody>
          <a:bodyPr vert="horz" wrap="none" lIns="0" tIns="0" rIns="0" bIns="0" rtlCol="0">
            <a:spAutoFit/>
          </a:bodyPr>
          <a:lstStyle/>
          <a:p>
            <a:pPr>
              <a:lnSpc>
                <a:spcPts val="1199"/>
              </a:lnSpc>
            </a:pPr>
            <a:r>
              <a:rPr lang="zh-CN" altLang="en-US" sz="1200" dirty="0">
                <a:solidFill>
                  <a:srgbClr val="000000"/>
                </a:solidFill>
                <a:latin typeface="Times New Roman"/>
              </a:rPr>
              <a:t>規</a:t>
            </a:r>
          </a:p>
        </p:txBody>
      </p:sp>
      <p:sp>
        <p:nvSpPr>
          <p:cNvPr id="12" name="TextBox 11"/>
          <p:cNvSpPr txBox="1"/>
          <p:nvPr/>
        </p:nvSpPr>
        <p:spPr>
          <a:xfrm>
            <a:off x="2831962" y="2368956"/>
            <a:ext cx="153888" cy="153888"/>
          </a:xfrm>
          <a:prstGeom prst="rect">
            <a:avLst/>
          </a:prstGeom>
          <a:noFill/>
        </p:spPr>
        <p:txBody>
          <a:bodyPr vert="horz" wrap="none" lIns="0" tIns="0" rIns="0" bIns="0" rtlCol="0">
            <a:spAutoFit/>
          </a:bodyPr>
          <a:lstStyle/>
          <a:p>
            <a:pPr>
              <a:lnSpc>
                <a:spcPts val="1199"/>
              </a:lnSpc>
            </a:pPr>
            <a:r>
              <a:rPr lang="zh-CN" altLang="en-US" sz="1200" dirty="0">
                <a:solidFill>
                  <a:srgbClr val="000000"/>
                </a:solidFill>
                <a:latin typeface="Times New Roman"/>
              </a:rPr>
              <a:t>性</a:t>
            </a:r>
          </a:p>
        </p:txBody>
      </p:sp>
      <p:sp>
        <p:nvSpPr>
          <p:cNvPr id="13" name="TextBox 12"/>
          <p:cNvSpPr txBox="1"/>
          <p:nvPr/>
        </p:nvSpPr>
        <p:spPr>
          <a:xfrm>
            <a:off x="1436743" y="2985414"/>
            <a:ext cx="769441" cy="1538883"/>
          </a:xfrm>
          <a:prstGeom prst="rect">
            <a:avLst/>
          </a:prstGeom>
          <a:noFill/>
        </p:spPr>
        <p:txBody>
          <a:bodyPr vert="horz" wrap="none" lIns="0" tIns="0" rIns="0" bIns="0" rtlCol="0">
            <a:spAutoFit/>
          </a:bodyPr>
          <a:lstStyle/>
          <a:p>
            <a:pPr marL="0" marR="0" lvl="0" indent="0" defTabSz="914400" eaLnBrk="1" fontAlgn="auto" latinLnBrk="0" hangingPunct="1">
              <a:lnSpc>
                <a:spcPts val="1199"/>
              </a:lnSpc>
              <a:buClrTx/>
              <a:buSzTx/>
              <a:buNone/>
              <a:tabLst>
                <a:tab pos="88900" algn="l"/>
                <a:tab pos="152400" algn="l"/>
              </a:tabLst>
              <a:defRPr/>
            </a:pPr>
            <a:r>
              <a:rPr lang="zh-CN" altLang="en-US" dirty="0"/>
              <a:t>		</a:t>
            </a:r>
            <a:r>
              <a:rPr lang="zh-CN" altLang="en-US" sz="1200" dirty="0">
                <a:solidFill>
                  <a:srgbClr val="000000"/>
                </a:solidFill>
                <a:latin typeface="Times New Roman"/>
              </a:rPr>
              <a:t>監控</a:t>
            </a:r>
          </a:p>
          <a:p>
            <a:pPr marL="0" marR="0" lvl="0" indent="0" defTabSz="914400" eaLnBrk="1" fontAlgn="auto" latinLnBrk="0" hangingPunct="1">
              <a:lnSpc>
                <a:spcPts val="1000"/>
              </a:lnSpc>
              <a:buClrTx/>
              <a:buSzTx/>
              <a:buNone/>
              <a:tabLst>
                <a:tab pos="88900" algn="l"/>
                <a:tab pos="152400" algn="l"/>
              </a:tabLst>
              <a:defRPr/>
            </a:pPr>
            <a:endParaRPr lang="zh-CN" altLang="en-US" sz="1200" dirty="0">
              <a:solidFill>
                <a:srgbClr val="000000"/>
              </a:solidFill>
              <a:latin typeface="Times New Roman"/>
            </a:endParaRPr>
          </a:p>
          <a:p>
            <a:pPr marL="0" marR="0" lvl="0" indent="0" defTabSz="914400" eaLnBrk="1" fontAlgn="auto" latinLnBrk="0" hangingPunct="1">
              <a:lnSpc>
                <a:spcPts val="1400"/>
              </a:lnSpc>
              <a:buClrTx/>
              <a:buSzTx/>
              <a:buNone/>
              <a:tabLst>
                <a:tab pos="88900" algn="l"/>
                <a:tab pos="152400" algn="l"/>
              </a:tabLst>
              <a:defRPr/>
            </a:pPr>
            <a:r>
              <a:rPr lang="zh-CN" altLang="en-US" sz="1200" dirty="0">
                <a:solidFill>
                  <a:srgbClr val="000000"/>
                </a:solidFill>
                <a:latin typeface="Times New Roman"/>
              </a:rPr>
              <a:t>資訊和溝通</a:t>
            </a:r>
          </a:p>
          <a:p>
            <a:pPr marL="0" marR="0" lvl="0" indent="0" defTabSz="914400" eaLnBrk="1" fontAlgn="auto" latinLnBrk="0" hangingPunct="1">
              <a:lnSpc>
                <a:spcPts val="1000"/>
              </a:lnSpc>
              <a:buClrTx/>
              <a:buSzTx/>
              <a:buNone/>
              <a:tabLst>
                <a:tab pos="88900" algn="l"/>
                <a:tab pos="152400" algn="l"/>
              </a:tabLst>
              <a:defRPr/>
            </a:pPr>
            <a:endParaRPr lang="zh-CN" altLang="en-US" sz="1200" dirty="0">
              <a:solidFill>
                <a:srgbClr val="000000"/>
              </a:solidFill>
              <a:latin typeface="Times New Roman"/>
            </a:endParaRPr>
          </a:p>
          <a:p>
            <a:pPr marL="0" marR="0" lvl="0" indent="0" defTabSz="914400" eaLnBrk="1" fontAlgn="auto" latinLnBrk="0" hangingPunct="1">
              <a:lnSpc>
                <a:spcPts val="1000"/>
              </a:lnSpc>
              <a:buClrTx/>
              <a:buSzTx/>
              <a:buNone/>
              <a:tabLst>
                <a:tab pos="88900" algn="l"/>
                <a:tab pos="152400" algn="l"/>
              </a:tabLst>
              <a:defRPr/>
            </a:pPr>
            <a:endParaRPr lang="zh-CN" altLang="en-US" sz="1200" dirty="0">
              <a:solidFill>
                <a:srgbClr val="000000"/>
              </a:solidFill>
              <a:latin typeface="Times New Roman"/>
            </a:endParaRPr>
          </a:p>
          <a:p>
            <a:pPr marL="0" marR="0" lvl="0" indent="0" defTabSz="914400" eaLnBrk="1" fontAlgn="auto" latinLnBrk="0" hangingPunct="1">
              <a:lnSpc>
                <a:spcPts val="1312"/>
              </a:lnSpc>
              <a:buClrTx/>
              <a:buSzTx/>
              <a:buNone/>
              <a:tabLst>
                <a:tab pos="88900" algn="l"/>
                <a:tab pos="152400" algn="l"/>
              </a:tabLst>
              <a:defRPr/>
            </a:pPr>
            <a:r>
              <a:rPr lang="zh-CN" altLang="en-US" sz="1200" dirty="0">
                <a:solidFill>
                  <a:srgbClr val="000000"/>
                </a:solidFill>
                <a:latin typeface="Times New Roman"/>
              </a:rPr>
              <a:t>	控制活動</a:t>
            </a:r>
          </a:p>
          <a:p>
            <a:pPr marL="0" marR="0" lvl="0" indent="0" defTabSz="914400" eaLnBrk="1" fontAlgn="auto" latinLnBrk="0" hangingPunct="1">
              <a:lnSpc>
                <a:spcPts val="1000"/>
              </a:lnSpc>
              <a:buClrTx/>
              <a:buSzTx/>
              <a:buNone/>
              <a:tabLst>
                <a:tab pos="88900" algn="l"/>
                <a:tab pos="152400" algn="l"/>
              </a:tabLst>
              <a:defRPr/>
            </a:pPr>
            <a:endParaRPr lang="zh-CN" altLang="en-US" sz="1200" dirty="0">
              <a:solidFill>
                <a:srgbClr val="000000"/>
              </a:solidFill>
              <a:latin typeface="Times New Roman"/>
            </a:endParaRPr>
          </a:p>
          <a:p>
            <a:pPr marL="0" marR="0" lvl="0" indent="0" defTabSz="914400" eaLnBrk="1" fontAlgn="auto" latinLnBrk="0" hangingPunct="1">
              <a:lnSpc>
                <a:spcPts val="1400"/>
              </a:lnSpc>
              <a:buClrTx/>
              <a:buSzTx/>
              <a:buNone/>
              <a:tabLst>
                <a:tab pos="88900" algn="l"/>
                <a:tab pos="152400" algn="l"/>
              </a:tabLst>
              <a:defRPr/>
            </a:pPr>
            <a:r>
              <a:rPr lang="zh-CN" altLang="en-US" sz="1200" dirty="0">
                <a:solidFill>
                  <a:srgbClr val="000000"/>
                </a:solidFill>
                <a:latin typeface="Times New Roman"/>
              </a:rPr>
              <a:t>	風險評估</a:t>
            </a:r>
          </a:p>
          <a:p>
            <a:pPr marL="0" marR="0" lvl="0" indent="0" defTabSz="914400" eaLnBrk="1" fontAlgn="auto" latinLnBrk="0" hangingPunct="1">
              <a:lnSpc>
                <a:spcPts val="1000"/>
              </a:lnSpc>
              <a:buClrTx/>
              <a:buSzTx/>
              <a:buNone/>
              <a:tabLst>
                <a:tab pos="88900" algn="l"/>
                <a:tab pos="152400" algn="l"/>
              </a:tabLst>
              <a:defRPr/>
            </a:pPr>
            <a:endParaRPr lang="zh-CN" altLang="en-US" sz="1200" dirty="0">
              <a:solidFill>
                <a:srgbClr val="000000"/>
              </a:solidFill>
              <a:latin typeface="Times New Roman"/>
            </a:endParaRPr>
          </a:p>
          <a:p>
            <a:pPr marL="0" marR="0" lvl="0" indent="0" defTabSz="914400" eaLnBrk="1" fontAlgn="auto" latinLnBrk="0" hangingPunct="1">
              <a:lnSpc>
                <a:spcPts val="1712"/>
              </a:lnSpc>
              <a:buClrTx/>
              <a:buSzTx/>
              <a:buNone/>
              <a:tabLst>
                <a:tab pos="88900" algn="l"/>
                <a:tab pos="152400" algn="l"/>
              </a:tabLst>
              <a:defRPr/>
            </a:pPr>
            <a:r>
              <a:rPr lang="zh-CN" altLang="en-US" sz="1200" dirty="0">
                <a:solidFill>
                  <a:srgbClr val="000000"/>
                </a:solidFill>
                <a:latin typeface="Times New Roman"/>
              </a:rPr>
              <a:t>	控制環境</a:t>
            </a:r>
          </a:p>
        </p:txBody>
      </p:sp>
      <p:sp>
        <p:nvSpPr>
          <p:cNvPr id="14" name="TextBox 13"/>
          <p:cNvSpPr txBox="1"/>
          <p:nvPr/>
        </p:nvSpPr>
        <p:spPr>
          <a:xfrm>
            <a:off x="2730623" y="2983890"/>
            <a:ext cx="689291" cy="1115690"/>
          </a:xfrm>
          <a:prstGeom prst="rect">
            <a:avLst/>
          </a:prstGeom>
          <a:noFill/>
        </p:spPr>
        <p:txBody>
          <a:bodyPr vert="horz" wrap="none" lIns="0" tIns="0" rIns="0" bIns="0" rtlCol="0">
            <a:spAutoFit/>
          </a:bodyPr>
          <a:lstStyle/>
          <a:p>
            <a:pPr marL="0" marR="0" lvl="0" indent="0" defTabSz="914400" eaLnBrk="1" fontAlgn="auto" latinLnBrk="0" hangingPunct="1">
              <a:lnSpc>
                <a:spcPts val="1199"/>
              </a:lnSpc>
              <a:buClrTx/>
              <a:buSzTx/>
              <a:buNone/>
              <a:tabLst>
                <a:tab pos="165100" algn="l"/>
                <a:tab pos="342900" algn="l"/>
                <a:tab pos="508000" algn="l"/>
              </a:tabLst>
              <a:defRPr/>
            </a:pPr>
            <a:r>
              <a:rPr lang="zh-CN" altLang="en-US" dirty="0"/>
              <a:t>			</a:t>
            </a:r>
            <a:r>
              <a:rPr lang="zh-CN" altLang="en-US" sz="1200" dirty="0">
                <a:solidFill>
                  <a:srgbClr val="000000"/>
                </a:solidFill>
                <a:latin typeface="Times New Roman"/>
              </a:rPr>
              <a:t>活</a:t>
            </a:r>
          </a:p>
          <a:p>
            <a:pPr marL="0" marR="0" lvl="0" indent="0" defTabSz="914400" eaLnBrk="1" fontAlgn="auto" latinLnBrk="0" hangingPunct="1">
              <a:lnSpc>
                <a:spcPts val="1440"/>
              </a:lnSpc>
              <a:buClrTx/>
              <a:buSzTx/>
              <a:buNone/>
              <a:tabLst>
                <a:tab pos="165100" algn="l"/>
                <a:tab pos="342900" algn="l"/>
                <a:tab pos="508000" algn="l"/>
              </a:tabLst>
              <a:defRPr/>
            </a:pPr>
            <a:r>
              <a:rPr lang="zh-CN" altLang="en-US" sz="1200" dirty="0">
                <a:solidFill>
                  <a:srgbClr val="000000"/>
                </a:solidFill>
                <a:latin typeface="Times New Roman"/>
              </a:rPr>
              <a:t>		活 動</a:t>
            </a:r>
          </a:p>
          <a:p>
            <a:pPr marL="0" marR="0" lvl="0" indent="0" defTabSz="914400" eaLnBrk="1" fontAlgn="auto" latinLnBrk="0" hangingPunct="1">
              <a:lnSpc>
                <a:spcPts val="1800"/>
              </a:lnSpc>
              <a:buClrTx/>
              <a:buSzTx/>
              <a:buNone/>
              <a:tabLst>
                <a:tab pos="165100" algn="l"/>
                <a:tab pos="342900" algn="l"/>
                <a:tab pos="508000" algn="l"/>
              </a:tabLst>
              <a:defRPr/>
            </a:pPr>
            <a:r>
              <a:rPr lang="zh-CN" altLang="en-US" sz="1200" dirty="0">
                <a:solidFill>
                  <a:srgbClr val="000000"/>
                </a:solidFill>
                <a:latin typeface="Times New Roman"/>
              </a:rPr>
              <a:t>	單 動 </a:t>
            </a:r>
            <a:r>
              <a:rPr lang="en-US" altLang="zh-CN" sz="1200" b="1" dirty="0">
                <a:solidFill>
                  <a:srgbClr val="000000"/>
                </a:solidFill>
                <a:latin typeface="Times New Roman"/>
              </a:rPr>
              <a:t>2</a:t>
            </a:r>
          </a:p>
          <a:p>
            <a:pPr marL="0" marR="0" lvl="0" indent="0" defTabSz="914400" eaLnBrk="1" fontAlgn="auto" latinLnBrk="0" hangingPunct="1">
              <a:lnSpc>
                <a:spcPts val="1434"/>
              </a:lnSpc>
              <a:buClrTx/>
              <a:buSzTx/>
              <a:buNone/>
              <a:tabLst>
                <a:tab pos="165100" algn="l"/>
                <a:tab pos="342900" algn="l"/>
                <a:tab pos="508000" algn="l"/>
              </a:tabLst>
              <a:defRPr/>
            </a:pPr>
            <a:r>
              <a:rPr lang="zh-CN" altLang="en-US" sz="1200" dirty="0">
                <a:solidFill>
                  <a:srgbClr val="000000"/>
                </a:solidFill>
                <a:latin typeface="Times New Roman"/>
              </a:rPr>
              <a:t>單 元 </a:t>
            </a:r>
            <a:r>
              <a:rPr lang="en-US" altLang="zh-CN" sz="1200" b="1" dirty="0">
                <a:solidFill>
                  <a:srgbClr val="000000"/>
                </a:solidFill>
                <a:latin typeface="Times New Roman"/>
              </a:rPr>
              <a:t>1</a:t>
            </a:r>
          </a:p>
          <a:p>
            <a:pPr marL="0" marR="0" lvl="0" indent="0" defTabSz="914400" eaLnBrk="1" fontAlgn="auto" latinLnBrk="0" hangingPunct="1">
              <a:lnSpc>
                <a:spcPts val="1454"/>
              </a:lnSpc>
              <a:buClrTx/>
              <a:buSzTx/>
              <a:buNone/>
              <a:tabLst>
                <a:tab pos="165100" algn="l"/>
                <a:tab pos="342900" algn="l"/>
                <a:tab pos="508000" algn="l"/>
              </a:tabLst>
              <a:defRPr/>
            </a:pPr>
            <a:r>
              <a:rPr lang="zh-CN" altLang="en-US" sz="1200" dirty="0">
                <a:solidFill>
                  <a:srgbClr val="000000"/>
                </a:solidFill>
                <a:latin typeface="Times New Roman"/>
              </a:rPr>
              <a:t>元 </a:t>
            </a:r>
            <a:r>
              <a:rPr lang="en-US" altLang="zh-CN" sz="1200" b="1" dirty="0">
                <a:solidFill>
                  <a:srgbClr val="000000"/>
                </a:solidFill>
                <a:latin typeface="Times New Roman"/>
              </a:rPr>
              <a:t>B</a:t>
            </a:r>
          </a:p>
          <a:p>
            <a:pPr marL="0" marR="0" lvl="0" indent="0" defTabSz="914400" eaLnBrk="1" fontAlgn="auto" latinLnBrk="0" hangingPunct="1">
              <a:lnSpc>
                <a:spcPts val="1398"/>
              </a:lnSpc>
              <a:buClrTx/>
              <a:buSzTx/>
              <a:buNone/>
              <a:tabLst>
                <a:tab pos="165100" algn="l"/>
                <a:tab pos="342900" algn="l"/>
                <a:tab pos="508000" algn="l"/>
              </a:tabLst>
              <a:defRPr/>
            </a:pPr>
            <a:r>
              <a:rPr lang="en-US" altLang="zh-CN" sz="1200" b="1" dirty="0">
                <a:solidFill>
                  <a:srgbClr val="000000"/>
                </a:solidFill>
                <a:latin typeface="Times New Roman"/>
              </a:rPr>
              <a:t>A</a:t>
            </a:r>
            <a:endParaRPr lang="zh-CN" altLang="en-US" sz="1200" b="1" dirty="0">
              <a:solidFill>
                <a:srgbClr val="000000"/>
              </a:solidFill>
              <a:latin typeface="Times New Roman"/>
            </a:endParaRPr>
          </a:p>
        </p:txBody>
      </p:sp>
      <p:sp>
        <p:nvSpPr>
          <p:cNvPr id="15" name="TextBox 14"/>
          <p:cNvSpPr txBox="1"/>
          <p:nvPr/>
        </p:nvSpPr>
        <p:spPr>
          <a:xfrm>
            <a:off x="4172337" y="3070834"/>
            <a:ext cx="5414944" cy="3706143"/>
          </a:xfrm>
          <a:prstGeom prst="rect">
            <a:avLst/>
          </a:prstGeom>
          <a:noFill/>
        </p:spPr>
        <p:txBody>
          <a:bodyPr vert="horz" wrap="none" lIns="0" tIns="0" rIns="0" bIns="0" rtlCol="0">
            <a:spAutoFit/>
          </a:bodyPr>
          <a:lstStyle/>
          <a:p>
            <a:pPr marL="0" marR="0" lvl="0" indent="0" defTabSz="914400" eaLnBrk="1" fontAlgn="auto" latinLnBrk="0" hangingPunct="1">
              <a:lnSpc>
                <a:spcPts val="1798"/>
              </a:lnSpc>
              <a:buClrTx/>
              <a:buSzTx/>
              <a:buNone/>
              <a:tabLst>
                <a:tab pos="190500" algn="l"/>
                <a:tab pos="3898900" algn="l"/>
              </a:tabLst>
              <a:defRPr/>
            </a:pPr>
            <a:r>
              <a:rPr lang="zh-CN" altLang="en-US" dirty="0">
                <a:solidFill>
                  <a:srgbClr val="FFFFFF"/>
                </a:solidFill>
                <a:latin typeface="Times New Roman"/>
              </a:rPr>
              <a:t>控制活動</a:t>
            </a:r>
          </a:p>
          <a:p>
            <a:pPr marL="0" marR="0" lvl="0" indent="0" defTabSz="914400" eaLnBrk="1" fontAlgn="auto" latinLnBrk="0" hangingPunct="1">
              <a:lnSpc>
                <a:spcPts val="2178"/>
              </a:lnSpc>
              <a:buClrTx/>
              <a:buSzTx/>
              <a:buNone/>
              <a:tabLst>
                <a:tab pos="190500" algn="l"/>
                <a:tab pos="3898900" algn="l"/>
              </a:tabLst>
              <a:defRPr/>
            </a:pPr>
            <a:r>
              <a:rPr lang="en-US" altLang="zh-CN" sz="1302" dirty="0">
                <a:solidFill>
                  <a:srgbClr val="FFFFFF"/>
                </a:solidFill>
                <a:latin typeface="Times New Roman"/>
              </a:rPr>
              <a:t>•  </a:t>
            </a:r>
            <a:r>
              <a:rPr lang="zh-CN" altLang="en-US" dirty="0">
                <a:solidFill>
                  <a:srgbClr val="FFFFFF"/>
                </a:solidFill>
                <a:latin typeface="Times New Roman"/>
              </a:rPr>
              <a:t>對確認的風險採取必要措施，以保證公</a:t>
            </a:r>
          </a:p>
          <a:p>
            <a:pPr marL="0" marR="0" lvl="0" indent="0" defTabSz="914400" eaLnBrk="1" fontAlgn="auto" latinLnBrk="0" hangingPunct="1">
              <a:lnSpc>
                <a:spcPts val="2142"/>
              </a:lnSpc>
              <a:buClrTx/>
              <a:buSzTx/>
              <a:buNone/>
              <a:tabLst>
                <a:tab pos="190500" algn="l"/>
                <a:tab pos="3898900" algn="l"/>
              </a:tabLst>
              <a:defRPr/>
            </a:pPr>
            <a:r>
              <a:rPr lang="zh-CN" altLang="en-US" dirty="0">
                <a:solidFill>
                  <a:srgbClr val="FFFFFF"/>
                </a:solidFill>
                <a:latin typeface="Times New Roman"/>
              </a:rPr>
              <a:t>	司目標得以實現</a:t>
            </a:r>
          </a:p>
          <a:p>
            <a:pPr marL="0" marR="0" lvl="0" indent="0" defTabSz="914400" eaLnBrk="1" fontAlgn="auto" latinLnBrk="0" hangingPunct="1">
              <a:lnSpc>
                <a:spcPts val="2184"/>
              </a:lnSpc>
              <a:buClrTx/>
              <a:buSzTx/>
              <a:buNone/>
              <a:tabLst>
                <a:tab pos="190500" algn="l"/>
                <a:tab pos="3898900" algn="l"/>
              </a:tabLst>
              <a:defRPr/>
            </a:pPr>
            <a:r>
              <a:rPr lang="en-US" altLang="zh-CN" sz="1302" dirty="0">
                <a:solidFill>
                  <a:srgbClr val="FFFFFF"/>
                </a:solidFill>
                <a:latin typeface="Times New Roman"/>
              </a:rPr>
              <a:t>•  </a:t>
            </a:r>
            <a:r>
              <a:rPr lang="zh-CN" altLang="en-US" dirty="0">
                <a:solidFill>
                  <a:srgbClr val="FFFFFF"/>
                </a:solidFill>
                <a:latin typeface="Times New Roman"/>
              </a:rPr>
              <a:t>遍佈公司各處，涉及公司各個層面以及</a:t>
            </a:r>
          </a:p>
          <a:p>
            <a:pPr marL="0" marR="0" lvl="0" indent="0" defTabSz="914400" eaLnBrk="1" fontAlgn="auto" latinLnBrk="0" hangingPunct="1">
              <a:lnSpc>
                <a:spcPts val="2142"/>
              </a:lnSpc>
              <a:buClrTx/>
              <a:buSzTx/>
              <a:buNone/>
              <a:tabLst>
                <a:tab pos="190500" algn="l"/>
                <a:tab pos="3898900" algn="l"/>
              </a:tabLst>
              <a:defRPr/>
            </a:pPr>
            <a:r>
              <a:rPr lang="zh-CN" altLang="en-US" dirty="0">
                <a:solidFill>
                  <a:srgbClr val="FFFFFF"/>
                </a:solidFill>
                <a:latin typeface="Times New Roman"/>
              </a:rPr>
              <a:t>	各項職能</a:t>
            </a:r>
          </a:p>
          <a:p>
            <a:pPr marL="0" marR="0" lvl="0" indent="0" defTabSz="914400" eaLnBrk="1" fontAlgn="auto" latinLnBrk="0" hangingPunct="1">
              <a:lnSpc>
                <a:spcPts val="1000"/>
              </a:lnSpc>
              <a:buClrTx/>
              <a:buSzTx/>
              <a:buNone/>
              <a:tabLst>
                <a:tab pos="190500" algn="l"/>
                <a:tab pos="3898900" algn="l"/>
              </a:tabLst>
              <a:defRPr/>
            </a:pPr>
            <a:endParaRPr lang="zh-CN" altLang="en-US" dirty="0">
              <a:solidFill>
                <a:srgbClr val="FFFFFF"/>
              </a:solidFill>
              <a:latin typeface="Times New Roman"/>
            </a:endParaRPr>
          </a:p>
          <a:p>
            <a:pPr marL="0" marR="0" lvl="0" indent="0" defTabSz="914400" eaLnBrk="1" fontAlgn="auto" latinLnBrk="0" hangingPunct="1">
              <a:lnSpc>
                <a:spcPts val="1000"/>
              </a:lnSpc>
              <a:buClrTx/>
              <a:buSzTx/>
              <a:buNone/>
              <a:tabLst>
                <a:tab pos="190500" algn="l"/>
                <a:tab pos="3898900" algn="l"/>
              </a:tabLst>
              <a:defRPr/>
            </a:pPr>
            <a:endParaRPr lang="zh-CN" altLang="en-US" dirty="0">
              <a:solidFill>
                <a:srgbClr val="FFFFFF"/>
              </a:solidFill>
              <a:latin typeface="Times New Roman"/>
            </a:endParaRPr>
          </a:p>
          <a:p>
            <a:pPr marL="0" marR="0" lvl="0" indent="0" defTabSz="914400" eaLnBrk="1" fontAlgn="auto" latinLnBrk="0" hangingPunct="1">
              <a:lnSpc>
                <a:spcPts val="1000"/>
              </a:lnSpc>
              <a:buClrTx/>
              <a:buSzTx/>
              <a:buNone/>
              <a:tabLst>
                <a:tab pos="190500" algn="l"/>
                <a:tab pos="3898900" algn="l"/>
              </a:tabLst>
              <a:defRPr/>
            </a:pPr>
            <a:endParaRPr lang="zh-CN" altLang="en-US" dirty="0">
              <a:solidFill>
                <a:srgbClr val="FFFFFF"/>
              </a:solidFill>
              <a:latin typeface="Times New Roman"/>
            </a:endParaRPr>
          </a:p>
          <a:p>
            <a:pPr marL="0" marR="0" lvl="0" indent="0" defTabSz="914400" eaLnBrk="1" fontAlgn="auto" latinLnBrk="0" hangingPunct="1">
              <a:lnSpc>
                <a:spcPts val="1000"/>
              </a:lnSpc>
              <a:buClrTx/>
              <a:buSzTx/>
              <a:buNone/>
              <a:tabLst>
                <a:tab pos="190500" algn="l"/>
                <a:tab pos="3898900" algn="l"/>
              </a:tabLst>
              <a:defRPr/>
            </a:pPr>
            <a:endParaRPr lang="zh-CN" altLang="en-US" dirty="0">
              <a:solidFill>
                <a:srgbClr val="FFFFFF"/>
              </a:solidFill>
              <a:latin typeface="Times New Roman"/>
            </a:endParaRPr>
          </a:p>
          <a:p>
            <a:pPr marL="0" marR="0" lvl="0" indent="0" defTabSz="914400" eaLnBrk="1" fontAlgn="auto" latinLnBrk="0" hangingPunct="1">
              <a:lnSpc>
                <a:spcPts val="1000"/>
              </a:lnSpc>
              <a:buClrTx/>
              <a:buSzTx/>
              <a:buNone/>
              <a:tabLst>
                <a:tab pos="190500" algn="l"/>
                <a:tab pos="3898900" algn="l"/>
              </a:tabLst>
              <a:defRPr/>
            </a:pPr>
            <a:endParaRPr lang="zh-CN" altLang="en-US" dirty="0">
              <a:solidFill>
                <a:srgbClr val="FFFFFF"/>
              </a:solidFill>
              <a:latin typeface="Times New Roman"/>
            </a:endParaRPr>
          </a:p>
          <a:p>
            <a:pPr marL="0" marR="0" lvl="0" indent="0" defTabSz="914400" eaLnBrk="1" fontAlgn="auto" latinLnBrk="0" hangingPunct="1">
              <a:lnSpc>
                <a:spcPts val="1000"/>
              </a:lnSpc>
              <a:buClrTx/>
              <a:buSzTx/>
              <a:buNone/>
              <a:tabLst>
                <a:tab pos="190500" algn="l"/>
                <a:tab pos="3898900" algn="l"/>
              </a:tabLst>
              <a:defRPr/>
            </a:pPr>
            <a:endParaRPr lang="zh-CN" altLang="en-US" dirty="0">
              <a:solidFill>
                <a:srgbClr val="FFFFFF"/>
              </a:solidFill>
              <a:latin typeface="Times New Roman"/>
            </a:endParaRPr>
          </a:p>
          <a:p>
            <a:pPr marL="0" marR="0" lvl="0" indent="0" defTabSz="914400" eaLnBrk="1" fontAlgn="auto" latinLnBrk="0" hangingPunct="1">
              <a:lnSpc>
                <a:spcPts val="1000"/>
              </a:lnSpc>
              <a:buClrTx/>
              <a:buSzTx/>
              <a:buNone/>
              <a:tabLst>
                <a:tab pos="190500" algn="l"/>
                <a:tab pos="3898900" algn="l"/>
              </a:tabLst>
              <a:defRPr/>
            </a:pPr>
            <a:endParaRPr lang="zh-CN" altLang="en-US" dirty="0">
              <a:solidFill>
                <a:srgbClr val="FFFFFF"/>
              </a:solidFill>
              <a:latin typeface="Times New Roman"/>
            </a:endParaRPr>
          </a:p>
          <a:p>
            <a:pPr marL="0" marR="0" lvl="0" indent="0" defTabSz="914400" eaLnBrk="1" fontAlgn="auto" latinLnBrk="0" hangingPunct="1">
              <a:lnSpc>
                <a:spcPts val="1000"/>
              </a:lnSpc>
              <a:buClrTx/>
              <a:buSzTx/>
              <a:buNone/>
              <a:tabLst>
                <a:tab pos="190500" algn="l"/>
                <a:tab pos="3898900" algn="l"/>
              </a:tabLst>
              <a:defRPr/>
            </a:pPr>
            <a:endParaRPr lang="zh-CN" altLang="en-US" dirty="0">
              <a:solidFill>
                <a:srgbClr val="FFFFFF"/>
              </a:solidFill>
              <a:latin typeface="Times New Roman"/>
            </a:endParaRPr>
          </a:p>
          <a:p>
            <a:pPr marL="0" marR="0" lvl="0" indent="0" defTabSz="914400" eaLnBrk="1" fontAlgn="auto" latinLnBrk="0" hangingPunct="1">
              <a:lnSpc>
                <a:spcPts val="1000"/>
              </a:lnSpc>
              <a:buClrTx/>
              <a:buSzTx/>
              <a:buNone/>
              <a:tabLst>
                <a:tab pos="190500" algn="l"/>
                <a:tab pos="3898900" algn="l"/>
              </a:tabLst>
              <a:defRPr/>
            </a:pPr>
            <a:endParaRPr lang="zh-CN" altLang="en-US" dirty="0">
              <a:solidFill>
                <a:srgbClr val="FFFFFF"/>
              </a:solidFill>
              <a:latin typeface="Times New Roman"/>
            </a:endParaRPr>
          </a:p>
          <a:p>
            <a:pPr marL="0" marR="0" lvl="0" indent="0" defTabSz="914400" eaLnBrk="1" fontAlgn="auto" latinLnBrk="0" hangingPunct="1">
              <a:lnSpc>
                <a:spcPts val="1000"/>
              </a:lnSpc>
              <a:buClrTx/>
              <a:buSzTx/>
              <a:buNone/>
              <a:tabLst>
                <a:tab pos="190500" algn="l"/>
                <a:tab pos="3898900" algn="l"/>
              </a:tabLst>
              <a:defRPr/>
            </a:pPr>
            <a:endParaRPr lang="zh-CN" altLang="en-US" dirty="0">
              <a:solidFill>
                <a:srgbClr val="FFFFFF"/>
              </a:solidFill>
              <a:latin typeface="Times New Roman"/>
            </a:endParaRPr>
          </a:p>
          <a:p>
            <a:pPr marL="0" marR="0" lvl="0" indent="0" defTabSz="914400" eaLnBrk="1" fontAlgn="auto" latinLnBrk="0" hangingPunct="1">
              <a:lnSpc>
                <a:spcPts val="1000"/>
              </a:lnSpc>
              <a:buClrTx/>
              <a:buSzTx/>
              <a:buNone/>
              <a:tabLst>
                <a:tab pos="190500" algn="l"/>
                <a:tab pos="3898900" algn="l"/>
              </a:tabLst>
              <a:defRPr/>
            </a:pPr>
            <a:endParaRPr lang="zh-CN" altLang="en-US" dirty="0">
              <a:solidFill>
                <a:srgbClr val="FFFFFF"/>
              </a:solidFill>
              <a:latin typeface="Times New Roman"/>
            </a:endParaRPr>
          </a:p>
          <a:p>
            <a:pPr marL="0" marR="0" lvl="0" indent="0" defTabSz="914400" eaLnBrk="1" fontAlgn="auto" latinLnBrk="0" hangingPunct="1">
              <a:lnSpc>
                <a:spcPts val="1000"/>
              </a:lnSpc>
              <a:buClrTx/>
              <a:buSzTx/>
              <a:buNone/>
              <a:tabLst>
                <a:tab pos="190500" algn="l"/>
                <a:tab pos="3898900" algn="l"/>
              </a:tabLst>
              <a:defRPr/>
            </a:pPr>
            <a:endParaRPr lang="zh-CN" altLang="en-US" dirty="0">
              <a:solidFill>
                <a:srgbClr val="FFFFFF"/>
              </a:solidFill>
              <a:latin typeface="Times New Roman"/>
            </a:endParaRPr>
          </a:p>
          <a:p>
            <a:pPr marL="0" marR="0" lvl="0" indent="0" defTabSz="914400" eaLnBrk="1" fontAlgn="auto" latinLnBrk="0" hangingPunct="1">
              <a:lnSpc>
                <a:spcPts val="1000"/>
              </a:lnSpc>
              <a:buClrTx/>
              <a:buSzTx/>
              <a:buNone/>
              <a:tabLst>
                <a:tab pos="190500" algn="l"/>
                <a:tab pos="3898900" algn="l"/>
              </a:tabLst>
              <a:defRPr/>
            </a:pPr>
            <a:endParaRPr lang="zh-CN" altLang="en-US" dirty="0">
              <a:solidFill>
                <a:srgbClr val="FFFFFF"/>
              </a:solidFill>
              <a:latin typeface="Times New Roman"/>
            </a:endParaRPr>
          </a:p>
          <a:p>
            <a:pPr marL="0" marR="0" lvl="0" indent="0" defTabSz="914400" eaLnBrk="1" fontAlgn="auto" latinLnBrk="0" hangingPunct="1">
              <a:lnSpc>
                <a:spcPts val="1000"/>
              </a:lnSpc>
              <a:buClrTx/>
              <a:buSzTx/>
              <a:buNone/>
              <a:tabLst>
                <a:tab pos="190500" algn="l"/>
                <a:tab pos="3898900" algn="l"/>
              </a:tabLst>
              <a:defRPr/>
            </a:pPr>
            <a:endParaRPr lang="zh-CN" altLang="en-US" dirty="0">
              <a:solidFill>
                <a:srgbClr val="FFFFFF"/>
              </a:solidFill>
              <a:latin typeface="Times New Roman"/>
            </a:endParaRPr>
          </a:p>
          <a:p>
            <a:pPr marL="0" marR="0" lvl="0" indent="0" defTabSz="914400" eaLnBrk="1" fontAlgn="auto" latinLnBrk="0" hangingPunct="1">
              <a:lnSpc>
                <a:spcPts val="2668"/>
              </a:lnSpc>
              <a:buClrTx/>
              <a:buSzTx/>
              <a:buNone/>
              <a:tabLst>
                <a:tab pos="190500" algn="l"/>
                <a:tab pos="3898900" algn="l"/>
              </a:tabLst>
              <a:defRPr/>
            </a:pPr>
            <a:r>
              <a:rPr lang="zh-CN" altLang="en-US" dirty="0">
                <a:solidFill>
                  <a:srgbClr val="FFFFFF"/>
                </a:solidFill>
                <a:latin typeface="Times New Roman"/>
              </a:rPr>
              <a:t>		</a:t>
            </a:r>
            <a:r>
              <a:rPr lang="en-US" altLang="zh-CN" dirty="0" err="1">
                <a:solidFill>
                  <a:srgbClr val="000000"/>
                </a:solidFill>
                <a:latin typeface="Times New Roman"/>
              </a:rPr>
              <a:t>Pwc</a:t>
            </a:r>
            <a:endParaRPr lang="en-US" altLang="zh-CN" dirty="0">
              <a:solidFill>
                <a:srgbClr val="000000"/>
              </a:solidFill>
              <a:latin typeface="Times New Roman"/>
            </a:endParaRPr>
          </a:p>
          <a:p>
            <a:pPr marL="0" marR="0" lvl="0" indent="0" defTabSz="914400" eaLnBrk="1" fontAlgn="auto" latinLnBrk="0" hangingPunct="1">
              <a:lnSpc>
                <a:spcPts val="1779"/>
              </a:lnSpc>
              <a:buClrTx/>
              <a:buSzTx/>
              <a:buNone/>
              <a:tabLst>
                <a:tab pos="190500" algn="l"/>
                <a:tab pos="3898900" algn="l"/>
              </a:tabLst>
              <a:defRPr/>
            </a:pPr>
            <a:r>
              <a:rPr lang="en-US" altLang="zh-CN" dirty="0">
                <a:solidFill>
                  <a:srgbClr val="000000"/>
                </a:solidFill>
                <a:latin typeface="Times New Roman"/>
              </a:rPr>
              <a:t>		</a:t>
            </a:r>
            <a:r>
              <a:rPr lang="zh-CN" altLang="en-US" sz="1478" dirty="0">
                <a:solidFill>
                  <a:srgbClr val="000000"/>
                </a:solidFill>
                <a:latin typeface="Times New Roman"/>
              </a:rPr>
              <a:t>普     華     永     道</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myslide13">
    <p:spTree>
      <p:nvGrpSpPr>
        <p:cNvPr id="1" name=""/>
        <p:cNvGrpSpPr/>
        <p:nvPr/>
      </p:nvGrpSpPr>
      <p:grpSpPr>
        <a:xfrm>
          <a:off x="0" y="0"/>
          <a:ext cx="0" cy="0"/>
          <a:chOff x="0" y="0"/>
          <a:chExt cx="0" cy="0"/>
        </a:xfrm>
      </p:grpSpPr>
      <p:pic>
        <p:nvPicPr>
          <p:cNvPr id="2" name="图片 1" descr="ws_19B.tmp"/>
          <p:cNvPicPr>
            <a:picLocks/>
          </p:cNvPicPr>
          <p:nvPr/>
        </p:nvPicPr>
        <p:blipFill>
          <a:blip r:embed="rId2"/>
          <a:stretch>
            <a:fillRect/>
          </a:stretch>
        </p:blipFill>
        <p:spPr>
          <a:xfrm>
            <a:off x="0" y="0"/>
            <a:ext cx="9880600" cy="6819900"/>
          </a:xfrm>
          <a:prstGeom prst="rect">
            <a:avLst/>
          </a:prstGeom>
        </p:spPr>
      </p:pic>
      <p:sp>
        <p:nvSpPr>
          <p:cNvPr id="3" name="TextBox 2"/>
          <p:cNvSpPr txBox="1"/>
          <p:nvPr/>
        </p:nvSpPr>
        <p:spPr>
          <a:xfrm>
            <a:off x="509403" y="6341571"/>
            <a:ext cx="144270" cy="133370"/>
          </a:xfrm>
          <a:prstGeom prst="rect">
            <a:avLst/>
          </a:prstGeom>
          <a:noFill/>
        </p:spPr>
        <p:txBody>
          <a:bodyPr vert="horz" wrap="none" lIns="0" tIns="0" rIns="0" bIns="0" rtlCol="0">
            <a:spAutoFit/>
          </a:bodyPr>
          <a:lstStyle/>
          <a:p>
            <a:pPr>
              <a:lnSpc>
                <a:spcPts val="1016"/>
              </a:lnSpc>
            </a:pPr>
            <a:r>
              <a:rPr lang="en-US" altLang="zh-CN" sz="1098" dirty="0">
                <a:solidFill>
                  <a:srgbClr val="761437"/>
                </a:solidFill>
                <a:latin typeface="Times New Roman"/>
              </a:rPr>
              <a:t>13</a:t>
            </a:r>
            <a:endParaRPr lang="zh-CN" altLang="en-US" sz="1098" dirty="0">
              <a:solidFill>
                <a:srgbClr val="761437"/>
              </a:solidFill>
              <a:latin typeface="Times New Roman"/>
            </a:endParaRPr>
          </a:p>
        </p:txBody>
      </p:sp>
      <p:sp>
        <p:nvSpPr>
          <p:cNvPr id="4" name="TextBox 3"/>
          <p:cNvSpPr txBox="1"/>
          <p:nvPr/>
        </p:nvSpPr>
        <p:spPr>
          <a:xfrm>
            <a:off x="903358" y="507695"/>
            <a:ext cx="1846659" cy="461665"/>
          </a:xfrm>
          <a:prstGeom prst="rect">
            <a:avLst/>
          </a:prstGeom>
          <a:noFill/>
        </p:spPr>
        <p:txBody>
          <a:bodyPr vert="horz" wrap="none" lIns="0" tIns="0" rIns="0" bIns="0" rtlCol="0">
            <a:spAutoFit/>
          </a:bodyPr>
          <a:lstStyle/>
          <a:p>
            <a:pPr>
              <a:lnSpc>
                <a:spcPts val="3596"/>
              </a:lnSpc>
            </a:pPr>
            <a:r>
              <a:rPr lang="zh-CN" altLang="en-US" sz="3600" dirty="0">
                <a:solidFill>
                  <a:srgbClr val="FFFFFF"/>
                </a:solidFill>
                <a:latin typeface="Times New Roman"/>
              </a:rPr>
              <a:t>控制活動</a:t>
            </a:r>
          </a:p>
        </p:txBody>
      </p:sp>
      <p:sp>
        <p:nvSpPr>
          <p:cNvPr id="5" name="TextBox 4"/>
          <p:cNvSpPr txBox="1"/>
          <p:nvPr/>
        </p:nvSpPr>
        <p:spPr>
          <a:xfrm>
            <a:off x="598558" y="1480616"/>
            <a:ext cx="2769989" cy="307777"/>
          </a:xfrm>
          <a:prstGeom prst="rect">
            <a:avLst/>
          </a:prstGeom>
          <a:noFill/>
        </p:spPr>
        <p:txBody>
          <a:bodyPr vert="horz" wrap="none" lIns="0" tIns="0" rIns="0" bIns="0" rtlCol="0">
            <a:spAutoFit/>
          </a:bodyPr>
          <a:lstStyle/>
          <a:p>
            <a:pPr>
              <a:lnSpc>
                <a:spcPts val="2398"/>
              </a:lnSpc>
            </a:pPr>
            <a:r>
              <a:rPr lang="zh-CN" altLang="en-US" sz="2400" dirty="0">
                <a:solidFill>
                  <a:srgbClr val="000000"/>
                </a:solidFill>
                <a:latin typeface="Times New Roman"/>
              </a:rPr>
              <a:t>控制活動類型包括：</a:t>
            </a:r>
          </a:p>
        </p:txBody>
      </p:sp>
      <p:sp>
        <p:nvSpPr>
          <p:cNvPr id="6" name="TextBox 5"/>
          <p:cNvSpPr txBox="1"/>
          <p:nvPr/>
        </p:nvSpPr>
        <p:spPr>
          <a:xfrm>
            <a:off x="1573160" y="2053602"/>
            <a:ext cx="7271221" cy="269304"/>
          </a:xfrm>
          <a:prstGeom prst="rect">
            <a:avLst/>
          </a:prstGeom>
          <a:noFill/>
        </p:spPr>
        <p:txBody>
          <a:bodyPr vert="horz" wrap="none" lIns="0" tIns="0" rIns="0" bIns="0" rtlCol="0">
            <a:spAutoFit/>
          </a:bodyPr>
          <a:lstStyle/>
          <a:p>
            <a:pPr>
              <a:lnSpc>
                <a:spcPts val="2098"/>
              </a:lnSpc>
            </a:pPr>
            <a:r>
              <a:rPr lang="zh-CN" altLang="en-US" sz="2100" dirty="0">
                <a:solidFill>
                  <a:srgbClr val="000000"/>
                </a:solidFill>
                <a:latin typeface="Times New Roman"/>
              </a:rPr>
              <a:t>按照不同作用，控制活動可分為預防性控制和糾錯性控制兩類</a:t>
            </a:r>
          </a:p>
        </p:txBody>
      </p:sp>
      <p:sp>
        <p:nvSpPr>
          <p:cNvPr id="7" name="TextBox 6"/>
          <p:cNvSpPr txBox="1"/>
          <p:nvPr/>
        </p:nvSpPr>
        <p:spPr>
          <a:xfrm>
            <a:off x="1560967" y="2765318"/>
            <a:ext cx="3500958" cy="269304"/>
          </a:xfrm>
          <a:prstGeom prst="rect">
            <a:avLst/>
          </a:prstGeom>
          <a:noFill/>
        </p:spPr>
        <p:txBody>
          <a:bodyPr vert="horz" wrap="none" lIns="0" tIns="0" rIns="0" bIns="0" rtlCol="0">
            <a:spAutoFit/>
          </a:bodyPr>
          <a:lstStyle/>
          <a:p>
            <a:pPr>
              <a:lnSpc>
                <a:spcPts val="2098"/>
              </a:lnSpc>
            </a:pPr>
            <a:r>
              <a:rPr lang="zh-CN" altLang="en-US" sz="2100" dirty="0">
                <a:solidFill>
                  <a:srgbClr val="000000"/>
                </a:solidFill>
                <a:latin typeface="Times New Roman"/>
              </a:rPr>
              <a:t>控制活動的形式也可以分為：</a:t>
            </a:r>
          </a:p>
        </p:txBody>
      </p:sp>
      <p:sp>
        <p:nvSpPr>
          <p:cNvPr id="8" name="TextBox 7"/>
          <p:cNvSpPr txBox="1"/>
          <p:nvPr/>
        </p:nvSpPr>
        <p:spPr>
          <a:xfrm>
            <a:off x="2084457" y="3264880"/>
            <a:ext cx="5796459" cy="654025"/>
          </a:xfrm>
          <a:prstGeom prst="rect">
            <a:avLst/>
          </a:prstGeom>
          <a:noFill/>
        </p:spPr>
        <p:txBody>
          <a:bodyPr vert="horz" wrap="none" lIns="0" tIns="0" rIns="0" bIns="0" rtlCol="0">
            <a:spAutoFit/>
          </a:bodyPr>
          <a:lstStyle/>
          <a:p>
            <a:pPr>
              <a:lnSpc>
                <a:spcPts val="2130"/>
              </a:lnSpc>
            </a:pPr>
            <a:r>
              <a:rPr lang="en-US" altLang="zh-CN" sz="1998" dirty="0">
                <a:solidFill>
                  <a:srgbClr val="761437"/>
                </a:solidFill>
                <a:latin typeface="Times New Roman"/>
              </a:rPr>
              <a:t>• </a:t>
            </a:r>
            <a:r>
              <a:rPr lang="zh-CN" altLang="en-US" sz="1998" dirty="0">
                <a:solidFill>
                  <a:srgbClr val="000000"/>
                </a:solidFill>
                <a:latin typeface="Times New Roman"/>
              </a:rPr>
              <a:t>業績評價，如實際與預算、同期和行業標準的對比</a:t>
            </a:r>
          </a:p>
          <a:p>
            <a:pPr>
              <a:lnSpc>
                <a:spcPts val="3024"/>
              </a:lnSpc>
            </a:pPr>
            <a:r>
              <a:rPr lang="en-US" altLang="zh-CN" sz="1998" dirty="0">
                <a:solidFill>
                  <a:srgbClr val="761437"/>
                </a:solidFill>
                <a:latin typeface="Times New Roman"/>
              </a:rPr>
              <a:t>• </a:t>
            </a:r>
            <a:r>
              <a:rPr lang="zh-CN" altLang="en-US" sz="1998" dirty="0">
                <a:solidFill>
                  <a:srgbClr val="000000"/>
                </a:solidFill>
                <a:latin typeface="Times New Roman"/>
              </a:rPr>
              <a:t>審批，授權，確認</a:t>
            </a:r>
          </a:p>
        </p:txBody>
      </p:sp>
      <p:sp>
        <p:nvSpPr>
          <p:cNvPr id="9" name="TextBox 8"/>
          <p:cNvSpPr txBox="1"/>
          <p:nvPr/>
        </p:nvSpPr>
        <p:spPr>
          <a:xfrm>
            <a:off x="2084457" y="4015435"/>
            <a:ext cx="6424836" cy="269304"/>
          </a:xfrm>
          <a:prstGeom prst="rect">
            <a:avLst/>
          </a:prstGeom>
          <a:noFill/>
        </p:spPr>
        <p:txBody>
          <a:bodyPr vert="horz" wrap="none" lIns="0" tIns="0" rIns="0" bIns="0" rtlCol="0">
            <a:spAutoFit/>
          </a:bodyPr>
          <a:lstStyle/>
          <a:p>
            <a:pPr>
              <a:lnSpc>
                <a:spcPts val="2130"/>
              </a:lnSpc>
            </a:pPr>
            <a:r>
              <a:rPr lang="en-US" altLang="zh-CN" sz="1998" dirty="0">
                <a:solidFill>
                  <a:srgbClr val="761437"/>
                </a:solidFill>
                <a:latin typeface="Times New Roman"/>
              </a:rPr>
              <a:t>• </a:t>
            </a:r>
            <a:r>
              <a:rPr lang="zh-CN" altLang="en-US" sz="1998" dirty="0">
                <a:solidFill>
                  <a:srgbClr val="000000"/>
                </a:solidFill>
                <a:latin typeface="Times New Roman"/>
              </a:rPr>
              <a:t>實物控制， 如資產安全性， 定期盤點，對電腦及資料</a:t>
            </a:r>
          </a:p>
        </p:txBody>
      </p:sp>
      <p:sp>
        <p:nvSpPr>
          <p:cNvPr id="10" name="TextBox 9"/>
          <p:cNvSpPr txBox="1"/>
          <p:nvPr/>
        </p:nvSpPr>
        <p:spPr>
          <a:xfrm>
            <a:off x="2261995" y="4401002"/>
            <a:ext cx="2051844" cy="256480"/>
          </a:xfrm>
          <a:prstGeom prst="rect">
            <a:avLst/>
          </a:prstGeom>
          <a:noFill/>
        </p:spPr>
        <p:txBody>
          <a:bodyPr vert="horz" wrap="none" lIns="0" tIns="0" rIns="0" bIns="0" rtlCol="0">
            <a:spAutoFit/>
          </a:bodyPr>
          <a:lstStyle/>
          <a:p>
            <a:pPr>
              <a:lnSpc>
                <a:spcPts val="1996"/>
              </a:lnSpc>
            </a:pPr>
            <a:r>
              <a:rPr lang="zh-CN" altLang="en-US" sz="1998" dirty="0">
                <a:solidFill>
                  <a:srgbClr val="000000"/>
                </a:solidFill>
                <a:latin typeface="Times New Roman"/>
              </a:rPr>
              <a:t>資料的許可權控制</a:t>
            </a:r>
          </a:p>
        </p:txBody>
      </p:sp>
      <p:sp>
        <p:nvSpPr>
          <p:cNvPr id="11" name="TextBox 10"/>
          <p:cNvSpPr txBox="1"/>
          <p:nvPr/>
        </p:nvSpPr>
        <p:spPr>
          <a:xfrm>
            <a:off x="2084457" y="4785047"/>
            <a:ext cx="6309420" cy="269304"/>
          </a:xfrm>
          <a:prstGeom prst="rect">
            <a:avLst/>
          </a:prstGeom>
          <a:noFill/>
        </p:spPr>
        <p:txBody>
          <a:bodyPr vert="horz" wrap="none" lIns="0" tIns="0" rIns="0" bIns="0" rtlCol="0">
            <a:spAutoFit/>
          </a:bodyPr>
          <a:lstStyle/>
          <a:p>
            <a:pPr>
              <a:lnSpc>
                <a:spcPts val="2130"/>
              </a:lnSpc>
            </a:pPr>
            <a:r>
              <a:rPr lang="en-US" altLang="zh-CN" sz="1998" dirty="0">
                <a:solidFill>
                  <a:srgbClr val="761437"/>
                </a:solidFill>
                <a:latin typeface="Times New Roman"/>
              </a:rPr>
              <a:t>• </a:t>
            </a:r>
            <a:r>
              <a:rPr lang="zh-CN" altLang="en-US" sz="1998" dirty="0">
                <a:solidFill>
                  <a:srgbClr val="000000"/>
                </a:solidFill>
                <a:latin typeface="Times New Roman"/>
              </a:rPr>
              <a:t>責任分離，如業務授權、業務執行、業務記錄、對業績</a:t>
            </a:r>
          </a:p>
        </p:txBody>
      </p:sp>
      <p:sp>
        <p:nvSpPr>
          <p:cNvPr id="12" name="TextBox 11"/>
          <p:cNvSpPr txBox="1"/>
          <p:nvPr/>
        </p:nvSpPr>
        <p:spPr>
          <a:xfrm>
            <a:off x="2261995" y="5153866"/>
            <a:ext cx="2564805" cy="256480"/>
          </a:xfrm>
          <a:prstGeom prst="rect">
            <a:avLst/>
          </a:prstGeom>
          <a:noFill/>
        </p:spPr>
        <p:txBody>
          <a:bodyPr vert="horz" wrap="none" lIns="0" tIns="0" rIns="0" bIns="0" rtlCol="0">
            <a:spAutoFit/>
          </a:bodyPr>
          <a:lstStyle/>
          <a:p>
            <a:pPr>
              <a:lnSpc>
                <a:spcPts val="1996"/>
              </a:lnSpc>
            </a:pPr>
            <a:r>
              <a:rPr lang="zh-CN" altLang="en-US" sz="1998" dirty="0">
                <a:solidFill>
                  <a:srgbClr val="000000"/>
                </a:solidFill>
                <a:latin typeface="Times New Roman"/>
              </a:rPr>
              <a:t>的獨立檢查的職能分離</a:t>
            </a:r>
          </a:p>
        </p:txBody>
      </p:sp>
      <p:sp>
        <p:nvSpPr>
          <p:cNvPr id="13" name="TextBox 12"/>
          <p:cNvSpPr txBox="1"/>
          <p:nvPr/>
        </p:nvSpPr>
        <p:spPr>
          <a:xfrm>
            <a:off x="8067681" y="6285482"/>
            <a:ext cx="1477969" cy="461665"/>
          </a:xfrm>
          <a:prstGeom prst="rect">
            <a:avLst/>
          </a:prstGeom>
          <a:noFill/>
        </p:spPr>
        <p:txBody>
          <a:bodyPr vert="horz" wrap="none" lIns="0" tIns="0" rIns="0" bIns="0" rtlCol="0">
            <a:spAutoFit/>
          </a:bodyPr>
          <a:lstStyle/>
          <a:p>
            <a:pPr>
              <a:lnSpc>
                <a:spcPts val="1800"/>
              </a:lnSpc>
            </a:pPr>
            <a:r>
              <a:rPr lang="en-US" altLang="zh-CN" dirty="0" err="1">
                <a:solidFill>
                  <a:srgbClr val="000000"/>
                </a:solidFill>
                <a:latin typeface="Times New Roman"/>
              </a:rPr>
              <a:t>Pwc</a:t>
            </a:r>
            <a:endParaRPr lang="en-US" altLang="zh-CN" dirty="0">
              <a:solidFill>
                <a:srgbClr val="000000"/>
              </a:solidFill>
              <a:latin typeface="Times New Roman"/>
            </a:endParaRPr>
          </a:p>
          <a:p>
            <a:pPr>
              <a:lnSpc>
                <a:spcPts val="1779"/>
              </a:lnSpc>
            </a:pPr>
            <a:r>
              <a:rPr lang="zh-CN" altLang="en-US" sz="1478" dirty="0">
                <a:solidFill>
                  <a:srgbClr val="000000"/>
                </a:solidFill>
                <a:latin typeface="Times New Roman"/>
              </a:rPr>
              <a:t>普     華     永     道</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myslide14">
    <p:spTree>
      <p:nvGrpSpPr>
        <p:cNvPr id="1" name=""/>
        <p:cNvGrpSpPr/>
        <p:nvPr/>
      </p:nvGrpSpPr>
      <p:grpSpPr>
        <a:xfrm>
          <a:off x="0" y="0"/>
          <a:ext cx="0" cy="0"/>
          <a:chOff x="0" y="0"/>
          <a:chExt cx="0" cy="0"/>
        </a:xfrm>
      </p:grpSpPr>
      <p:pic>
        <p:nvPicPr>
          <p:cNvPr id="2" name="图片 1" descr="ws_19D.tmp"/>
          <p:cNvPicPr>
            <a:picLocks/>
          </p:cNvPicPr>
          <p:nvPr/>
        </p:nvPicPr>
        <p:blipFill>
          <a:blip r:embed="rId2"/>
          <a:stretch>
            <a:fillRect/>
          </a:stretch>
        </p:blipFill>
        <p:spPr>
          <a:xfrm>
            <a:off x="0" y="0"/>
            <a:ext cx="9880600" cy="6819900"/>
          </a:xfrm>
          <a:prstGeom prst="rect">
            <a:avLst/>
          </a:prstGeom>
        </p:spPr>
      </p:pic>
      <p:sp>
        <p:nvSpPr>
          <p:cNvPr id="3" name="TextBox 2"/>
          <p:cNvSpPr txBox="1"/>
          <p:nvPr/>
        </p:nvSpPr>
        <p:spPr>
          <a:xfrm>
            <a:off x="509403" y="6341571"/>
            <a:ext cx="144270" cy="133370"/>
          </a:xfrm>
          <a:prstGeom prst="rect">
            <a:avLst/>
          </a:prstGeom>
          <a:noFill/>
        </p:spPr>
        <p:txBody>
          <a:bodyPr vert="horz" wrap="none" lIns="0" tIns="0" rIns="0" bIns="0" rtlCol="0">
            <a:spAutoFit/>
          </a:bodyPr>
          <a:lstStyle/>
          <a:p>
            <a:pPr>
              <a:lnSpc>
                <a:spcPts val="1016"/>
              </a:lnSpc>
            </a:pPr>
            <a:r>
              <a:rPr lang="en-US" altLang="zh-CN" sz="1098" dirty="0">
                <a:solidFill>
                  <a:srgbClr val="761437"/>
                </a:solidFill>
                <a:latin typeface="Times New Roman"/>
              </a:rPr>
              <a:t>14</a:t>
            </a:r>
            <a:endParaRPr lang="zh-CN" altLang="en-US" sz="1098" dirty="0">
              <a:solidFill>
                <a:srgbClr val="761437"/>
              </a:solidFill>
              <a:latin typeface="Times New Roman"/>
            </a:endParaRPr>
          </a:p>
        </p:txBody>
      </p:sp>
      <p:sp>
        <p:nvSpPr>
          <p:cNvPr id="4" name="TextBox 3"/>
          <p:cNvSpPr txBox="1"/>
          <p:nvPr/>
        </p:nvSpPr>
        <p:spPr>
          <a:xfrm>
            <a:off x="824109" y="494741"/>
            <a:ext cx="7284045" cy="2372444"/>
          </a:xfrm>
          <a:prstGeom prst="rect">
            <a:avLst/>
          </a:prstGeom>
          <a:noFill/>
        </p:spPr>
        <p:txBody>
          <a:bodyPr vert="horz" wrap="none" lIns="0" tIns="0" rIns="0" bIns="0" rtlCol="0">
            <a:spAutoFit/>
          </a:bodyPr>
          <a:lstStyle/>
          <a:p>
            <a:pPr marL="0" marR="0" lvl="0" indent="0" defTabSz="914400" eaLnBrk="1" fontAlgn="auto" latinLnBrk="0" hangingPunct="1">
              <a:lnSpc>
                <a:spcPts val="3596"/>
              </a:lnSpc>
              <a:buClrTx/>
              <a:buSzTx/>
              <a:buNone/>
              <a:tabLst>
                <a:tab pos="88900" algn="l"/>
                <a:tab pos="203200" algn="l"/>
              </a:tabLst>
              <a:defRPr/>
            </a:pPr>
            <a:r>
              <a:rPr lang="zh-CN" altLang="en-US" dirty="0"/>
              <a:t>	</a:t>
            </a:r>
            <a:r>
              <a:rPr lang="zh-CN" altLang="en-US" sz="3600" dirty="0">
                <a:solidFill>
                  <a:srgbClr val="FFFFFF"/>
                </a:solidFill>
                <a:latin typeface="Times New Roman"/>
              </a:rPr>
              <a:t>控制活動</a:t>
            </a:r>
          </a:p>
          <a:p>
            <a:pPr marL="0" marR="0" lvl="0" indent="0" defTabSz="914400" eaLnBrk="1" fontAlgn="auto" latinLnBrk="0" hangingPunct="1">
              <a:lnSpc>
                <a:spcPts val="1000"/>
              </a:lnSpc>
              <a:buClrTx/>
              <a:buSzTx/>
              <a:buNone/>
              <a:tabLst>
                <a:tab pos="88900" algn="l"/>
                <a:tab pos="203200" algn="l"/>
              </a:tabLst>
              <a:defRPr/>
            </a:pPr>
            <a:endParaRPr lang="zh-CN" altLang="en-US" sz="3600" dirty="0">
              <a:solidFill>
                <a:srgbClr val="FFFFFF"/>
              </a:solidFill>
              <a:latin typeface="Times New Roman"/>
            </a:endParaRPr>
          </a:p>
          <a:p>
            <a:pPr marL="0" marR="0" lvl="0" indent="0" defTabSz="914400" eaLnBrk="1" fontAlgn="auto" latinLnBrk="0" hangingPunct="1">
              <a:lnSpc>
                <a:spcPts val="1000"/>
              </a:lnSpc>
              <a:buClrTx/>
              <a:buSzTx/>
              <a:buNone/>
              <a:tabLst>
                <a:tab pos="88900" algn="l"/>
                <a:tab pos="203200" algn="l"/>
              </a:tabLst>
              <a:defRPr/>
            </a:pPr>
            <a:endParaRPr lang="zh-CN" altLang="en-US" sz="3600" dirty="0">
              <a:solidFill>
                <a:srgbClr val="FFFFFF"/>
              </a:solidFill>
              <a:latin typeface="Times New Roman"/>
            </a:endParaRPr>
          </a:p>
          <a:p>
            <a:pPr marL="0" marR="0" lvl="0" indent="0" defTabSz="914400" eaLnBrk="1" fontAlgn="auto" latinLnBrk="0" hangingPunct="1">
              <a:lnSpc>
                <a:spcPts val="1000"/>
              </a:lnSpc>
              <a:buClrTx/>
              <a:buSzTx/>
              <a:buNone/>
              <a:tabLst>
                <a:tab pos="88900" algn="l"/>
                <a:tab pos="203200" algn="l"/>
              </a:tabLst>
              <a:defRPr/>
            </a:pPr>
            <a:endParaRPr lang="zh-CN" altLang="en-US" sz="3600" dirty="0">
              <a:solidFill>
                <a:srgbClr val="FFFFFF"/>
              </a:solidFill>
              <a:latin typeface="Times New Roman"/>
            </a:endParaRPr>
          </a:p>
          <a:p>
            <a:pPr marL="0" marR="0" lvl="0" indent="0" defTabSz="914400" eaLnBrk="1" fontAlgn="auto" latinLnBrk="0" hangingPunct="1">
              <a:lnSpc>
                <a:spcPts val="1000"/>
              </a:lnSpc>
              <a:buClrTx/>
              <a:buSzTx/>
              <a:buNone/>
              <a:tabLst>
                <a:tab pos="88900" algn="l"/>
                <a:tab pos="203200" algn="l"/>
              </a:tabLst>
              <a:defRPr/>
            </a:pPr>
            <a:endParaRPr lang="zh-CN" altLang="en-US" sz="3600" dirty="0">
              <a:solidFill>
                <a:srgbClr val="FFFFFF"/>
              </a:solidFill>
              <a:latin typeface="Times New Roman"/>
            </a:endParaRPr>
          </a:p>
          <a:p>
            <a:pPr marL="0" marR="0" lvl="0" indent="0" defTabSz="914400" eaLnBrk="1" fontAlgn="auto" latinLnBrk="0" hangingPunct="1">
              <a:lnSpc>
                <a:spcPts val="1000"/>
              </a:lnSpc>
              <a:buClrTx/>
              <a:buSzTx/>
              <a:buNone/>
              <a:tabLst>
                <a:tab pos="88900" algn="l"/>
                <a:tab pos="203200" algn="l"/>
              </a:tabLst>
              <a:defRPr/>
            </a:pPr>
            <a:endParaRPr lang="zh-CN" altLang="en-US" sz="3600" dirty="0">
              <a:solidFill>
                <a:srgbClr val="FFFFFF"/>
              </a:solidFill>
              <a:latin typeface="Times New Roman"/>
            </a:endParaRPr>
          </a:p>
          <a:p>
            <a:pPr marL="0" marR="0" lvl="0" indent="0" defTabSz="914400" eaLnBrk="1" fontAlgn="auto" latinLnBrk="0" hangingPunct="1">
              <a:lnSpc>
                <a:spcPts val="2692"/>
              </a:lnSpc>
              <a:buClrTx/>
              <a:buSzTx/>
              <a:buNone/>
              <a:tabLst>
                <a:tab pos="88900" algn="l"/>
                <a:tab pos="203200" algn="l"/>
              </a:tabLst>
              <a:defRPr/>
            </a:pPr>
            <a:r>
              <a:rPr lang="zh-CN" altLang="en-US" sz="3600" dirty="0">
                <a:solidFill>
                  <a:srgbClr val="FFFFFF"/>
                </a:solidFill>
                <a:latin typeface="Times New Roman"/>
              </a:rPr>
              <a:t>		</a:t>
            </a:r>
            <a:r>
              <a:rPr lang="zh-CN" altLang="en-US" sz="2400" dirty="0">
                <a:solidFill>
                  <a:srgbClr val="000000"/>
                </a:solidFill>
                <a:latin typeface="Times New Roman"/>
              </a:rPr>
              <a:t>業務流程和控制程式可以是人工的，也可以是自動的</a:t>
            </a:r>
          </a:p>
          <a:p>
            <a:pPr marL="0" marR="0" lvl="0" indent="0" defTabSz="914400" eaLnBrk="1" fontAlgn="auto" latinLnBrk="0" hangingPunct="1">
              <a:lnSpc>
                <a:spcPts val="1000"/>
              </a:lnSpc>
              <a:buClrTx/>
              <a:buSzTx/>
              <a:buNone/>
              <a:tabLst>
                <a:tab pos="88900" algn="l"/>
                <a:tab pos="203200" algn="l"/>
              </a:tabLst>
              <a:defRPr/>
            </a:pPr>
            <a:endParaRPr lang="zh-CN" altLang="en-US" sz="2400" dirty="0">
              <a:solidFill>
                <a:srgbClr val="000000"/>
              </a:solidFill>
              <a:latin typeface="Times New Roman"/>
            </a:endParaRPr>
          </a:p>
          <a:p>
            <a:pPr marL="0" marR="0" lvl="0" indent="0" defTabSz="914400" eaLnBrk="1" fontAlgn="auto" latinLnBrk="0" hangingPunct="1">
              <a:lnSpc>
                <a:spcPts val="1000"/>
              </a:lnSpc>
              <a:buClrTx/>
              <a:buSzTx/>
              <a:buNone/>
              <a:tabLst>
                <a:tab pos="88900" algn="l"/>
                <a:tab pos="203200" algn="l"/>
              </a:tabLst>
              <a:defRPr/>
            </a:pPr>
            <a:endParaRPr lang="zh-CN" altLang="en-US" sz="2400" dirty="0">
              <a:solidFill>
                <a:srgbClr val="000000"/>
              </a:solidFill>
              <a:latin typeface="Times New Roman"/>
            </a:endParaRPr>
          </a:p>
          <a:p>
            <a:pPr marL="0" marR="0" lvl="0" indent="0" defTabSz="914400" eaLnBrk="1" fontAlgn="auto" latinLnBrk="0" hangingPunct="1">
              <a:lnSpc>
                <a:spcPts val="1000"/>
              </a:lnSpc>
              <a:buClrTx/>
              <a:buSzTx/>
              <a:buNone/>
              <a:tabLst>
                <a:tab pos="88900" algn="l"/>
                <a:tab pos="203200" algn="l"/>
              </a:tabLst>
              <a:defRPr/>
            </a:pPr>
            <a:endParaRPr lang="zh-CN" altLang="en-US" sz="2400" dirty="0">
              <a:solidFill>
                <a:srgbClr val="000000"/>
              </a:solidFill>
              <a:latin typeface="Times New Roman"/>
            </a:endParaRPr>
          </a:p>
          <a:p>
            <a:pPr marL="0" marR="0" lvl="0" indent="0" defTabSz="914400" eaLnBrk="1" fontAlgn="auto" latinLnBrk="0" hangingPunct="1">
              <a:lnSpc>
                <a:spcPts val="1000"/>
              </a:lnSpc>
              <a:buClrTx/>
              <a:buSzTx/>
              <a:buNone/>
              <a:tabLst>
                <a:tab pos="88900" algn="l"/>
                <a:tab pos="203200" algn="l"/>
              </a:tabLst>
              <a:defRPr/>
            </a:pPr>
            <a:endParaRPr lang="zh-CN" altLang="en-US" sz="2400" dirty="0">
              <a:solidFill>
                <a:srgbClr val="000000"/>
              </a:solidFill>
              <a:latin typeface="Times New Roman"/>
            </a:endParaRPr>
          </a:p>
          <a:p>
            <a:pPr marL="0" marR="0" lvl="0" indent="0" defTabSz="914400" eaLnBrk="1" fontAlgn="auto" latinLnBrk="0" hangingPunct="1">
              <a:lnSpc>
                <a:spcPts val="1000"/>
              </a:lnSpc>
              <a:buClrTx/>
              <a:buSzTx/>
              <a:buNone/>
              <a:tabLst>
                <a:tab pos="88900" algn="l"/>
                <a:tab pos="203200" algn="l"/>
              </a:tabLst>
              <a:defRPr/>
            </a:pPr>
            <a:endParaRPr lang="zh-CN" altLang="en-US" sz="2400" dirty="0">
              <a:solidFill>
                <a:srgbClr val="000000"/>
              </a:solidFill>
              <a:latin typeface="Times New Roman"/>
            </a:endParaRPr>
          </a:p>
          <a:p>
            <a:pPr marL="0" marR="0" lvl="0" indent="0" defTabSz="914400" eaLnBrk="1" fontAlgn="auto" latinLnBrk="0" hangingPunct="1">
              <a:lnSpc>
                <a:spcPts val="2172"/>
              </a:lnSpc>
              <a:buClrTx/>
              <a:buSzTx/>
              <a:buNone/>
              <a:tabLst>
                <a:tab pos="88900" algn="l"/>
                <a:tab pos="203200" algn="l"/>
              </a:tabLst>
              <a:defRPr/>
            </a:pPr>
            <a:r>
              <a:rPr lang="zh-CN" altLang="en-US" sz="1602" dirty="0">
                <a:solidFill>
                  <a:srgbClr val="000000"/>
                </a:solidFill>
                <a:latin typeface="Times New Roman"/>
              </a:rPr>
              <a:t>人工的</a:t>
            </a:r>
          </a:p>
        </p:txBody>
      </p:sp>
      <p:sp>
        <p:nvSpPr>
          <p:cNvPr id="5" name="TextBox 4"/>
          <p:cNvSpPr txBox="1"/>
          <p:nvPr/>
        </p:nvSpPr>
        <p:spPr>
          <a:xfrm>
            <a:off x="2374779" y="2998406"/>
            <a:ext cx="769441" cy="192360"/>
          </a:xfrm>
          <a:prstGeom prst="rect">
            <a:avLst/>
          </a:prstGeom>
          <a:noFill/>
        </p:spPr>
        <p:txBody>
          <a:bodyPr vert="horz" wrap="none" lIns="0" tIns="0" rIns="0" bIns="0" rtlCol="0">
            <a:spAutoFit/>
          </a:bodyPr>
          <a:lstStyle/>
          <a:p>
            <a:pPr>
              <a:lnSpc>
                <a:spcPts val="1498"/>
              </a:lnSpc>
            </a:pPr>
            <a:r>
              <a:rPr lang="zh-CN" altLang="en-US" sz="1500" dirty="0">
                <a:solidFill>
                  <a:srgbClr val="000000"/>
                </a:solidFill>
                <a:latin typeface="Times New Roman"/>
              </a:rPr>
              <a:t>採購定單</a:t>
            </a:r>
          </a:p>
        </p:txBody>
      </p:sp>
      <p:sp>
        <p:nvSpPr>
          <p:cNvPr id="6" name="TextBox 5"/>
          <p:cNvSpPr txBox="1"/>
          <p:nvPr/>
        </p:nvSpPr>
        <p:spPr>
          <a:xfrm>
            <a:off x="4194427" y="2879534"/>
            <a:ext cx="961802" cy="436017"/>
          </a:xfrm>
          <a:prstGeom prst="rect">
            <a:avLst/>
          </a:prstGeom>
          <a:noFill/>
        </p:spPr>
        <p:txBody>
          <a:bodyPr vert="horz" wrap="none" lIns="0" tIns="0" rIns="0" bIns="0" rtlCol="0">
            <a:spAutoFit/>
          </a:bodyPr>
          <a:lstStyle/>
          <a:p>
            <a:pPr marL="0" marR="0" lvl="0" indent="0" defTabSz="914400" eaLnBrk="1" fontAlgn="auto" latinLnBrk="0" hangingPunct="1">
              <a:lnSpc>
                <a:spcPts val="1498"/>
              </a:lnSpc>
              <a:buClrTx/>
              <a:buSzTx/>
              <a:buNone/>
              <a:tabLst>
                <a:tab pos="63500" algn="l"/>
              </a:tabLst>
              <a:defRPr/>
            </a:pPr>
            <a:r>
              <a:rPr lang="zh-CN" altLang="en-US" dirty="0"/>
              <a:t>	</a:t>
            </a:r>
            <a:r>
              <a:rPr lang="zh-CN" altLang="en-US" sz="1500" dirty="0">
                <a:solidFill>
                  <a:srgbClr val="000000"/>
                </a:solidFill>
                <a:latin typeface="Times New Roman"/>
              </a:rPr>
              <a:t>申請目的</a:t>
            </a:r>
            <a:r>
              <a:rPr lang="en-US" altLang="zh-CN" sz="1500" dirty="0">
                <a:solidFill>
                  <a:srgbClr val="000000"/>
                </a:solidFill>
                <a:latin typeface="Times New Roman"/>
              </a:rPr>
              <a:t>/</a:t>
            </a:r>
          </a:p>
          <a:p>
            <a:pPr marL="0" marR="0" lvl="0" indent="0" defTabSz="914400" eaLnBrk="1" fontAlgn="auto" latinLnBrk="0" hangingPunct="1">
              <a:lnSpc>
                <a:spcPts val="1884"/>
              </a:lnSpc>
              <a:buClrTx/>
              <a:buSzTx/>
              <a:buNone/>
              <a:tabLst>
                <a:tab pos="63500" algn="l"/>
              </a:tabLst>
              <a:defRPr/>
            </a:pPr>
            <a:r>
              <a:rPr lang="zh-CN" altLang="en-US" sz="1500" dirty="0">
                <a:solidFill>
                  <a:srgbClr val="000000"/>
                </a:solidFill>
                <a:latin typeface="Times New Roman"/>
              </a:rPr>
              <a:t>申請人簽字</a:t>
            </a:r>
          </a:p>
        </p:txBody>
      </p:sp>
      <p:sp>
        <p:nvSpPr>
          <p:cNvPr id="7" name="TextBox 6"/>
          <p:cNvSpPr txBox="1"/>
          <p:nvPr/>
        </p:nvSpPr>
        <p:spPr>
          <a:xfrm>
            <a:off x="6146679" y="3004502"/>
            <a:ext cx="961802" cy="192360"/>
          </a:xfrm>
          <a:prstGeom prst="rect">
            <a:avLst/>
          </a:prstGeom>
          <a:noFill/>
        </p:spPr>
        <p:txBody>
          <a:bodyPr vert="horz" wrap="none" lIns="0" tIns="0" rIns="0" bIns="0" rtlCol="0">
            <a:spAutoFit/>
          </a:bodyPr>
          <a:lstStyle/>
          <a:p>
            <a:pPr>
              <a:lnSpc>
                <a:spcPts val="1498"/>
              </a:lnSpc>
            </a:pPr>
            <a:r>
              <a:rPr lang="zh-CN" altLang="en-US" sz="1500" dirty="0">
                <a:solidFill>
                  <a:srgbClr val="000000"/>
                </a:solidFill>
                <a:latin typeface="Times New Roman"/>
              </a:rPr>
              <a:t>審批和簽字</a:t>
            </a:r>
          </a:p>
        </p:txBody>
      </p:sp>
      <p:sp>
        <p:nvSpPr>
          <p:cNvPr id="8" name="TextBox 7"/>
          <p:cNvSpPr txBox="1"/>
          <p:nvPr/>
        </p:nvSpPr>
        <p:spPr>
          <a:xfrm>
            <a:off x="824109" y="3944351"/>
            <a:ext cx="615553" cy="205184"/>
          </a:xfrm>
          <a:prstGeom prst="rect">
            <a:avLst/>
          </a:prstGeom>
          <a:noFill/>
        </p:spPr>
        <p:txBody>
          <a:bodyPr vert="horz" wrap="none" lIns="0" tIns="0" rIns="0" bIns="0" rtlCol="0">
            <a:spAutoFit/>
          </a:bodyPr>
          <a:lstStyle/>
          <a:p>
            <a:pPr>
              <a:lnSpc>
                <a:spcPts val="1600"/>
              </a:lnSpc>
            </a:pPr>
            <a:r>
              <a:rPr lang="zh-CN" altLang="en-US" sz="1602" dirty="0">
                <a:solidFill>
                  <a:srgbClr val="000000"/>
                </a:solidFill>
                <a:latin typeface="Times New Roman"/>
              </a:rPr>
              <a:t>自動的</a:t>
            </a:r>
          </a:p>
        </p:txBody>
      </p:sp>
      <p:sp>
        <p:nvSpPr>
          <p:cNvPr id="9" name="TextBox 8"/>
          <p:cNvSpPr txBox="1"/>
          <p:nvPr/>
        </p:nvSpPr>
        <p:spPr>
          <a:xfrm>
            <a:off x="7790313" y="3977878"/>
            <a:ext cx="410369" cy="205184"/>
          </a:xfrm>
          <a:prstGeom prst="rect">
            <a:avLst/>
          </a:prstGeom>
          <a:noFill/>
        </p:spPr>
        <p:txBody>
          <a:bodyPr vert="horz" wrap="none" lIns="0" tIns="0" rIns="0" bIns="0" rtlCol="0">
            <a:spAutoFit/>
          </a:bodyPr>
          <a:lstStyle/>
          <a:p>
            <a:pPr>
              <a:lnSpc>
                <a:spcPts val="1600"/>
              </a:lnSpc>
            </a:pPr>
            <a:r>
              <a:rPr lang="zh-CN" altLang="en-US" sz="1602" dirty="0">
                <a:solidFill>
                  <a:srgbClr val="000000"/>
                </a:solidFill>
                <a:latin typeface="Times New Roman"/>
              </a:rPr>
              <a:t>收貨</a:t>
            </a:r>
          </a:p>
        </p:txBody>
      </p:sp>
      <p:sp>
        <p:nvSpPr>
          <p:cNvPr id="10" name="TextBox 9"/>
          <p:cNvSpPr txBox="1"/>
          <p:nvPr/>
        </p:nvSpPr>
        <p:spPr>
          <a:xfrm>
            <a:off x="8505831" y="3990833"/>
            <a:ext cx="410369" cy="205184"/>
          </a:xfrm>
          <a:prstGeom prst="rect">
            <a:avLst/>
          </a:prstGeom>
          <a:noFill/>
        </p:spPr>
        <p:txBody>
          <a:bodyPr vert="horz" wrap="none" lIns="0" tIns="0" rIns="0" bIns="0" rtlCol="0">
            <a:spAutoFit/>
          </a:bodyPr>
          <a:lstStyle/>
          <a:p>
            <a:pPr>
              <a:lnSpc>
                <a:spcPts val="1600"/>
              </a:lnSpc>
            </a:pPr>
            <a:r>
              <a:rPr lang="zh-CN" altLang="en-US" sz="1602" dirty="0">
                <a:solidFill>
                  <a:srgbClr val="000000"/>
                </a:solidFill>
                <a:latin typeface="Times New Roman"/>
              </a:rPr>
              <a:t>發票</a:t>
            </a:r>
          </a:p>
        </p:txBody>
      </p:sp>
      <p:sp>
        <p:nvSpPr>
          <p:cNvPr id="11" name="TextBox 10"/>
          <p:cNvSpPr txBox="1"/>
          <p:nvPr/>
        </p:nvSpPr>
        <p:spPr>
          <a:xfrm>
            <a:off x="1573155" y="4944252"/>
            <a:ext cx="718145" cy="384721"/>
          </a:xfrm>
          <a:prstGeom prst="rect">
            <a:avLst/>
          </a:prstGeom>
          <a:noFill/>
        </p:spPr>
        <p:txBody>
          <a:bodyPr vert="horz" wrap="none" lIns="0" tIns="0" rIns="0" bIns="0" rtlCol="0">
            <a:spAutoFit/>
          </a:bodyPr>
          <a:lstStyle/>
          <a:p>
            <a:pPr>
              <a:lnSpc>
                <a:spcPts val="1397"/>
              </a:lnSpc>
            </a:pPr>
            <a:r>
              <a:rPr lang="zh-CN" altLang="en-US" sz="1398" dirty="0">
                <a:solidFill>
                  <a:srgbClr val="000000"/>
                </a:solidFill>
                <a:latin typeface="Times New Roman"/>
              </a:rPr>
              <a:t>輸入採購</a:t>
            </a:r>
          </a:p>
          <a:p>
            <a:pPr>
              <a:lnSpc>
                <a:spcPts val="1590"/>
              </a:lnSpc>
            </a:pPr>
            <a:r>
              <a:rPr lang="zh-CN" altLang="en-US" sz="1398" dirty="0">
                <a:solidFill>
                  <a:srgbClr val="000000"/>
                </a:solidFill>
                <a:latin typeface="Times New Roman"/>
              </a:rPr>
              <a:t>訂單信息</a:t>
            </a:r>
          </a:p>
        </p:txBody>
      </p:sp>
      <p:sp>
        <p:nvSpPr>
          <p:cNvPr id="12" name="TextBox 11"/>
          <p:cNvSpPr txBox="1"/>
          <p:nvPr/>
        </p:nvSpPr>
        <p:spPr>
          <a:xfrm>
            <a:off x="3302895" y="4933584"/>
            <a:ext cx="718145" cy="384721"/>
          </a:xfrm>
          <a:prstGeom prst="rect">
            <a:avLst/>
          </a:prstGeom>
          <a:noFill/>
        </p:spPr>
        <p:txBody>
          <a:bodyPr vert="horz" wrap="none" lIns="0" tIns="0" rIns="0" bIns="0" rtlCol="0">
            <a:spAutoFit/>
          </a:bodyPr>
          <a:lstStyle/>
          <a:p>
            <a:pPr marL="0" marR="0" lvl="0" indent="0" defTabSz="914400" eaLnBrk="1" fontAlgn="auto" latinLnBrk="0" hangingPunct="1">
              <a:lnSpc>
                <a:spcPts val="1397"/>
              </a:lnSpc>
              <a:buClrTx/>
              <a:buSzTx/>
              <a:buNone/>
              <a:tabLst>
                <a:tab pos="177800" algn="l"/>
              </a:tabLst>
              <a:defRPr/>
            </a:pPr>
            <a:r>
              <a:rPr lang="zh-CN" altLang="en-US" sz="1398" dirty="0">
                <a:solidFill>
                  <a:srgbClr val="000000"/>
                </a:solidFill>
                <a:latin typeface="Times New Roman"/>
              </a:rPr>
              <a:t>採購訂單</a:t>
            </a:r>
          </a:p>
          <a:p>
            <a:pPr marL="0" marR="0" lvl="0" indent="0" defTabSz="914400" eaLnBrk="1" fontAlgn="auto" latinLnBrk="0" hangingPunct="1">
              <a:lnSpc>
                <a:spcPts val="1584"/>
              </a:lnSpc>
              <a:buClrTx/>
              <a:buSzTx/>
              <a:buNone/>
              <a:tabLst>
                <a:tab pos="177800" algn="l"/>
              </a:tabLst>
              <a:defRPr/>
            </a:pPr>
            <a:r>
              <a:rPr lang="zh-CN" altLang="en-US" sz="1398" dirty="0">
                <a:solidFill>
                  <a:srgbClr val="000000"/>
                </a:solidFill>
                <a:latin typeface="Times New Roman"/>
              </a:rPr>
              <a:t>	系統</a:t>
            </a:r>
          </a:p>
        </p:txBody>
      </p:sp>
      <p:sp>
        <p:nvSpPr>
          <p:cNvPr id="13" name="TextBox 12"/>
          <p:cNvSpPr txBox="1"/>
          <p:nvPr/>
        </p:nvSpPr>
        <p:spPr>
          <a:xfrm>
            <a:off x="4824609" y="5034929"/>
            <a:ext cx="718145" cy="179536"/>
          </a:xfrm>
          <a:prstGeom prst="rect">
            <a:avLst/>
          </a:prstGeom>
          <a:noFill/>
        </p:spPr>
        <p:txBody>
          <a:bodyPr vert="horz" wrap="none" lIns="0" tIns="0" rIns="0" bIns="0" rtlCol="0">
            <a:spAutoFit/>
          </a:bodyPr>
          <a:lstStyle/>
          <a:p>
            <a:pPr>
              <a:lnSpc>
                <a:spcPts val="1397"/>
              </a:lnSpc>
            </a:pPr>
            <a:r>
              <a:rPr lang="zh-CN" altLang="en-US" sz="1398" dirty="0">
                <a:solidFill>
                  <a:srgbClr val="000000"/>
                </a:solidFill>
                <a:latin typeface="Times New Roman"/>
              </a:rPr>
              <a:t>核對資料</a:t>
            </a:r>
          </a:p>
        </p:txBody>
      </p:sp>
      <p:sp>
        <p:nvSpPr>
          <p:cNvPr id="14" name="TextBox 13"/>
          <p:cNvSpPr txBox="1"/>
          <p:nvPr/>
        </p:nvSpPr>
        <p:spPr>
          <a:xfrm>
            <a:off x="6347085" y="5034929"/>
            <a:ext cx="718145" cy="179536"/>
          </a:xfrm>
          <a:prstGeom prst="rect">
            <a:avLst/>
          </a:prstGeom>
          <a:noFill/>
        </p:spPr>
        <p:txBody>
          <a:bodyPr vert="horz" wrap="none" lIns="0" tIns="0" rIns="0" bIns="0" rtlCol="0">
            <a:spAutoFit/>
          </a:bodyPr>
          <a:lstStyle/>
          <a:p>
            <a:pPr>
              <a:lnSpc>
                <a:spcPts val="1397"/>
              </a:lnSpc>
            </a:pPr>
            <a:r>
              <a:rPr lang="zh-CN" altLang="en-US" sz="1398" dirty="0">
                <a:solidFill>
                  <a:srgbClr val="000000"/>
                </a:solidFill>
                <a:latin typeface="Times New Roman"/>
              </a:rPr>
              <a:t>更新資料</a:t>
            </a:r>
          </a:p>
        </p:txBody>
      </p:sp>
      <p:sp>
        <p:nvSpPr>
          <p:cNvPr id="15" name="TextBox 14"/>
          <p:cNvSpPr txBox="1"/>
          <p:nvPr/>
        </p:nvSpPr>
        <p:spPr>
          <a:xfrm>
            <a:off x="8009007" y="5034929"/>
            <a:ext cx="718145" cy="179536"/>
          </a:xfrm>
          <a:prstGeom prst="rect">
            <a:avLst/>
          </a:prstGeom>
          <a:noFill/>
        </p:spPr>
        <p:txBody>
          <a:bodyPr vert="horz" wrap="none" lIns="0" tIns="0" rIns="0" bIns="0" rtlCol="0">
            <a:spAutoFit/>
          </a:bodyPr>
          <a:lstStyle/>
          <a:p>
            <a:pPr>
              <a:lnSpc>
                <a:spcPts val="1397"/>
              </a:lnSpc>
            </a:pPr>
            <a:r>
              <a:rPr lang="zh-CN" altLang="en-US" sz="1398" dirty="0">
                <a:solidFill>
                  <a:srgbClr val="000000"/>
                </a:solidFill>
                <a:latin typeface="Times New Roman"/>
              </a:rPr>
              <a:t>三方匹配</a:t>
            </a:r>
          </a:p>
        </p:txBody>
      </p:sp>
      <p:sp>
        <p:nvSpPr>
          <p:cNvPr id="16" name="TextBox 15"/>
          <p:cNvSpPr txBox="1"/>
          <p:nvPr/>
        </p:nvSpPr>
        <p:spPr>
          <a:xfrm>
            <a:off x="8067681" y="6285482"/>
            <a:ext cx="1477969" cy="461665"/>
          </a:xfrm>
          <a:prstGeom prst="rect">
            <a:avLst/>
          </a:prstGeom>
          <a:noFill/>
        </p:spPr>
        <p:txBody>
          <a:bodyPr vert="horz" wrap="none" lIns="0" tIns="0" rIns="0" bIns="0" rtlCol="0">
            <a:spAutoFit/>
          </a:bodyPr>
          <a:lstStyle/>
          <a:p>
            <a:pPr>
              <a:lnSpc>
                <a:spcPts val="1800"/>
              </a:lnSpc>
            </a:pPr>
            <a:r>
              <a:rPr lang="en-US" altLang="zh-CN" dirty="0" err="1">
                <a:solidFill>
                  <a:srgbClr val="000000"/>
                </a:solidFill>
                <a:latin typeface="Times New Roman"/>
              </a:rPr>
              <a:t>Pwc</a:t>
            </a:r>
            <a:endParaRPr lang="en-US" altLang="zh-CN" dirty="0">
              <a:solidFill>
                <a:srgbClr val="000000"/>
              </a:solidFill>
              <a:latin typeface="Times New Roman"/>
            </a:endParaRPr>
          </a:p>
          <a:p>
            <a:pPr>
              <a:lnSpc>
                <a:spcPts val="1779"/>
              </a:lnSpc>
            </a:pPr>
            <a:r>
              <a:rPr lang="zh-CN" altLang="en-US" sz="1478" dirty="0">
                <a:solidFill>
                  <a:srgbClr val="000000"/>
                </a:solidFill>
                <a:latin typeface="Times New Roman"/>
              </a:rPr>
              <a:t>普     華     永     道</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myslide15">
    <p:spTree>
      <p:nvGrpSpPr>
        <p:cNvPr id="1" name=""/>
        <p:cNvGrpSpPr/>
        <p:nvPr/>
      </p:nvGrpSpPr>
      <p:grpSpPr>
        <a:xfrm>
          <a:off x="0" y="0"/>
          <a:ext cx="0" cy="0"/>
          <a:chOff x="0" y="0"/>
          <a:chExt cx="0" cy="0"/>
        </a:xfrm>
      </p:grpSpPr>
      <p:pic>
        <p:nvPicPr>
          <p:cNvPr id="2" name="图片 1" descr="ws_19F.tmp"/>
          <p:cNvPicPr>
            <a:picLocks/>
          </p:cNvPicPr>
          <p:nvPr/>
        </p:nvPicPr>
        <p:blipFill>
          <a:blip r:embed="rId2"/>
          <a:stretch>
            <a:fillRect/>
          </a:stretch>
        </p:blipFill>
        <p:spPr>
          <a:xfrm>
            <a:off x="0" y="0"/>
            <a:ext cx="9880600" cy="6819900"/>
          </a:xfrm>
          <a:prstGeom prst="rect">
            <a:avLst/>
          </a:prstGeom>
        </p:spPr>
      </p:pic>
      <p:sp>
        <p:nvSpPr>
          <p:cNvPr id="3" name="TextBox 2"/>
          <p:cNvSpPr txBox="1"/>
          <p:nvPr/>
        </p:nvSpPr>
        <p:spPr>
          <a:xfrm>
            <a:off x="2796916" y="4191050"/>
            <a:ext cx="110608" cy="141834"/>
          </a:xfrm>
          <a:prstGeom prst="rect">
            <a:avLst/>
          </a:prstGeom>
          <a:noFill/>
        </p:spPr>
        <p:txBody>
          <a:bodyPr vert="horz" wrap="none" lIns="0" tIns="0" rIns="0" bIns="0" rtlCol="0">
            <a:spAutoFit/>
          </a:bodyPr>
          <a:lstStyle/>
          <a:p>
            <a:pPr>
              <a:lnSpc>
                <a:spcPts val="1080"/>
              </a:lnSpc>
            </a:pPr>
            <a:r>
              <a:rPr lang="en-US" altLang="zh-CN" sz="1200" b="1" dirty="0">
                <a:solidFill>
                  <a:srgbClr val="000000"/>
                </a:solidFill>
                <a:latin typeface="Times New Roman"/>
              </a:rPr>
              <a:t>A</a:t>
            </a:r>
            <a:endParaRPr lang="zh-CN" altLang="en-US" sz="1200" b="1" dirty="0">
              <a:solidFill>
                <a:srgbClr val="000000"/>
              </a:solidFill>
              <a:latin typeface="Times New Roman"/>
            </a:endParaRPr>
          </a:p>
        </p:txBody>
      </p:sp>
      <p:sp>
        <p:nvSpPr>
          <p:cNvPr id="4" name="TextBox 3"/>
          <p:cNvSpPr txBox="1"/>
          <p:nvPr/>
        </p:nvSpPr>
        <p:spPr>
          <a:xfrm>
            <a:off x="509403" y="6341571"/>
            <a:ext cx="144270" cy="133370"/>
          </a:xfrm>
          <a:prstGeom prst="rect">
            <a:avLst/>
          </a:prstGeom>
          <a:noFill/>
        </p:spPr>
        <p:txBody>
          <a:bodyPr vert="horz" wrap="none" lIns="0" tIns="0" rIns="0" bIns="0" rtlCol="0">
            <a:spAutoFit/>
          </a:bodyPr>
          <a:lstStyle/>
          <a:p>
            <a:pPr>
              <a:lnSpc>
                <a:spcPts val="1016"/>
              </a:lnSpc>
            </a:pPr>
            <a:r>
              <a:rPr lang="en-US" altLang="zh-CN" sz="1098" dirty="0">
                <a:solidFill>
                  <a:srgbClr val="761437"/>
                </a:solidFill>
                <a:latin typeface="Times New Roman"/>
              </a:rPr>
              <a:t>15</a:t>
            </a:r>
            <a:endParaRPr lang="zh-CN" altLang="en-US" sz="1098" dirty="0">
              <a:solidFill>
                <a:srgbClr val="761437"/>
              </a:solidFill>
              <a:latin typeface="Times New Roman"/>
            </a:endParaRPr>
          </a:p>
        </p:txBody>
      </p:sp>
      <p:sp>
        <p:nvSpPr>
          <p:cNvPr id="5" name="TextBox 4"/>
          <p:cNvSpPr txBox="1"/>
          <p:nvPr/>
        </p:nvSpPr>
        <p:spPr>
          <a:xfrm>
            <a:off x="504831" y="478739"/>
            <a:ext cx="5876609" cy="1538883"/>
          </a:xfrm>
          <a:prstGeom prst="rect">
            <a:avLst/>
          </a:prstGeom>
          <a:noFill/>
        </p:spPr>
        <p:txBody>
          <a:bodyPr vert="horz" wrap="none" lIns="0" tIns="0" rIns="0" bIns="0" rtlCol="0">
            <a:spAutoFit/>
          </a:bodyPr>
          <a:lstStyle/>
          <a:p>
            <a:pPr marL="0" marR="0" lvl="0" indent="0" defTabSz="914400" eaLnBrk="1" fontAlgn="auto" latinLnBrk="0" hangingPunct="1">
              <a:lnSpc>
                <a:spcPts val="3874"/>
              </a:lnSpc>
              <a:buClrTx/>
              <a:buSzTx/>
              <a:buNone/>
              <a:tabLst>
                <a:tab pos="406400" algn="l"/>
              </a:tabLst>
              <a:defRPr/>
            </a:pPr>
            <a:r>
              <a:rPr lang="zh-CN" altLang="en-US" dirty="0"/>
              <a:t>	</a:t>
            </a:r>
            <a:r>
              <a:rPr lang="zh-CN" altLang="en-US" sz="3600" dirty="0">
                <a:solidFill>
                  <a:srgbClr val="FFFFFF"/>
                </a:solidFill>
                <a:latin typeface="Times New Roman"/>
              </a:rPr>
              <a:t>內部控制體系 </a:t>
            </a:r>
            <a:r>
              <a:rPr lang="en-US" altLang="zh-CN" sz="3600" b="1" dirty="0">
                <a:solidFill>
                  <a:srgbClr val="FFFFFF"/>
                </a:solidFill>
                <a:latin typeface="Times New Roman"/>
              </a:rPr>
              <a:t>– COSO</a:t>
            </a:r>
            <a:r>
              <a:rPr lang="zh-CN" altLang="en-US" sz="3600" b="1" dirty="0">
                <a:solidFill>
                  <a:srgbClr val="FFFFFF"/>
                </a:solidFill>
                <a:latin typeface="Times New Roman"/>
              </a:rPr>
              <a:t>模型</a:t>
            </a:r>
          </a:p>
          <a:p>
            <a:pPr marL="0" marR="0" lvl="0" indent="0" defTabSz="914400" eaLnBrk="1" fontAlgn="auto" latinLnBrk="0" hangingPunct="1">
              <a:lnSpc>
                <a:spcPts val="1000"/>
              </a:lnSpc>
              <a:buClrTx/>
              <a:buSzTx/>
              <a:buNone/>
              <a:tabLst>
                <a:tab pos="406400" algn="l"/>
              </a:tabLst>
              <a:defRPr/>
            </a:pPr>
            <a:endParaRPr lang="zh-CN" altLang="en-US" sz="3600" b="1" dirty="0">
              <a:solidFill>
                <a:srgbClr val="FFFFFF"/>
              </a:solidFill>
              <a:latin typeface="Times New Roman"/>
            </a:endParaRPr>
          </a:p>
          <a:p>
            <a:pPr marL="0" marR="0" lvl="0" indent="0" defTabSz="914400" eaLnBrk="1" fontAlgn="auto" latinLnBrk="0" hangingPunct="1">
              <a:lnSpc>
                <a:spcPts val="1000"/>
              </a:lnSpc>
              <a:buClrTx/>
              <a:buSzTx/>
              <a:buNone/>
              <a:tabLst>
                <a:tab pos="406400" algn="l"/>
              </a:tabLst>
              <a:defRPr/>
            </a:pPr>
            <a:endParaRPr lang="zh-CN" altLang="en-US" sz="3600" b="1" dirty="0">
              <a:solidFill>
                <a:srgbClr val="FFFFFF"/>
              </a:solidFill>
              <a:latin typeface="Times New Roman"/>
            </a:endParaRPr>
          </a:p>
          <a:p>
            <a:pPr marL="0" marR="0" lvl="0" indent="0" defTabSz="914400" eaLnBrk="1" fontAlgn="auto" latinLnBrk="0" hangingPunct="1">
              <a:lnSpc>
                <a:spcPts val="1000"/>
              </a:lnSpc>
              <a:buClrTx/>
              <a:buSzTx/>
              <a:buNone/>
              <a:tabLst>
                <a:tab pos="406400" algn="l"/>
              </a:tabLst>
              <a:defRPr/>
            </a:pPr>
            <a:endParaRPr lang="zh-CN" altLang="en-US" sz="3600" b="1" dirty="0">
              <a:solidFill>
                <a:srgbClr val="FFFFFF"/>
              </a:solidFill>
              <a:latin typeface="Times New Roman"/>
            </a:endParaRPr>
          </a:p>
          <a:p>
            <a:pPr marL="0" marR="0" lvl="0" indent="0" defTabSz="914400" eaLnBrk="1" fontAlgn="auto" latinLnBrk="0" hangingPunct="1">
              <a:lnSpc>
                <a:spcPts val="1000"/>
              </a:lnSpc>
              <a:buClrTx/>
              <a:buSzTx/>
              <a:buNone/>
              <a:tabLst>
                <a:tab pos="406400" algn="l"/>
              </a:tabLst>
              <a:defRPr/>
            </a:pPr>
            <a:endParaRPr lang="zh-CN" altLang="en-US" sz="3600" b="1" dirty="0">
              <a:solidFill>
                <a:srgbClr val="FFFFFF"/>
              </a:solidFill>
              <a:latin typeface="Times New Roman"/>
            </a:endParaRPr>
          </a:p>
          <a:p>
            <a:pPr marL="0" marR="0" lvl="0" indent="0" defTabSz="914400" eaLnBrk="1" fontAlgn="auto" latinLnBrk="0" hangingPunct="1">
              <a:lnSpc>
                <a:spcPts val="1000"/>
              </a:lnSpc>
              <a:buClrTx/>
              <a:buSzTx/>
              <a:buNone/>
              <a:tabLst>
                <a:tab pos="406400" algn="l"/>
              </a:tabLst>
              <a:defRPr/>
            </a:pPr>
            <a:endParaRPr lang="zh-CN" altLang="en-US" sz="3600" b="1" dirty="0">
              <a:solidFill>
                <a:srgbClr val="FFFFFF"/>
              </a:solidFill>
              <a:latin typeface="Times New Roman"/>
            </a:endParaRPr>
          </a:p>
          <a:p>
            <a:pPr marL="0" marR="0" lvl="0" indent="0" defTabSz="914400" eaLnBrk="1" fontAlgn="auto" latinLnBrk="0" hangingPunct="1">
              <a:lnSpc>
                <a:spcPts val="3128"/>
              </a:lnSpc>
              <a:buClrTx/>
              <a:buSzTx/>
              <a:buNone/>
              <a:tabLst>
                <a:tab pos="406400" algn="l"/>
              </a:tabLst>
              <a:defRPr/>
            </a:pPr>
            <a:r>
              <a:rPr lang="zh-CN" altLang="en-US" sz="2537" dirty="0">
                <a:solidFill>
                  <a:srgbClr val="000000"/>
                </a:solidFill>
                <a:latin typeface="Times New Roman"/>
              </a:rPr>
              <a:t>要素</a:t>
            </a:r>
            <a:r>
              <a:rPr lang="en-US" altLang="zh-CN" sz="2400" b="1" i="1" dirty="0">
                <a:solidFill>
                  <a:srgbClr val="000000"/>
                </a:solidFill>
                <a:latin typeface="Times New Roman"/>
              </a:rPr>
              <a:t>4</a:t>
            </a:r>
            <a:r>
              <a:rPr lang="zh-CN" altLang="en-US" sz="2537" dirty="0">
                <a:solidFill>
                  <a:srgbClr val="000000"/>
                </a:solidFill>
                <a:latin typeface="Times New Roman"/>
              </a:rPr>
              <a:t>：資訊和溝通</a:t>
            </a:r>
          </a:p>
        </p:txBody>
      </p:sp>
      <p:sp>
        <p:nvSpPr>
          <p:cNvPr id="6" name="TextBox 5"/>
          <p:cNvSpPr txBox="1"/>
          <p:nvPr/>
        </p:nvSpPr>
        <p:spPr>
          <a:xfrm>
            <a:off x="1186058" y="2925978"/>
            <a:ext cx="153888" cy="153888"/>
          </a:xfrm>
          <a:prstGeom prst="rect">
            <a:avLst/>
          </a:prstGeom>
          <a:noFill/>
        </p:spPr>
        <p:txBody>
          <a:bodyPr vert="horz" wrap="none" lIns="0" tIns="0" rIns="0" bIns="0" rtlCol="0">
            <a:spAutoFit/>
          </a:bodyPr>
          <a:lstStyle/>
          <a:p>
            <a:pPr>
              <a:lnSpc>
                <a:spcPts val="1199"/>
              </a:lnSpc>
            </a:pPr>
            <a:r>
              <a:rPr lang="zh-CN" altLang="en-US" sz="1200" dirty="0">
                <a:solidFill>
                  <a:srgbClr val="000000"/>
                </a:solidFill>
                <a:latin typeface="Times New Roman"/>
              </a:rPr>
              <a:t>營</a:t>
            </a:r>
          </a:p>
        </p:txBody>
      </p:sp>
      <p:sp>
        <p:nvSpPr>
          <p:cNvPr id="7" name="TextBox 6"/>
          <p:cNvSpPr txBox="1"/>
          <p:nvPr/>
        </p:nvSpPr>
        <p:spPr>
          <a:xfrm>
            <a:off x="1525906" y="2631084"/>
            <a:ext cx="461665" cy="743793"/>
          </a:xfrm>
          <a:prstGeom prst="rect">
            <a:avLst/>
          </a:prstGeom>
          <a:noFill/>
        </p:spPr>
        <p:txBody>
          <a:bodyPr vert="horz" wrap="none" lIns="0" tIns="0" rIns="0" bIns="0" rtlCol="0">
            <a:spAutoFit/>
          </a:bodyPr>
          <a:lstStyle/>
          <a:p>
            <a:pPr marL="0" marR="0" lvl="0" indent="0" defTabSz="914400" eaLnBrk="1" fontAlgn="auto" latinLnBrk="0" hangingPunct="1">
              <a:lnSpc>
                <a:spcPts val="1199"/>
              </a:lnSpc>
              <a:buClrTx/>
              <a:buSzTx/>
              <a:buNone/>
              <a:tabLst>
                <a:tab pos="127000" algn="l"/>
                <a:tab pos="304800" algn="l"/>
              </a:tabLst>
              <a:defRPr/>
            </a:pPr>
            <a:r>
              <a:rPr lang="zh-CN" altLang="en-US" sz="1200" dirty="0">
                <a:solidFill>
                  <a:srgbClr val="000000"/>
                </a:solidFill>
                <a:latin typeface="Times New Roman"/>
              </a:rPr>
              <a:t>經</a:t>
            </a:r>
          </a:p>
          <a:p>
            <a:pPr marL="0" marR="0" lvl="0" indent="0" defTabSz="914400" eaLnBrk="1" fontAlgn="auto" latinLnBrk="0" hangingPunct="1">
              <a:lnSpc>
                <a:spcPts val="1000"/>
              </a:lnSpc>
              <a:buClrTx/>
              <a:buSzTx/>
              <a:buNone/>
              <a:tabLst>
                <a:tab pos="127000" algn="l"/>
                <a:tab pos="304800" algn="l"/>
              </a:tabLst>
              <a:defRPr/>
            </a:pPr>
            <a:endParaRPr lang="zh-CN" altLang="en-US" sz="1200" dirty="0">
              <a:solidFill>
                <a:srgbClr val="000000"/>
              </a:solidFill>
              <a:latin typeface="Times New Roman"/>
            </a:endParaRPr>
          </a:p>
          <a:p>
            <a:pPr marL="0" marR="0" lvl="0" indent="0" defTabSz="914400" eaLnBrk="1" fontAlgn="auto" latinLnBrk="0" hangingPunct="1">
              <a:lnSpc>
                <a:spcPts val="1802"/>
              </a:lnSpc>
              <a:buClrTx/>
              <a:buSzTx/>
              <a:buNone/>
              <a:tabLst>
                <a:tab pos="127000" algn="l"/>
                <a:tab pos="304800" algn="l"/>
              </a:tabLst>
              <a:defRPr/>
            </a:pPr>
            <a:r>
              <a:rPr lang="zh-CN" altLang="en-US" sz="1200" dirty="0">
                <a:solidFill>
                  <a:srgbClr val="000000"/>
                </a:solidFill>
                <a:latin typeface="Times New Roman"/>
              </a:rPr>
              <a:t>		財</a:t>
            </a:r>
          </a:p>
          <a:p>
            <a:pPr marL="0" marR="0" lvl="0" indent="0" defTabSz="914400" eaLnBrk="1" fontAlgn="auto" latinLnBrk="0" hangingPunct="1">
              <a:lnSpc>
                <a:spcPts val="1848"/>
              </a:lnSpc>
              <a:buClrTx/>
              <a:buSzTx/>
              <a:buNone/>
              <a:tabLst>
                <a:tab pos="127000" algn="l"/>
                <a:tab pos="304800" algn="l"/>
              </a:tabLst>
              <a:defRPr/>
            </a:pPr>
            <a:r>
              <a:rPr lang="zh-CN" altLang="en-US" sz="1200" dirty="0">
                <a:solidFill>
                  <a:srgbClr val="000000"/>
                </a:solidFill>
                <a:latin typeface="Times New Roman"/>
              </a:rPr>
              <a:t>	監控</a:t>
            </a:r>
          </a:p>
        </p:txBody>
      </p:sp>
      <p:sp>
        <p:nvSpPr>
          <p:cNvPr id="8" name="TextBox 7"/>
          <p:cNvSpPr txBox="1"/>
          <p:nvPr/>
        </p:nvSpPr>
        <p:spPr>
          <a:xfrm>
            <a:off x="1984626" y="2834538"/>
            <a:ext cx="153888" cy="153888"/>
          </a:xfrm>
          <a:prstGeom prst="rect">
            <a:avLst/>
          </a:prstGeom>
          <a:noFill/>
        </p:spPr>
        <p:txBody>
          <a:bodyPr vert="horz" wrap="none" lIns="0" tIns="0" rIns="0" bIns="0" rtlCol="0">
            <a:spAutoFit/>
          </a:bodyPr>
          <a:lstStyle/>
          <a:p>
            <a:pPr>
              <a:lnSpc>
                <a:spcPts val="1199"/>
              </a:lnSpc>
            </a:pPr>
            <a:r>
              <a:rPr lang="zh-CN" altLang="en-US" sz="1200" dirty="0">
                <a:solidFill>
                  <a:srgbClr val="000000"/>
                </a:solidFill>
                <a:latin typeface="Times New Roman"/>
              </a:rPr>
              <a:t>務</a:t>
            </a:r>
          </a:p>
        </p:txBody>
      </p:sp>
      <p:sp>
        <p:nvSpPr>
          <p:cNvPr id="9" name="TextBox 8"/>
          <p:cNvSpPr txBox="1"/>
          <p:nvPr/>
        </p:nvSpPr>
        <p:spPr>
          <a:xfrm>
            <a:off x="2140074" y="2544978"/>
            <a:ext cx="307777" cy="297325"/>
          </a:xfrm>
          <a:prstGeom prst="rect">
            <a:avLst/>
          </a:prstGeom>
          <a:noFill/>
        </p:spPr>
        <p:txBody>
          <a:bodyPr vert="horz" wrap="none" lIns="0" tIns="0" rIns="0" bIns="0" rtlCol="0">
            <a:spAutoFit/>
          </a:bodyPr>
          <a:lstStyle/>
          <a:p>
            <a:pPr marL="0" marR="0" lvl="0" indent="0" defTabSz="914400" eaLnBrk="1" fontAlgn="auto" latinLnBrk="0" hangingPunct="1">
              <a:lnSpc>
                <a:spcPts val="1199"/>
              </a:lnSpc>
              <a:buClrTx/>
              <a:buSzTx/>
              <a:buNone/>
              <a:tabLst>
                <a:tab pos="152400" algn="l"/>
              </a:tabLst>
              <a:defRPr/>
            </a:pPr>
            <a:r>
              <a:rPr lang="zh-CN" altLang="en-US" dirty="0"/>
              <a:t>	</a:t>
            </a:r>
            <a:r>
              <a:rPr lang="zh-CN" altLang="en-US" sz="1200" dirty="0">
                <a:solidFill>
                  <a:srgbClr val="000000"/>
                </a:solidFill>
                <a:latin typeface="Times New Roman"/>
              </a:rPr>
              <a:t>告</a:t>
            </a:r>
          </a:p>
          <a:p>
            <a:pPr marL="0" marR="0" lvl="0" indent="0" defTabSz="914400" eaLnBrk="1" fontAlgn="auto" latinLnBrk="0" hangingPunct="1">
              <a:lnSpc>
                <a:spcPts val="1080"/>
              </a:lnSpc>
              <a:buClrTx/>
              <a:buSzTx/>
              <a:buNone/>
              <a:tabLst>
                <a:tab pos="152400" algn="l"/>
              </a:tabLst>
              <a:defRPr/>
            </a:pPr>
            <a:r>
              <a:rPr lang="zh-CN" altLang="en-US" sz="1200" dirty="0">
                <a:solidFill>
                  <a:srgbClr val="000000"/>
                </a:solidFill>
                <a:latin typeface="Times New Roman"/>
              </a:rPr>
              <a:t>報</a:t>
            </a:r>
          </a:p>
        </p:txBody>
      </p:sp>
      <p:sp>
        <p:nvSpPr>
          <p:cNvPr id="10" name="TextBox 9"/>
          <p:cNvSpPr txBox="1"/>
          <p:nvPr/>
        </p:nvSpPr>
        <p:spPr>
          <a:xfrm>
            <a:off x="2513448" y="2947314"/>
            <a:ext cx="153888" cy="153888"/>
          </a:xfrm>
          <a:prstGeom prst="rect">
            <a:avLst/>
          </a:prstGeom>
          <a:noFill/>
        </p:spPr>
        <p:txBody>
          <a:bodyPr vert="horz" wrap="none" lIns="0" tIns="0" rIns="0" bIns="0" rtlCol="0">
            <a:spAutoFit/>
          </a:bodyPr>
          <a:lstStyle/>
          <a:p>
            <a:pPr>
              <a:lnSpc>
                <a:spcPts val="1199"/>
              </a:lnSpc>
            </a:pPr>
            <a:r>
              <a:rPr lang="zh-CN" altLang="en-US" sz="1200" dirty="0">
                <a:solidFill>
                  <a:srgbClr val="000000"/>
                </a:solidFill>
                <a:latin typeface="Times New Roman"/>
              </a:rPr>
              <a:t>合</a:t>
            </a:r>
          </a:p>
        </p:txBody>
      </p:sp>
      <p:sp>
        <p:nvSpPr>
          <p:cNvPr id="11" name="TextBox 10"/>
          <p:cNvSpPr txBox="1"/>
          <p:nvPr/>
        </p:nvSpPr>
        <p:spPr>
          <a:xfrm>
            <a:off x="2671945" y="2758338"/>
            <a:ext cx="153888" cy="153888"/>
          </a:xfrm>
          <a:prstGeom prst="rect">
            <a:avLst/>
          </a:prstGeom>
          <a:noFill/>
        </p:spPr>
        <p:txBody>
          <a:bodyPr vert="horz" wrap="none" lIns="0" tIns="0" rIns="0" bIns="0" rtlCol="0">
            <a:spAutoFit/>
          </a:bodyPr>
          <a:lstStyle/>
          <a:p>
            <a:pPr>
              <a:lnSpc>
                <a:spcPts val="1199"/>
              </a:lnSpc>
            </a:pPr>
            <a:r>
              <a:rPr lang="zh-CN" altLang="en-US" sz="1200" dirty="0">
                <a:solidFill>
                  <a:srgbClr val="000000"/>
                </a:solidFill>
                <a:latin typeface="Times New Roman"/>
              </a:rPr>
              <a:t>規</a:t>
            </a:r>
          </a:p>
        </p:txBody>
      </p:sp>
      <p:sp>
        <p:nvSpPr>
          <p:cNvPr id="12" name="TextBox 11"/>
          <p:cNvSpPr txBox="1"/>
          <p:nvPr/>
        </p:nvSpPr>
        <p:spPr>
          <a:xfrm>
            <a:off x="2899018" y="2605938"/>
            <a:ext cx="153888" cy="153888"/>
          </a:xfrm>
          <a:prstGeom prst="rect">
            <a:avLst/>
          </a:prstGeom>
          <a:noFill/>
        </p:spPr>
        <p:txBody>
          <a:bodyPr vert="horz" wrap="none" lIns="0" tIns="0" rIns="0" bIns="0" rtlCol="0">
            <a:spAutoFit/>
          </a:bodyPr>
          <a:lstStyle/>
          <a:p>
            <a:pPr>
              <a:lnSpc>
                <a:spcPts val="1199"/>
              </a:lnSpc>
            </a:pPr>
            <a:r>
              <a:rPr lang="zh-CN" altLang="en-US" sz="1200" dirty="0">
                <a:solidFill>
                  <a:srgbClr val="000000"/>
                </a:solidFill>
                <a:latin typeface="Times New Roman"/>
              </a:rPr>
              <a:t>性</a:t>
            </a:r>
          </a:p>
        </p:txBody>
      </p:sp>
      <p:sp>
        <p:nvSpPr>
          <p:cNvPr id="13" name="TextBox 12"/>
          <p:cNvSpPr txBox="1"/>
          <p:nvPr/>
        </p:nvSpPr>
        <p:spPr>
          <a:xfrm>
            <a:off x="3313557" y="3220110"/>
            <a:ext cx="153888" cy="153888"/>
          </a:xfrm>
          <a:prstGeom prst="rect">
            <a:avLst/>
          </a:prstGeom>
          <a:noFill/>
        </p:spPr>
        <p:txBody>
          <a:bodyPr vert="horz" wrap="none" lIns="0" tIns="0" rIns="0" bIns="0" rtlCol="0">
            <a:spAutoFit/>
          </a:bodyPr>
          <a:lstStyle/>
          <a:p>
            <a:pPr>
              <a:lnSpc>
                <a:spcPts val="1199"/>
              </a:lnSpc>
            </a:pPr>
            <a:r>
              <a:rPr lang="zh-CN" altLang="en-US" sz="1200" dirty="0">
                <a:solidFill>
                  <a:srgbClr val="000000"/>
                </a:solidFill>
                <a:latin typeface="Times New Roman"/>
              </a:rPr>
              <a:t>活</a:t>
            </a:r>
          </a:p>
        </p:txBody>
      </p:sp>
      <p:sp>
        <p:nvSpPr>
          <p:cNvPr id="14" name="TextBox 13"/>
          <p:cNvSpPr txBox="1"/>
          <p:nvPr/>
        </p:nvSpPr>
        <p:spPr>
          <a:xfrm>
            <a:off x="4810131" y="2733004"/>
            <a:ext cx="4360168" cy="551433"/>
          </a:xfrm>
          <a:prstGeom prst="rect">
            <a:avLst/>
          </a:prstGeom>
          <a:noFill/>
        </p:spPr>
        <p:txBody>
          <a:bodyPr vert="horz" wrap="none" lIns="0" tIns="0" rIns="0" bIns="0" rtlCol="0">
            <a:spAutoFit/>
          </a:bodyPr>
          <a:lstStyle/>
          <a:p>
            <a:pPr>
              <a:lnSpc>
                <a:spcPts val="1996"/>
              </a:lnSpc>
            </a:pPr>
            <a:r>
              <a:rPr lang="zh-CN" altLang="en-US" sz="1998" dirty="0">
                <a:solidFill>
                  <a:srgbClr val="FFFFFF"/>
                </a:solidFill>
                <a:latin typeface="Times New Roman"/>
              </a:rPr>
              <a:t>企業定期獲取及交流內外部的資訊，幫</a:t>
            </a:r>
          </a:p>
          <a:p>
            <a:pPr>
              <a:lnSpc>
                <a:spcPts val="2286"/>
              </a:lnSpc>
            </a:pPr>
            <a:r>
              <a:rPr lang="zh-CN" altLang="en-US" sz="1998" dirty="0">
                <a:solidFill>
                  <a:srgbClr val="FFFFFF"/>
                </a:solidFill>
                <a:latin typeface="Times New Roman"/>
              </a:rPr>
              <a:t>助員工履行職責</a:t>
            </a:r>
          </a:p>
        </p:txBody>
      </p:sp>
      <p:sp>
        <p:nvSpPr>
          <p:cNvPr id="15" name="TextBox 14"/>
          <p:cNvSpPr txBox="1"/>
          <p:nvPr/>
        </p:nvSpPr>
        <p:spPr>
          <a:xfrm>
            <a:off x="1503799" y="3526434"/>
            <a:ext cx="769441" cy="1231106"/>
          </a:xfrm>
          <a:prstGeom prst="rect">
            <a:avLst/>
          </a:prstGeom>
          <a:noFill/>
        </p:spPr>
        <p:txBody>
          <a:bodyPr vert="horz" wrap="none" lIns="0" tIns="0" rIns="0" bIns="0" rtlCol="0">
            <a:spAutoFit/>
          </a:bodyPr>
          <a:lstStyle/>
          <a:p>
            <a:pPr marL="0" marR="0" lvl="0" indent="0" defTabSz="914400" eaLnBrk="1" fontAlgn="auto" latinLnBrk="0" hangingPunct="1">
              <a:lnSpc>
                <a:spcPts val="1199"/>
              </a:lnSpc>
              <a:buClrTx/>
              <a:buSzTx/>
              <a:buNone/>
              <a:tabLst>
                <a:tab pos="88900" algn="l"/>
              </a:tabLst>
              <a:defRPr/>
            </a:pPr>
            <a:r>
              <a:rPr lang="zh-CN" altLang="en-US" sz="1200" dirty="0">
                <a:solidFill>
                  <a:srgbClr val="000000"/>
                </a:solidFill>
                <a:latin typeface="Times New Roman"/>
              </a:rPr>
              <a:t>資訊和溝通</a:t>
            </a:r>
          </a:p>
          <a:p>
            <a:pPr marL="0" marR="0" lvl="0" indent="0" defTabSz="914400" eaLnBrk="1" fontAlgn="auto" latinLnBrk="0" hangingPunct="1">
              <a:lnSpc>
                <a:spcPts val="1000"/>
              </a:lnSpc>
              <a:buClrTx/>
              <a:buSzTx/>
              <a:buNone/>
              <a:tabLst>
                <a:tab pos="88900" algn="l"/>
              </a:tabLst>
              <a:defRPr/>
            </a:pPr>
            <a:endParaRPr lang="zh-CN" altLang="en-US" sz="1200" dirty="0">
              <a:solidFill>
                <a:srgbClr val="000000"/>
              </a:solidFill>
              <a:latin typeface="Times New Roman"/>
            </a:endParaRPr>
          </a:p>
          <a:p>
            <a:pPr marL="0" marR="0" lvl="0" indent="0" defTabSz="914400" eaLnBrk="1" fontAlgn="auto" latinLnBrk="0" hangingPunct="1">
              <a:lnSpc>
                <a:spcPts val="1000"/>
              </a:lnSpc>
              <a:buClrTx/>
              <a:buSzTx/>
              <a:buNone/>
              <a:tabLst>
                <a:tab pos="88900" algn="l"/>
              </a:tabLst>
              <a:defRPr/>
            </a:pPr>
            <a:endParaRPr lang="zh-CN" altLang="en-US" sz="1200" dirty="0">
              <a:solidFill>
                <a:srgbClr val="000000"/>
              </a:solidFill>
              <a:latin typeface="Times New Roman"/>
            </a:endParaRPr>
          </a:p>
          <a:p>
            <a:pPr marL="0" marR="0" lvl="0" indent="0" defTabSz="914400" eaLnBrk="1" fontAlgn="auto" latinLnBrk="0" hangingPunct="1">
              <a:lnSpc>
                <a:spcPts val="1318"/>
              </a:lnSpc>
              <a:buClrTx/>
              <a:buSzTx/>
              <a:buNone/>
              <a:tabLst>
                <a:tab pos="88900" algn="l"/>
              </a:tabLst>
              <a:defRPr/>
            </a:pPr>
            <a:r>
              <a:rPr lang="zh-CN" altLang="en-US" sz="1200" dirty="0">
                <a:solidFill>
                  <a:srgbClr val="000000"/>
                </a:solidFill>
                <a:latin typeface="Times New Roman"/>
              </a:rPr>
              <a:t>	控制活動</a:t>
            </a:r>
          </a:p>
          <a:p>
            <a:pPr marL="0" marR="0" lvl="0" indent="0" defTabSz="914400" eaLnBrk="1" fontAlgn="auto" latinLnBrk="0" hangingPunct="1">
              <a:lnSpc>
                <a:spcPts val="1000"/>
              </a:lnSpc>
              <a:buClrTx/>
              <a:buSzTx/>
              <a:buNone/>
              <a:tabLst>
                <a:tab pos="88900" algn="l"/>
              </a:tabLst>
              <a:defRPr/>
            </a:pPr>
            <a:endParaRPr lang="zh-CN" altLang="en-US" sz="1200" dirty="0">
              <a:solidFill>
                <a:srgbClr val="000000"/>
              </a:solidFill>
              <a:latin typeface="Times New Roman"/>
            </a:endParaRPr>
          </a:p>
          <a:p>
            <a:pPr marL="0" marR="0" lvl="0" indent="0" defTabSz="914400" eaLnBrk="1" fontAlgn="auto" latinLnBrk="0" hangingPunct="1">
              <a:lnSpc>
                <a:spcPts val="1400"/>
              </a:lnSpc>
              <a:buClrTx/>
              <a:buSzTx/>
              <a:buNone/>
              <a:tabLst>
                <a:tab pos="88900" algn="l"/>
              </a:tabLst>
              <a:defRPr/>
            </a:pPr>
            <a:r>
              <a:rPr lang="zh-CN" altLang="en-US" sz="1200" dirty="0">
                <a:solidFill>
                  <a:srgbClr val="000000"/>
                </a:solidFill>
                <a:latin typeface="Times New Roman"/>
              </a:rPr>
              <a:t>	風險評估</a:t>
            </a:r>
          </a:p>
          <a:p>
            <a:pPr marL="0" marR="0" lvl="0" indent="0" defTabSz="914400" eaLnBrk="1" fontAlgn="auto" latinLnBrk="0" hangingPunct="1">
              <a:lnSpc>
                <a:spcPts val="1000"/>
              </a:lnSpc>
              <a:buClrTx/>
              <a:buSzTx/>
              <a:buNone/>
              <a:tabLst>
                <a:tab pos="88900" algn="l"/>
              </a:tabLst>
              <a:defRPr/>
            </a:pPr>
            <a:endParaRPr lang="zh-CN" altLang="en-US" sz="1200" dirty="0">
              <a:solidFill>
                <a:srgbClr val="000000"/>
              </a:solidFill>
              <a:latin typeface="Times New Roman"/>
            </a:endParaRPr>
          </a:p>
          <a:p>
            <a:pPr marL="0" marR="0" lvl="0" indent="0" defTabSz="914400" eaLnBrk="1" fontAlgn="auto" latinLnBrk="0" hangingPunct="1">
              <a:lnSpc>
                <a:spcPts val="1712"/>
              </a:lnSpc>
              <a:buClrTx/>
              <a:buSzTx/>
              <a:buNone/>
              <a:tabLst>
                <a:tab pos="88900" algn="l"/>
              </a:tabLst>
              <a:defRPr/>
            </a:pPr>
            <a:r>
              <a:rPr lang="zh-CN" altLang="en-US" sz="1200" dirty="0">
                <a:solidFill>
                  <a:srgbClr val="000000"/>
                </a:solidFill>
                <a:latin typeface="Times New Roman"/>
              </a:rPr>
              <a:t>	控制環境</a:t>
            </a:r>
          </a:p>
        </p:txBody>
      </p:sp>
      <p:sp>
        <p:nvSpPr>
          <p:cNvPr id="16" name="TextBox 15"/>
          <p:cNvSpPr txBox="1"/>
          <p:nvPr/>
        </p:nvSpPr>
        <p:spPr>
          <a:xfrm>
            <a:off x="2796916" y="3396894"/>
            <a:ext cx="689291" cy="743793"/>
          </a:xfrm>
          <a:prstGeom prst="rect">
            <a:avLst/>
          </a:prstGeom>
          <a:noFill/>
        </p:spPr>
        <p:txBody>
          <a:bodyPr vert="horz" wrap="none" lIns="0" tIns="0" rIns="0" bIns="0" rtlCol="0">
            <a:spAutoFit/>
          </a:bodyPr>
          <a:lstStyle/>
          <a:p>
            <a:pPr marL="0" marR="0" lvl="0" indent="0" defTabSz="914400" eaLnBrk="1" fontAlgn="auto" latinLnBrk="0" hangingPunct="1">
              <a:lnSpc>
                <a:spcPts val="1247"/>
              </a:lnSpc>
              <a:buClrTx/>
              <a:buSzTx/>
              <a:buNone/>
              <a:tabLst>
                <a:tab pos="165100" algn="l"/>
                <a:tab pos="342900" algn="l"/>
              </a:tabLst>
              <a:defRPr/>
            </a:pPr>
            <a:r>
              <a:rPr lang="zh-CN" altLang="en-US" dirty="0"/>
              <a:t>		</a:t>
            </a:r>
            <a:r>
              <a:rPr lang="zh-CN" altLang="en-US" sz="1200" dirty="0">
                <a:solidFill>
                  <a:srgbClr val="000000"/>
                </a:solidFill>
                <a:latin typeface="Times New Roman"/>
              </a:rPr>
              <a:t>活 動</a:t>
            </a:r>
          </a:p>
          <a:p>
            <a:pPr marL="0" marR="0" lvl="0" indent="0" defTabSz="914400" eaLnBrk="1" fontAlgn="auto" latinLnBrk="0" hangingPunct="1">
              <a:lnSpc>
                <a:spcPts val="1800"/>
              </a:lnSpc>
              <a:buClrTx/>
              <a:buSzTx/>
              <a:buNone/>
              <a:tabLst>
                <a:tab pos="165100" algn="l"/>
                <a:tab pos="342900" algn="l"/>
              </a:tabLst>
              <a:defRPr/>
            </a:pPr>
            <a:r>
              <a:rPr lang="zh-CN" altLang="en-US" sz="1200" dirty="0">
                <a:solidFill>
                  <a:srgbClr val="000000"/>
                </a:solidFill>
                <a:latin typeface="Times New Roman"/>
              </a:rPr>
              <a:t>	單 動 </a:t>
            </a:r>
            <a:r>
              <a:rPr lang="en-US" altLang="zh-CN" sz="1200" b="1" dirty="0">
                <a:solidFill>
                  <a:srgbClr val="000000"/>
                </a:solidFill>
                <a:latin typeface="Times New Roman"/>
              </a:rPr>
              <a:t>2</a:t>
            </a:r>
          </a:p>
          <a:p>
            <a:pPr marL="0" marR="0" lvl="0" indent="0" defTabSz="914400" eaLnBrk="1" fontAlgn="auto" latinLnBrk="0" hangingPunct="1">
              <a:lnSpc>
                <a:spcPts val="1440"/>
              </a:lnSpc>
              <a:buClrTx/>
              <a:buSzTx/>
              <a:buNone/>
              <a:tabLst>
                <a:tab pos="165100" algn="l"/>
                <a:tab pos="342900" algn="l"/>
              </a:tabLst>
              <a:defRPr/>
            </a:pPr>
            <a:r>
              <a:rPr lang="zh-CN" altLang="en-US" sz="1200" dirty="0">
                <a:solidFill>
                  <a:srgbClr val="000000"/>
                </a:solidFill>
                <a:latin typeface="Times New Roman"/>
              </a:rPr>
              <a:t>單 元 </a:t>
            </a:r>
            <a:r>
              <a:rPr lang="en-US" altLang="zh-CN" sz="1200" b="1" dirty="0">
                <a:solidFill>
                  <a:srgbClr val="000000"/>
                </a:solidFill>
                <a:latin typeface="Times New Roman"/>
              </a:rPr>
              <a:t>1</a:t>
            </a:r>
          </a:p>
          <a:p>
            <a:pPr marL="0" marR="0" lvl="0" indent="0" defTabSz="914400" eaLnBrk="1" fontAlgn="auto" latinLnBrk="0" hangingPunct="1">
              <a:lnSpc>
                <a:spcPts val="1448"/>
              </a:lnSpc>
              <a:buClrTx/>
              <a:buSzTx/>
              <a:buNone/>
              <a:tabLst>
                <a:tab pos="165100" algn="l"/>
                <a:tab pos="342900" algn="l"/>
              </a:tabLst>
              <a:defRPr/>
            </a:pPr>
            <a:r>
              <a:rPr lang="zh-CN" altLang="en-US" sz="1200" dirty="0">
                <a:solidFill>
                  <a:srgbClr val="000000"/>
                </a:solidFill>
                <a:latin typeface="Times New Roman"/>
              </a:rPr>
              <a:t>元 </a:t>
            </a:r>
            <a:r>
              <a:rPr lang="en-US" altLang="zh-CN" sz="1200" b="1" dirty="0">
                <a:solidFill>
                  <a:srgbClr val="000000"/>
                </a:solidFill>
                <a:latin typeface="Times New Roman"/>
              </a:rPr>
              <a:t>B</a:t>
            </a:r>
            <a:endParaRPr lang="zh-CN" altLang="en-US" sz="1200" b="1" dirty="0">
              <a:solidFill>
                <a:srgbClr val="000000"/>
              </a:solidFill>
              <a:latin typeface="Times New Roman"/>
            </a:endParaRPr>
          </a:p>
        </p:txBody>
      </p:sp>
      <p:sp>
        <p:nvSpPr>
          <p:cNvPr id="17" name="TextBox 16"/>
          <p:cNvSpPr txBox="1"/>
          <p:nvPr/>
        </p:nvSpPr>
        <p:spPr>
          <a:xfrm>
            <a:off x="4115183" y="4327087"/>
            <a:ext cx="2513509" cy="1269578"/>
          </a:xfrm>
          <a:prstGeom prst="rect">
            <a:avLst/>
          </a:prstGeom>
          <a:noFill/>
        </p:spPr>
        <p:txBody>
          <a:bodyPr vert="horz" wrap="none" lIns="0" tIns="0" rIns="0" bIns="0" rtlCol="0">
            <a:spAutoFit/>
          </a:bodyPr>
          <a:lstStyle/>
          <a:p>
            <a:pPr>
              <a:lnSpc>
                <a:spcPts val="2130"/>
              </a:lnSpc>
            </a:pPr>
            <a:r>
              <a:rPr lang="en-US" altLang="zh-CN" sz="1998" dirty="0">
                <a:solidFill>
                  <a:srgbClr val="761437"/>
                </a:solidFill>
                <a:latin typeface="Times New Roman"/>
              </a:rPr>
              <a:t>•  </a:t>
            </a:r>
            <a:r>
              <a:rPr lang="zh-CN" altLang="en-US" sz="1998" dirty="0">
                <a:solidFill>
                  <a:srgbClr val="000000"/>
                </a:solidFill>
                <a:latin typeface="Times New Roman"/>
              </a:rPr>
              <a:t>資訊的識別和獲取</a:t>
            </a:r>
          </a:p>
          <a:p>
            <a:pPr>
              <a:lnSpc>
                <a:spcPts val="1000"/>
              </a:lnSpc>
            </a:pPr>
            <a:endParaRPr lang="zh-CN" altLang="en-US" sz="1998" dirty="0">
              <a:solidFill>
                <a:srgbClr val="000000"/>
              </a:solidFill>
              <a:latin typeface="Times New Roman"/>
            </a:endParaRPr>
          </a:p>
          <a:p>
            <a:pPr>
              <a:lnSpc>
                <a:spcPts val="2864"/>
              </a:lnSpc>
            </a:pPr>
            <a:r>
              <a:rPr lang="en-US" altLang="zh-CN" sz="1998" dirty="0">
                <a:solidFill>
                  <a:srgbClr val="761437"/>
                </a:solidFill>
                <a:latin typeface="Times New Roman"/>
              </a:rPr>
              <a:t>•  </a:t>
            </a:r>
            <a:r>
              <a:rPr lang="zh-CN" altLang="en-US" sz="1998" dirty="0">
                <a:solidFill>
                  <a:srgbClr val="000000"/>
                </a:solidFill>
                <a:latin typeface="Times New Roman"/>
              </a:rPr>
              <a:t>資訊加工和報告</a:t>
            </a:r>
          </a:p>
          <a:p>
            <a:pPr>
              <a:lnSpc>
                <a:spcPts val="1000"/>
              </a:lnSpc>
            </a:pPr>
            <a:endParaRPr lang="zh-CN" altLang="en-US" sz="1998" dirty="0">
              <a:solidFill>
                <a:srgbClr val="000000"/>
              </a:solidFill>
              <a:latin typeface="Times New Roman"/>
            </a:endParaRPr>
          </a:p>
          <a:p>
            <a:pPr>
              <a:lnSpc>
                <a:spcPts val="2864"/>
              </a:lnSpc>
            </a:pPr>
            <a:r>
              <a:rPr lang="en-US" altLang="zh-CN" sz="1998" dirty="0">
                <a:solidFill>
                  <a:srgbClr val="761437"/>
                </a:solidFill>
                <a:latin typeface="Times New Roman"/>
              </a:rPr>
              <a:t>•  </a:t>
            </a:r>
            <a:r>
              <a:rPr lang="zh-CN" altLang="en-US" sz="1998" dirty="0">
                <a:solidFill>
                  <a:srgbClr val="000000"/>
                </a:solidFill>
                <a:latin typeface="Times New Roman"/>
              </a:rPr>
              <a:t>內部溝通和外部溝通</a:t>
            </a:r>
          </a:p>
        </p:txBody>
      </p:sp>
      <p:sp>
        <p:nvSpPr>
          <p:cNvPr id="18" name="TextBox 17"/>
          <p:cNvSpPr txBox="1"/>
          <p:nvPr/>
        </p:nvSpPr>
        <p:spPr>
          <a:xfrm>
            <a:off x="8067681" y="6285482"/>
            <a:ext cx="1477969" cy="461665"/>
          </a:xfrm>
          <a:prstGeom prst="rect">
            <a:avLst/>
          </a:prstGeom>
          <a:noFill/>
        </p:spPr>
        <p:txBody>
          <a:bodyPr vert="horz" wrap="none" lIns="0" tIns="0" rIns="0" bIns="0" rtlCol="0">
            <a:spAutoFit/>
          </a:bodyPr>
          <a:lstStyle/>
          <a:p>
            <a:pPr>
              <a:lnSpc>
                <a:spcPts val="1800"/>
              </a:lnSpc>
            </a:pPr>
            <a:r>
              <a:rPr lang="en-US" altLang="zh-CN" dirty="0" err="1">
                <a:solidFill>
                  <a:srgbClr val="000000"/>
                </a:solidFill>
                <a:latin typeface="Times New Roman"/>
              </a:rPr>
              <a:t>Pwc</a:t>
            </a:r>
            <a:endParaRPr lang="en-US" altLang="zh-CN" dirty="0">
              <a:solidFill>
                <a:srgbClr val="000000"/>
              </a:solidFill>
              <a:latin typeface="Times New Roman"/>
            </a:endParaRPr>
          </a:p>
          <a:p>
            <a:pPr>
              <a:lnSpc>
                <a:spcPts val="1779"/>
              </a:lnSpc>
            </a:pPr>
            <a:r>
              <a:rPr lang="zh-CN" altLang="en-US" sz="1478" dirty="0">
                <a:solidFill>
                  <a:srgbClr val="000000"/>
                </a:solidFill>
                <a:latin typeface="Times New Roman"/>
              </a:rPr>
              <a:t>普     華     永     道</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myslide16">
    <p:spTree>
      <p:nvGrpSpPr>
        <p:cNvPr id="1" name=""/>
        <p:cNvGrpSpPr/>
        <p:nvPr/>
      </p:nvGrpSpPr>
      <p:grpSpPr>
        <a:xfrm>
          <a:off x="0" y="0"/>
          <a:ext cx="0" cy="0"/>
          <a:chOff x="0" y="0"/>
          <a:chExt cx="0" cy="0"/>
        </a:xfrm>
      </p:grpSpPr>
      <p:pic>
        <p:nvPicPr>
          <p:cNvPr id="2" name="图片 1" descr="ws_1A1.tmp"/>
          <p:cNvPicPr>
            <a:picLocks/>
          </p:cNvPicPr>
          <p:nvPr/>
        </p:nvPicPr>
        <p:blipFill>
          <a:blip r:embed="rId2"/>
          <a:stretch>
            <a:fillRect/>
          </a:stretch>
        </p:blipFill>
        <p:spPr>
          <a:xfrm>
            <a:off x="0" y="0"/>
            <a:ext cx="9880600" cy="6819900"/>
          </a:xfrm>
          <a:prstGeom prst="rect">
            <a:avLst/>
          </a:prstGeom>
        </p:spPr>
      </p:pic>
      <p:sp>
        <p:nvSpPr>
          <p:cNvPr id="3" name="TextBox 2"/>
          <p:cNvSpPr txBox="1"/>
          <p:nvPr/>
        </p:nvSpPr>
        <p:spPr>
          <a:xfrm>
            <a:off x="509403" y="6341571"/>
            <a:ext cx="144270" cy="133370"/>
          </a:xfrm>
          <a:prstGeom prst="rect">
            <a:avLst/>
          </a:prstGeom>
          <a:noFill/>
        </p:spPr>
        <p:txBody>
          <a:bodyPr vert="horz" wrap="none" lIns="0" tIns="0" rIns="0" bIns="0" rtlCol="0">
            <a:spAutoFit/>
          </a:bodyPr>
          <a:lstStyle/>
          <a:p>
            <a:pPr>
              <a:lnSpc>
                <a:spcPts val="1016"/>
              </a:lnSpc>
            </a:pPr>
            <a:r>
              <a:rPr lang="en-US" altLang="zh-CN" sz="1098" dirty="0">
                <a:solidFill>
                  <a:srgbClr val="761437"/>
                </a:solidFill>
                <a:latin typeface="Times New Roman"/>
              </a:rPr>
              <a:t>16</a:t>
            </a:r>
            <a:endParaRPr lang="zh-CN" altLang="en-US" sz="1098" dirty="0">
              <a:solidFill>
                <a:srgbClr val="761437"/>
              </a:solidFill>
              <a:latin typeface="Times New Roman"/>
            </a:endParaRPr>
          </a:p>
        </p:txBody>
      </p:sp>
      <p:sp>
        <p:nvSpPr>
          <p:cNvPr id="4" name="TextBox 3"/>
          <p:cNvSpPr txBox="1"/>
          <p:nvPr/>
        </p:nvSpPr>
        <p:spPr>
          <a:xfrm>
            <a:off x="903358" y="507695"/>
            <a:ext cx="2308324" cy="461665"/>
          </a:xfrm>
          <a:prstGeom prst="rect">
            <a:avLst/>
          </a:prstGeom>
          <a:noFill/>
        </p:spPr>
        <p:txBody>
          <a:bodyPr vert="horz" wrap="none" lIns="0" tIns="0" rIns="0" bIns="0" rtlCol="0">
            <a:spAutoFit/>
          </a:bodyPr>
          <a:lstStyle/>
          <a:p>
            <a:pPr>
              <a:lnSpc>
                <a:spcPts val="3596"/>
              </a:lnSpc>
            </a:pPr>
            <a:r>
              <a:rPr lang="zh-CN" altLang="en-US" sz="3600" dirty="0">
                <a:solidFill>
                  <a:srgbClr val="FFFFFF"/>
                </a:solidFill>
                <a:latin typeface="Times New Roman"/>
              </a:rPr>
              <a:t>資訊和溝通</a:t>
            </a:r>
          </a:p>
        </p:txBody>
      </p:sp>
      <p:sp>
        <p:nvSpPr>
          <p:cNvPr id="5" name="TextBox 4"/>
          <p:cNvSpPr txBox="1"/>
          <p:nvPr/>
        </p:nvSpPr>
        <p:spPr>
          <a:xfrm>
            <a:off x="758577" y="1357172"/>
            <a:ext cx="8309967" cy="654025"/>
          </a:xfrm>
          <a:prstGeom prst="rect">
            <a:avLst/>
          </a:prstGeom>
          <a:noFill/>
        </p:spPr>
        <p:txBody>
          <a:bodyPr vert="horz" wrap="none" lIns="0" tIns="0" rIns="0" bIns="0" rtlCol="0">
            <a:spAutoFit/>
          </a:bodyPr>
          <a:lstStyle/>
          <a:p>
            <a:pPr>
              <a:lnSpc>
                <a:spcPts val="2398"/>
              </a:lnSpc>
            </a:pPr>
            <a:r>
              <a:rPr lang="zh-CN" altLang="en-US" sz="2400" dirty="0">
                <a:solidFill>
                  <a:srgbClr val="000000"/>
                </a:solidFill>
                <a:latin typeface="Times New Roman"/>
              </a:rPr>
              <a:t>相關資訊必須採用恰當的形式並在恰當的時間內溝通，以便相</a:t>
            </a:r>
          </a:p>
          <a:p>
            <a:pPr>
              <a:lnSpc>
                <a:spcPts val="2724"/>
              </a:lnSpc>
            </a:pPr>
            <a:r>
              <a:rPr lang="zh-CN" altLang="en-US" sz="2400" dirty="0">
                <a:solidFill>
                  <a:srgbClr val="000000"/>
                </a:solidFill>
                <a:latin typeface="Times New Roman"/>
              </a:rPr>
              <a:t>關人員能有效履行職責，採取適當行動。</a:t>
            </a:r>
          </a:p>
        </p:txBody>
      </p:sp>
      <p:sp>
        <p:nvSpPr>
          <p:cNvPr id="6" name="TextBox 5"/>
          <p:cNvSpPr txBox="1"/>
          <p:nvPr/>
        </p:nvSpPr>
        <p:spPr>
          <a:xfrm>
            <a:off x="786009" y="2377912"/>
            <a:ext cx="769441" cy="256480"/>
          </a:xfrm>
          <a:prstGeom prst="rect">
            <a:avLst/>
          </a:prstGeom>
          <a:noFill/>
        </p:spPr>
        <p:txBody>
          <a:bodyPr vert="horz" wrap="none" lIns="0" tIns="0" rIns="0" bIns="0" rtlCol="0">
            <a:spAutoFit/>
          </a:bodyPr>
          <a:lstStyle/>
          <a:p>
            <a:pPr>
              <a:lnSpc>
                <a:spcPts val="1996"/>
              </a:lnSpc>
            </a:pPr>
            <a:r>
              <a:rPr lang="zh-CN" altLang="en-US" sz="1998" dirty="0">
                <a:solidFill>
                  <a:srgbClr val="000000"/>
                </a:solidFill>
                <a:latin typeface="Times New Roman"/>
              </a:rPr>
              <a:t>例如：</a:t>
            </a:r>
          </a:p>
        </p:txBody>
      </p:sp>
      <p:sp>
        <p:nvSpPr>
          <p:cNvPr id="7" name="TextBox 6"/>
          <p:cNvSpPr txBox="1"/>
          <p:nvPr/>
        </p:nvSpPr>
        <p:spPr>
          <a:xfrm>
            <a:off x="786009" y="2774161"/>
            <a:ext cx="8104783" cy="269304"/>
          </a:xfrm>
          <a:prstGeom prst="rect">
            <a:avLst/>
          </a:prstGeom>
          <a:noFill/>
        </p:spPr>
        <p:txBody>
          <a:bodyPr vert="horz" wrap="none" lIns="0" tIns="0" rIns="0" bIns="0" rtlCol="0">
            <a:spAutoFit/>
          </a:bodyPr>
          <a:lstStyle/>
          <a:p>
            <a:pPr>
              <a:lnSpc>
                <a:spcPts val="2130"/>
              </a:lnSpc>
            </a:pPr>
            <a:r>
              <a:rPr lang="en-US" altLang="zh-CN" sz="1998" dirty="0">
                <a:solidFill>
                  <a:srgbClr val="761437"/>
                </a:solidFill>
                <a:latin typeface="Times New Roman"/>
              </a:rPr>
              <a:t>• </a:t>
            </a:r>
            <a:r>
              <a:rPr lang="zh-CN" altLang="en-US" sz="1998" dirty="0">
                <a:solidFill>
                  <a:srgbClr val="000000"/>
                </a:solidFill>
                <a:latin typeface="Times New Roman"/>
              </a:rPr>
              <a:t>建立一個有效機制，使相關資訊在管理層及時共用，使相關各層面擁有</a:t>
            </a:r>
          </a:p>
        </p:txBody>
      </p:sp>
      <p:sp>
        <p:nvSpPr>
          <p:cNvPr id="8" name="TextBox 7"/>
          <p:cNvSpPr txBox="1"/>
          <p:nvPr/>
        </p:nvSpPr>
        <p:spPr>
          <a:xfrm>
            <a:off x="963547" y="3078961"/>
            <a:ext cx="1025922" cy="256480"/>
          </a:xfrm>
          <a:prstGeom prst="rect">
            <a:avLst/>
          </a:prstGeom>
          <a:noFill/>
        </p:spPr>
        <p:txBody>
          <a:bodyPr vert="horz" wrap="none" lIns="0" tIns="0" rIns="0" bIns="0" rtlCol="0">
            <a:spAutoFit/>
          </a:bodyPr>
          <a:lstStyle/>
          <a:p>
            <a:pPr>
              <a:lnSpc>
                <a:spcPts val="1996"/>
              </a:lnSpc>
            </a:pPr>
            <a:r>
              <a:rPr lang="zh-CN" altLang="en-US" sz="1998" dirty="0">
                <a:solidFill>
                  <a:srgbClr val="000000"/>
                </a:solidFill>
                <a:latin typeface="Times New Roman"/>
              </a:rPr>
              <a:t>所需信息</a:t>
            </a:r>
          </a:p>
        </p:txBody>
      </p:sp>
      <p:sp>
        <p:nvSpPr>
          <p:cNvPr id="9" name="TextBox 8"/>
          <p:cNvSpPr txBox="1"/>
          <p:nvPr/>
        </p:nvSpPr>
        <p:spPr>
          <a:xfrm>
            <a:off x="786009" y="3475972"/>
            <a:ext cx="7591822" cy="1064394"/>
          </a:xfrm>
          <a:prstGeom prst="rect">
            <a:avLst/>
          </a:prstGeom>
          <a:noFill/>
        </p:spPr>
        <p:txBody>
          <a:bodyPr vert="horz" wrap="none" lIns="0" tIns="0" rIns="0" bIns="0" rtlCol="0">
            <a:spAutoFit/>
          </a:bodyPr>
          <a:lstStyle/>
          <a:p>
            <a:pPr>
              <a:lnSpc>
                <a:spcPts val="2130"/>
              </a:lnSpc>
            </a:pPr>
            <a:r>
              <a:rPr lang="en-US" altLang="zh-CN" sz="1998" dirty="0">
                <a:solidFill>
                  <a:srgbClr val="761437"/>
                </a:solidFill>
                <a:latin typeface="Times New Roman"/>
              </a:rPr>
              <a:t>• </a:t>
            </a:r>
            <a:r>
              <a:rPr lang="zh-CN" altLang="en-US" sz="1998" dirty="0">
                <a:solidFill>
                  <a:srgbClr val="000000"/>
                </a:solidFill>
                <a:latin typeface="Times New Roman"/>
              </a:rPr>
              <a:t>管理層清晰定義每個員工的職責及公司政策和程式並進行充分溝通</a:t>
            </a:r>
          </a:p>
          <a:p>
            <a:pPr>
              <a:lnSpc>
                <a:spcPts val="3126"/>
              </a:lnSpc>
            </a:pPr>
            <a:r>
              <a:rPr lang="en-US" altLang="zh-CN" sz="1998" dirty="0">
                <a:solidFill>
                  <a:srgbClr val="761437"/>
                </a:solidFill>
                <a:latin typeface="Times New Roman"/>
              </a:rPr>
              <a:t>• </a:t>
            </a:r>
            <a:r>
              <a:rPr lang="zh-CN" altLang="en-US" sz="1998" dirty="0">
                <a:solidFill>
                  <a:srgbClr val="000000"/>
                </a:solidFill>
                <a:latin typeface="Times New Roman"/>
              </a:rPr>
              <a:t>建立適當的管理層內部溝通以及公司與外部機構定期溝通的程式</a:t>
            </a:r>
          </a:p>
          <a:p>
            <a:pPr>
              <a:lnSpc>
                <a:spcPts val="3126"/>
              </a:lnSpc>
            </a:pPr>
            <a:r>
              <a:rPr lang="en-US" altLang="zh-CN" sz="1998" dirty="0">
                <a:solidFill>
                  <a:srgbClr val="761437"/>
                </a:solidFill>
                <a:latin typeface="Times New Roman"/>
              </a:rPr>
              <a:t>• </a:t>
            </a:r>
            <a:r>
              <a:rPr lang="zh-CN" altLang="en-US" sz="1998" dirty="0">
                <a:solidFill>
                  <a:srgbClr val="000000"/>
                </a:solidFill>
                <a:latin typeface="Times New Roman"/>
              </a:rPr>
              <a:t>建立目標以便衡量進度、發現問題並及時採取改進措施</a:t>
            </a:r>
          </a:p>
        </p:txBody>
      </p:sp>
      <p:sp>
        <p:nvSpPr>
          <p:cNvPr id="10" name="TextBox 9"/>
          <p:cNvSpPr txBox="1"/>
          <p:nvPr/>
        </p:nvSpPr>
        <p:spPr>
          <a:xfrm>
            <a:off x="786009" y="4652516"/>
            <a:ext cx="8111388" cy="269304"/>
          </a:xfrm>
          <a:prstGeom prst="rect">
            <a:avLst/>
          </a:prstGeom>
          <a:noFill/>
        </p:spPr>
        <p:txBody>
          <a:bodyPr vert="horz" wrap="none" lIns="0" tIns="0" rIns="0" bIns="0" rtlCol="0">
            <a:spAutoFit/>
          </a:bodyPr>
          <a:lstStyle/>
          <a:p>
            <a:pPr>
              <a:lnSpc>
                <a:spcPts val="2130"/>
              </a:lnSpc>
            </a:pPr>
            <a:r>
              <a:rPr lang="en-US" altLang="zh-CN" sz="1998" dirty="0">
                <a:solidFill>
                  <a:srgbClr val="761437"/>
                </a:solidFill>
                <a:latin typeface="Times New Roman"/>
              </a:rPr>
              <a:t>• </a:t>
            </a:r>
            <a:r>
              <a:rPr lang="en-US" altLang="zh-CN" sz="1998" b="1" dirty="0">
                <a:solidFill>
                  <a:srgbClr val="000000"/>
                </a:solidFill>
                <a:latin typeface="Times New Roman"/>
              </a:rPr>
              <a:t>IT </a:t>
            </a:r>
            <a:r>
              <a:rPr lang="zh-CN" altLang="en-US" sz="1998" dirty="0">
                <a:solidFill>
                  <a:srgbClr val="000000"/>
                </a:solidFill>
                <a:latin typeface="Times New Roman"/>
              </a:rPr>
              <a:t>部門擁有大多數的財務資訊（儲存於</a:t>
            </a:r>
            <a:r>
              <a:rPr lang="en-US" altLang="zh-CN" sz="1998" dirty="0">
                <a:solidFill>
                  <a:srgbClr val="000000"/>
                </a:solidFill>
                <a:latin typeface="Times New Roman"/>
              </a:rPr>
              <a:t>IT</a:t>
            </a:r>
            <a:r>
              <a:rPr lang="zh-CN" altLang="en-US" sz="1998" dirty="0">
                <a:solidFill>
                  <a:srgbClr val="000000"/>
                </a:solidFill>
                <a:latin typeface="Times New Roman"/>
              </a:rPr>
              <a:t>系統中）。管理層應關注這些</a:t>
            </a:r>
          </a:p>
        </p:txBody>
      </p:sp>
      <p:sp>
        <p:nvSpPr>
          <p:cNvPr id="11" name="TextBox 10"/>
          <p:cNvSpPr txBox="1"/>
          <p:nvPr/>
        </p:nvSpPr>
        <p:spPr>
          <a:xfrm>
            <a:off x="963547" y="4993094"/>
            <a:ext cx="4118115" cy="230832"/>
          </a:xfrm>
          <a:prstGeom prst="rect">
            <a:avLst/>
          </a:prstGeom>
          <a:noFill/>
        </p:spPr>
        <p:txBody>
          <a:bodyPr vert="horz" wrap="none" lIns="0" tIns="0" rIns="0" bIns="0" rtlCol="0">
            <a:spAutoFit/>
          </a:bodyPr>
          <a:lstStyle/>
          <a:p>
            <a:pPr>
              <a:lnSpc>
                <a:spcPts val="1848"/>
              </a:lnSpc>
            </a:pPr>
            <a:r>
              <a:rPr lang="en-US" altLang="zh-CN" sz="1998" b="1" dirty="0">
                <a:solidFill>
                  <a:srgbClr val="000000"/>
                </a:solidFill>
                <a:latin typeface="Times New Roman"/>
              </a:rPr>
              <a:t>IT</a:t>
            </a:r>
            <a:r>
              <a:rPr lang="zh-CN" altLang="en-US" sz="1998" b="1" dirty="0">
                <a:solidFill>
                  <a:srgbClr val="000000"/>
                </a:solidFill>
                <a:latin typeface="Times New Roman"/>
              </a:rPr>
              <a:t>系統及資訊的安全、可靠、完好性</a:t>
            </a:r>
          </a:p>
        </p:txBody>
      </p:sp>
      <p:sp>
        <p:nvSpPr>
          <p:cNvPr id="12" name="TextBox 11"/>
          <p:cNvSpPr txBox="1"/>
          <p:nvPr/>
        </p:nvSpPr>
        <p:spPr>
          <a:xfrm>
            <a:off x="785983" y="5354327"/>
            <a:ext cx="8037457" cy="269304"/>
          </a:xfrm>
          <a:prstGeom prst="rect">
            <a:avLst/>
          </a:prstGeom>
          <a:noFill/>
        </p:spPr>
        <p:txBody>
          <a:bodyPr vert="horz" wrap="none" lIns="0" tIns="0" rIns="0" bIns="0" rtlCol="0">
            <a:spAutoFit/>
          </a:bodyPr>
          <a:lstStyle/>
          <a:p>
            <a:pPr>
              <a:lnSpc>
                <a:spcPts val="2130"/>
              </a:lnSpc>
            </a:pPr>
            <a:r>
              <a:rPr lang="en-US" altLang="zh-CN" sz="1998" dirty="0">
                <a:solidFill>
                  <a:srgbClr val="761437"/>
                </a:solidFill>
                <a:latin typeface="Times New Roman"/>
              </a:rPr>
              <a:t>• </a:t>
            </a:r>
            <a:r>
              <a:rPr lang="zh-CN" altLang="en-US" sz="1998" dirty="0">
                <a:solidFill>
                  <a:srgbClr val="000000"/>
                </a:solidFill>
                <a:latin typeface="Times New Roman"/>
              </a:rPr>
              <a:t>管理層建立有效地</a:t>
            </a:r>
            <a:r>
              <a:rPr lang="en-US" altLang="zh-CN" sz="1998" dirty="0">
                <a:solidFill>
                  <a:srgbClr val="000000"/>
                </a:solidFill>
                <a:latin typeface="Times New Roman"/>
              </a:rPr>
              <a:t>IT</a:t>
            </a:r>
            <a:r>
              <a:rPr lang="zh-CN" altLang="en-US" sz="1998" dirty="0">
                <a:solidFill>
                  <a:srgbClr val="000000"/>
                </a:solidFill>
                <a:latin typeface="Times New Roman"/>
              </a:rPr>
              <a:t>系統來協助資訊的有效溝通（包括業務支援系統、</a:t>
            </a:r>
          </a:p>
        </p:txBody>
      </p:sp>
      <p:sp>
        <p:nvSpPr>
          <p:cNvPr id="13" name="TextBox 12"/>
          <p:cNvSpPr txBox="1"/>
          <p:nvPr/>
        </p:nvSpPr>
        <p:spPr>
          <a:xfrm>
            <a:off x="963496" y="5659127"/>
            <a:ext cx="6553076" cy="256480"/>
          </a:xfrm>
          <a:prstGeom prst="rect">
            <a:avLst/>
          </a:prstGeom>
          <a:noFill/>
        </p:spPr>
        <p:txBody>
          <a:bodyPr vert="horz" wrap="none" lIns="0" tIns="0" rIns="0" bIns="0" rtlCol="0">
            <a:spAutoFit/>
          </a:bodyPr>
          <a:lstStyle/>
          <a:p>
            <a:pPr>
              <a:lnSpc>
                <a:spcPts val="1996"/>
              </a:lnSpc>
            </a:pPr>
            <a:r>
              <a:rPr lang="zh-CN" altLang="en-US" sz="1998" dirty="0">
                <a:solidFill>
                  <a:srgbClr val="000000"/>
                </a:solidFill>
                <a:latin typeface="Times New Roman"/>
              </a:rPr>
              <a:t>決策支援系統、財務報告系統、監控系統、</a:t>
            </a:r>
            <a:r>
              <a:rPr lang="en-US" altLang="zh-CN" sz="1998" dirty="0">
                <a:solidFill>
                  <a:srgbClr val="000000"/>
                </a:solidFill>
                <a:latin typeface="Times New Roman"/>
              </a:rPr>
              <a:t>e-mail</a:t>
            </a:r>
            <a:r>
              <a:rPr lang="zh-CN" altLang="en-US" sz="1998" dirty="0">
                <a:solidFill>
                  <a:srgbClr val="000000"/>
                </a:solidFill>
                <a:latin typeface="Times New Roman"/>
              </a:rPr>
              <a:t>系統等）</a:t>
            </a:r>
          </a:p>
        </p:txBody>
      </p:sp>
      <p:sp>
        <p:nvSpPr>
          <p:cNvPr id="14" name="TextBox 13"/>
          <p:cNvSpPr txBox="1"/>
          <p:nvPr/>
        </p:nvSpPr>
        <p:spPr>
          <a:xfrm>
            <a:off x="8067681" y="6285482"/>
            <a:ext cx="1477969" cy="461665"/>
          </a:xfrm>
          <a:prstGeom prst="rect">
            <a:avLst/>
          </a:prstGeom>
          <a:noFill/>
        </p:spPr>
        <p:txBody>
          <a:bodyPr vert="horz" wrap="none" lIns="0" tIns="0" rIns="0" bIns="0" rtlCol="0">
            <a:spAutoFit/>
          </a:bodyPr>
          <a:lstStyle/>
          <a:p>
            <a:pPr>
              <a:lnSpc>
                <a:spcPts val="1800"/>
              </a:lnSpc>
            </a:pPr>
            <a:r>
              <a:rPr lang="en-US" altLang="zh-CN" dirty="0" err="1">
                <a:solidFill>
                  <a:srgbClr val="000000"/>
                </a:solidFill>
                <a:latin typeface="Times New Roman"/>
              </a:rPr>
              <a:t>Pwc</a:t>
            </a:r>
            <a:endParaRPr lang="en-US" altLang="zh-CN" dirty="0">
              <a:solidFill>
                <a:srgbClr val="000000"/>
              </a:solidFill>
              <a:latin typeface="Times New Roman"/>
            </a:endParaRPr>
          </a:p>
          <a:p>
            <a:pPr>
              <a:lnSpc>
                <a:spcPts val="1779"/>
              </a:lnSpc>
            </a:pPr>
            <a:r>
              <a:rPr lang="zh-CN" altLang="en-US" sz="1478" dirty="0">
                <a:solidFill>
                  <a:srgbClr val="000000"/>
                </a:solidFill>
                <a:latin typeface="Times New Roman"/>
              </a:rPr>
              <a:t>普     華     永     道</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myslide17">
    <p:spTree>
      <p:nvGrpSpPr>
        <p:cNvPr id="1" name=""/>
        <p:cNvGrpSpPr/>
        <p:nvPr/>
      </p:nvGrpSpPr>
      <p:grpSpPr>
        <a:xfrm>
          <a:off x="0" y="0"/>
          <a:ext cx="0" cy="0"/>
          <a:chOff x="0" y="0"/>
          <a:chExt cx="0" cy="0"/>
        </a:xfrm>
      </p:grpSpPr>
      <p:pic>
        <p:nvPicPr>
          <p:cNvPr id="2" name="图片 1" descr="ws_1A3.tmp"/>
          <p:cNvPicPr>
            <a:picLocks/>
          </p:cNvPicPr>
          <p:nvPr/>
        </p:nvPicPr>
        <p:blipFill>
          <a:blip r:embed="rId2"/>
          <a:stretch>
            <a:fillRect/>
          </a:stretch>
        </p:blipFill>
        <p:spPr>
          <a:xfrm>
            <a:off x="0" y="0"/>
            <a:ext cx="9880600" cy="6819900"/>
          </a:xfrm>
          <a:prstGeom prst="rect">
            <a:avLst/>
          </a:prstGeom>
        </p:spPr>
      </p:pic>
      <p:sp>
        <p:nvSpPr>
          <p:cNvPr id="3" name="TextBox 2"/>
          <p:cNvSpPr txBox="1"/>
          <p:nvPr/>
        </p:nvSpPr>
        <p:spPr>
          <a:xfrm>
            <a:off x="1487806" y="2507640"/>
            <a:ext cx="153888" cy="153888"/>
          </a:xfrm>
          <a:prstGeom prst="rect">
            <a:avLst/>
          </a:prstGeom>
          <a:noFill/>
        </p:spPr>
        <p:txBody>
          <a:bodyPr vert="horz" wrap="none" lIns="0" tIns="0" rIns="0" bIns="0" rtlCol="0">
            <a:spAutoFit/>
          </a:bodyPr>
          <a:lstStyle/>
          <a:p>
            <a:pPr>
              <a:lnSpc>
                <a:spcPts val="1199"/>
              </a:lnSpc>
            </a:pPr>
            <a:r>
              <a:rPr lang="zh-CN" altLang="en-US" sz="1200" dirty="0">
                <a:solidFill>
                  <a:srgbClr val="000000"/>
                </a:solidFill>
                <a:latin typeface="Times New Roman"/>
              </a:rPr>
              <a:t>經</a:t>
            </a:r>
          </a:p>
        </p:txBody>
      </p:sp>
      <p:sp>
        <p:nvSpPr>
          <p:cNvPr id="4" name="TextBox 3"/>
          <p:cNvSpPr txBox="1"/>
          <p:nvPr/>
        </p:nvSpPr>
        <p:spPr>
          <a:xfrm>
            <a:off x="509403" y="6341571"/>
            <a:ext cx="144270" cy="133370"/>
          </a:xfrm>
          <a:prstGeom prst="rect">
            <a:avLst/>
          </a:prstGeom>
          <a:noFill/>
        </p:spPr>
        <p:txBody>
          <a:bodyPr vert="horz" wrap="none" lIns="0" tIns="0" rIns="0" bIns="0" rtlCol="0">
            <a:spAutoFit/>
          </a:bodyPr>
          <a:lstStyle/>
          <a:p>
            <a:pPr>
              <a:lnSpc>
                <a:spcPts val="1016"/>
              </a:lnSpc>
            </a:pPr>
            <a:r>
              <a:rPr lang="en-US" altLang="zh-CN" sz="1098" dirty="0">
                <a:solidFill>
                  <a:srgbClr val="761437"/>
                </a:solidFill>
                <a:latin typeface="Times New Roman"/>
              </a:rPr>
              <a:t>17</a:t>
            </a:r>
            <a:endParaRPr lang="zh-CN" altLang="en-US" sz="1098" dirty="0">
              <a:solidFill>
                <a:srgbClr val="761437"/>
              </a:solidFill>
              <a:latin typeface="Times New Roman"/>
            </a:endParaRPr>
          </a:p>
        </p:txBody>
      </p:sp>
      <p:sp>
        <p:nvSpPr>
          <p:cNvPr id="5" name="TextBox 4"/>
          <p:cNvSpPr txBox="1"/>
          <p:nvPr/>
        </p:nvSpPr>
        <p:spPr>
          <a:xfrm>
            <a:off x="535311" y="478739"/>
            <a:ext cx="5838137" cy="1449115"/>
          </a:xfrm>
          <a:prstGeom prst="rect">
            <a:avLst/>
          </a:prstGeom>
          <a:noFill/>
        </p:spPr>
        <p:txBody>
          <a:bodyPr vert="horz" wrap="none" lIns="0" tIns="0" rIns="0" bIns="0" rtlCol="0">
            <a:spAutoFit/>
          </a:bodyPr>
          <a:lstStyle/>
          <a:p>
            <a:pPr marL="0" marR="0" lvl="0" indent="0" defTabSz="914400" eaLnBrk="1" fontAlgn="auto" latinLnBrk="0" hangingPunct="1">
              <a:lnSpc>
                <a:spcPts val="3874"/>
              </a:lnSpc>
              <a:buClrTx/>
              <a:buSzTx/>
              <a:buNone/>
              <a:tabLst>
                <a:tab pos="368300" algn="l"/>
              </a:tabLst>
              <a:defRPr/>
            </a:pPr>
            <a:r>
              <a:rPr lang="zh-CN" altLang="en-US" dirty="0"/>
              <a:t>	</a:t>
            </a:r>
            <a:r>
              <a:rPr lang="zh-CN" altLang="en-US" sz="3600" dirty="0">
                <a:solidFill>
                  <a:srgbClr val="FFFFFF"/>
                </a:solidFill>
                <a:latin typeface="Times New Roman"/>
              </a:rPr>
              <a:t>內部控制體系 </a:t>
            </a:r>
            <a:r>
              <a:rPr lang="en-US" altLang="zh-CN" sz="3600" b="1" dirty="0">
                <a:solidFill>
                  <a:srgbClr val="FFFFFF"/>
                </a:solidFill>
                <a:latin typeface="Times New Roman"/>
              </a:rPr>
              <a:t>– COSO</a:t>
            </a:r>
            <a:r>
              <a:rPr lang="zh-CN" altLang="en-US" sz="3600" b="1" dirty="0">
                <a:solidFill>
                  <a:srgbClr val="FFFFFF"/>
                </a:solidFill>
                <a:latin typeface="Times New Roman"/>
              </a:rPr>
              <a:t>模型</a:t>
            </a:r>
          </a:p>
          <a:p>
            <a:pPr marL="0" marR="0" lvl="0" indent="0" defTabSz="914400" eaLnBrk="1" fontAlgn="auto" latinLnBrk="0" hangingPunct="1">
              <a:lnSpc>
                <a:spcPts val="1000"/>
              </a:lnSpc>
              <a:buClrTx/>
              <a:buSzTx/>
              <a:buNone/>
              <a:tabLst>
                <a:tab pos="368300" algn="l"/>
              </a:tabLst>
              <a:defRPr/>
            </a:pPr>
            <a:endParaRPr lang="zh-CN" altLang="en-US" sz="3600" b="1" dirty="0">
              <a:solidFill>
                <a:srgbClr val="FFFFFF"/>
              </a:solidFill>
              <a:latin typeface="Times New Roman"/>
            </a:endParaRPr>
          </a:p>
          <a:p>
            <a:pPr marL="0" marR="0" lvl="0" indent="0" defTabSz="914400" eaLnBrk="1" fontAlgn="auto" latinLnBrk="0" hangingPunct="1">
              <a:lnSpc>
                <a:spcPts val="1000"/>
              </a:lnSpc>
              <a:buClrTx/>
              <a:buSzTx/>
              <a:buNone/>
              <a:tabLst>
                <a:tab pos="368300" algn="l"/>
              </a:tabLst>
              <a:defRPr/>
            </a:pPr>
            <a:endParaRPr lang="zh-CN" altLang="en-US" sz="3600" b="1" dirty="0">
              <a:solidFill>
                <a:srgbClr val="FFFFFF"/>
              </a:solidFill>
              <a:latin typeface="Times New Roman"/>
            </a:endParaRPr>
          </a:p>
          <a:p>
            <a:pPr marL="0" marR="0" lvl="0" indent="0" defTabSz="914400" eaLnBrk="1" fontAlgn="auto" latinLnBrk="0" hangingPunct="1">
              <a:lnSpc>
                <a:spcPts val="1000"/>
              </a:lnSpc>
              <a:buClrTx/>
              <a:buSzTx/>
              <a:buNone/>
              <a:tabLst>
                <a:tab pos="368300" algn="l"/>
              </a:tabLst>
              <a:defRPr/>
            </a:pPr>
            <a:endParaRPr lang="zh-CN" altLang="en-US" sz="3600" b="1" dirty="0">
              <a:solidFill>
                <a:srgbClr val="FFFFFF"/>
              </a:solidFill>
              <a:latin typeface="Times New Roman"/>
            </a:endParaRPr>
          </a:p>
          <a:p>
            <a:pPr marL="0" marR="0" lvl="0" indent="0" defTabSz="914400" eaLnBrk="1" fontAlgn="auto" latinLnBrk="0" hangingPunct="1">
              <a:lnSpc>
                <a:spcPts val="1000"/>
              </a:lnSpc>
              <a:buClrTx/>
              <a:buSzTx/>
              <a:buNone/>
              <a:tabLst>
                <a:tab pos="368300" algn="l"/>
              </a:tabLst>
              <a:defRPr/>
            </a:pPr>
            <a:endParaRPr lang="zh-CN" altLang="en-US" sz="3600" b="1" dirty="0">
              <a:solidFill>
                <a:srgbClr val="FFFFFF"/>
              </a:solidFill>
              <a:latin typeface="Times New Roman"/>
            </a:endParaRPr>
          </a:p>
          <a:p>
            <a:pPr marL="0" marR="0" lvl="0" indent="0" defTabSz="914400" eaLnBrk="1" fontAlgn="auto" latinLnBrk="0" hangingPunct="1">
              <a:lnSpc>
                <a:spcPts val="3372"/>
              </a:lnSpc>
              <a:buClrTx/>
              <a:buSzTx/>
              <a:buNone/>
              <a:tabLst>
                <a:tab pos="368300" algn="l"/>
              </a:tabLst>
              <a:defRPr/>
            </a:pPr>
            <a:r>
              <a:rPr lang="zh-CN" altLang="en-US" sz="2537" dirty="0">
                <a:solidFill>
                  <a:srgbClr val="000000"/>
                </a:solidFill>
                <a:latin typeface="Times New Roman"/>
              </a:rPr>
              <a:t>要素</a:t>
            </a:r>
            <a:r>
              <a:rPr lang="en-US" altLang="zh-CN" sz="2400" b="1" i="1" dirty="0">
                <a:solidFill>
                  <a:srgbClr val="000000"/>
                </a:solidFill>
                <a:latin typeface="Times New Roman"/>
              </a:rPr>
              <a:t>5</a:t>
            </a:r>
            <a:r>
              <a:rPr lang="zh-CN" altLang="en-US" sz="2537" dirty="0">
                <a:solidFill>
                  <a:srgbClr val="000000"/>
                </a:solidFill>
                <a:latin typeface="Times New Roman"/>
              </a:rPr>
              <a:t>：監控</a:t>
            </a:r>
          </a:p>
        </p:txBody>
      </p:sp>
      <p:sp>
        <p:nvSpPr>
          <p:cNvPr id="6" name="TextBox 5"/>
          <p:cNvSpPr txBox="1"/>
          <p:nvPr/>
        </p:nvSpPr>
        <p:spPr>
          <a:xfrm>
            <a:off x="1147958" y="2802534"/>
            <a:ext cx="153888" cy="153888"/>
          </a:xfrm>
          <a:prstGeom prst="rect">
            <a:avLst/>
          </a:prstGeom>
          <a:noFill/>
        </p:spPr>
        <p:txBody>
          <a:bodyPr vert="horz" wrap="none" lIns="0" tIns="0" rIns="0" bIns="0" rtlCol="0">
            <a:spAutoFit/>
          </a:bodyPr>
          <a:lstStyle/>
          <a:p>
            <a:pPr>
              <a:lnSpc>
                <a:spcPts val="1199"/>
              </a:lnSpc>
            </a:pPr>
            <a:r>
              <a:rPr lang="zh-CN" altLang="en-US" sz="1200" dirty="0">
                <a:solidFill>
                  <a:srgbClr val="000000"/>
                </a:solidFill>
                <a:latin typeface="Times New Roman"/>
              </a:rPr>
              <a:t>營</a:t>
            </a:r>
          </a:p>
        </p:txBody>
      </p:sp>
      <p:sp>
        <p:nvSpPr>
          <p:cNvPr id="7" name="TextBox 6"/>
          <p:cNvSpPr txBox="1"/>
          <p:nvPr/>
        </p:nvSpPr>
        <p:spPr>
          <a:xfrm>
            <a:off x="1465699" y="2421534"/>
            <a:ext cx="948978" cy="1885131"/>
          </a:xfrm>
          <a:prstGeom prst="rect">
            <a:avLst/>
          </a:prstGeom>
          <a:noFill/>
        </p:spPr>
        <p:txBody>
          <a:bodyPr vert="horz" wrap="none" lIns="0" tIns="0" rIns="0" bIns="0" rtlCol="0">
            <a:spAutoFit/>
          </a:bodyPr>
          <a:lstStyle/>
          <a:p>
            <a:pPr marL="0" marR="0" lvl="0" indent="0" defTabSz="914400" eaLnBrk="1" fontAlgn="auto" latinLnBrk="0" hangingPunct="1">
              <a:lnSpc>
                <a:spcPts val="1199"/>
              </a:lnSpc>
              <a:buClrTx/>
              <a:buSzTx/>
              <a:buNone/>
              <a:tabLst>
                <a:tab pos="88900" algn="l"/>
                <a:tab pos="152400" algn="l"/>
                <a:tab pos="330200" algn="l"/>
                <a:tab pos="482600" algn="l"/>
                <a:tab pos="635000" algn="l"/>
                <a:tab pos="787400" algn="l"/>
              </a:tabLst>
              <a:defRPr/>
            </a:pPr>
            <a:r>
              <a:rPr lang="zh-CN" altLang="en-US" dirty="0"/>
              <a:t>						</a:t>
            </a:r>
            <a:r>
              <a:rPr lang="zh-CN" altLang="en-US" sz="1200" dirty="0">
                <a:solidFill>
                  <a:srgbClr val="000000"/>
                </a:solidFill>
                <a:latin typeface="Times New Roman"/>
              </a:rPr>
              <a:t>告</a:t>
            </a:r>
          </a:p>
          <a:p>
            <a:pPr marL="0" marR="0" lvl="0" indent="0" defTabSz="914400" eaLnBrk="1" fontAlgn="auto" latinLnBrk="0" hangingPunct="1">
              <a:lnSpc>
                <a:spcPts val="1074"/>
              </a:lnSpc>
              <a:buClrTx/>
              <a:buSzTx/>
              <a:buNone/>
              <a:tabLst>
                <a:tab pos="88900" algn="l"/>
                <a:tab pos="152400" algn="l"/>
                <a:tab pos="330200" algn="l"/>
                <a:tab pos="482600" algn="l"/>
                <a:tab pos="635000" algn="l"/>
                <a:tab pos="787400" algn="l"/>
              </a:tabLst>
              <a:defRPr/>
            </a:pPr>
            <a:r>
              <a:rPr lang="zh-CN" altLang="en-US" sz="1200" dirty="0">
                <a:solidFill>
                  <a:srgbClr val="000000"/>
                </a:solidFill>
                <a:latin typeface="Times New Roman"/>
              </a:rPr>
              <a:t>					報</a:t>
            </a:r>
          </a:p>
          <a:p>
            <a:pPr marL="0" marR="0" lvl="0" indent="0" defTabSz="914400" eaLnBrk="1" fontAlgn="auto" latinLnBrk="0" hangingPunct="1">
              <a:lnSpc>
                <a:spcPts val="1200"/>
              </a:lnSpc>
              <a:buClrTx/>
              <a:buSzTx/>
              <a:buNone/>
              <a:tabLst>
                <a:tab pos="88900" algn="l"/>
                <a:tab pos="152400" algn="l"/>
                <a:tab pos="330200" algn="l"/>
                <a:tab pos="482600" algn="l"/>
                <a:tab pos="635000" algn="l"/>
                <a:tab pos="787400" algn="l"/>
              </a:tabLst>
              <a:defRPr/>
            </a:pPr>
            <a:r>
              <a:rPr lang="zh-CN" altLang="en-US" sz="1200" dirty="0">
                <a:solidFill>
                  <a:srgbClr val="000000"/>
                </a:solidFill>
                <a:latin typeface="Times New Roman"/>
              </a:rPr>
              <a:t>				務</a:t>
            </a:r>
          </a:p>
          <a:p>
            <a:pPr marL="0" marR="0" lvl="0" indent="0" defTabSz="914400" eaLnBrk="1" fontAlgn="auto" latinLnBrk="0" hangingPunct="1">
              <a:lnSpc>
                <a:spcPts val="1200"/>
              </a:lnSpc>
              <a:buClrTx/>
              <a:buSzTx/>
              <a:buNone/>
              <a:tabLst>
                <a:tab pos="88900" algn="l"/>
                <a:tab pos="152400" algn="l"/>
                <a:tab pos="330200" algn="l"/>
                <a:tab pos="482600" algn="l"/>
                <a:tab pos="635000" algn="l"/>
                <a:tab pos="787400" algn="l"/>
              </a:tabLst>
              <a:defRPr/>
            </a:pPr>
            <a:r>
              <a:rPr lang="zh-CN" altLang="en-US" sz="1200" dirty="0">
                <a:solidFill>
                  <a:srgbClr val="000000"/>
                </a:solidFill>
                <a:latin typeface="Times New Roman"/>
              </a:rPr>
              <a:t>			財</a:t>
            </a:r>
          </a:p>
          <a:p>
            <a:pPr marL="0" marR="0" lvl="0" indent="0" defTabSz="914400" eaLnBrk="1" fontAlgn="auto" latinLnBrk="0" hangingPunct="1">
              <a:lnSpc>
                <a:spcPts val="1854"/>
              </a:lnSpc>
              <a:buClrTx/>
              <a:buSzTx/>
              <a:buNone/>
              <a:tabLst>
                <a:tab pos="88900" algn="l"/>
                <a:tab pos="152400" algn="l"/>
                <a:tab pos="330200" algn="l"/>
                <a:tab pos="482600" algn="l"/>
                <a:tab pos="635000" algn="l"/>
                <a:tab pos="787400" algn="l"/>
              </a:tabLst>
              <a:defRPr/>
            </a:pPr>
            <a:r>
              <a:rPr lang="zh-CN" altLang="en-US" sz="1200" dirty="0">
                <a:solidFill>
                  <a:srgbClr val="000000"/>
                </a:solidFill>
                <a:latin typeface="Times New Roman"/>
              </a:rPr>
              <a:t>		監控</a:t>
            </a:r>
          </a:p>
          <a:p>
            <a:pPr marL="0" marR="0" lvl="0" indent="0" defTabSz="914400" eaLnBrk="1" fontAlgn="auto" latinLnBrk="0" hangingPunct="1">
              <a:lnSpc>
                <a:spcPts val="1000"/>
              </a:lnSpc>
              <a:buClrTx/>
              <a:buSzTx/>
              <a:buNone/>
              <a:tabLst>
                <a:tab pos="88900" algn="l"/>
                <a:tab pos="152400" algn="l"/>
                <a:tab pos="330200" algn="l"/>
                <a:tab pos="482600" algn="l"/>
                <a:tab pos="635000" algn="l"/>
                <a:tab pos="787400" algn="l"/>
              </a:tabLst>
              <a:defRPr/>
            </a:pPr>
            <a:endParaRPr lang="zh-CN" altLang="en-US" sz="1200" dirty="0">
              <a:solidFill>
                <a:srgbClr val="000000"/>
              </a:solidFill>
              <a:latin typeface="Times New Roman"/>
            </a:endParaRPr>
          </a:p>
          <a:p>
            <a:pPr marL="0" marR="0" lvl="0" indent="0" defTabSz="914400" eaLnBrk="1" fontAlgn="auto" latinLnBrk="0" hangingPunct="1">
              <a:lnSpc>
                <a:spcPts val="1400"/>
              </a:lnSpc>
              <a:buClrTx/>
              <a:buSzTx/>
              <a:buNone/>
              <a:tabLst>
                <a:tab pos="88900" algn="l"/>
                <a:tab pos="152400" algn="l"/>
                <a:tab pos="330200" algn="l"/>
                <a:tab pos="482600" algn="l"/>
                <a:tab pos="635000" algn="l"/>
                <a:tab pos="787400" algn="l"/>
              </a:tabLst>
              <a:defRPr/>
            </a:pPr>
            <a:r>
              <a:rPr lang="zh-CN" altLang="en-US" sz="1200" dirty="0">
                <a:solidFill>
                  <a:srgbClr val="000000"/>
                </a:solidFill>
                <a:latin typeface="Times New Roman"/>
              </a:rPr>
              <a:t>資訊和溝通</a:t>
            </a:r>
          </a:p>
          <a:p>
            <a:pPr marL="0" marR="0" lvl="0" indent="0" defTabSz="914400" eaLnBrk="1" fontAlgn="auto" latinLnBrk="0" hangingPunct="1">
              <a:lnSpc>
                <a:spcPts val="1000"/>
              </a:lnSpc>
              <a:buClrTx/>
              <a:buSzTx/>
              <a:buNone/>
              <a:tabLst>
                <a:tab pos="88900" algn="l"/>
                <a:tab pos="152400" algn="l"/>
                <a:tab pos="330200" algn="l"/>
                <a:tab pos="482600" algn="l"/>
                <a:tab pos="635000" algn="l"/>
                <a:tab pos="787400" algn="l"/>
              </a:tabLst>
              <a:defRPr/>
            </a:pPr>
            <a:endParaRPr lang="zh-CN" altLang="en-US" sz="1200" dirty="0">
              <a:solidFill>
                <a:srgbClr val="000000"/>
              </a:solidFill>
              <a:latin typeface="Times New Roman"/>
            </a:endParaRPr>
          </a:p>
          <a:p>
            <a:pPr marL="0" marR="0" lvl="0" indent="0" defTabSz="914400" eaLnBrk="1" fontAlgn="auto" latinLnBrk="0" hangingPunct="1">
              <a:lnSpc>
                <a:spcPts val="1000"/>
              </a:lnSpc>
              <a:buClrTx/>
              <a:buSzTx/>
              <a:buNone/>
              <a:tabLst>
                <a:tab pos="88900" algn="l"/>
                <a:tab pos="152400" algn="l"/>
                <a:tab pos="330200" algn="l"/>
                <a:tab pos="482600" algn="l"/>
                <a:tab pos="635000" algn="l"/>
                <a:tab pos="787400" algn="l"/>
              </a:tabLst>
              <a:defRPr/>
            </a:pPr>
            <a:endParaRPr lang="zh-CN" altLang="en-US" sz="1200" dirty="0">
              <a:solidFill>
                <a:srgbClr val="000000"/>
              </a:solidFill>
              <a:latin typeface="Times New Roman"/>
            </a:endParaRPr>
          </a:p>
          <a:p>
            <a:pPr marL="0" marR="0" lvl="0" indent="0" defTabSz="914400" eaLnBrk="1" fontAlgn="auto" latinLnBrk="0" hangingPunct="1">
              <a:lnSpc>
                <a:spcPts val="1312"/>
              </a:lnSpc>
              <a:buClrTx/>
              <a:buSzTx/>
              <a:buNone/>
              <a:tabLst>
                <a:tab pos="88900" algn="l"/>
                <a:tab pos="152400" algn="l"/>
                <a:tab pos="330200" algn="l"/>
                <a:tab pos="482600" algn="l"/>
                <a:tab pos="635000" algn="l"/>
                <a:tab pos="787400" algn="l"/>
              </a:tabLst>
              <a:defRPr/>
            </a:pPr>
            <a:r>
              <a:rPr lang="zh-CN" altLang="en-US" sz="1200" dirty="0">
                <a:solidFill>
                  <a:srgbClr val="000000"/>
                </a:solidFill>
                <a:latin typeface="Times New Roman"/>
              </a:rPr>
              <a:t>	控制活動</a:t>
            </a:r>
          </a:p>
          <a:p>
            <a:pPr marL="0" marR="0" lvl="0" indent="0" defTabSz="914400" eaLnBrk="1" fontAlgn="auto" latinLnBrk="0" hangingPunct="1">
              <a:lnSpc>
                <a:spcPts val="1000"/>
              </a:lnSpc>
              <a:buClrTx/>
              <a:buSzTx/>
              <a:buNone/>
              <a:tabLst>
                <a:tab pos="88900" algn="l"/>
                <a:tab pos="152400" algn="l"/>
                <a:tab pos="330200" algn="l"/>
                <a:tab pos="482600" algn="l"/>
                <a:tab pos="635000" algn="l"/>
                <a:tab pos="787400" algn="l"/>
              </a:tabLst>
              <a:defRPr/>
            </a:pPr>
            <a:endParaRPr lang="zh-CN" altLang="en-US" sz="1200" dirty="0">
              <a:solidFill>
                <a:srgbClr val="000000"/>
              </a:solidFill>
              <a:latin typeface="Times New Roman"/>
            </a:endParaRPr>
          </a:p>
          <a:p>
            <a:pPr marL="0" marR="0" lvl="0" indent="0" defTabSz="914400" eaLnBrk="1" fontAlgn="auto" latinLnBrk="0" hangingPunct="1">
              <a:lnSpc>
                <a:spcPts val="1400"/>
              </a:lnSpc>
              <a:buClrTx/>
              <a:buSzTx/>
              <a:buNone/>
              <a:tabLst>
                <a:tab pos="88900" algn="l"/>
                <a:tab pos="152400" algn="l"/>
                <a:tab pos="330200" algn="l"/>
                <a:tab pos="482600" algn="l"/>
                <a:tab pos="635000" algn="l"/>
                <a:tab pos="787400" algn="l"/>
              </a:tabLst>
              <a:defRPr/>
            </a:pPr>
            <a:r>
              <a:rPr lang="zh-CN" altLang="en-US" sz="1200" dirty="0">
                <a:solidFill>
                  <a:srgbClr val="000000"/>
                </a:solidFill>
                <a:latin typeface="Times New Roman"/>
              </a:rPr>
              <a:t>	風險評估</a:t>
            </a:r>
          </a:p>
        </p:txBody>
      </p:sp>
      <p:sp>
        <p:nvSpPr>
          <p:cNvPr id="8" name="TextBox 7"/>
          <p:cNvSpPr txBox="1"/>
          <p:nvPr/>
        </p:nvSpPr>
        <p:spPr>
          <a:xfrm>
            <a:off x="2475348" y="2823108"/>
            <a:ext cx="153888" cy="153888"/>
          </a:xfrm>
          <a:prstGeom prst="rect">
            <a:avLst/>
          </a:prstGeom>
          <a:noFill/>
        </p:spPr>
        <p:txBody>
          <a:bodyPr vert="horz" wrap="none" lIns="0" tIns="0" rIns="0" bIns="0" rtlCol="0">
            <a:spAutoFit/>
          </a:bodyPr>
          <a:lstStyle/>
          <a:p>
            <a:pPr>
              <a:lnSpc>
                <a:spcPts val="1199"/>
              </a:lnSpc>
            </a:pPr>
            <a:r>
              <a:rPr lang="zh-CN" altLang="en-US" sz="1200" dirty="0">
                <a:solidFill>
                  <a:srgbClr val="000000"/>
                </a:solidFill>
                <a:latin typeface="Times New Roman"/>
              </a:rPr>
              <a:t>合</a:t>
            </a:r>
          </a:p>
        </p:txBody>
      </p:sp>
      <p:sp>
        <p:nvSpPr>
          <p:cNvPr id="9" name="TextBox 8"/>
          <p:cNvSpPr txBox="1"/>
          <p:nvPr/>
        </p:nvSpPr>
        <p:spPr>
          <a:xfrm>
            <a:off x="2633845" y="2481732"/>
            <a:ext cx="817531" cy="1731243"/>
          </a:xfrm>
          <a:prstGeom prst="rect">
            <a:avLst/>
          </a:prstGeom>
          <a:noFill/>
        </p:spPr>
        <p:txBody>
          <a:bodyPr vert="horz" wrap="none" lIns="0" tIns="0" rIns="0" bIns="0" rtlCol="0">
            <a:spAutoFit/>
          </a:bodyPr>
          <a:lstStyle/>
          <a:p>
            <a:pPr marL="0" marR="0" lvl="0" indent="0" defTabSz="914400" eaLnBrk="1" fontAlgn="auto" latinLnBrk="0" hangingPunct="1">
              <a:lnSpc>
                <a:spcPts val="1199"/>
              </a:lnSpc>
              <a:buClrTx/>
              <a:buSzTx/>
              <a:buNone/>
              <a:tabLst>
                <a:tab pos="127000" algn="l"/>
                <a:tab pos="228600" algn="l"/>
                <a:tab pos="292100" algn="l"/>
                <a:tab pos="469900" algn="l"/>
                <a:tab pos="635000" algn="l"/>
              </a:tabLst>
              <a:defRPr/>
            </a:pPr>
            <a:r>
              <a:rPr lang="zh-CN" altLang="en-US" dirty="0"/>
              <a:t>		</a:t>
            </a:r>
            <a:r>
              <a:rPr lang="zh-CN" altLang="en-US" sz="1200" dirty="0">
                <a:solidFill>
                  <a:srgbClr val="000000"/>
                </a:solidFill>
                <a:latin typeface="Times New Roman"/>
              </a:rPr>
              <a:t>性</a:t>
            </a:r>
          </a:p>
          <a:p>
            <a:pPr marL="0" marR="0" lvl="0" indent="0" defTabSz="914400" eaLnBrk="1" fontAlgn="auto" latinLnBrk="0" hangingPunct="1">
              <a:lnSpc>
                <a:spcPts val="1200"/>
              </a:lnSpc>
              <a:buClrTx/>
              <a:buSzTx/>
              <a:buNone/>
              <a:tabLst>
                <a:tab pos="127000" algn="l"/>
                <a:tab pos="228600" algn="l"/>
                <a:tab pos="292100" algn="l"/>
                <a:tab pos="469900" algn="l"/>
                <a:tab pos="635000" algn="l"/>
              </a:tabLst>
              <a:defRPr/>
            </a:pPr>
            <a:r>
              <a:rPr lang="zh-CN" altLang="en-US" sz="1200" dirty="0">
                <a:solidFill>
                  <a:srgbClr val="000000"/>
                </a:solidFill>
                <a:latin typeface="Times New Roman"/>
              </a:rPr>
              <a:t>規</a:t>
            </a:r>
          </a:p>
          <a:p>
            <a:pPr marL="0" marR="0" lvl="0" indent="0" defTabSz="914400" eaLnBrk="1" fontAlgn="auto" latinLnBrk="0" hangingPunct="1">
              <a:lnSpc>
                <a:spcPts val="1000"/>
              </a:lnSpc>
              <a:buClrTx/>
              <a:buSzTx/>
              <a:buNone/>
              <a:tabLst>
                <a:tab pos="127000" algn="l"/>
                <a:tab pos="228600" algn="l"/>
                <a:tab pos="292100" algn="l"/>
                <a:tab pos="469900" algn="l"/>
                <a:tab pos="635000" algn="l"/>
              </a:tabLst>
              <a:defRPr/>
            </a:pPr>
            <a:endParaRPr lang="zh-CN" altLang="en-US" sz="1200" dirty="0">
              <a:solidFill>
                <a:srgbClr val="000000"/>
              </a:solidFill>
              <a:latin typeface="Times New Roman"/>
            </a:endParaRPr>
          </a:p>
          <a:p>
            <a:pPr marL="0" marR="0" lvl="0" indent="0" defTabSz="914400" eaLnBrk="1" fontAlgn="auto" latinLnBrk="0" hangingPunct="1">
              <a:lnSpc>
                <a:spcPts val="1000"/>
              </a:lnSpc>
              <a:buClrTx/>
              <a:buSzTx/>
              <a:buNone/>
              <a:tabLst>
                <a:tab pos="127000" algn="l"/>
                <a:tab pos="228600" algn="l"/>
                <a:tab pos="292100" algn="l"/>
                <a:tab pos="469900" algn="l"/>
                <a:tab pos="635000" algn="l"/>
              </a:tabLst>
              <a:defRPr/>
            </a:pPr>
            <a:endParaRPr lang="zh-CN" altLang="en-US" sz="1200" dirty="0">
              <a:solidFill>
                <a:srgbClr val="000000"/>
              </a:solidFill>
              <a:latin typeface="Times New Roman"/>
            </a:endParaRPr>
          </a:p>
          <a:p>
            <a:pPr marL="0" marR="0" lvl="0" indent="0" defTabSz="914400" eaLnBrk="1" fontAlgn="auto" latinLnBrk="0" hangingPunct="1">
              <a:lnSpc>
                <a:spcPts val="1642"/>
              </a:lnSpc>
              <a:buClrTx/>
              <a:buSzTx/>
              <a:buNone/>
              <a:tabLst>
                <a:tab pos="127000" algn="l"/>
                <a:tab pos="228600" algn="l"/>
                <a:tab pos="292100" algn="l"/>
                <a:tab pos="469900" algn="l"/>
                <a:tab pos="635000" algn="l"/>
              </a:tabLst>
              <a:defRPr/>
            </a:pPr>
            <a:r>
              <a:rPr lang="zh-CN" altLang="en-US" sz="1200" dirty="0">
                <a:solidFill>
                  <a:srgbClr val="000000"/>
                </a:solidFill>
                <a:latin typeface="Times New Roman"/>
              </a:rPr>
              <a:t>					活</a:t>
            </a:r>
          </a:p>
          <a:p>
            <a:pPr marL="0" marR="0" lvl="0" indent="0" defTabSz="914400" eaLnBrk="1" fontAlgn="auto" latinLnBrk="0" hangingPunct="1">
              <a:lnSpc>
                <a:spcPts val="1434"/>
              </a:lnSpc>
              <a:buClrTx/>
              <a:buSzTx/>
              <a:buNone/>
              <a:tabLst>
                <a:tab pos="127000" algn="l"/>
                <a:tab pos="228600" algn="l"/>
                <a:tab pos="292100" algn="l"/>
                <a:tab pos="469900" algn="l"/>
                <a:tab pos="635000" algn="l"/>
              </a:tabLst>
              <a:defRPr/>
            </a:pPr>
            <a:r>
              <a:rPr lang="zh-CN" altLang="en-US" sz="1200" dirty="0">
                <a:solidFill>
                  <a:srgbClr val="000000"/>
                </a:solidFill>
                <a:latin typeface="Times New Roman"/>
              </a:rPr>
              <a:t>				活 動</a:t>
            </a:r>
          </a:p>
          <a:p>
            <a:pPr marL="0" marR="0" lvl="0" indent="0" defTabSz="914400" eaLnBrk="1" fontAlgn="auto" latinLnBrk="0" hangingPunct="1">
              <a:lnSpc>
                <a:spcPts val="1800"/>
              </a:lnSpc>
              <a:buClrTx/>
              <a:buSzTx/>
              <a:buNone/>
              <a:tabLst>
                <a:tab pos="127000" algn="l"/>
                <a:tab pos="228600" algn="l"/>
                <a:tab pos="292100" algn="l"/>
                <a:tab pos="469900" algn="l"/>
                <a:tab pos="635000" algn="l"/>
              </a:tabLst>
              <a:defRPr/>
            </a:pPr>
            <a:r>
              <a:rPr lang="zh-CN" altLang="en-US" sz="1200" dirty="0">
                <a:solidFill>
                  <a:srgbClr val="000000"/>
                </a:solidFill>
                <a:latin typeface="Times New Roman"/>
              </a:rPr>
              <a:t>			單 動 </a:t>
            </a:r>
            <a:r>
              <a:rPr lang="en-US" altLang="zh-CN" sz="1200" b="1" dirty="0">
                <a:solidFill>
                  <a:srgbClr val="000000"/>
                </a:solidFill>
                <a:latin typeface="Times New Roman"/>
              </a:rPr>
              <a:t>2</a:t>
            </a:r>
          </a:p>
          <a:p>
            <a:pPr marL="0" marR="0" lvl="0" indent="0" defTabSz="914400" eaLnBrk="1" fontAlgn="auto" latinLnBrk="0" hangingPunct="1">
              <a:lnSpc>
                <a:spcPts val="1440"/>
              </a:lnSpc>
              <a:buClrTx/>
              <a:buSzTx/>
              <a:buNone/>
              <a:tabLst>
                <a:tab pos="127000" algn="l"/>
                <a:tab pos="228600" algn="l"/>
                <a:tab pos="292100" algn="l"/>
                <a:tab pos="469900" algn="l"/>
                <a:tab pos="635000" algn="l"/>
              </a:tabLst>
              <a:defRPr/>
            </a:pPr>
            <a:r>
              <a:rPr lang="en-US" altLang="zh-CN" sz="1200" b="1" dirty="0">
                <a:solidFill>
                  <a:srgbClr val="000000"/>
                </a:solidFill>
                <a:latin typeface="Times New Roman"/>
              </a:rPr>
              <a:t>	</a:t>
            </a:r>
            <a:r>
              <a:rPr lang="zh-CN" altLang="en-US" sz="1200" dirty="0">
                <a:solidFill>
                  <a:srgbClr val="000000"/>
                </a:solidFill>
                <a:latin typeface="Times New Roman"/>
              </a:rPr>
              <a:t>單 元 </a:t>
            </a:r>
            <a:r>
              <a:rPr lang="en-US" altLang="zh-CN" sz="1200" b="1" dirty="0">
                <a:solidFill>
                  <a:srgbClr val="000000"/>
                </a:solidFill>
                <a:latin typeface="Times New Roman"/>
              </a:rPr>
              <a:t>1</a:t>
            </a:r>
          </a:p>
          <a:p>
            <a:pPr marL="0" marR="0" lvl="0" indent="0" defTabSz="914400" eaLnBrk="1" fontAlgn="auto" latinLnBrk="0" hangingPunct="1">
              <a:lnSpc>
                <a:spcPts val="1454"/>
              </a:lnSpc>
              <a:buClrTx/>
              <a:buSzTx/>
              <a:buNone/>
              <a:tabLst>
                <a:tab pos="127000" algn="l"/>
                <a:tab pos="228600" algn="l"/>
                <a:tab pos="292100" algn="l"/>
                <a:tab pos="469900" algn="l"/>
                <a:tab pos="635000" algn="l"/>
              </a:tabLst>
              <a:defRPr/>
            </a:pPr>
            <a:r>
              <a:rPr lang="en-US" altLang="zh-CN" sz="1200" b="1" dirty="0">
                <a:solidFill>
                  <a:srgbClr val="000000"/>
                </a:solidFill>
                <a:latin typeface="Times New Roman"/>
              </a:rPr>
              <a:t>	</a:t>
            </a:r>
            <a:r>
              <a:rPr lang="zh-CN" altLang="en-US" sz="1200" dirty="0">
                <a:solidFill>
                  <a:srgbClr val="000000"/>
                </a:solidFill>
                <a:latin typeface="Times New Roman"/>
              </a:rPr>
              <a:t>元 </a:t>
            </a:r>
            <a:r>
              <a:rPr lang="en-US" altLang="zh-CN" sz="1200" b="1" dirty="0">
                <a:solidFill>
                  <a:srgbClr val="000000"/>
                </a:solidFill>
                <a:latin typeface="Times New Roman"/>
              </a:rPr>
              <a:t>B</a:t>
            </a:r>
          </a:p>
          <a:p>
            <a:pPr marL="0" marR="0" lvl="0" indent="0" defTabSz="914400" eaLnBrk="1" fontAlgn="auto" latinLnBrk="0" hangingPunct="1">
              <a:lnSpc>
                <a:spcPts val="1398"/>
              </a:lnSpc>
              <a:buClrTx/>
              <a:buSzTx/>
              <a:buNone/>
              <a:tabLst>
                <a:tab pos="127000" algn="l"/>
                <a:tab pos="228600" algn="l"/>
                <a:tab pos="292100" algn="l"/>
                <a:tab pos="469900" algn="l"/>
                <a:tab pos="635000" algn="l"/>
              </a:tabLst>
              <a:defRPr/>
            </a:pPr>
            <a:r>
              <a:rPr lang="en-US" altLang="zh-CN" sz="1200" b="1" dirty="0">
                <a:solidFill>
                  <a:srgbClr val="000000"/>
                </a:solidFill>
                <a:latin typeface="Times New Roman"/>
              </a:rPr>
              <a:t>	A</a:t>
            </a:r>
            <a:endParaRPr lang="zh-CN" altLang="en-US" sz="1200" b="1" dirty="0">
              <a:solidFill>
                <a:srgbClr val="000000"/>
              </a:solidFill>
              <a:latin typeface="Times New Roman"/>
            </a:endParaRPr>
          </a:p>
        </p:txBody>
      </p:sp>
      <p:sp>
        <p:nvSpPr>
          <p:cNvPr id="10" name="TextBox 9"/>
          <p:cNvSpPr txBox="1"/>
          <p:nvPr/>
        </p:nvSpPr>
        <p:spPr>
          <a:xfrm>
            <a:off x="3967359" y="2275804"/>
            <a:ext cx="5347618" cy="2103140"/>
          </a:xfrm>
          <a:prstGeom prst="rect">
            <a:avLst/>
          </a:prstGeom>
          <a:noFill/>
        </p:spPr>
        <p:txBody>
          <a:bodyPr vert="horz" wrap="none" lIns="0" tIns="0" rIns="0" bIns="0" rtlCol="0">
            <a:spAutoFit/>
          </a:bodyPr>
          <a:lstStyle/>
          <a:p>
            <a:pPr marL="0" marR="0" lvl="0" indent="0" defTabSz="914400" eaLnBrk="1" fontAlgn="auto" latinLnBrk="0" hangingPunct="1">
              <a:lnSpc>
                <a:spcPts val="2130"/>
              </a:lnSpc>
              <a:buClrTx/>
              <a:buSzTx/>
              <a:buNone/>
              <a:tabLst>
                <a:tab pos="266700" algn="l"/>
                <a:tab pos="457200" algn="l"/>
                <a:tab pos="723900" algn="l"/>
              </a:tabLst>
              <a:defRPr/>
            </a:pPr>
            <a:r>
              <a:rPr lang="en-US" altLang="zh-CN" sz="1998" dirty="0">
                <a:solidFill>
                  <a:srgbClr val="FFFFFF"/>
                </a:solidFill>
                <a:latin typeface="Times New Roman"/>
              </a:rPr>
              <a:t>•  </a:t>
            </a:r>
            <a:r>
              <a:rPr lang="zh-CN" altLang="en-US" sz="1998" dirty="0">
                <a:solidFill>
                  <a:srgbClr val="FFFFFF"/>
                </a:solidFill>
                <a:latin typeface="Times New Roman"/>
              </a:rPr>
              <a:t>監控是評估內控系統在一定時期內運行品質的</a:t>
            </a:r>
          </a:p>
          <a:p>
            <a:pPr marL="0" marR="0" lvl="0" indent="0" defTabSz="914400" eaLnBrk="1" fontAlgn="auto" latinLnBrk="0" hangingPunct="1">
              <a:lnSpc>
                <a:spcPts val="2266"/>
              </a:lnSpc>
              <a:buClrTx/>
              <a:buSzTx/>
              <a:buNone/>
              <a:tabLst>
                <a:tab pos="266700" algn="l"/>
                <a:tab pos="457200" algn="l"/>
                <a:tab pos="723900" algn="l"/>
              </a:tabLst>
              <a:defRPr/>
            </a:pPr>
            <a:r>
              <a:rPr lang="zh-CN" altLang="en-US" sz="1998" dirty="0">
                <a:solidFill>
                  <a:srgbClr val="FFFFFF"/>
                </a:solidFill>
                <a:latin typeface="Times New Roman"/>
              </a:rPr>
              <a:t>	過程，目的是保證內部控制持續有效</a:t>
            </a:r>
          </a:p>
          <a:p>
            <a:pPr marL="0" marR="0" lvl="0" indent="0" defTabSz="914400" eaLnBrk="1" fontAlgn="auto" latinLnBrk="0" hangingPunct="1">
              <a:lnSpc>
                <a:spcPts val="2534"/>
              </a:lnSpc>
              <a:buClrTx/>
              <a:buSzTx/>
              <a:buNone/>
              <a:tabLst>
                <a:tab pos="266700" algn="l"/>
                <a:tab pos="457200" algn="l"/>
                <a:tab pos="723900" algn="l"/>
              </a:tabLst>
              <a:defRPr/>
            </a:pPr>
            <a:r>
              <a:rPr lang="en-US" altLang="zh-CN" sz="1998" dirty="0">
                <a:solidFill>
                  <a:srgbClr val="FFFFFF"/>
                </a:solidFill>
                <a:latin typeface="Times New Roman"/>
              </a:rPr>
              <a:t>•  </a:t>
            </a:r>
            <a:r>
              <a:rPr lang="zh-CN" altLang="en-US" sz="1998" dirty="0">
                <a:solidFill>
                  <a:srgbClr val="FFFFFF"/>
                </a:solidFill>
                <a:latin typeface="Times New Roman"/>
              </a:rPr>
              <a:t>其範圍和頻率取決於風險的重大性或現有監控</a:t>
            </a:r>
          </a:p>
          <a:p>
            <a:pPr marL="0" marR="0" lvl="0" indent="0" defTabSz="914400" eaLnBrk="1" fontAlgn="auto" latinLnBrk="0" hangingPunct="1">
              <a:lnSpc>
                <a:spcPts val="2266"/>
              </a:lnSpc>
              <a:buClrTx/>
              <a:buSzTx/>
              <a:buNone/>
              <a:tabLst>
                <a:tab pos="266700" algn="l"/>
                <a:tab pos="457200" algn="l"/>
                <a:tab pos="723900" algn="l"/>
              </a:tabLst>
              <a:defRPr/>
            </a:pPr>
            <a:r>
              <a:rPr lang="zh-CN" altLang="en-US" sz="1998" dirty="0">
                <a:solidFill>
                  <a:srgbClr val="FFFFFF"/>
                </a:solidFill>
                <a:latin typeface="Times New Roman"/>
              </a:rPr>
              <a:t>	程式實施的有效性</a:t>
            </a:r>
          </a:p>
          <a:p>
            <a:pPr marL="0" marR="0" lvl="0" indent="0" defTabSz="914400" eaLnBrk="1" fontAlgn="auto" latinLnBrk="0" hangingPunct="1">
              <a:lnSpc>
                <a:spcPts val="2534"/>
              </a:lnSpc>
              <a:buClrTx/>
              <a:buSzTx/>
              <a:buNone/>
              <a:tabLst>
                <a:tab pos="266700" algn="l"/>
                <a:tab pos="457200" algn="l"/>
                <a:tab pos="723900" algn="l"/>
              </a:tabLst>
              <a:defRPr/>
            </a:pPr>
            <a:r>
              <a:rPr lang="en-US" altLang="zh-CN" sz="1998" dirty="0">
                <a:solidFill>
                  <a:srgbClr val="FFFFFF"/>
                </a:solidFill>
                <a:latin typeface="Times New Roman"/>
              </a:rPr>
              <a:t>•  </a:t>
            </a:r>
            <a:r>
              <a:rPr lang="zh-CN" altLang="en-US" sz="1998" dirty="0">
                <a:solidFill>
                  <a:srgbClr val="FFFFFF"/>
                </a:solidFill>
                <a:latin typeface="Times New Roman"/>
              </a:rPr>
              <a:t>監控的方式包括：</a:t>
            </a:r>
          </a:p>
          <a:p>
            <a:pPr marL="0" marR="0" lvl="0" indent="0" defTabSz="914400" eaLnBrk="1" fontAlgn="auto" latinLnBrk="0" hangingPunct="1">
              <a:lnSpc>
                <a:spcPts val="2400"/>
              </a:lnSpc>
              <a:buClrTx/>
              <a:buSzTx/>
              <a:buNone/>
              <a:tabLst>
                <a:tab pos="266700" algn="l"/>
                <a:tab pos="457200" algn="l"/>
                <a:tab pos="723900" algn="l"/>
              </a:tabLst>
              <a:defRPr/>
            </a:pPr>
            <a:r>
              <a:rPr lang="zh-CN" altLang="en-US" sz="1998" dirty="0">
                <a:solidFill>
                  <a:srgbClr val="FFFFFF"/>
                </a:solidFill>
                <a:latin typeface="Times New Roman"/>
              </a:rPr>
              <a:t>		</a:t>
            </a:r>
            <a:r>
              <a:rPr lang="en-US" altLang="zh-CN" sz="1998" dirty="0">
                <a:solidFill>
                  <a:srgbClr val="FFFFFF"/>
                </a:solidFill>
                <a:latin typeface="Times New Roman"/>
              </a:rPr>
              <a:t>•  </a:t>
            </a:r>
            <a:r>
              <a:rPr lang="zh-CN" altLang="en-US" sz="1998" dirty="0">
                <a:solidFill>
                  <a:srgbClr val="FFFFFF"/>
                </a:solidFill>
                <a:latin typeface="Times New Roman"/>
              </a:rPr>
              <a:t>持續性監控，包括日常管理、監督、比較</a:t>
            </a:r>
          </a:p>
          <a:p>
            <a:pPr marL="0" marR="0" lvl="0" indent="0" defTabSz="914400" eaLnBrk="1" fontAlgn="auto" latinLnBrk="0" hangingPunct="1">
              <a:lnSpc>
                <a:spcPts val="2266"/>
              </a:lnSpc>
              <a:buClrTx/>
              <a:buSzTx/>
              <a:buNone/>
              <a:tabLst>
                <a:tab pos="266700" algn="l"/>
                <a:tab pos="457200" algn="l"/>
                <a:tab pos="723900" algn="l"/>
              </a:tabLst>
              <a:defRPr/>
            </a:pPr>
            <a:r>
              <a:rPr lang="zh-CN" altLang="en-US" sz="1998" dirty="0">
                <a:solidFill>
                  <a:srgbClr val="FFFFFF"/>
                </a:solidFill>
                <a:latin typeface="Times New Roman"/>
              </a:rPr>
              <a:t>			、核對等</a:t>
            </a:r>
          </a:p>
        </p:txBody>
      </p:sp>
      <p:sp>
        <p:nvSpPr>
          <p:cNvPr id="11" name="TextBox 10"/>
          <p:cNvSpPr txBox="1"/>
          <p:nvPr/>
        </p:nvSpPr>
        <p:spPr>
          <a:xfrm>
            <a:off x="1554095" y="4472838"/>
            <a:ext cx="615553" cy="153888"/>
          </a:xfrm>
          <a:prstGeom prst="rect">
            <a:avLst/>
          </a:prstGeom>
          <a:noFill/>
        </p:spPr>
        <p:txBody>
          <a:bodyPr vert="horz" wrap="none" lIns="0" tIns="0" rIns="0" bIns="0" rtlCol="0">
            <a:spAutoFit/>
          </a:bodyPr>
          <a:lstStyle/>
          <a:p>
            <a:pPr>
              <a:lnSpc>
                <a:spcPts val="1199"/>
              </a:lnSpc>
            </a:pPr>
            <a:r>
              <a:rPr lang="zh-CN" altLang="en-US" sz="1200" dirty="0">
                <a:solidFill>
                  <a:srgbClr val="000000"/>
                </a:solidFill>
                <a:latin typeface="Times New Roman"/>
              </a:rPr>
              <a:t>控制環境</a:t>
            </a:r>
          </a:p>
        </p:txBody>
      </p:sp>
      <p:sp>
        <p:nvSpPr>
          <p:cNvPr id="12" name="TextBox 11"/>
          <p:cNvSpPr txBox="1"/>
          <p:nvPr/>
        </p:nvSpPr>
        <p:spPr>
          <a:xfrm>
            <a:off x="4424557" y="4409402"/>
            <a:ext cx="5158463" cy="2359620"/>
          </a:xfrm>
          <a:prstGeom prst="rect">
            <a:avLst/>
          </a:prstGeom>
          <a:noFill/>
        </p:spPr>
        <p:txBody>
          <a:bodyPr vert="horz" wrap="none" lIns="0" tIns="0" rIns="0" bIns="0" rtlCol="0">
            <a:spAutoFit/>
          </a:bodyPr>
          <a:lstStyle/>
          <a:p>
            <a:pPr marL="0" marR="0" lvl="0" indent="0" defTabSz="914400" eaLnBrk="1" fontAlgn="auto" latinLnBrk="0" hangingPunct="1">
              <a:lnSpc>
                <a:spcPts val="2130"/>
              </a:lnSpc>
              <a:buClrTx/>
              <a:buSzTx/>
              <a:buNone/>
              <a:tabLst>
                <a:tab pos="266700" algn="l"/>
                <a:tab pos="3644900" algn="l"/>
              </a:tabLst>
              <a:defRPr/>
            </a:pPr>
            <a:r>
              <a:rPr lang="en-US" altLang="zh-CN" sz="1998" dirty="0">
                <a:solidFill>
                  <a:srgbClr val="FFFFFF"/>
                </a:solidFill>
                <a:latin typeface="Times New Roman"/>
              </a:rPr>
              <a:t>•  </a:t>
            </a:r>
            <a:r>
              <a:rPr lang="zh-CN" altLang="en-US" sz="1998" dirty="0">
                <a:solidFill>
                  <a:srgbClr val="FFFFFF"/>
                </a:solidFill>
                <a:latin typeface="Times New Roman"/>
              </a:rPr>
              <a:t>獨立的評估，即獨立與控制活動之外，如</a:t>
            </a:r>
          </a:p>
          <a:p>
            <a:pPr marL="0" marR="0" lvl="0" indent="0" defTabSz="914400" eaLnBrk="1" fontAlgn="auto" latinLnBrk="0" hangingPunct="1">
              <a:lnSpc>
                <a:spcPts val="2152"/>
              </a:lnSpc>
              <a:buClrTx/>
              <a:buSzTx/>
              <a:buNone/>
              <a:tabLst>
                <a:tab pos="266700" algn="l"/>
                <a:tab pos="3644900" algn="l"/>
              </a:tabLst>
              <a:defRPr/>
            </a:pPr>
            <a:r>
              <a:rPr lang="zh-CN" altLang="en-US" sz="1998" dirty="0">
                <a:solidFill>
                  <a:srgbClr val="FFFFFF"/>
                </a:solidFill>
                <a:latin typeface="Times New Roman"/>
              </a:rPr>
              <a:t>	內部審計</a:t>
            </a:r>
          </a:p>
          <a:p>
            <a:pPr marL="0" marR="0" lvl="0" indent="0" defTabSz="914400" eaLnBrk="1" fontAlgn="auto" latinLnBrk="0" hangingPunct="1">
              <a:lnSpc>
                <a:spcPts val="1000"/>
              </a:lnSpc>
              <a:buClrTx/>
              <a:buSzTx/>
              <a:buNone/>
              <a:tabLst>
                <a:tab pos="266700" algn="l"/>
                <a:tab pos="3644900" algn="l"/>
              </a:tabLst>
              <a:defRPr/>
            </a:pPr>
            <a:endParaRPr lang="zh-CN" altLang="en-US" sz="1998" dirty="0">
              <a:solidFill>
                <a:srgbClr val="FFFFFF"/>
              </a:solidFill>
              <a:latin typeface="Times New Roman"/>
            </a:endParaRPr>
          </a:p>
          <a:p>
            <a:pPr marL="0" marR="0" lvl="0" indent="0" defTabSz="914400" eaLnBrk="1" fontAlgn="auto" latinLnBrk="0" hangingPunct="1">
              <a:lnSpc>
                <a:spcPts val="1000"/>
              </a:lnSpc>
              <a:buClrTx/>
              <a:buSzTx/>
              <a:buNone/>
              <a:tabLst>
                <a:tab pos="266700" algn="l"/>
                <a:tab pos="3644900" algn="l"/>
              </a:tabLst>
              <a:defRPr/>
            </a:pPr>
            <a:endParaRPr lang="zh-CN" altLang="en-US" sz="1998" dirty="0">
              <a:solidFill>
                <a:srgbClr val="FFFFFF"/>
              </a:solidFill>
              <a:latin typeface="Times New Roman"/>
            </a:endParaRPr>
          </a:p>
          <a:p>
            <a:pPr marL="0" marR="0" lvl="0" indent="0" defTabSz="914400" eaLnBrk="1" fontAlgn="auto" latinLnBrk="0" hangingPunct="1">
              <a:lnSpc>
                <a:spcPts val="1000"/>
              </a:lnSpc>
              <a:buClrTx/>
              <a:buSzTx/>
              <a:buNone/>
              <a:tabLst>
                <a:tab pos="266700" algn="l"/>
                <a:tab pos="3644900" algn="l"/>
              </a:tabLst>
              <a:defRPr/>
            </a:pPr>
            <a:endParaRPr lang="zh-CN" altLang="en-US" sz="1998" dirty="0">
              <a:solidFill>
                <a:srgbClr val="FFFFFF"/>
              </a:solidFill>
              <a:latin typeface="Times New Roman"/>
            </a:endParaRPr>
          </a:p>
          <a:p>
            <a:pPr marL="0" marR="0" lvl="0" indent="0" defTabSz="914400" eaLnBrk="1" fontAlgn="auto" latinLnBrk="0" hangingPunct="1">
              <a:lnSpc>
                <a:spcPts val="1000"/>
              </a:lnSpc>
              <a:buClrTx/>
              <a:buSzTx/>
              <a:buNone/>
              <a:tabLst>
                <a:tab pos="266700" algn="l"/>
                <a:tab pos="3644900" algn="l"/>
              </a:tabLst>
              <a:defRPr/>
            </a:pPr>
            <a:endParaRPr lang="zh-CN" altLang="en-US" sz="1998" dirty="0">
              <a:solidFill>
                <a:srgbClr val="FFFFFF"/>
              </a:solidFill>
              <a:latin typeface="Times New Roman"/>
            </a:endParaRPr>
          </a:p>
          <a:p>
            <a:pPr marL="0" marR="0" lvl="0" indent="0" defTabSz="914400" eaLnBrk="1" fontAlgn="auto" latinLnBrk="0" hangingPunct="1">
              <a:lnSpc>
                <a:spcPts val="1000"/>
              </a:lnSpc>
              <a:buClrTx/>
              <a:buSzTx/>
              <a:buNone/>
              <a:tabLst>
                <a:tab pos="266700" algn="l"/>
                <a:tab pos="3644900" algn="l"/>
              </a:tabLst>
              <a:defRPr/>
            </a:pPr>
            <a:endParaRPr lang="zh-CN" altLang="en-US" sz="1998" dirty="0">
              <a:solidFill>
                <a:srgbClr val="FFFFFF"/>
              </a:solidFill>
              <a:latin typeface="Times New Roman"/>
            </a:endParaRPr>
          </a:p>
          <a:p>
            <a:pPr marL="0" marR="0" lvl="0" indent="0" defTabSz="914400" eaLnBrk="1" fontAlgn="auto" latinLnBrk="0" hangingPunct="1">
              <a:lnSpc>
                <a:spcPts val="1000"/>
              </a:lnSpc>
              <a:buClrTx/>
              <a:buSzTx/>
              <a:buNone/>
              <a:tabLst>
                <a:tab pos="266700" algn="l"/>
                <a:tab pos="3644900" algn="l"/>
              </a:tabLst>
              <a:defRPr/>
            </a:pPr>
            <a:endParaRPr lang="zh-CN" altLang="en-US" sz="1998" dirty="0">
              <a:solidFill>
                <a:srgbClr val="FFFFFF"/>
              </a:solidFill>
              <a:latin typeface="Times New Roman"/>
            </a:endParaRPr>
          </a:p>
          <a:p>
            <a:pPr marL="0" marR="0" lvl="0" indent="0" defTabSz="914400" eaLnBrk="1" fontAlgn="auto" latinLnBrk="0" hangingPunct="1">
              <a:lnSpc>
                <a:spcPts val="1000"/>
              </a:lnSpc>
              <a:buClrTx/>
              <a:buSzTx/>
              <a:buNone/>
              <a:tabLst>
                <a:tab pos="266700" algn="l"/>
                <a:tab pos="3644900" algn="l"/>
              </a:tabLst>
              <a:defRPr/>
            </a:pPr>
            <a:endParaRPr lang="zh-CN" altLang="en-US" sz="1998" dirty="0">
              <a:solidFill>
                <a:srgbClr val="FFFFFF"/>
              </a:solidFill>
              <a:latin typeface="Times New Roman"/>
            </a:endParaRPr>
          </a:p>
          <a:p>
            <a:pPr marL="0" marR="0" lvl="0" indent="0" defTabSz="914400" eaLnBrk="1" fontAlgn="auto" latinLnBrk="0" hangingPunct="1">
              <a:lnSpc>
                <a:spcPts val="1000"/>
              </a:lnSpc>
              <a:buClrTx/>
              <a:buSzTx/>
              <a:buNone/>
              <a:tabLst>
                <a:tab pos="266700" algn="l"/>
                <a:tab pos="3644900" algn="l"/>
              </a:tabLst>
              <a:defRPr/>
            </a:pPr>
            <a:endParaRPr lang="zh-CN" altLang="en-US" sz="1998" dirty="0">
              <a:solidFill>
                <a:srgbClr val="FFFFFF"/>
              </a:solidFill>
              <a:latin typeface="Times New Roman"/>
            </a:endParaRPr>
          </a:p>
          <a:p>
            <a:pPr marL="0" marR="0" lvl="0" indent="0" defTabSz="914400" eaLnBrk="1" fontAlgn="auto" latinLnBrk="0" hangingPunct="1">
              <a:lnSpc>
                <a:spcPts val="1000"/>
              </a:lnSpc>
              <a:buClrTx/>
              <a:buSzTx/>
              <a:buNone/>
              <a:tabLst>
                <a:tab pos="266700" algn="l"/>
                <a:tab pos="3644900" algn="l"/>
              </a:tabLst>
              <a:defRPr/>
            </a:pPr>
            <a:endParaRPr lang="zh-CN" altLang="en-US" sz="1998" dirty="0">
              <a:solidFill>
                <a:srgbClr val="FFFFFF"/>
              </a:solidFill>
              <a:latin typeface="Times New Roman"/>
            </a:endParaRPr>
          </a:p>
          <a:p>
            <a:pPr marL="0" marR="0" lvl="0" indent="0" defTabSz="914400" eaLnBrk="1" fontAlgn="auto" latinLnBrk="0" hangingPunct="1">
              <a:lnSpc>
                <a:spcPts val="1000"/>
              </a:lnSpc>
              <a:buClrTx/>
              <a:buSzTx/>
              <a:buNone/>
              <a:tabLst>
                <a:tab pos="266700" algn="l"/>
                <a:tab pos="3644900" algn="l"/>
              </a:tabLst>
              <a:defRPr/>
            </a:pPr>
            <a:endParaRPr lang="zh-CN" altLang="en-US" sz="1998" dirty="0">
              <a:solidFill>
                <a:srgbClr val="FFFFFF"/>
              </a:solidFill>
              <a:latin typeface="Times New Roman"/>
            </a:endParaRPr>
          </a:p>
          <a:p>
            <a:pPr marL="0" marR="0" lvl="0" indent="0" defTabSz="914400" eaLnBrk="1" fontAlgn="auto" latinLnBrk="0" hangingPunct="1">
              <a:lnSpc>
                <a:spcPts val="2290"/>
              </a:lnSpc>
              <a:buClrTx/>
              <a:buSzTx/>
              <a:buNone/>
              <a:tabLst>
                <a:tab pos="266700" algn="l"/>
                <a:tab pos="3644900" algn="l"/>
              </a:tabLst>
              <a:defRPr/>
            </a:pPr>
            <a:r>
              <a:rPr lang="zh-CN" altLang="en-US" sz="1998" dirty="0">
                <a:solidFill>
                  <a:srgbClr val="FFFFFF"/>
                </a:solidFill>
                <a:latin typeface="Times New Roman"/>
              </a:rPr>
              <a:t>		</a:t>
            </a:r>
            <a:r>
              <a:rPr lang="en-US" altLang="zh-CN" dirty="0" err="1">
                <a:solidFill>
                  <a:srgbClr val="000000"/>
                </a:solidFill>
                <a:latin typeface="Times New Roman"/>
              </a:rPr>
              <a:t>Pwc</a:t>
            </a:r>
            <a:endParaRPr lang="en-US" altLang="zh-CN" dirty="0">
              <a:solidFill>
                <a:srgbClr val="000000"/>
              </a:solidFill>
              <a:latin typeface="Times New Roman"/>
            </a:endParaRPr>
          </a:p>
          <a:p>
            <a:pPr marL="0" marR="0" lvl="0" indent="0" defTabSz="914400" eaLnBrk="1" fontAlgn="auto" latinLnBrk="0" hangingPunct="1">
              <a:lnSpc>
                <a:spcPts val="1779"/>
              </a:lnSpc>
              <a:buClrTx/>
              <a:buSzTx/>
              <a:buNone/>
              <a:tabLst>
                <a:tab pos="266700" algn="l"/>
                <a:tab pos="3644900" algn="l"/>
              </a:tabLst>
              <a:defRPr/>
            </a:pPr>
            <a:r>
              <a:rPr lang="en-US" altLang="zh-CN" dirty="0">
                <a:solidFill>
                  <a:srgbClr val="000000"/>
                </a:solidFill>
                <a:latin typeface="Times New Roman"/>
              </a:rPr>
              <a:t>		</a:t>
            </a:r>
            <a:r>
              <a:rPr lang="zh-CN" altLang="en-US" sz="1478" dirty="0">
                <a:solidFill>
                  <a:srgbClr val="000000"/>
                </a:solidFill>
                <a:latin typeface="Times New Roman"/>
              </a:rPr>
              <a:t>普     華     永     道</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myslide18">
    <p:spTree>
      <p:nvGrpSpPr>
        <p:cNvPr id="1" name=""/>
        <p:cNvGrpSpPr/>
        <p:nvPr/>
      </p:nvGrpSpPr>
      <p:grpSpPr>
        <a:xfrm>
          <a:off x="0" y="0"/>
          <a:ext cx="0" cy="0"/>
          <a:chOff x="0" y="0"/>
          <a:chExt cx="0" cy="0"/>
        </a:xfrm>
      </p:grpSpPr>
      <p:pic>
        <p:nvPicPr>
          <p:cNvPr id="2" name="图片 1" descr="ws_1A5.tmp"/>
          <p:cNvPicPr>
            <a:picLocks/>
          </p:cNvPicPr>
          <p:nvPr/>
        </p:nvPicPr>
        <p:blipFill>
          <a:blip r:embed="rId2"/>
          <a:stretch>
            <a:fillRect/>
          </a:stretch>
        </p:blipFill>
        <p:spPr>
          <a:xfrm>
            <a:off x="0" y="0"/>
            <a:ext cx="9880600" cy="6819900"/>
          </a:xfrm>
          <a:prstGeom prst="rect">
            <a:avLst/>
          </a:prstGeom>
        </p:spPr>
      </p:pic>
      <p:sp>
        <p:nvSpPr>
          <p:cNvPr id="3" name="TextBox 2"/>
          <p:cNvSpPr txBox="1"/>
          <p:nvPr/>
        </p:nvSpPr>
        <p:spPr>
          <a:xfrm>
            <a:off x="509403" y="6341571"/>
            <a:ext cx="144270" cy="133370"/>
          </a:xfrm>
          <a:prstGeom prst="rect">
            <a:avLst/>
          </a:prstGeom>
          <a:noFill/>
        </p:spPr>
        <p:txBody>
          <a:bodyPr vert="horz" wrap="none" lIns="0" tIns="0" rIns="0" bIns="0" rtlCol="0">
            <a:spAutoFit/>
          </a:bodyPr>
          <a:lstStyle/>
          <a:p>
            <a:pPr>
              <a:lnSpc>
                <a:spcPts val="1016"/>
              </a:lnSpc>
            </a:pPr>
            <a:r>
              <a:rPr lang="en-US" altLang="zh-CN" sz="1098" dirty="0">
                <a:solidFill>
                  <a:srgbClr val="761437"/>
                </a:solidFill>
                <a:latin typeface="Times New Roman"/>
              </a:rPr>
              <a:t>18</a:t>
            </a:r>
            <a:endParaRPr lang="zh-CN" altLang="en-US" sz="1098" dirty="0">
              <a:solidFill>
                <a:srgbClr val="761437"/>
              </a:solidFill>
              <a:latin typeface="Times New Roman"/>
            </a:endParaRPr>
          </a:p>
        </p:txBody>
      </p:sp>
      <p:sp>
        <p:nvSpPr>
          <p:cNvPr id="4" name="TextBox 3"/>
          <p:cNvSpPr txBox="1"/>
          <p:nvPr/>
        </p:nvSpPr>
        <p:spPr>
          <a:xfrm>
            <a:off x="638181" y="507695"/>
            <a:ext cx="4809009" cy="2103140"/>
          </a:xfrm>
          <a:prstGeom prst="rect">
            <a:avLst/>
          </a:prstGeom>
          <a:noFill/>
        </p:spPr>
        <p:txBody>
          <a:bodyPr vert="horz" wrap="none" lIns="0" tIns="0" rIns="0" bIns="0" rtlCol="0">
            <a:spAutoFit/>
          </a:bodyPr>
          <a:lstStyle/>
          <a:p>
            <a:pPr marL="0" marR="0" lvl="0" indent="0" defTabSz="914400" eaLnBrk="1" fontAlgn="auto" latinLnBrk="0" hangingPunct="1">
              <a:lnSpc>
                <a:spcPts val="3596"/>
              </a:lnSpc>
              <a:buClrTx/>
              <a:buSzTx/>
              <a:buNone/>
              <a:tabLst>
                <a:tab pos="266700" algn="l"/>
                <a:tab pos="2997200" algn="l"/>
                <a:tab pos="3619500" algn="l"/>
              </a:tabLst>
              <a:defRPr/>
            </a:pPr>
            <a:r>
              <a:rPr lang="zh-CN" altLang="en-US" dirty="0"/>
              <a:t>	</a:t>
            </a:r>
            <a:r>
              <a:rPr lang="zh-CN" altLang="en-US" sz="3600" dirty="0">
                <a:solidFill>
                  <a:srgbClr val="FFFFFF"/>
                </a:solidFill>
                <a:latin typeface="Times New Roman"/>
              </a:rPr>
              <a:t>內部控制體系</a:t>
            </a:r>
          </a:p>
          <a:p>
            <a:pPr marL="0" marR="0" lvl="0" indent="0" defTabSz="914400" eaLnBrk="1" fontAlgn="auto" latinLnBrk="0" hangingPunct="1">
              <a:lnSpc>
                <a:spcPts val="1000"/>
              </a:lnSpc>
              <a:buClrTx/>
              <a:buSzTx/>
              <a:buNone/>
              <a:tabLst>
                <a:tab pos="266700" algn="l"/>
                <a:tab pos="2997200" algn="l"/>
                <a:tab pos="3619500" algn="l"/>
              </a:tabLst>
              <a:defRPr/>
            </a:pPr>
            <a:endParaRPr lang="zh-CN" altLang="en-US" sz="3600" dirty="0">
              <a:solidFill>
                <a:srgbClr val="FFFFFF"/>
              </a:solidFill>
              <a:latin typeface="Times New Roman"/>
            </a:endParaRPr>
          </a:p>
          <a:p>
            <a:pPr marL="0" marR="0" lvl="0" indent="0" defTabSz="914400" eaLnBrk="1" fontAlgn="auto" latinLnBrk="0" hangingPunct="1">
              <a:lnSpc>
                <a:spcPts val="1000"/>
              </a:lnSpc>
              <a:buClrTx/>
              <a:buSzTx/>
              <a:buNone/>
              <a:tabLst>
                <a:tab pos="266700" algn="l"/>
                <a:tab pos="2997200" algn="l"/>
                <a:tab pos="3619500" algn="l"/>
              </a:tabLst>
              <a:defRPr/>
            </a:pPr>
            <a:endParaRPr lang="zh-CN" altLang="en-US" sz="3600" dirty="0">
              <a:solidFill>
                <a:srgbClr val="FFFFFF"/>
              </a:solidFill>
              <a:latin typeface="Times New Roman"/>
            </a:endParaRPr>
          </a:p>
          <a:p>
            <a:pPr marL="0" marR="0" lvl="0" indent="0" defTabSz="914400" eaLnBrk="1" fontAlgn="auto" latinLnBrk="0" hangingPunct="1">
              <a:lnSpc>
                <a:spcPts val="2716"/>
              </a:lnSpc>
              <a:buClrTx/>
              <a:buSzTx/>
              <a:buNone/>
              <a:tabLst>
                <a:tab pos="266700" algn="l"/>
                <a:tab pos="2997200" algn="l"/>
                <a:tab pos="3619500" algn="l"/>
              </a:tabLst>
              <a:defRPr/>
            </a:pPr>
            <a:r>
              <a:rPr lang="zh-CN" altLang="en-US" sz="3600" dirty="0">
                <a:solidFill>
                  <a:srgbClr val="FFFFFF"/>
                </a:solidFill>
                <a:latin typeface="Times New Roman"/>
              </a:rPr>
              <a:t>			</a:t>
            </a:r>
            <a:r>
              <a:rPr lang="zh-CN" altLang="en-US" dirty="0">
                <a:solidFill>
                  <a:srgbClr val="FFCC00"/>
                </a:solidFill>
                <a:latin typeface="Times New Roman"/>
              </a:rPr>
              <a:t>資訊與溝通</a:t>
            </a:r>
          </a:p>
          <a:p>
            <a:pPr marL="0" marR="0" lvl="0" indent="0" defTabSz="914400" eaLnBrk="1" fontAlgn="auto" latinLnBrk="0" hangingPunct="1">
              <a:lnSpc>
                <a:spcPts val="1000"/>
              </a:lnSpc>
              <a:buClrTx/>
              <a:buSzTx/>
              <a:buNone/>
              <a:tabLst>
                <a:tab pos="266700" algn="l"/>
                <a:tab pos="2997200" algn="l"/>
                <a:tab pos="3619500" algn="l"/>
              </a:tabLst>
              <a:defRPr/>
            </a:pPr>
            <a:endParaRPr lang="zh-CN" altLang="en-US" dirty="0">
              <a:solidFill>
                <a:srgbClr val="FFCC00"/>
              </a:solidFill>
              <a:latin typeface="Times New Roman"/>
            </a:endParaRPr>
          </a:p>
          <a:p>
            <a:pPr marL="0" marR="0" lvl="0" indent="0" defTabSz="914400" eaLnBrk="1" fontAlgn="auto" latinLnBrk="0" hangingPunct="1">
              <a:lnSpc>
                <a:spcPts val="1000"/>
              </a:lnSpc>
              <a:buClrTx/>
              <a:buSzTx/>
              <a:buNone/>
              <a:tabLst>
                <a:tab pos="266700" algn="l"/>
                <a:tab pos="2997200" algn="l"/>
                <a:tab pos="3619500" algn="l"/>
              </a:tabLst>
              <a:defRPr/>
            </a:pPr>
            <a:endParaRPr lang="zh-CN" altLang="en-US" dirty="0">
              <a:solidFill>
                <a:srgbClr val="FFCC00"/>
              </a:solidFill>
              <a:latin typeface="Times New Roman"/>
            </a:endParaRPr>
          </a:p>
          <a:p>
            <a:pPr marL="0" marR="0" lvl="0" indent="0" defTabSz="914400" eaLnBrk="1" fontAlgn="auto" latinLnBrk="0" hangingPunct="1">
              <a:lnSpc>
                <a:spcPts val="2614"/>
              </a:lnSpc>
              <a:buClrTx/>
              <a:buSzTx/>
              <a:buNone/>
              <a:tabLst>
                <a:tab pos="266700" algn="l"/>
                <a:tab pos="2997200" algn="l"/>
                <a:tab pos="3619500" algn="l"/>
              </a:tabLst>
              <a:defRPr/>
            </a:pPr>
            <a:r>
              <a:rPr lang="zh-CN" altLang="en-US" dirty="0">
                <a:solidFill>
                  <a:srgbClr val="FFCC00"/>
                </a:solidFill>
                <a:latin typeface="Times New Roman"/>
              </a:rPr>
              <a:t>風險評估</a:t>
            </a:r>
          </a:p>
          <a:p>
            <a:pPr marL="0" marR="0" lvl="0" indent="0" defTabSz="914400" eaLnBrk="1" fontAlgn="auto" latinLnBrk="0" hangingPunct="1">
              <a:lnSpc>
                <a:spcPts val="1000"/>
              </a:lnSpc>
              <a:buClrTx/>
              <a:buSzTx/>
              <a:buNone/>
              <a:tabLst>
                <a:tab pos="266700" algn="l"/>
                <a:tab pos="2997200" algn="l"/>
                <a:tab pos="3619500" algn="l"/>
              </a:tabLst>
              <a:defRPr/>
            </a:pPr>
            <a:endParaRPr lang="zh-CN" altLang="en-US" dirty="0">
              <a:solidFill>
                <a:srgbClr val="FFCC00"/>
              </a:solidFill>
              <a:latin typeface="Times New Roman"/>
            </a:endParaRPr>
          </a:p>
          <a:p>
            <a:pPr marL="0" marR="0" lvl="0" indent="0" defTabSz="914400" eaLnBrk="1" fontAlgn="auto" latinLnBrk="0" hangingPunct="1">
              <a:lnSpc>
                <a:spcPts val="2462"/>
              </a:lnSpc>
              <a:buClrTx/>
              <a:buSzTx/>
              <a:buNone/>
              <a:tabLst>
                <a:tab pos="266700" algn="l"/>
                <a:tab pos="2997200" algn="l"/>
                <a:tab pos="3619500" algn="l"/>
              </a:tabLst>
              <a:defRPr/>
            </a:pPr>
            <a:r>
              <a:rPr lang="zh-CN" altLang="en-US" dirty="0">
                <a:solidFill>
                  <a:srgbClr val="FFCC00"/>
                </a:solidFill>
                <a:latin typeface="Times New Roman"/>
              </a:rPr>
              <a:t>		</a:t>
            </a:r>
            <a:r>
              <a:rPr lang="zh-CN" altLang="en-US" dirty="0">
                <a:solidFill>
                  <a:srgbClr val="FFFFFF"/>
                </a:solidFill>
                <a:latin typeface="Times New Roman"/>
              </a:rPr>
              <a:t>流程</a:t>
            </a:r>
          </a:p>
        </p:txBody>
      </p:sp>
      <p:sp>
        <p:nvSpPr>
          <p:cNvPr id="5" name="TextBox 4"/>
          <p:cNvSpPr txBox="1"/>
          <p:nvPr/>
        </p:nvSpPr>
        <p:spPr>
          <a:xfrm>
            <a:off x="2984379" y="2713685"/>
            <a:ext cx="333425" cy="218008"/>
          </a:xfrm>
          <a:prstGeom prst="rect">
            <a:avLst/>
          </a:prstGeom>
          <a:noFill/>
        </p:spPr>
        <p:txBody>
          <a:bodyPr vert="horz" wrap="none" lIns="0" tIns="0" rIns="0" bIns="0" rtlCol="0">
            <a:spAutoFit/>
          </a:bodyPr>
          <a:lstStyle/>
          <a:p>
            <a:pPr>
              <a:lnSpc>
                <a:spcPts val="1665"/>
              </a:lnSpc>
            </a:pPr>
            <a:r>
              <a:rPr lang="en-US" altLang="zh-CN" dirty="0">
                <a:solidFill>
                  <a:srgbClr val="FF0000"/>
                </a:solidFill>
                <a:latin typeface="Times New Roman"/>
              </a:rPr>
              <a:t>XX</a:t>
            </a:r>
            <a:endParaRPr lang="zh-CN" altLang="en-US" dirty="0">
              <a:solidFill>
                <a:srgbClr val="FF0000"/>
              </a:solidFill>
              <a:latin typeface="Times New Roman"/>
            </a:endParaRPr>
          </a:p>
        </p:txBody>
      </p:sp>
      <p:sp>
        <p:nvSpPr>
          <p:cNvPr id="6" name="TextBox 5"/>
          <p:cNvSpPr txBox="1"/>
          <p:nvPr/>
        </p:nvSpPr>
        <p:spPr>
          <a:xfrm>
            <a:off x="4736997" y="2639009"/>
            <a:ext cx="333425" cy="218008"/>
          </a:xfrm>
          <a:prstGeom prst="rect">
            <a:avLst/>
          </a:prstGeom>
          <a:noFill/>
        </p:spPr>
        <p:txBody>
          <a:bodyPr vert="horz" wrap="none" lIns="0" tIns="0" rIns="0" bIns="0" rtlCol="0">
            <a:spAutoFit/>
          </a:bodyPr>
          <a:lstStyle/>
          <a:p>
            <a:pPr>
              <a:lnSpc>
                <a:spcPts val="1665"/>
              </a:lnSpc>
            </a:pPr>
            <a:r>
              <a:rPr lang="en-US" altLang="zh-CN" dirty="0">
                <a:solidFill>
                  <a:srgbClr val="FF0000"/>
                </a:solidFill>
                <a:latin typeface="Times New Roman"/>
              </a:rPr>
              <a:t>XX</a:t>
            </a:r>
            <a:endParaRPr lang="zh-CN" altLang="en-US" dirty="0">
              <a:solidFill>
                <a:srgbClr val="FF0000"/>
              </a:solidFill>
              <a:latin typeface="Times New Roman"/>
            </a:endParaRPr>
          </a:p>
        </p:txBody>
      </p:sp>
      <p:sp>
        <p:nvSpPr>
          <p:cNvPr id="7" name="TextBox 6"/>
          <p:cNvSpPr txBox="1"/>
          <p:nvPr/>
        </p:nvSpPr>
        <p:spPr>
          <a:xfrm>
            <a:off x="812679" y="3254476"/>
            <a:ext cx="923330" cy="230832"/>
          </a:xfrm>
          <a:prstGeom prst="rect">
            <a:avLst/>
          </a:prstGeom>
          <a:noFill/>
        </p:spPr>
        <p:txBody>
          <a:bodyPr vert="horz" wrap="none" lIns="0" tIns="0" rIns="0" bIns="0" rtlCol="0">
            <a:spAutoFit/>
          </a:bodyPr>
          <a:lstStyle/>
          <a:p>
            <a:pPr>
              <a:lnSpc>
                <a:spcPts val="1798"/>
              </a:lnSpc>
            </a:pPr>
            <a:r>
              <a:rPr lang="zh-CN" altLang="en-US" dirty="0">
                <a:solidFill>
                  <a:srgbClr val="FFFFFF"/>
                </a:solidFill>
                <a:latin typeface="Times New Roman"/>
              </a:rPr>
              <a:t>交易發生</a:t>
            </a:r>
          </a:p>
        </p:txBody>
      </p:sp>
      <p:sp>
        <p:nvSpPr>
          <p:cNvPr id="8" name="TextBox 7"/>
          <p:cNvSpPr txBox="1"/>
          <p:nvPr/>
        </p:nvSpPr>
        <p:spPr>
          <a:xfrm>
            <a:off x="4435227" y="3117600"/>
            <a:ext cx="1083630" cy="269304"/>
          </a:xfrm>
          <a:prstGeom prst="rect">
            <a:avLst/>
          </a:prstGeom>
          <a:noFill/>
        </p:spPr>
        <p:txBody>
          <a:bodyPr vert="horz" wrap="none" lIns="0" tIns="0" rIns="0" bIns="0" rtlCol="0">
            <a:spAutoFit/>
          </a:bodyPr>
          <a:lstStyle/>
          <a:p>
            <a:pPr>
              <a:lnSpc>
                <a:spcPts val="2110"/>
              </a:lnSpc>
            </a:pPr>
            <a:r>
              <a:rPr lang="zh-CN" altLang="en-US" sz="2112" dirty="0">
                <a:solidFill>
                  <a:srgbClr val="502800"/>
                </a:solidFill>
                <a:latin typeface="Times New Roman"/>
              </a:rPr>
              <a:t>控制活動</a:t>
            </a:r>
          </a:p>
        </p:txBody>
      </p:sp>
      <p:sp>
        <p:nvSpPr>
          <p:cNvPr id="9" name="TextBox 8"/>
          <p:cNvSpPr txBox="1"/>
          <p:nvPr/>
        </p:nvSpPr>
        <p:spPr>
          <a:xfrm>
            <a:off x="6150489" y="3127222"/>
            <a:ext cx="987450" cy="525785"/>
          </a:xfrm>
          <a:prstGeom prst="rect">
            <a:avLst/>
          </a:prstGeom>
          <a:noFill/>
        </p:spPr>
        <p:txBody>
          <a:bodyPr vert="horz" wrap="none" lIns="0" tIns="0" rIns="0" bIns="0" rtlCol="0">
            <a:spAutoFit/>
          </a:bodyPr>
          <a:lstStyle/>
          <a:p>
            <a:pPr marL="0" marR="0" lvl="0" indent="0" defTabSz="914400" eaLnBrk="1" fontAlgn="auto" latinLnBrk="0" hangingPunct="1">
              <a:lnSpc>
                <a:spcPts val="1798"/>
              </a:lnSpc>
              <a:buClrTx/>
              <a:buSzTx/>
              <a:buNone/>
              <a:tabLst>
                <a:tab pos="25400" algn="l"/>
              </a:tabLst>
              <a:defRPr/>
            </a:pPr>
            <a:r>
              <a:rPr lang="zh-CN" altLang="en-US" dirty="0">
                <a:solidFill>
                  <a:srgbClr val="FFFFFF"/>
                </a:solidFill>
                <a:latin typeface="Times New Roman"/>
              </a:rPr>
              <a:t>管理報告</a:t>
            </a:r>
            <a:r>
              <a:rPr lang="en-US" altLang="zh-CN" dirty="0">
                <a:solidFill>
                  <a:srgbClr val="FFFFFF"/>
                </a:solidFill>
                <a:latin typeface="Times New Roman"/>
              </a:rPr>
              <a:t>/</a:t>
            </a:r>
          </a:p>
          <a:p>
            <a:pPr marL="0" marR="0" lvl="0" indent="0" defTabSz="914400" eaLnBrk="1" fontAlgn="auto" latinLnBrk="0" hangingPunct="1">
              <a:lnSpc>
                <a:spcPts val="2280"/>
              </a:lnSpc>
              <a:buClrTx/>
              <a:buSzTx/>
              <a:buNone/>
              <a:tabLst>
                <a:tab pos="25400" algn="l"/>
              </a:tabLst>
              <a:defRPr/>
            </a:pPr>
            <a:r>
              <a:rPr lang="en-US" altLang="zh-CN" dirty="0">
                <a:solidFill>
                  <a:srgbClr val="FFFFFF"/>
                </a:solidFill>
                <a:latin typeface="Times New Roman"/>
              </a:rPr>
              <a:t>	</a:t>
            </a:r>
            <a:r>
              <a:rPr lang="zh-CN" altLang="en-US" dirty="0">
                <a:solidFill>
                  <a:srgbClr val="FFFFFF"/>
                </a:solidFill>
                <a:latin typeface="Times New Roman"/>
              </a:rPr>
              <a:t>財務資訊</a:t>
            </a:r>
          </a:p>
        </p:txBody>
      </p:sp>
      <p:sp>
        <p:nvSpPr>
          <p:cNvPr id="10" name="TextBox 9"/>
          <p:cNvSpPr txBox="1"/>
          <p:nvPr/>
        </p:nvSpPr>
        <p:spPr>
          <a:xfrm>
            <a:off x="8278755" y="3156178"/>
            <a:ext cx="461665" cy="512961"/>
          </a:xfrm>
          <a:prstGeom prst="rect">
            <a:avLst/>
          </a:prstGeom>
          <a:noFill/>
        </p:spPr>
        <p:txBody>
          <a:bodyPr vert="horz" wrap="none" lIns="0" tIns="0" rIns="0" bIns="0" rtlCol="0">
            <a:spAutoFit/>
          </a:bodyPr>
          <a:lstStyle/>
          <a:p>
            <a:pPr>
              <a:lnSpc>
                <a:spcPts val="1798"/>
              </a:lnSpc>
            </a:pPr>
            <a:r>
              <a:rPr lang="zh-CN" altLang="en-US" dirty="0">
                <a:solidFill>
                  <a:srgbClr val="FFFFFF"/>
                </a:solidFill>
                <a:latin typeface="Times New Roman"/>
              </a:rPr>
              <a:t>財務</a:t>
            </a:r>
          </a:p>
          <a:p>
            <a:pPr>
              <a:lnSpc>
                <a:spcPts val="2160"/>
              </a:lnSpc>
            </a:pPr>
            <a:r>
              <a:rPr lang="zh-CN" altLang="en-US" dirty="0">
                <a:solidFill>
                  <a:srgbClr val="FFFFFF"/>
                </a:solidFill>
                <a:latin typeface="Times New Roman"/>
              </a:rPr>
              <a:t>報表</a:t>
            </a:r>
          </a:p>
        </p:txBody>
      </p:sp>
      <p:sp>
        <p:nvSpPr>
          <p:cNvPr id="11" name="TextBox 10"/>
          <p:cNvSpPr txBox="1"/>
          <p:nvPr/>
        </p:nvSpPr>
        <p:spPr>
          <a:xfrm>
            <a:off x="763911" y="3891737"/>
            <a:ext cx="9090630" cy="2872581"/>
          </a:xfrm>
          <a:prstGeom prst="rect">
            <a:avLst/>
          </a:prstGeom>
          <a:noFill/>
        </p:spPr>
        <p:txBody>
          <a:bodyPr vert="horz" wrap="none" lIns="0" tIns="0" rIns="0" bIns="0" rtlCol="0">
            <a:spAutoFit/>
          </a:bodyPr>
          <a:lstStyle/>
          <a:p>
            <a:pPr marL="0" marR="0" lvl="0" indent="0" defTabSz="914400" eaLnBrk="1" fontAlgn="auto" latinLnBrk="0" hangingPunct="1">
              <a:lnSpc>
                <a:spcPts val="1665"/>
              </a:lnSpc>
              <a:buClrTx/>
              <a:buSzTx/>
              <a:buNone/>
              <a:tabLst>
                <a:tab pos="2514600" algn="l"/>
                <a:tab pos="2667000" algn="l"/>
                <a:tab pos="4254500" algn="l"/>
                <a:tab pos="7302500" algn="l"/>
              </a:tabLst>
              <a:defRPr/>
            </a:pPr>
            <a:r>
              <a:rPr lang="zh-CN" altLang="en-US" dirty="0"/>
              <a:t>	</a:t>
            </a:r>
            <a:r>
              <a:rPr lang="en-US" altLang="zh-CN" dirty="0">
                <a:solidFill>
                  <a:srgbClr val="FF0000"/>
                </a:solidFill>
                <a:latin typeface="Times New Roman"/>
              </a:rPr>
              <a:t>XX</a:t>
            </a:r>
          </a:p>
          <a:p>
            <a:pPr marL="0" marR="0" lvl="0" indent="0" defTabSz="914400" eaLnBrk="1" fontAlgn="auto" latinLnBrk="0" hangingPunct="1">
              <a:lnSpc>
                <a:spcPts val="1000"/>
              </a:lnSpc>
              <a:buClrTx/>
              <a:buSzTx/>
              <a:buNone/>
              <a:tabLst>
                <a:tab pos="2514600" algn="l"/>
                <a:tab pos="2667000" algn="l"/>
                <a:tab pos="4254500" algn="l"/>
                <a:tab pos="7302500" algn="l"/>
              </a:tabLst>
              <a:defRPr/>
            </a:pPr>
            <a:endParaRPr lang="en-US" altLang="zh-CN" dirty="0">
              <a:solidFill>
                <a:srgbClr val="FF0000"/>
              </a:solidFill>
              <a:latin typeface="Times New Roman"/>
            </a:endParaRPr>
          </a:p>
          <a:p>
            <a:pPr marL="0" marR="0" lvl="0" indent="0" defTabSz="914400" eaLnBrk="1" fontAlgn="auto" latinLnBrk="0" hangingPunct="1">
              <a:lnSpc>
                <a:spcPts val="1000"/>
              </a:lnSpc>
              <a:buClrTx/>
              <a:buSzTx/>
              <a:buNone/>
              <a:tabLst>
                <a:tab pos="2514600" algn="l"/>
                <a:tab pos="2667000" algn="l"/>
                <a:tab pos="4254500" algn="l"/>
                <a:tab pos="7302500" algn="l"/>
              </a:tabLst>
              <a:defRPr/>
            </a:pPr>
            <a:endParaRPr lang="en-US" altLang="zh-CN" dirty="0">
              <a:solidFill>
                <a:srgbClr val="FF0000"/>
              </a:solidFill>
              <a:latin typeface="Times New Roman"/>
            </a:endParaRPr>
          </a:p>
          <a:p>
            <a:pPr marL="0" marR="0" lvl="0" indent="0" defTabSz="914400" eaLnBrk="1" fontAlgn="auto" latinLnBrk="0" hangingPunct="1">
              <a:lnSpc>
                <a:spcPts val="2134"/>
              </a:lnSpc>
              <a:buClrTx/>
              <a:buSzTx/>
              <a:buNone/>
              <a:tabLst>
                <a:tab pos="2514600" algn="l"/>
                <a:tab pos="2667000" algn="l"/>
                <a:tab pos="4254500" algn="l"/>
                <a:tab pos="7302500" algn="l"/>
              </a:tabLst>
              <a:defRPr/>
            </a:pPr>
            <a:r>
              <a:rPr lang="en-US" altLang="zh-CN" dirty="0">
                <a:solidFill>
                  <a:srgbClr val="FF0000"/>
                </a:solidFill>
                <a:latin typeface="Times New Roman"/>
              </a:rPr>
              <a:t>			XX</a:t>
            </a:r>
          </a:p>
          <a:p>
            <a:pPr marL="0" marR="0" lvl="0" indent="0" defTabSz="914400" eaLnBrk="1" fontAlgn="auto" latinLnBrk="0" hangingPunct="1">
              <a:lnSpc>
                <a:spcPts val="1000"/>
              </a:lnSpc>
              <a:buClrTx/>
              <a:buSzTx/>
              <a:buNone/>
              <a:tabLst>
                <a:tab pos="2514600" algn="l"/>
                <a:tab pos="2667000" algn="l"/>
                <a:tab pos="4254500" algn="l"/>
                <a:tab pos="7302500" algn="l"/>
              </a:tabLst>
              <a:defRPr/>
            </a:pPr>
            <a:endParaRPr lang="en-US" altLang="zh-CN" dirty="0">
              <a:solidFill>
                <a:srgbClr val="FF0000"/>
              </a:solidFill>
              <a:latin typeface="Times New Roman"/>
            </a:endParaRPr>
          </a:p>
          <a:p>
            <a:pPr marL="0" marR="0" lvl="0" indent="0" defTabSz="914400" eaLnBrk="1" fontAlgn="auto" latinLnBrk="0" hangingPunct="1">
              <a:lnSpc>
                <a:spcPts val="1000"/>
              </a:lnSpc>
              <a:buClrTx/>
              <a:buSzTx/>
              <a:buNone/>
              <a:tabLst>
                <a:tab pos="2514600" algn="l"/>
                <a:tab pos="2667000" algn="l"/>
                <a:tab pos="4254500" algn="l"/>
                <a:tab pos="7302500" algn="l"/>
              </a:tabLst>
              <a:defRPr/>
            </a:pPr>
            <a:endParaRPr lang="en-US" altLang="zh-CN" dirty="0">
              <a:solidFill>
                <a:srgbClr val="FF0000"/>
              </a:solidFill>
              <a:latin typeface="Times New Roman"/>
            </a:endParaRPr>
          </a:p>
          <a:p>
            <a:pPr marL="0" marR="0" lvl="0" indent="0" defTabSz="914400" eaLnBrk="1" fontAlgn="auto" latinLnBrk="0" hangingPunct="1">
              <a:lnSpc>
                <a:spcPts val="1000"/>
              </a:lnSpc>
              <a:buClrTx/>
              <a:buSzTx/>
              <a:buNone/>
              <a:tabLst>
                <a:tab pos="2514600" algn="l"/>
                <a:tab pos="2667000" algn="l"/>
                <a:tab pos="4254500" algn="l"/>
                <a:tab pos="7302500" algn="l"/>
              </a:tabLst>
              <a:defRPr/>
            </a:pPr>
            <a:endParaRPr lang="en-US" altLang="zh-CN" dirty="0">
              <a:solidFill>
                <a:srgbClr val="FF0000"/>
              </a:solidFill>
              <a:latin typeface="Times New Roman"/>
            </a:endParaRPr>
          </a:p>
          <a:p>
            <a:pPr marL="0" marR="0" lvl="0" indent="0" defTabSz="914400" eaLnBrk="1" fontAlgn="auto" latinLnBrk="0" hangingPunct="1">
              <a:lnSpc>
                <a:spcPts val="1000"/>
              </a:lnSpc>
              <a:buClrTx/>
              <a:buSzTx/>
              <a:buNone/>
              <a:tabLst>
                <a:tab pos="2514600" algn="l"/>
                <a:tab pos="2667000" algn="l"/>
                <a:tab pos="4254500" algn="l"/>
                <a:tab pos="7302500" algn="l"/>
              </a:tabLst>
              <a:defRPr/>
            </a:pPr>
            <a:endParaRPr lang="en-US" altLang="zh-CN" dirty="0">
              <a:solidFill>
                <a:srgbClr val="FF0000"/>
              </a:solidFill>
              <a:latin typeface="Times New Roman"/>
            </a:endParaRPr>
          </a:p>
          <a:p>
            <a:pPr marL="0" marR="0" lvl="0" indent="0" defTabSz="914400" eaLnBrk="1" fontAlgn="auto" latinLnBrk="0" hangingPunct="1">
              <a:lnSpc>
                <a:spcPts val="1000"/>
              </a:lnSpc>
              <a:buClrTx/>
              <a:buSzTx/>
              <a:buNone/>
              <a:tabLst>
                <a:tab pos="2514600" algn="l"/>
                <a:tab pos="2667000" algn="l"/>
                <a:tab pos="4254500" algn="l"/>
                <a:tab pos="7302500" algn="l"/>
              </a:tabLst>
              <a:defRPr/>
            </a:pPr>
            <a:endParaRPr lang="en-US" altLang="zh-CN" dirty="0">
              <a:solidFill>
                <a:srgbClr val="FF0000"/>
              </a:solidFill>
              <a:latin typeface="Times New Roman"/>
            </a:endParaRPr>
          </a:p>
          <a:p>
            <a:pPr marL="0" marR="0" lvl="0" indent="0" defTabSz="914400" eaLnBrk="1" fontAlgn="auto" latinLnBrk="0" hangingPunct="1">
              <a:lnSpc>
                <a:spcPts val="1000"/>
              </a:lnSpc>
              <a:buClrTx/>
              <a:buSzTx/>
              <a:buNone/>
              <a:tabLst>
                <a:tab pos="2514600" algn="l"/>
                <a:tab pos="2667000" algn="l"/>
                <a:tab pos="4254500" algn="l"/>
                <a:tab pos="7302500" algn="l"/>
              </a:tabLst>
              <a:defRPr/>
            </a:pPr>
            <a:endParaRPr lang="en-US" altLang="zh-CN" dirty="0">
              <a:solidFill>
                <a:srgbClr val="FF0000"/>
              </a:solidFill>
              <a:latin typeface="Times New Roman"/>
            </a:endParaRPr>
          </a:p>
          <a:p>
            <a:pPr marL="0" marR="0" lvl="0" indent="0" defTabSz="914400" eaLnBrk="1" fontAlgn="auto" latinLnBrk="0" hangingPunct="1">
              <a:lnSpc>
                <a:spcPts val="1985"/>
              </a:lnSpc>
              <a:buClrTx/>
              <a:buSzTx/>
              <a:buNone/>
              <a:tabLst>
                <a:tab pos="2514600" algn="l"/>
                <a:tab pos="2667000" algn="l"/>
                <a:tab pos="4254500" algn="l"/>
                <a:tab pos="7302500" algn="l"/>
              </a:tabLst>
              <a:defRPr/>
            </a:pPr>
            <a:r>
              <a:rPr lang="en-US" altLang="zh-CN" dirty="0">
                <a:solidFill>
                  <a:srgbClr val="FF0000"/>
                </a:solidFill>
                <a:latin typeface="Times New Roman"/>
              </a:rPr>
              <a:t>		</a:t>
            </a:r>
            <a:r>
              <a:rPr lang="zh-CN" altLang="en-US" dirty="0">
                <a:solidFill>
                  <a:srgbClr val="FFFFFF"/>
                </a:solidFill>
                <a:latin typeface="Times New Roman"/>
              </a:rPr>
              <a:t>監控</a:t>
            </a:r>
          </a:p>
          <a:p>
            <a:pPr marL="0" marR="0" lvl="0" indent="0" defTabSz="914400" eaLnBrk="1" fontAlgn="auto" latinLnBrk="0" hangingPunct="1">
              <a:lnSpc>
                <a:spcPts val="2440"/>
              </a:lnSpc>
              <a:buClrTx/>
              <a:buSzTx/>
              <a:buNone/>
              <a:tabLst>
                <a:tab pos="2514600" algn="l"/>
                <a:tab pos="2667000" algn="l"/>
                <a:tab pos="4254500" algn="l"/>
                <a:tab pos="7302500" algn="l"/>
              </a:tabLst>
              <a:defRPr/>
            </a:pPr>
            <a:r>
              <a:rPr lang="zh-CN" altLang="en-US" sz="1998" dirty="0">
                <a:solidFill>
                  <a:srgbClr val="FFFFFF"/>
                </a:solidFill>
                <a:latin typeface="Times New Roman"/>
              </a:rPr>
              <a:t>控制環境</a:t>
            </a:r>
          </a:p>
          <a:p>
            <a:pPr marL="0" marR="0" lvl="0" indent="0" defTabSz="914400" eaLnBrk="1" fontAlgn="auto" latinLnBrk="0" hangingPunct="1">
              <a:lnSpc>
                <a:spcPts val="1000"/>
              </a:lnSpc>
              <a:buClrTx/>
              <a:buSzTx/>
              <a:buNone/>
              <a:tabLst>
                <a:tab pos="2514600" algn="l"/>
                <a:tab pos="2667000" algn="l"/>
                <a:tab pos="4254500" algn="l"/>
                <a:tab pos="7302500" algn="l"/>
              </a:tabLst>
              <a:defRPr/>
            </a:pPr>
            <a:endParaRPr lang="zh-CN" altLang="en-US" sz="1998" dirty="0">
              <a:solidFill>
                <a:srgbClr val="FFFFFF"/>
              </a:solidFill>
              <a:latin typeface="Times New Roman"/>
            </a:endParaRPr>
          </a:p>
          <a:p>
            <a:pPr marL="0" marR="0" lvl="0" indent="0" defTabSz="914400" eaLnBrk="1" fontAlgn="auto" latinLnBrk="0" hangingPunct="1">
              <a:lnSpc>
                <a:spcPts val="1000"/>
              </a:lnSpc>
              <a:buClrTx/>
              <a:buSzTx/>
              <a:buNone/>
              <a:tabLst>
                <a:tab pos="2514600" algn="l"/>
                <a:tab pos="2667000" algn="l"/>
                <a:tab pos="4254500" algn="l"/>
                <a:tab pos="7302500" algn="l"/>
              </a:tabLst>
              <a:defRPr/>
            </a:pPr>
            <a:endParaRPr lang="zh-CN" altLang="en-US" sz="1998" dirty="0">
              <a:solidFill>
                <a:srgbClr val="FFFFFF"/>
              </a:solidFill>
              <a:latin typeface="Times New Roman"/>
            </a:endParaRPr>
          </a:p>
          <a:p>
            <a:pPr marL="0" marR="0" lvl="0" indent="0" defTabSz="914400" eaLnBrk="1" fontAlgn="auto" latinLnBrk="0" hangingPunct="1">
              <a:lnSpc>
                <a:spcPts val="2424"/>
              </a:lnSpc>
              <a:buClrTx/>
              <a:buSzTx/>
              <a:buNone/>
              <a:tabLst>
                <a:tab pos="2514600" algn="l"/>
                <a:tab pos="2667000" algn="l"/>
                <a:tab pos="4254500" algn="l"/>
                <a:tab pos="7302500" algn="l"/>
              </a:tabLst>
              <a:defRPr/>
            </a:pPr>
            <a:r>
              <a:rPr lang="zh-CN" altLang="en-US" sz="1998" dirty="0">
                <a:solidFill>
                  <a:srgbClr val="FFFFFF"/>
                </a:solidFill>
                <a:latin typeface="Times New Roman"/>
              </a:rPr>
              <a:t>				</a:t>
            </a:r>
            <a:r>
              <a:rPr lang="en-US" altLang="zh-CN" dirty="0" err="1">
                <a:solidFill>
                  <a:srgbClr val="000000"/>
                </a:solidFill>
                <a:latin typeface="Times New Roman"/>
              </a:rPr>
              <a:t>Pwc</a:t>
            </a:r>
            <a:endParaRPr lang="en-US" altLang="zh-CN" dirty="0">
              <a:solidFill>
                <a:srgbClr val="000000"/>
              </a:solidFill>
              <a:latin typeface="Times New Roman"/>
            </a:endParaRPr>
          </a:p>
          <a:p>
            <a:pPr marL="0" marR="0" lvl="0" indent="0" defTabSz="914400" eaLnBrk="1" fontAlgn="auto" latinLnBrk="0" hangingPunct="1">
              <a:lnSpc>
                <a:spcPts val="1779"/>
              </a:lnSpc>
              <a:buClrTx/>
              <a:buSzTx/>
              <a:buNone/>
              <a:tabLst>
                <a:tab pos="2514600" algn="l"/>
                <a:tab pos="2667000" algn="l"/>
                <a:tab pos="4254500" algn="l"/>
                <a:tab pos="7302500" algn="l"/>
              </a:tabLst>
              <a:defRPr/>
            </a:pPr>
            <a:r>
              <a:rPr lang="en-US" altLang="zh-CN" dirty="0">
                <a:solidFill>
                  <a:srgbClr val="000000"/>
                </a:solidFill>
                <a:latin typeface="Times New Roman"/>
              </a:rPr>
              <a:t>				</a:t>
            </a:r>
            <a:r>
              <a:rPr lang="zh-CN" altLang="en-US" sz="1478" dirty="0">
                <a:solidFill>
                  <a:srgbClr val="000000"/>
                </a:solidFill>
                <a:latin typeface="Times New Roman"/>
              </a:rPr>
              <a:t>普     華     永     道</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myslide19">
    <p:spTree>
      <p:nvGrpSpPr>
        <p:cNvPr id="1" name=""/>
        <p:cNvGrpSpPr/>
        <p:nvPr/>
      </p:nvGrpSpPr>
      <p:grpSpPr>
        <a:xfrm>
          <a:off x="0" y="0"/>
          <a:ext cx="0" cy="0"/>
          <a:chOff x="0" y="0"/>
          <a:chExt cx="0" cy="0"/>
        </a:xfrm>
      </p:grpSpPr>
      <p:pic>
        <p:nvPicPr>
          <p:cNvPr id="2" name="图片 1" descr="ws_1A7.tmp"/>
          <p:cNvPicPr>
            <a:picLocks/>
          </p:cNvPicPr>
          <p:nvPr/>
        </p:nvPicPr>
        <p:blipFill>
          <a:blip r:embed="rId2"/>
          <a:stretch>
            <a:fillRect/>
          </a:stretch>
        </p:blipFill>
        <p:spPr>
          <a:xfrm>
            <a:off x="0" y="0"/>
            <a:ext cx="9880600" cy="6819900"/>
          </a:xfrm>
          <a:prstGeom prst="rect">
            <a:avLst/>
          </a:prstGeom>
        </p:spPr>
      </p:pic>
      <p:sp>
        <p:nvSpPr>
          <p:cNvPr id="3" name="TextBox 2"/>
          <p:cNvSpPr txBox="1"/>
          <p:nvPr/>
        </p:nvSpPr>
        <p:spPr>
          <a:xfrm>
            <a:off x="509403" y="6341571"/>
            <a:ext cx="144270" cy="133370"/>
          </a:xfrm>
          <a:prstGeom prst="rect">
            <a:avLst/>
          </a:prstGeom>
          <a:noFill/>
        </p:spPr>
        <p:txBody>
          <a:bodyPr vert="horz" wrap="none" lIns="0" tIns="0" rIns="0" bIns="0" rtlCol="0">
            <a:spAutoFit/>
          </a:bodyPr>
          <a:lstStyle/>
          <a:p>
            <a:pPr>
              <a:lnSpc>
                <a:spcPts val="1016"/>
              </a:lnSpc>
            </a:pPr>
            <a:r>
              <a:rPr lang="en-US" altLang="zh-CN" sz="1098" dirty="0">
                <a:solidFill>
                  <a:srgbClr val="761437"/>
                </a:solidFill>
                <a:latin typeface="Times New Roman"/>
              </a:rPr>
              <a:t>19</a:t>
            </a:r>
            <a:endParaRPr lang="zh-CN" altLang="en-US" sz="1098" dirty="0">
              <a:solidFill>
                <a:srgbClr val="761437"/>
              </a:solidFill>
              <a:latin typeface="Times New Roman"/>
            </a:endParaRPr>
          </a:p>
        </p:txBody>
      </p:sp>
      <p:sp>
        <p:nvSpPr>
          <p:cNvPr id="4" name="TextBox 3"/>
          <p:cNvSpPr txBox="1"/>
          <p:nvPr/>
        </p:nvSpPr>
        <p:spPr>
          <a:xfrm>
            <a:off x="903358" y="512002"/>
            <a:ext cx="4873129" cy="487313"/>
          </a:xfrm>
          <a:prstGeom prst="rect">
            <a:avLst/>
          </a:prstGeom>
          <a:noFill/>
        </p:spPr>
        <p:txBody>
          <a:bodyPr vert="horz" wrap="none" lIns="0" tIns="0" rIns="0" bIns="0" rtlCol="0">
            <a:spAutoFit/>
          </a:bodyPr>
          <a:lstStyle/>
          <a:p>
            <a:pPr>
              <a:lnSpc>
                <a:spcPts val="3794"/>
              </a:lnSpc>
            </a:pPr>
            <a:r>
              <a:rPr lang="zh-CN" altLang="en-US" sz="3798" dirty="0">
                <a:solidFill>
                  <a:srgbClr val="FFFFFF"/>
                </a:solidFill>
                <a:latin typeface="Times New Roman"/>
              </a:rPr>
              <a:t>內部控制常見問題舉例</a:t>
            </a:r>
          </a:p>
        </p:txBody>
      </p:sp>
      <p:sp>
        <p:nvSpPr>
          <p:cNvPr id="5" name="TextBox 4"/>
          <p:cNvSpPr txBox="1"/>
          <p:nvPr/>
        </p:nvSpPr>
        <p:spPr>
          <a:xfrm>
            <a:off x="989464" y="1654693"/>
            <a:ext cx="1436291" cy="359073"/>
          </a:xfrm>
          <a:prstGeom prst="rect">
            <a:avLst/>
          </a:prstGeom>
          <a:noFill/>
        </p:spPr>
        <p:txBody>
          <a:bodyPr vert="horz" wrap="none" lIns="0" tIns="0" rIns="0" bIns="0" rtlCol="0">
            <a:spAutoFit/>
          </a:bodyPr>
          <a:lstStyle/>
          <a:p>
            <a:pPr>
              <a:lnSpc>
                <a:spcPts val="2799"/>
              </a:lnSpc>
            </a:pPr>
            <a:r>
              <a:rPr lang="zh-CN" altLang="en-US" sz="2802" dirty="0">
                <a:solidFill>
                  <a:srgbClr val="000000"/>
                </a:solidFill>
                <a:latin typeface="Times New Roman"/>
              </a:rPr>
              <a:t>控制環境</a:t>
            </a:r>
          </a:p>
        </p:txBody>
      </p:sp>
      <p:sp>
        <p:nvSpPr>
          <p:cNvPr id="6" name="TextBox 5"/>
          <p:cNvSpPr txBox="1"/>
          <p:nvPr/>
        </p:nvSpPr>
        <p:spPr>
          <a:xfrm>
            <a:off x="989464" y="2398064"/>
            <a:ext cx="4525278" cy="884858"/>
          </a:xfrm>
          <a:prstGeom prst="rect">
            <a:avLst/>
          </a:prstGeom>
          <a:noFill/>
        </p:spPr>
        <p:txBody>
          <a:bodyPr vert="horz" wrap="none" lIns="0" tIns="0" rIns="0" bIns="0" rtlCol="0">
            <a:spAutoFit/>
          </a:bodyPr>
          <a:lstStyle/>
          <a:p>
            <a:pPr>
              <a:lnSpc>
                <a:spcPts val="2582"/>
              </a:lnSpc>
            </a:pPr>
            <a:r>
              <a:rPr lang="en-US" altLang="zh-CN" sz="2400" dirty="0">
                <a:solidFill>
                  <a:srgbClr val="761437"/>
                </a:solidFill>
                <a:latin typeface="Times New Roman"/>
              </a:rPr>
              <a:t>•   </a:t>
            </a:r>
            <a:r>
              <a:rPr lang="zh-CN" altLang="en-US" sz="2400" dirty="0">
                <a:solidFill>
                  <a:srgbClr val="000000"/>
                </a:solidFill>
                <a:latin typeface="Times New Roman"/>
              </a:rPr>
              <a:t>高度競爭的環境</a:t>
            </a:r>
            <a:r>
              <a:rPr lang="en-US" altLang="zh-CN" sz="2400" dirty="0">
                <a:solidFill>
                  <a:srgbClr val="000000"/>
                </a:solidFill>
                <a:latin typeface="Times New Roman"/>
              </a:rPr>
              <a:t>(</a:t>
            </a:r>
            <a:r>
              <a:rPr lang="zh-CN" altLang="en-US" sz="2400" dirty="0">
                <a:solidFill>
                  <a:srgbClr val="000000"/>
                </a:solidFill>
                <a:latin typeface="Times New Roman"/>
              </a:rPr>
              <a:t>對內控的壓力</a:t>
            </a:r>
            <a:r>
              <a:rPr lang="en-US" altLang="zh-CN" sz="2400" dirty="0">
                <a:solidFill>
                  <a:srgbClr val="000000"/>
                </a:solidFill>
                <a:latin typeface="Times New Roman"/>
              </a:rPr>
              <a:t>)</a:t>
            </a:r>
          </a:p>
          <a:p>
            <a:pPr>
              <a:lnSpc>
                <a:spcPts val="1000"/>
              </a:lnSpc>
            </a:pPr>
            <a:endParaRPr lang="en-US" altLang="zh-CN" sz="2400" dirty="0">
              <a:solidFill>
                <a:srgbClr val="000000"/>
              </a:solidFill>
              <a:latin typeface="Times New Roman"/>
            </a:endParaRPr>
          </a:p>
          <a:p>
            <a:pPr>
              <a:lnSpc>
                <a:spcPts val="3314"/>
              </a:lnSpc>
            </a:pPr>
            <a:r>
              <a:rPr lang="en-US" altLang="zh-CN" sz="2400" dirty="0">
                <a:solidFill>
                  <a:srgbClr val="761437"/>
                </a:solidFill>
                <a:latin typeface="Times New Roman"/>
              </a:rPr>
              <a:t>•   </a:t>
            </a:r>
            <a:r>
              <a:rPr lang="zh-CN" altLang="en-US" sz="2400" dirty="0">
                <a:solidFill>
                  <a:srgbClr val="000000"/>
                </a:solidFill>
                <a:latin typeface="Times New Roman"/>
              </a:rPr>
              <a:t>分散管理</a:t>
            </a:r>
            <a:r>
              <a:rPr lang="en-US" altLang="zh-CN" sz="2400" dirty="0">
                <a:solidFill>
                  <a:srgbClr val="000000"/>
                </a:solidFill>
                <a:latin typeface="Times New Roman"/>
              </a:rPr>
              <a:t>/</a:t>
            </a:r>
            <a:r>
              <a:rPr lang="zh-CN" altLang="en-US" sz="2400" dirty="0">
                <a:solidFill>
                  <a:srgbClr val="000000"/>
                </a:solidFill>
                <a:latin typeface="Times New Roman"/>
              </a:rPr>
              <a:t>控制</a:t>
            </a:r>
          </a:p>
        </p:txBody>
      </p:sp>
      <p:sp>
        <p:nvSpPr>
          <p:cNvPr id="7" name="TextBox 6"/>
          <p:cNvSpPr txBox="1"/>
          <p:nvPr/>
        </p:nvSpPr>
        <p:spPr>
          <a:xfrm>
            <a:off x="989464" y="3514394"/>
            <a:ext cx="2800447" cy="333425"/>
          </a:xfrm>
          <a:prstGeom prst="rect">
            <a:avLst/>
          </a:prstGeom>
          <a:noFill/>
        </p:spPr>
        <p:txBody>
          <a:bodyPr vert="horz" wrap="none" lIns="0" tIns="0" rIns="0" bIns="0" rtlCol="0">
            <a:spAutoFit/>
          </a:bodyPr>
          <a:lstStyle/>
          <a:p>
            <a:pPr>
              <a:lnSpc>
                <a:spcPts val="2582"/>
              </a:lnSpc>
            </a:pPr>
            <a:r>
              <a:rPr lang="en-US" altLang="zh-CN" sz="2400" dirty="0">
                <a:solidFill>
                  <a:srgbClr val="761437"/>
                </a:solidFill>
                <a:latin typeface="Times New Roman"/>
              </a:rPr>
              <a:t>•   </a:t>
            </a:r>
            <a:r>
              <a:rPr lang="zh-CN" altLang="en-US" sz="2400" dirty="0">
                <a:solidFill>
                  <a:srgbClr val="000000"/>
                </a:solidFill>
                <a:latin typeface="Times New Roman"/>
              </a:rPr>
              <a:t>非正式的管理程式</a:t>
            </a:r>
          </a:p>
        </p:txBody>
      </p:sp>
      <p:sp>
        <p:nvSpPr>
          <p:cNvPr id="8" name="TextBox 7"/>
          <p:cNvSpPr txBox="1"/>
          <p:nvPr/>
        </p:nvSpPr>
        <p:spPr>
          <a:xfrm>
            <a:off x="989464" y="4041698"/>
            <a:ext cx="6304611" cy="910506"/>
          </a:xfrm>
          <a:prstGeom prst="rect">
            <a:avLst/>
          </a:prstGeom>
          <a:noFill/>
        </p:spPr>
        <p:txBody>
          <a:bodyPr vert="horz" wrap="none" lIns="0" tIns="0" rIns="0" bIns="0" rtlCol="0">
            <a:spAutoFit/>
          </a:bodyPr>
          <a:lstStyle/>
          <a:p>
            <a:pPr>
              <a:lnSpc>
                <a:spcPts val="2582"/>
              </a:lnSpc>
            </a:pPr>
            <a:r>
              <a:rPr lang="en-US" altLang="zh-CN" sz="2400" dirty="0">
                <a:solidFill>
                  <a:srgbClr val="761437"/>
                </a:solidFill>
                <a:latin typeface="Times New Roman"/>
              </a:rPr>
              <a:t>•   </a:t>
            </a:r>
            <a:r>
              <a:rPr lang="zh-CN" altLang="en-US" sz="2400" dirty="0">
                <a:solidFill>
                  <a:srgbClr val="000000"/>
                </a:solidFill>
                <a:latin typeface="Times New Roman"/>
              </a:rPr>
              <a:t>缺乏細化的業績考核指標</a:t>
            </a:r>
            <a:r>
              <a:rPr lang="en-US" altLang="zh-CN" sz="2400" dirty="0">
                <a:solidFill>
                  <a:srgbClr val="000000"/>
                </a:solidFill>
                <a:latin typeface="Times New Roman"/>
              </a:rPr>
              <a:t>/</a:t>
            </a:r>
            <a:r>
              <a:rPr lang="zh-CN" altLang="en-US" sz="2400" dirty="0">
                <a:solidFill>
                  <a:srgbClr val="000000"/>
                </a:solidFill>
                <a:latin typeface="Times New Roman"/>
              </a:rPr>
              <a:t>不完善的激勵機制</a:t>
            </a:r>
          </a:p>
          <a:p>
            <a:pPr>
              <a:lnSpc>
                <a:spcPts val="1000"/>
              </a:lnSpc>
            </a:pPr>
            <a:endParaRPr lang="zh-CN" altLang="en-US" sz="2400" dirty="0">
              <a:solidFill>
                <a:srgbClr val="000000"/>
              </a:solidFill>
              <a:latin typeface="Times New Roman"/>
            </a:endParaRPr>
          </a:p>
          <a:p>
            <a:pPr>
              <a:lnSpc>
                <a:spcPts val="3470"/>
              </a:lnSpc>
            </a:pPr>
            <a:r>
              <a:rPr lang="en-US" altLang="zh-CN" sz="2400" dirty="0">
                <a:solidFill>
                  <a:srgbClr val="761437"/>
                </a:solidFill>
                <a:latin typeface="Times New Roman"/>
              </a:rPr>
              <a:t>•   </a:t>
            </a:r>
            <a:r>
              <a:rPr lang="zh-CN" altLang="en-US" sz="2400" dirty="0">
                <a:solidFill>
                  <a:srgbClr val="000000"/>
                </a:solidFill>
                <a:latin typeface="Times New Roman"/>
              </a:rPr>
              <a:t>低效率的組織結構</a:t>
            </a:r>
          </a:p>
        </p:txBody>
      </p:sp>
      <p:sp>
        <p:nvSpPr>
          <p:cNvPr id="9" name="TextBox 8"/>
          <p:cNvSpPr txBox="1"/>
          <p:nvPr/>
        </p:nvSpPr>
        <p:spPr>
          <a:xfrm>
            <a:off x="989464" y="5157266"/>
            <a:ext cx="3723776" cy="333425"/>
          </a:xfrm>
          <a:prstGeom prst="rect">
            <a:avLst/>
          </a:prstGeom>
          <a:noFill/>
        </p:spPr>
        <p:txBody>
          <a:bodyPr vert="horz" wrap="none" lIns="0" tIns="0" rIns="0" bIns="0" rtlCol="0">
            <a:spAutoFit/>
          </a:bodyPr>
          <a:lstStyle/>
          <a:p>
            <a:pPr>
              <a:lnSpc>
                <a:spcPts val="2582"/>
              </a:lnSpc>
            </a:pPr>
            <a:r>
              <a:rPr lang="en-US" altLang="zh-CN" sz="2400" dirty="0">
                <a:solidFill>
                  <a:srgbClr val="761437"/>
                </a:solidFill>
                <a:latin typeface="Times New Roman"/>
              </a:rPr>
              <a:t>•   </a:t>
            </a:r>
            <a:r>
              <a:rPr lang="zh-CN" altLang="en-US" sz="2400" dirty="0">
                <a:solidFill>
                  <a:srgbClr val="000000"/>
                </a:solidFill>
                <a:latin typeface="Times New Roman"/>
              </a:rPr>
              <a:t>不健全的審計委員會架構</a:t>
            </a:r>
          </a:p>
        </p:txBody>
      </p:sp>
      <p:sp>
        <p:nvSpPr>
          <p:cNvPr id="10" name="TextBox 9"/>
          <p:cNvSpPr txBox="1"/>
          <p:nvPr/>
        </p:nvSpPr>
        <p:spPr>
          <a:xfrm>
            <a:off x="8067681" y="6285482"/>
            <a:ext cx="1477969" cy="461665"/>
          </a:xfrm>
          <a:prstGeom prst="rect">
            <a:avLst/>
          </a:prstGeom>
          <a:noFill/>
        </p:spPr>
        <p:txBody>
          <a:bodyPr vert="horz" wrap="none" lIns="0" tIns="0" rIns="0" bIns="0" rtlCol="0">
            <a:spAutoFit/>
          </a:bodyPr>
          <a:lstStyle/>
          <a:p>
            <a:pPr>
              <a:lnSpc>
                <a:spcPts val="1800"/>
              </a:lnSpc>
            </a:pPr>
            <a:r>
              <a:rPr lang="en-US" altLang="zh-CN" dirty="0" err="1">
                <a:solidFill>
                  <a:srgbClr val="000000"/>
                </a:solidFill>
                <a:latin typeface="Times New Roman"/>
              </a:rPr>
              <a:t>Pwc</a:t>
            </a:r>
            <a:endParaRPr lang="en-US" altLang="zh-CN" dirty="0">
              <a:solidFill>
                <a:srgbClr val="000000"/>
              </a:solidFill>
              <a:latin typeface="Times New Roman"/>
            </a:endParaRPr>
          </a:p>
          <a:p>
            <a:pPr>
              <a:lnSpc>
                <a:spcPts val="1779"/>
              </a:lnSpc>
            </a:pPr>
            <a:r>
              <a:rPr lang="zh-CN" altLang="en-US" sz="1478" dirty="0">
                <a:solidFill>
                  <a:srgbClr val="000000"/>
                </a:solidFill>
                <a:latin typeface="Times New Roman"/>
              </a:rPr>
              <a:t>普     華     永     道</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myslide20">
    <p:spTree>
      <p:nvGrpSpPr>
        <p:cNvPr id="1" name=""/>
        <p:cNvGrpSpPr/>
        <p:nvPr/>
      </p:nvGrpSpPr>
      <p:grpSpPr>
        <a:xfrm>
          <a:off x="0" y="0"/>
          <a:ext cx="0" cy="0"/>
          <a:chOff x="0" y="0"/>
          <a:chExt cx="0" cy="0"/>
        </a:xfrm>
      </p:grpSpPr>
      <p:pic>
        <p:nvPicPr>
          <p:cNvPr id="2" name="图片 1" descr="ws_1A9.tmp"/>
          <p:cNvPicPr>
            <a:picLocks/>
          </p:cNvPicPr>
          <p:nvPr/>
        </p:nvPicPr>
        <p:blipFill>
          <a:blip r:embed="rId2"/>
          <a:stretch>
            <a:fillRect/>
          </a:stretch>
        </p:blipFill>
        <p:spPr>
          <a:xfrm>
            <a:off x="0" y="0"/>
            <a:ext cx="9880600" cy="6819900"/>
          </a:xfrm>
          <a:prstGeom prst="rect">
            <a:avLst/>
          </a:prstGeom>
        </p:spPr>
      </p:pic>
      <p:sp>
        <p:nvSpPr>
          <p:cNvPr id="3" name="TextBox 2"/>
          <p:cNvSpPr txBox="1"/>
          <p:nvPr/>
        </p:nvSpPr>
        <p:spPr>
          <a:xfrm>
            <a:off x="509403" y="6341571"/>
            <a:ext cx="144270" cy="133370"/>
          </a:xfrm>
          <a:prstGeom prst="rect">
            <a:avLst/>
          </a:prstGeom>
          <a:noFill/>
        </p:spPr>
        <p:txBody>
          <a:bodyPr vert="horz" wrap="none" lIns="0" tIns="0" rIns="0" bIns="0" rtlCol="0">
            <a:spAutoFit/>
          </a:bodyPr>
          <a:lstStyle/>
          <a:p>
            <a:pPr>
              <a:lnSpc>
                <a:spcPts val="1016"/>
              </a:lnSpc>
            </a:pPr>
            <a:r>
              <a:rPr lang="en-US" altLang="zh-CN" sz="1098" dirty="0">
                <a:solidFill>
                  <a:srgbClr val="761437"/>
                </a:solidFill>
                <a:latin typeface="Times New Roman"/>
              </a:rPr>
              <a:t>20</a:t>
            </a:r>
            <a:endParaRPr lang="zh-CN" altLang="en-US" sz="1098" dirty="0">
              <a:solidFill>
                <a:srgbClr val="761437"/>
              </a:solidFill>
              <a:latin typeface="Times New Roman"/>
            </a:endParaRPr>
          </a:p>
        </p:txBody>
      </p:sp>
      <p:sp>
        <p:nvSpPr>
          <p:cNvPr id="4" name="TextBox 3"/>
          <p:cNvSpPr txBox="1"/>
          <p:nvPr/>
        </p:nvSpPr>
        <p:spPr>
          <a:xfrm>
            <a:off x="903358" y="512002"/>
            <a:ext cx="4873129" cy="487313"/>
          </a:xfrm>
          <a:prstGeom prst="rect">
            <a:avLst/>
          </a:prstGeom>
          <a:noFill/>
        </p:spPr>
        <p:txBody>
          <a:bodyPr vert="horz" wrap="none" lIns="0" tIns="0" rIns="0" bIns="0" rtlCol="0">
            <a:spAutoFit/>
          </a:bodyPr>
          <a:lstStyle/>
          <a:p>
            <a:pPr>
              <a:lnSpc>
                <a:spcPts val="3794"/>
              </a:lnSpc>
            </a:pPr>
            <a:r>
              <a:rPr lang="zh-CN" altLang="en-US" sz="3798" dirty="0">
                <a:solidFill>
                  <a:srgbClr val="FFFFFF"/>
                </a:solidFill>
                <a:latin typeface="Times New Roman"/>
              </a:rPr>
              <a:t>內部控制常見問題舉例</a:t>
            </a:r>
          </a:p>
        </p:txBody>
      </p:sp>
      <p:sp>
        <p:nvSpPr>
          <p:cNvPr id="5" name="TextBox 4"/>
          <p:cNvSpPr txBox="1"/>
          <p:nvPr/>
        </p:nvSpPr>
        <p:spPr>
          <a:xfrm>
            <a:off x="989464" y="1641739"/>
            <a:ext cx="1436291" cy="359073"/>
          </a:xfrm>
          <a:prstGeom prst="rect">
            <a:avLst/>
          </a:prstGeom>
          <a:noFill/>
        </p:spPr>
        <p:txBody>
          <a:bodyPr vert="horz" wrap="none" lIns="0" tIns="0" rIns="0" bIns="0" rtlCol="0">
            <a:spAutoFit/>
          </a:bodyPr>
          <a:lstStyle/>
          <a:p>
            <a:pPr>
              <a:lnSpc>
                <a:spcPts val="2799"/>
              </a:lnSpc>
            </a:pPr>
            <a:r>
              <a:rPr lang="zh-CN" altLang="en-US" sz="2802" dirty="0">
                <a:solidFill>
                  <a:srgbClr val="000000"/>
                </a:solidFill>
                <a:latin typeface="Times New Roman"/>
              </a:rPr>
              <a:t>風險評估</a:t>
            </a:r>
          </a:p>
        </p:txBody>
      </p:sp>
      <p:sp>
        <p:nvSpPr>
          <p:cNvPr id="6" name="TextBox 5"/>
          <p:cNvSpPr txBox="1"/>
          <p:nvPr/>
        </p:nvSpPr>
        <p:spPr>
          <a:xfrm>
            <a:off x="989464" y="2406446"/>
            <a:ext cx="6185989" cy="1436291"/>
          </a:xfrm>
          <a:prstGeom prst="rect">
            <a:avLst/>
          </a:prstGeom>
          <a:noFill/>
        </p:spPr>
        <p:txBody>
          <a:bodyPr vert="horz" wrap="none" lIns="0" tIns="0" rIns="0" bIns="0" rtlCol="0">
            <a:spAutoFit/>
          </a:bodyPr>
          <a:lstStyle/>
          <a:p>
            <a:pPr>
              <a:lnSpc>
                <a:spcPts val="2582"/>
              </a:lnSpc>
            </a:pPr>
            <a:r>
              <a:rPr lang="en-US" altLang="zh-CN" sz="2400" dirty="0">
                <a:solidFill>
                  <a:srgbClr val="761437"/>
                </a:solidFill>
                <a:latin typeface="Times New Roman"/>
              </a:rPr>
              <a:t>•   </a:t>
            </a:r>
            <a:r>
              <a:rPr lang="zh-CN" altLang="en-US" sz="2400" dirty="0">
                <a:solidFill>
                  <a:srgbClr val="000000"/>
                </a:solidFill>
                <a:latin typeface="Times New Roman"/>
              </a:rPr>
              <a:t>對潛在的風險缺乏整體性認識和系統性歸類</a:t>
            </a:r>
          </a:p>
          <a:p>
            <a:pPr>
              <a:lnSpc>
                <a:spcPts val="1000"/>
              </a:lnSpc>
            </a:pPr>
            <a:endParaRPr lang="zh-CN" altLang="en-US" sz="2400" dirty="0">
              <a:solidFill>
                <a:srgbClr val="000000"/>
              </a:solidFill>
              <a:latin typeface="Times New Roman"/>
            </a:endParaRPr>
          </a:p>
          <a:p>
            <a:pPr>
              <a:lnSpc>
                <a:spcPts val="3314"/>
              </a:lnSpc>
            </a:pPr>
            <a:r>
              <a:rPr lang="en-US" altLang="zh-CN" sz="2400" dirty="0">
                <a:solidFill>
                  <a:srgbClr val="761437"/>
                </a:solidFill>
                <a:latin typeface="Times New Roman"/>
              </a:rPr>
              <a:t>•   </a:t>
            </a:r>
            <a:r>
              <a:rPr lang="zh-CN" altLang="en-US" sz="2400" dirty="0">
                <a:solidFill>
                  <a:srgbClr val="000000"/>
                </a:solidFill>
                <a:latin typeface="Times New Roman"/>
              </a:rPr>
              <a:t>缺乏對完善的業務控制體系的全面瞭解</a:t>
            </a:r>
          </a:p>
          <a:p>
            <a:pPr>
              <a:lnSpc>
                <a:spcPts val="1000"/>
              </a:lnSpc>
            </a:pPr>
            <a:endParaRPr lang="zh-CN" altLang="en-US" sz="2400" dirty="0">
              <a:solidFill>
                <a:srgbClr val="000000"/>
              </a:solidFill>
              <a:latin typeface="Times New Roman"/>
            </a:endParaRPr>
          </a:p>
          <a:p>
            <a:pPr>
              <a:lnSpc>
                <a:spcPts val="3308"/>
              </a:lnSpc>
            </a:pPr>
            <a:r>
              <a:rPr lang="en-US" altLang="zh-CN" sz="2400" dirty="0">
                <a:solidFill>
                  <a:srgbClr val="761437"/>
                </a:solidFill>
                <a:latin typeface="Times New Roman"/>
              </a:rPr>
              <a:t>•   </a:t>
            </a:r>
            <a:r>
              <a:rPr lang="zh-CN" altLang="en-US" sz="2400" dirty="0">
                <a:solidFill>
                  <a:srgbClr val="000000"/>
                </a:solidFill>
                <a:latin typeface="Times New Roman"/>
              </a:rPr>
              <a:t>缺乏對風險評估方式、方法、程式的瞭解</a:t>
            </a:r>
          </a:p>
        </p:txBody>
      </p:sp>
      <p:sp>
        <p:nvSpPr>
          <p:cNvPr id="7" name="TextBox 6"/>
          <p:cNvSpPr txBox="1"/>
          <p:nvPr/>
        </p:nvSpPr>
        <p:spPr>
          <a:xfrm>
            <a:off x="8067681" y="6285482"/>
            <a:ext cx="1477969" cy="461665"/>
          </a:xfrm>
          <a:prstGeom prst="rect">
            <a:avLst/>
          </a:prstGeom>
          <a:noFill/>
        </p:spPr>
        <p:txBody>
          <a:bodyPr vert="horz" wrap="none" lIns="0" tIns="0" rIns="0" bIns="0" rtlCol="0">
            <a:spAutoFit/>
          </a:bodyPr>
          <a:lstStyle/>
          <a:p>
            <a:pPr>
              <a:lnSpc>
                <a:spcPts val="1800"/>
              </a:lnSpc>
            </a:pPr>
            <a:r>
              <a:rPr lang="en-US" altLang="zh-CN" dirty="0" err="1">
                <a:solidFill>
                  <a:srgbClr val="000000"/>
                </a:solidFill>
                <a:latin typeface="Times New Roman"/>
              </a:rPr>
              <a:t>Pwc</a:t>
            </a:r>
            <a:endParaRPr lang="en-US" altLang="zh-CN" dirty="0">
              <a:solidFill>
                <a:srgbClr val="000000"/>
              </a:solidFill>
              <a:latin typeface="Times New Roman"/>
            </a:endParaRPr>
          </a:p>
          <a:p>
            <a:pPr>
              <a:lnSpc>
                <a:spcPts val="1779"/>
              </a:lnSpc>
            </a:pPr>
            <a:r>
              <a:rPr lang="zh-CN" altLang="en-US" sz="1478" dirty="0">
                <a:solidFill>
                  <a:srgbClr val="000000"/>
                </a:solidFill>
                <a:latin typeface="Times New Roman"/>
              </a:rPr>
              <a:t>普     華     永     道</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myslide21">
    <p:spTree>
      <p:nvGrpSpPr>
        <p:cNvPr id="1" name=""/>
        <p:cNvGrpSpPr/>
        <p:nvPr/>
      </p:nvGrpSpPr>
      <p:grpSpPr>
        <a:xfrm>
          <a:off x="0" y="0"/>
          <a:ext cx="0" cy="0"/>
          <a:chOff x="0" y="0"/>
          <a:chExt cx="0" cy="0"/>
        </a:xfrm>
      </p:grpSpPr>
      <p:pic>
        <p:nvPicPr>
          <p:cNvPr id="2" name="图片 1" descr="ws_1AB.tmp"/>
          <p:cNvPicPr>
            <a:picLocks/>
          </p:cNvPicPr>
          <p:nvPr/>
        </p:nvPicPr>
        <p:blipFill>
          <a:blip r:embed="rId2"/>
          <a:stretch>
            <a:fillRect/>
          </a:stretch>
        </p:blipFill>
        <p:spPr>
          <a:xfrm>
            <a:off x="0" y="0"/>
            <a:ext cx="9880600" cy="6819900"/>
          </a:xfrm>
          <a:prstGeom prst="rect">
            <a:avLst/>
          </a:prstGeom>
        </p:spPr>
      </p:pic>
      <p:sp>
        <p:nvSpPr>
          <p:cNvPr id="3" name="TextBox 2"/>
          <p:cNvSpPr txBox="1"/>
          <p:nvPr/>
        </p:nvSpPr>
        <p:spPr>
          <a:xfrm>
            <a:off x="509403" y="6341571"/>
            <a:ext cx="144270" cy="133370"/>
          </a:xfrm>
          <a:prstGeom prst="rect">
            <a:avLst/>
          </a:prstGeom>
          <a:noFill/>
        </p:spPr>
        <p:txBody>
          <a:bodyPr vert="horz" wrap="none" lIns="0" tIns="0" rIns="0" bIns="0" rtlCol="0">
            <a:spAutoFit/>
          </a:bodyPr>
          <a:lstStyle/>
          <a:p>
            <a:pPr>
              <a:lnSpc>
                <a:spcPts val="1016"/>
              </a:lnSpc>
            </a:pPr>
            <a:r>
              <a:rPr lang="en-US" altLang="zh-CN" sz="1098" dirty="0">
                <a:solidFill>
                  <a:srgbClr val="761437"/>
                </a:solidFill>
                <a:latin typeface="Times New Roman"/>
              </a:rPr>
              <a:t>21</a:t>
            </a:r>
            <a:endParaRPr lang="zh-CN" altLang="en-US" sz="1098" dirty="0">
              <a:solidFill>
                <a:srgbClr val="761437"/>
              </a:solidFill>
              <a:latin typeface="Times New Roman"/>
            </a:endParaRPr>
          </a:p>
        </p:txBody>
      </p:sp>
      <p:sp>
        <p:nvSpPr>
          <p:cNvPr id="4" name="TextBox 3"/>
          <p:cNvSpPr txBox="1"/>
          <p:nvPr/>
        </p:nvSpPr>
        <p:spPr>
          <a:xfrm>
            <a:off x="903358" y="512002"/>
            <a:ext cx="4873129" cy="487313"/>
          </a:xfrm>
          <a:prstGeom prst="rect">
            <a:avLst/>
          </a:prstGeom>
          <a:noFill/>
        </p:spPr>
        <p:txBody>
          <a:bodyPr vert="horz" wrap="none" lIns="0" tIns="0" rIns="0" bIns="0" rtlCol="0">
            <a:spAutoFit/>
          </a:bodyPr>
          <a:lstStyle/>
          <a:p>
            <a:pPr>
              <a:lnSpc>
                <a:spcPts val="3794"/>
              </a:lnSpc>
            </a:pPr>
            <a:r>
              <a:rPr lang="zh-CN" altLang="en-US" sz="3798" dirty="0">
                <a:solidFill>
                  <a:srgbClr val="FFFFFF"/>
                </a:solidFill>
                <a:latin typeface="Times New Roman"/>
              </a:rPr>
              <a:t>內部控制常見問題舉例</a:t>
            </a:r>
          </a:p>
        </p:txBody>
      </p:sp>
      <p:sp>
        <p:nvSpPr>
          <p:cNvPr id="5" name="TextBox 4"/>
          <p:cNvSpPr txBox="1"/>
          <p:nvPr/>
        </p:nvSpPr>
        <p:spPr>
          <a:xfrm>
            <a:off x="1030611" y="1663075"/>
            <a:ext cx="1436291" cy="359073"/>
          </a:xfrm>
          <a:prstGeom prst="rect">
            <a:avLst/>
          </a:prstGeom>
          <a:noFill/>
        </p:spPr>
        <p:txBody>
          <a:bodyPr vert="horz" wrap="none" lIns="0" tIns="0" rIns="0" bIns="0" rtlCol="0">
            <a:spAutoFit/>
          </a:bodyPr>
          <a:lstStyle/>
          <a:p>
            <a:pPr>
              <a:lnSpc>
                <a:spcPts val="2799"/>
              </a:lnSpc>
            </a:pPr>
            <a:r>
              <a:rPr lang="zh-CN" altLang="en-US" sz="2802" dirty="0">
                <a:solidFill>
                  <a:srgbClr val="000000"/>
                </a:solidFill>
                <a:latin typeface="Times New Roman"/>
              </a:rPr>
              <a:t>內控活動</a:t>
            </a:r>
          </a:p>
        </p:txBody>
      </p:sp>
      <p:sp>
        <p:nvSpPr>
          <p:cNvPr id="6" name="TextBox 5"/>
          <p:cNvSpPr txBox="1"/>
          <p:nvPr/>
        </p:nvSpPr>
        <p:spPr>
          <a:xfrm>
            <a:off x="1030611" y="2471216"/>
            <a:ext cx="5044651" cy="910506"/>
          </a:xfrm>
          <a:prstGeom prst="rect">
            <a:avLst/>
          </a:prstGeom>
          <a:noFill/>
        </p:spPr>
        <p:txBody>
          <a:bodyPr vert="horz" wrap="none" lIns="0" tIns="0" rIns="0" bIns="0" rtlCol="0">
            <a:spAutoFit/>
          </a:bodyPr>
          <a:lstStyle/>
          <a:p>
            <a:pPr>
              <a:lnSpc>
                <a:spcPts val="2582"/>
              </a:lnSpc>
            </a:pPr>
            <a:r>
              <a:rPr lang="en-US" altLang="zh-CN" sz="2400" dirty="0">
                <a:solidFill>
                  <a:srgbClr val="761437"/>
                </a:solidFill>
                <a:latin typeface="Times New Roman"/>
              </a:rPr>
              <a:t>•   </a:t>
            </a:r>
            <a:r>
              <a:rPr lang="zh-CN" altLang="en-US" sz="2400" dirty="0">
                <a:solidFill>
                  <a:srgbClr val="000000"/>
                </a:solidFill>
                <a:latin typeface="Times New Roman"/>
              </a:rPr>
              <a:t>缺乏完整細化的 </a:t>
            </a:r>
            <a:r>
              <a:rPr lang="zh-CN" altLang="en-US" sz="2400" b="1" dirty="0">
                <a:solidFill>
                  <a:srgbClr val="000000"/>
                </a:solidFill>
                <a:latin typeface="Times New Roman"/>
              </a:rPr>
              <a:t>“標準運作流程”</a:t>
            </a:r>
          </a:p>
          <a:p>
            <a:pPr>
              <a:lnSpc>
                <a:spcPts val="1000"/>
              </a:lnSpc>
            </a:pPr>
            <a:endParaRPr lang="zh-CN" altLang="en-US" sz="2400" b="1" dirty="0">
              <a:solidFill>
                <a:srgbClr val="000000"/>
              </a:solidFill>
              <a:latin typeface="Times New Roman"/>
            </a:endParaRPr>
          </a:p>
          <a:p>
            <a:pPr>
              <a:lnSpc>
                <a:spcPts val="3476"/>
              </a:lnSpc>
            </a:pPr>
            <a:r>
              <a:rPr lang="en-US" altLang="zh-CN" sz="2400" dirty="0">
                <a:solidFill>
                  <a:srgbClr val="761437"/>
                </a:solidFill>
                <a:latin typeface="Times New Roman"/>
              </a:rPr>
              <a:t>•   </a:t>
            </a:r>
            <a:r>
              <a:rPr lang="zh-CN" altLang="en-US" sz="2400" dirty="0">
                <a:solidFill>
                  <a:srgbClr val="000000"/>
                </a:solidFill>
                <a:latin typeface="Times New Roman"/>
              </a:rPr>
              <a:t>不健全的職責分離</a:t>
            </a:r>
          </a:p>
        </p:txBody>
      </p:sp>
      <p:sp>
        <p:nvSpPr>
          <p:cNvPr id="7" name="TextBox 6"/>
          <p:cNvSpPr txBox="1"/>
          <p:nvPr/>
        </p:nvSpPr>
        <p:spPr>
          <a:xfrm>
            <a:off x="1030641" y="3566972"/>
            <a:ext cx="3226845" cy="910506"/>
          </a:xfrm>
          <a:prstGeom prst="rect">
            <a:avLst/>
          </a:prstGeom>
          <a:noFill/>
        </p:spPr>
        <p:txBody>
          <a:bodyPr vert="horz" wrap="none" lIns="0" tIns="0" rIns="0" bIns="0" rtlCol="0">
            <a:spAutoFit/>
          </a:bodyPr>
          <a:lstStyle/>
          <a:p>
            <a:pPr>
              <a:lnSpc>
                <a:spcPts val="2582"/>
              </a:lnSpc>
            </a:pPr>
            <a:r>
              <a:rPr lang="en-US" altLang="zh-CN" sz="2400" dirty="0">
                <a:solidFill>
                  <a:srgbClr val="761437"/>
                </a:solidFill>
                <a:latin typeface="Times New Roman"/>
              </a:rPr>
              <a:t>•   </a:t>
            </a:r>
            <a:r>
              <a:rPr lang="zh-CN" altLang="en-US" sz="2400" dirty="0">
                <a:solidFill>
                  <a:srgbClr val="000000"/>
                </a:solidFill>
                <a:latin typeface="Times New Roman"/>
              </a:rPr>
              <a:t>過度的集權</a:t>
            </a:r>
            <a:r>
              <a:rPr lang="en-US" altLang="zh-CN" sz="2400" dirty="0">
                <a:solidFill>
                  <a:srgbClr val="000000"/>
                </a:solidFill>
                <a:latin typeface="Times New Roman"/>
              </a:rPr>
              <a:t>/</a:t>
            </a:r>
            <a:r>
              <a:rPr lang="zh-CN" altLang="en-US" sz="2400" dirty="0">
                <a:solidFill>
                  <a:srgbClr val="000000"/>
                </a:solidFill>
                <a:latin typeface="Times New Roman"/>
              </a:rPr>
              <a:t>分權體系</a:t>
            </a:r>
          </a:p>
          <a:p>
            <a:pPr>
              <a:lnSpc>
                <a:spcPts val="1000"/>
              </a:lnSpc>
            </a:pPr>
            <a:endParaRPr lang="zh-CN" altLang="en-US" sz="2400" dirty="0">
              <a:solidFill>
                <a:srgbClr val="000000"/>
              </a:solidFill>
              <a:latin typeface="Times New Roman"/>
            </a:endParaRPr>
          </a:p>
          <a:p>
            <a:pPr>
              <a:lnSpc>
                <a:spcPts val="3476"/>
              </a:lnSpc>
            </a:pPr>
            <a:r>
              <a:rPr lang="en-US" altLang="zh-CN" sz="2400" dirty="0">
                <a:solidFill>
                  <a:srgbClr val="761437"/>
                </a:solidFill>
                <a:latin typeface="Times New Roman"/>
              </a:rPr>
              <a:t>•   </a:t>
            </a:r>
            <a:r>
              <a:rPr lang="zh-CN" altLang="en-US" sz="2400" dirty="0">
                <a:solidFill>
                  <a:srgbClr val="000000"/>
                </a:solidFill>
                <a:latin typeface="Times New Roman"/>
              </a:rPr>
              <a:t>缺乏獨立的覆核程式</a:t>
            </a:r>
          </a:p>
        </p:txBody>
      </p:sp>
      <p:sp>
        <p:nvSpPr>
          <p:cNvPr id="8" name="TextBox 7"/>
          <p:cNvSpPr txBox="1"/>
          <p:nvPr/>
        </p:nvSpPr>
        <p:spPr>
          <a:xfrm>
            <a:off x="8067681" y="6285482"/>
            <a:ext cx="1477969" cy="461665"/>
          </a:xfrm>
          <a:prstGeom prst="rect">
            <a:avLst/>
          </a:prstGeom>
          <a:noFill/>
        </p:spPr>
        <p:txBody>
          <a:bodyPr vert="horz" wrap="none" lIns="0" tIns="0" rIns="0" bIns="0" rtlCol="0">
            <a:spAutoFit/>
          </a:bodyPr>
          <a:lstStyle/>
          <a:p>
            <a:pPr>
              <a:lnSpc>
                <a:spcPts val="1800"/>
              </a:lnSpc>
            </a:pPr>
            <a:r>
              <a:rPr lang="en-US" altLang="zh-CN" dirty="0" err="1">
                <a:solidFill>
                  <a:srgbClr val="000000"/>
                </a:solidFill>
                <a:latin typeface="Times New Roman"/>
              </a:rPr>
              <a:t>Pwc</a:t>
            </a:r>
            <a:endParaRPr lang="en-US" altLang="zh-CN" dirty="0">
              <a:solidFill>
                <a:srgbClr val="000000"/>
              </a:solidFill>
              <a:latin typeface="Times New Roman"/>
            </a:endParaRPr>
          </a:p>
          <a:p>
            <a:pPr>
              <a:lnSpc>
                <a:spcPts val="1779"/>
              </a:lnSpc>
            </a:pPr>
            <a:r>
              <a:rPr lang="zh-CN" altLang="en-US" sz="1478" dirty="0">
                <a:solidFill>
                  <a:srgbClr val="000000"/>
                </a:solidFill>
                <a:latin typeface="Times New Roman"/>
              </a:rPr>
              <a:t>普     華     永     道</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myslide22">
    <p:spTree>
      <p:nvGrpSpPr>
        <p:cNvPr id="1" name=""/>
        <p:cNvGrpSpPr/>
        <p:nvPr/>
      </p:nvGrpSpPr>
      <p:grpSpPr>
        <a:xfrm>
          <a:off x="0" y="0"/>
          <a:ext cx="0" cy="0"/>
          <a:chOff x="0" y="0"/>
          <a:chExt cx="0" cy="0"/>
        </a:xfrm>
      </p:grpSpPr>
      <p:pic>
        <p:nvPicPr>
          <p:cNvPr id="2" name="图片 1" descr="ws_1AD.tmp"/>
          <p:cNvPicPr>
            <a:picLocks/>
          </p:cNvPicPr>
          <p:nvPr/>
        </p:nvPicPr>
        <p:blipFill>
          <a:blip r:embed="rId2"/>
          <a:stretch>
            <a:fillRect/>
          </a:stretch>
        </p:blipFill>
        <p:spPr>
          <a:xfrm>
            <a:off x="0" y="0"/>
            <a:ext cx="9880600" cy="6819900"/>
          </a:xfrm>
          <a:prstGeom prst="rect">
            <a:avLst/>
          </a:prstGeom>
        </p:spPr>
      </p:pic>
      <p:sp>
        <p:nvSpPr>
          <p:cNvPr id="3" name="TextBox 2"/>
          <p:cNvSpPr txBox="1"/>
          <p:nvPr/>
        </p:nvSpPr>
        <p:spPr>
          <a:xfrm>
            <a:off x="509403" y="6341571"/>
            <a:ext cx="144270" cy="133370"/>
          </a:xfrm>
          <a:prstGeom prst="rect">
            <a:avLst/>
          </a:prstGeom>
          <a:noFill/>
        </p:spPr>
        <p:txBody>
          <a:bodyPr vert="horz" wrap="none" lIns="0" tIns="0" rIns="0" bIns="0" rtlCol="0">
            <a:spAutoFit/>
          </a:bodyPr>
          <a:lstStyle/>
          <a:p>
            <a:pPr>
              <a:lnSpc>
                <a:spcPts val="1016"/>
              </a:lnSpc>
            </a:pPr>
            <a:r>
              <a:rPr lang="en-US" altLang="zh-CN" sz="1098" dirty="0">
                <a:solidFill>
                  <a:srgbClr val="761437"/>
                </a:solidFill>
                <a:latin typeface="Times New Roman"/>
              </a:rPr>
              <a:t>22</a:t>
            </a:r>
            <a:endParaRPr lang="zh-CN" altLang="en-US" sz="1098" dirty="0">
              <a:solidFill>
                <a:srgbClr val="761437"/>
              </a:solidFill>
              <a:latin typeface="Times New Roman"/>
            </a:endParaRPr>
          </a:p>
        </p:txBody>
      </p:sp>
      <p:sp>
        <p:nvSpPr>
          <p:cNvPr id="4" name="TextBox 3"/>
          <p:cNvSpPr txBox="1"/>
          <p:nvPr/>
        </p:nvSpPr>
        <p:spPr>
          <a:xfrm>
            <a:off x="903358" y="512002"/>
            <a:ext cx="4873129" cy="487313"/>
          </a:xfrm>
          <a:prstGeom prst="rect">
            <a:avLst/>
          </a:prstGeom>
          <a:noFill/>
        </p:spPr>
        <p:txBody>
          <a:bodyPr vert="horz" wrap="none" lIns="0" tIns="0" rIns="0" bIns="0" rtlCol="0">
            <a:spAutoFit/>
          </a:bodyPr>
          <a:lstStyle/>
          <a:p>
            <a:pPr>
              <a:lnSpc>
                <a:spcPts val="3794"/>
              </a:lnSpc>
            </a:pPr>
            <a:r>
              <a:rPr lang="zh-CN" altLang="en-US" sz="3798" dirty="0">
                <a:solidFill>
                  <a:srgbClr val="FFFFFF"/>
                </a:solidFill>
                <a:latin typeface="Times New Roman"/>
              </a:rPr>
              <a:t>內部控制常見問題舉例</a:t>
            </a:r>
          </a:p>
        </p:txBody>
      </p:sp>
      <p:sp>
        <p:nvSpPr>
          <p:cNvPr id="5" name="TextBox 4"/>
          <p:cNvSpPr txBox="1"/>
          <p:nvPr/>
        </p:nvSpPr>
        <p:spPr>
          <a:xfrm>
            <a:off x="989464" y="1667647"/>
            <a:ext cx="1795363" cy="359073"/>
          </a:xfrm>
          <a:prstGeom prst="rect">
            <a:avLst/>
          </a:prstGeom>
          <a:noFill/>
        </p:spPr>
        <p:txBody>
          <a:bodyPr vert="horz" wrap="none" lIns="0" tIns="0" rIns="0" bIns="0" rtlCol="0">
            <a:spAutoFit/>
          </a:bodyPr>
          <a:lstStyle/>
          <a:p>
            <a:pPr>
              <a:lnSpc>
                <a:spcPts val="2799"/>
              </a:lnSpc>
            </a:pPr>
            <a:r>
              <a:rPr lang="zh-CN" altLang="en-US" sz="2802" dirty="0">
                <a:solidFill>
                  <a:srgbClr val="000000"/>
                </a:solidFill>
                <a:latin typeface="Times New Roman"/>
              </a:rPr>
              <a:t>資訊與溝通</a:t>
            </a:r>
          </a:p>
        </p:txBody>
      </p:sp>
      <p:sp>
        <p:nvSpPr>
          <p:cNvPr id="6" name="TextBox 5"/>
          <p:cNvSpPr txBox="1"/>
          <p:nvPr/>
        </p:nvSpPr>
        <p:spPr>
          <a:xfrm>
            <a:off x="989464" y="2463596"/>
            <a:ext cx="3108223" cy="333425"/>
          </a:xfrm>
          <a:prstGeom prst="rect">
            <a:avLst/>
          </a:prstGeom>
          <a:noFill/>
        </p:spPr>
        <p:txBody>
          <a:bodyPr vert="horz" wrap="none" lIns="0" tIns="0" rIns="0" bIns="0" rtlCol="0">
            <a:spAutoFit/>
          </a:bodyPr>
          <a:lstStyle/>
          <a:p>
            <a:pPr>
              <a:lnSpc>
                <a:spcPts val="2582"/>
              </a:lnSpc>
            </a:pPr>
            <a:r>
              <a:rPr lang="en-US" altLang="zh-CN" sz="2400" dirty="0">
                <a:solidFill>
                  <a:srgbClr val="761437"/>
                </a:solidFill>
                <a:latin typeface="Times New Roman"/>
              </a:rPr>
              <a:t>•   </a:t>
            </a:r>
            <a:r>
              <a:rPr lang="zh-CN" altLang="en-US" sz="2400" dirty="0">
                <a:solidFill>
                  <a:srgbClr val="000000"/>
                </a:solidFill>
                <a:latin typeface="Times New Roman"/>
              </a:rPr>
              <a:t>大部分採用手工控制</a:t>
            </a:r>
          </a:p>
        </p:txBody>
      </p:sp>
      <p:sp>
        <p:nvSpPr>
          <p:cNvPr id="7" name="TextBox 6"/>
          <p:cNvSpPr txBox="1"/>
          <p:nvPr/>
        </p:nvSpPr>
        <p:spPr>
          <a:xfrm>
            <a:off x="989464" y="3011474"/>
            <a:ext cx="4647106" cy="884858"/>
          </a:xfrm>
          <a:prstGeom prst="rect">
            <a:avLst/>
          </a:prstGeom>
          <a:noFill/>
        </p:spPr>
        <p:txBody>
          <a:bodyPr vert="horz" wrap="none" lIns="0" tIns="0" rIns="0" bIns="0" rtlCol="0">
            <a:spAutoFit/>
          </a:bodyPr>
          <a:lstStyle/>
          <a:p>
            <a:pPr>
              <a:lnSpc>
                <a:spcPts val="2582"/>
              </a:lnSpc>
            </a:pPr>
            <a:r>
              <a:rPr lang="en-US" altLang="zh-CN" sz="2400" dirty="0">
                <a:solidFill>
                  <a:srgbClr val="761437"/>
                </a:solidFill>
                <a:latin typeface="Times New Roman"/>
              </a:rPr>
              <a:t>•   </a:t>
            </a:r>
            <a:r>
              <a:rPr lang="zh-CN" altLang="en-US" sz="2400" dirty="0">
                <a:solidFill>
                  <a:srgbClr val="000000"/>
                </a:solidFill>
                <a:latin typeface="Times New Roman"/>
              </a:rPr>
              <a:t>缺乏有效的成本管理及預算方法</a:t>
            </a:r>
          </a:p>
          <a:p>
            <a:pPr>
              <a:lnSpc>
                <a:spcPts val="1000"/>
              </a:lnSpc>
            </a:pPr>
            <a:endParaRPr lang="zh-CN" altLang="en-US" sz="2400" dirty="0">
              <a:solidFill>
                <a:srgbClr val="000000"/>
              </a:solidFill>
              <a:latin typeface="Times New Roman"/>
            </a:endParaRPr>
          </a:p>
          <a:p>
            <a:pPr>
              <a:lnSpc>
                <a:spcPts val="3308"/>
              </a:lnSpc>
            </a:pPr>
            <a:r>
              <a:rPr lang="en-US" altLang="zh-CN" sz="2400" dirty="0">
                <a:solidFill>
                  <a:srgbClr val="761437"/>
                </a:solidFill>
                <a:latin typeface="Times New Roman"/>
              </a:rPr>
              <a:t>•   </a:t>
            </a:r>
            <a:r>
              <a:rPr lang="zh-CN" altLang="en-US" sz="2400" dirty="0">
                <a:solidFill>
                  <a:srgbClr val="000000"/>
                </a:solidFill>
                <a:latin typeface="Times New Roman"/>
              </a:rPr>
              <a:t>過時的執行資訊系統</a:t>
            </a:r>
          </a:p>
        </p:txBody>
      </p:sp>
      <p:sp>
        <p:nvSpPr>
          <p:cNvPr id="8" name="TextBox 7"/>
          <p:cNvSpPr txBox="1"/>
          <p:nvPr/>
        </p:nvSpPr>
        <p:spPr>
          <a:xfrm>
            <a:off x="989464" y="4106468"/>
            <a:ext cx="7109318" cy="884858"/>
          </a:xfrm>
          <a:prstGeom prst="rect">
            <a:avLst/>
          </a:prstGeom>
          <a:noFill/>
        </p:spPr>
        <p:txBody>
          <a:bodyPr vert="horz" wrap="none" lIns="0" tIns="0" rIns="0" bIns="0" rtlCol="0">
            <a:spAutoFit/>
          </a:bodyPr>
          <a:lstStyle/>
          <a:p>
            <a:pPr>
              <a:lnSpc>
                <a:spcPts val="2582"/>
              </a:lnSpc>
            </a:pPr>
            <a:r>
              <a:rPr lang="en-US" altLang="zh-CN" sz="2400" dirty="0">
                <a:solidFill>
                  <a:srgbClr val="761437"/>
                </a:solidFill>
                <a:latin typeface="Times New Roman"/>
              </a:rPr>
              <a:t>•   </a:t>
            </a:r>
            <a:r>
              <a:rPr lang="zh-CN" altLang="en-US" sz="2400" dirty="0">
                <a:solidFill>
                  <a:srgbClr val="000000"/>
                </a:solidFill>
                <a:latin typeface="Times New Roman"/>
              </a:rPr>
              <a:t>缺乏以關鍵業績考核指標為基礎的管理報告及分析</a:t>
            </a:r>
          </a:p>
          <a:p>
            <a:pPr>
              <a:lnSpc>
                <a:spcPts val="1000"/>
              </a:lnSpc>
            </a:pPr>
            <a:endParaRPr lang="zh-CN" altLang="en-US" sz="2400" dirty="0">
              <a:solidFill>
                <a:srgbClr val="000000"/>
              </a:solidFill>
              <a:latin typeface="Times New Roman"/>
            </a:endParaRPr>
          </a:p>
          <a:p>
            <a:pPr>
              <a:lnSpc>
                <a:spcPts val="3314"/>
              </a:lnSpc>
            </a:pPr>
            <a:r>
              <a:rPr lang="en-US" altLang="zh-CN" sz="2400" dirty="0">
                <a:solidFill>
                  <a:srgbClr val="761437"/>
                </a:solidFill>
                <a:latin typeface="Times New Roman"/>
              </a:rPr>
              <a:t>•   </a:t>
            </a:r>
            <a:r>
              <a:rPr lang="zh-CN" altLang="en-US" sz="2400" dirty="0">
                <a:solidFill>
                  <a:srgbClr val="000000"/>
                </a:solidFill>
                <a:latin typeface="Times New Roman"/>
              </a:rPr>
              <a:t>缺乏先進實踐、行業實例與經驗的培訓</a:t>
            </a:r>
          </a:p>
        </p:txBody>
      </p:sp>
      <p:sp>
        <p:nvSpPr>
          <p:cNvPr id="9" name="TextBox 8"/>
          <p:cNvSpPr txBox="1"/>
          <p:nvPr/>
        </p:nvSpPr>
        <p:spPr>
          <a:xfrm>
            <a:off x="8067681" y="6285482"/>
            <a:ext cx="1477969" cy="461665"/>
          </a:xfrm>
          <a:prstGeom prst="rect">
            <a:avLst/>
          </a:prstGeom>
          <a:noFill/>
        </p:spPr>
        <p:txBody>
          <a:bodyPr vert="horz" wrap="none" lIns="0" tIns="0" rIns="0" bIns="0" rtlCol="0">
            <a:spAutoFit/>
          </a:bodyPr>
          <a:lstStyle/>
          <a:p>
            <a:pPr>
              <a:lnSpc>
                <a:spcPts val="1800"/>
              </a:lnSpc>
            </a:pPr>
            <a:r>
              <a:rPr lang="en-US" altLang="zh-CN" dirty="0" err="1">
                <a:solidFill>
                  <a:srgbClr val="000000"/>
                </a:solidFill>
                <a:latin typeface="Times New Roman"/>
              </a:rPr>
              <a:t>Pwc</a:t>
            </a:r>
            <a:endParaRPr lang="en-US" altLang="zh-CN" dirty="0">
              <a:solidFill>
                <a:srgbClr val="000000"/>
              </a:solidFill>
              <a:latin typeface="Times New Roman"/>
            </a:endParaRPr>
          </a:p>
          <a:p>
            <a:pPr>
              <a:lnSpc>
                <a:spcPts val="1779"/>
              </a:lnSpc>
            </a:pPr>
            <a:r>
              <a:rPr lang="zh-CN" altLang="en-US" sz="1478" dirty="0">
                <a:solidFill>
                  <a:srgbClr val="000000"/>
                </a:solidFill>
                <a:latin typeface="Times New Roman"/>
              </a:rPr>
              <a:t>普     華     永     道</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myslide23">
    <p:spTree>
      <p:nvGrpSpPr>
        <p:cNvPr id="1" name=""/>
        <p:cNvGrpSpPr/>
        <p:nvPr/>
      </p:nvGrpSpPr>
      <p:grpSpPr>
        <a:xfrm>
          <a:off x="0" y="0"/>
          <a:ext cx="0" cy="0"/>
          <a:chOff x="0" y="0"/>
          <a:chExt cx="0" cy="0"/>
        </a:xfrm>
      </p:grpSpPr>
      <p:pic>
        <p:nvPicPr>
          <p:cNvPr id="2" name="图片 1" descr="ws_1AF.tmp"/>
          <p:cNvPicPr>
            <a:picLocks/>
          </p:cNvPicPr>
          <p:nvPr/>
        </p:nvPicPr>
        <p:blipFill>
          <a:blip r:embed="rId2"/>
          <a:stretch>
            <a:fillRect/>
          </a:stretch>
        </p:blipFill>
        <p:spPr>
          <a:xfrm>
            <a:off x="0" y="0"/>
            <a:ext cx="9880600" cy="6819900"/>
          </a:xfrm>
          <a:prstGeom prst="rect">
            <a:avLst/>
          </a:prstGeom>
        </p:spPr>
      </p:pic>
      <p:sp>
        <p:nvSpPr>
          <p:cNvPr id="3" name="TextBox 2"/>
          <p:cNvSpPr txBox="1"/>
          <p:nvPr/>
        </p:nvSpPr>
        <p:spPr>
          <a:xfrm>
            <a:off x="509403" y="6341571"/>
            <a:ext cx="144270" cy="133370"/>
          </a:xfrm>
          <a:prstGeom prst="rect">
            <a:avLst/>
          </a:prstGeom>
          <a:noFill/>
        </p:spPr>
        <p:txBody>
          <a:bodyPr vert="horz" wrap="none" lIns="0" tIns="0" rIns="0" bIns="0" rtlCol="0">
            <a:spAutoFit/>
          </a:bodyPr>
          <a:lstStyle/>
          <a:p>
            <a:pPr>
              <a:lnSpc>
                <a:spcPts val="1016"/>
              </a:lnSpc>
            </a:pPr>
            <a:r>
              <a:rPr lang="en-US" altLang="zh-CN" sz="1098" dirty="0">
                <a:solidFill>
                  <a:srgbClr val="761437"/>
                </a:solidFill>
                <a:latin typeface="Times New Roman"/>
              </a:rPr>
              <a:t>23</a:t>
            </a:r>
            <a:endParaRPr lang="zh-CN" altLang="en-US" sz="1098" dirty="0">
              <a:solidFill>
                <a:srgbClr val="761437"/>
              </a:solidFill>
              <a:latin typeface="Times New Roman"/>
            </a:endParaRPr>
          </a:p>
        </p:txBody>
      </p:sp>
      <p:sp>
        <p:nvSpPr>
          <p:cNvPr id="4" name="TextBox 3"/>
          <p:cNvSpPr txBox="1"/>
          <p:nvPr/>
        </p:nvSpPr>
        <p:spPr>
          <a:xfrm>
            <a:off x="903358" y="512002"/>
            <a:ext cx="4873129" cy="487313"/>
          </a:xfrm>
          <a:prstGeom prst="rect">
            <a:avLst/>
          </a:prstGeom>
          <a:noFill/>
        </p:spPr>
        <p:txBody>
          <a:bodyPr vert="horz" wrap="none" lIns="0" tIns="0" rIns="0" bIns="0" rtlCol="0">
            <a:spAutoFit/>
          </a:bodyPr>
          <a:lstStyle/>
          <a:p>
            <a:pPr>
              <a:lnSpc>
                <a:spcPts val="3794"/>
              </a:lnSpc>
            </a:pPr>
            <a:r>
              <a:rPr lang="zh-CN" altLang="en-US" sz="3798" dirty="0">
                <a:solidFill>
                  <a:srgbClr val="FFFFFF"/>
                </a:solidFill>
                <a:latin typeface="Times New Roman"/>
              </a:rPr>
              <a:t>內部控制常見問題舉例</a:t>
            </a:r>
          </a:p>
        </p:txBody>
      </p:sp>
      <p:sp>
        <p:nvSpPr>
          <p:cNvPr id="5" name="TextBox 4"/>
          <p:cNvSpPr txBox="1"/>
          <p:nvPr/>
        </p:nvSpPr>
        <p:spPr>
          <a:xfrm>
            <a:off x="989464" y="1667647"/>
            <a:ext cx="718145" cy="359073"/>
          </a:xfrm>
          <a:prstGeom prst="rect">
            <a:avLst/>
          </a:prstGeom>
          <a:noFill/>
        </p:spPr>
        <p:txBody>
          <a:bodyPr vert="horz" wrap="none" lIns="0" tIns="0" rIns="0" bIns="0" rtlCol="0">
            <a:spAutoFit/>
          </a:bodyPr>
          <a:lstStyle/>
          <a:p>
            <a:pPr>
              <a:lnSpc>
                <a:spcPts val="2799"/>
              </a:lnSpc>
            </a:pPr>
            <a:r>
              <a:rPr lang="zh-CN" altLang="en-US" sz="2802" dirty="0">
                <a:solidFill>
                  <a:srgbClr val="000000"/>
                </a:solidFill>
                <a:latin typeface="Times New Roman"/>
              </a:rPr>
              <a:t>監控</a:t>
            </a:r>
          </a:p>
        </p:txBody>
      </p:sp>
      <p:sp>
        <p:nvSpPr>
          <p:cNvPr id="6" name="TextBox 5"/>
          <p:cNvSpPr txBox="1"/>
          <p:nvPr/>
        </p:nvSpPr>
        <p:spPr>
          <a:xfrm>
            <a:off x="989464" y="2431592"/>
            <a:ext cx="5285101" cy="1987724"/>
          </a:xfrm>
          <a:prstGeom prst="rect">
            <a:avLst/>
          </a:prstGeom>
          <a:noFill/>
        </p:spPr>
        <p:txBody>
          <a:bodyPr vert="horz" wrap="none" lIns="0" tIns="0" rIns="0" bIns="0" rtlCol="0">
            <a:spAutoFit/>
          </a:bodyPr>
          <a:lstStyle/>
          <a:p>
            <a:pPr>
              <a:lnSpc>
                <a:spcPts val="2582"/>
              </a:lnSpc>
            </a:pPr>
            <a:r>
              <a:rPr lang="en-US" altLang="zh-CN" sz="2400" dirty="0">
                <a:solidFill>
                  <a:srgbClr val="761437"/>
                </a:solidFill>
                <a:latin typeface="Times New Roman"/>
              </a:rPr>
              <a:t>•   </a:t>
            </a:r>
            <a:r>
              <a:rPr lang="zh-CN" altLang="en-US" sz="2400" dirty="0">
                <a:solidFill>
                  <a:srgbClr val="000000"/>
                </a:solidFill>
                <a:latin typeface="Times New Roman"/>
              </a:rPr>
              <a:t>以人事關係或非正式手段進行監督</a:t>
            </a:r>
          </a:p>
          <a:p>
            <a:pPr>
              <a:lnSpc>
                <a:spcPts val="1000"/>
              </a:lnSpc>
            </a:pPr>
            <a:endParaRPr lang="zh-CN" altLang="en-US" sz="2400" dirty="0">
              <a:solidFill>
                <a:srgbClr val="000000"/>
              </a:solidFill>
              <a:latin typeface="Times New Roman"/>
            </a:endParaRPr>
          </a:p>
          <a:p>
            <a:pPr>
              <a:lnSpc>
                <a:spcPts val="3314"/>
              </a:lnSpc>
            </a:pPr>
            <a:r>
              <a:rPr lang="en-US" altLang="zh-CN" sz="2400" dirty="0">
                <a:solidFill>
                  <a:srgbClr val="761437"/>
                </a:solidFill>
                <a:latin typeface="Times New Roman"/>
              </a:rPr>
              <a:t>•   </a:t>
            </a:r>
            <a:r>
              <a:rPr lang="zh-CN" altLang="en-US" sz="2400" dirty="0">
                <a:solidFill>
                  <a:srgbClr val="000000"/>
                </a:solidFill>
                <a:latin typeface="Times New Roman"/>
              </a:rPr>
              <a:t>過於集中在財務領域的內部審計職能</a:t>
            </a:r>
          </a:p>
          <a:p>
            <a:pPr>
              <a:lnSpc>
                <a:spcPts val="1000"/>
              </a:lnSpc>
            </a:pPr>
            <a:endParaRPr lang="zh-CN" altLang="en-US" sz="2400" dirty="0">
              <a:solidFill>
                <a:srgbClr val="000000"/>
              </a:solidFill>
              <a:latin typeface="Times New Roman"/>
            </a:endParaRPr>
          </a:p>
          <a:p>
            <a:pPr>
              <a:lnSpc>
                <a:spcPts val="3314"/>
              </a:lnSpc>
            </a:pPr>
            <a:r>
              <a:rPr lang="en-US" altLang="zh-CN" sz="2400" dirty="0">
                <a:solidFill>
                  <a:srgbClr val="761437"/>
                </a:solidFill>
                <a:latin typeface="Times New Roman"/>
              </a:rPr>
              <a:t>•   </a:t>
            </a:r>
            <a:r>
              <a:rPr lang="zh-CN" altLang="en-US" sz="2400" dirty="0">
                <a:solidFill>
                  <a:srgbClr val="000000"/>
                </a:solidFill>
                <a:latin typeface="Times New Roman"/>
              </a:rPr>
              <a:t>審計委員會的監督作用較為薄弱</a:t>
            </a:r>
          </a:p>
          <a:p>
            <a:pPr>
              <a:lnSpc>
                <a:spcPts val="1000"/>
              </a:lnSpc>
            </a:pPr>
            <a:endParaRPr lang="zh-CN" altLang="en-US" sz="2400" dirty="0">
              <a:solidFill>
                <a:srgbClr val="000000"/>
              </a:solidFill>
              <a:latin typeface="Times New Roman"/>
            </a:endParaRPr>
          </a:p>
          <a:p>
            <a:pPr>
              <a:lnSpc>
                <a:spcPts val="3308"/>
              </a:lnSpc>
            </a:pPr>
            <a:r>
              <a:rPr lang="en-US" altLang="zh-CN" sz="2400" dirty="0">
                <a:solidFill>
                  <a:srgbClr val="761437"/>
                </a:solidFill>
                <a:latin typeface="Times New Roman"/>
              </a:rPr>
              <a:t>•   </a:t>
            </a:r>
            <a:r>
              <a:rPr lang="zh-CN" altLang="en-US" sz="2400" dirty="0">
                <a:solidFill>
                  <a:srgbClr val="000000"/>
                </a:solidFill>
                <a:latin typeface="Times New Roman"/>
              </a:rPr>
              <a:t>監控上缺乏獨立性</a:t>
            </a:r>
          </a:p>
        </p:txBody>
      </p:sp>
      <p:sp>
        <p:nvSpPr>
          <p:cNvPr id="7" name="TextBox 6"/>
          <p:cNvSpPr txBox="1"/>
          <p:nvPr/>
        </p:nvSpPr>
        <p:spPr>
          <a:xfrm>
            <a:off x="8067681" y="6285482"/>
            <a:ext cx="1477969" cy="461665"/>
          </a:xfrm>
          <a:prstGeom prst="rect">
            <a:avLst/>
          </a:prstGeom>
          <a:noFill/>
        </p:spPr>
        <p:txBody>
          <a:bodyPr vert="horz" wrap="none" lIns="0" tIns="0" rIns="0" bIns="0" rtlCol="0">
            <a:spAutoFit/>
          </a:bodyPr>
          <a:lstStyle/>
          <a:p>
            <a:pPr>
              <a:lnSpc>
                <a:spcPts val="1800"/>
              </a:lnSpc>
            </a:pPr>
            <a:r>
              <a:rPr lang="en-US" altLang="zh-CN" dirty="0" err="1">
                <a:solidFill>
                  <a:srgbClr val="000000"/>
                </a:solidFill>
                <a:latin typeface="Times New Roman"/>
              </a:rPr>
              <a:t>Pwc</a:t>
            </a:r>
            <a:endParaRPr lang="en-US" altLang="zh-CN" dirty="0">
              <a:solidFill>
                <a:srgbClr val="000000"/>
              </a:solidFill>
              <a:latin typeface="Times New Roman"/>
            </a:endParaRPr>
          </a:p>
          <a:p>
            <a:pPr>
              <a:lnSpc>
                <a:spcPts val="1779"/>
              </a:lnSpc>
            </a:pPr>
            <a:r>
              <a:rPr lang="zh-CN" altLang="en-US" sz="1478" dirty="0">
                <a:solidFill>
                  <a:srgbClr val="000000"/>
                </a:solidFill>
                <a:latin typeface="Times New Roman"/>
              </a:rPr>
              <a:t>普     華     永     道</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myslide24">
    <p:spTree>
      <p:nvGrpSpPr>
        <p:cNvPr id="1" name=""/>
        <p:cNvGrpSpPr/>
        <p:nvPr/>
      </p:nvGrpSpPr>
      <p:grpSpPr>
        <a:xfrm>
          <a:off x="0" y="0"/>
          <a:ext cx="0" cy="0"/>
          <a:chOff x="0" y="0"/>
          <a:chExt cx="0" cy="0"/>
        </a:xfrm>
      </p:grpSpPr>
      <p:pic>
        <p:nvPicPr>
          <p:cNvPr id="2" name="图片 1" descr="ws_1B1.tmp"/>
          <p:cNvPicPr>
            <a:picLocks/>
          </p:cNvPicPr>
          <p:nvPr/>
        </p:nvPicPr>
        <p:blipFill>
          <a:blip r:embed="rId2"/>
          <a:stretch>
            <a:fillRect/>
          </a:stretch>
        </p:blipFill>
        <p:spPr>
          <a:xfrm>
            <a:off x="0" y="0"/>
            <a:ext cx="9880600" cy="6819900"/>
          </a:xfrm>
          <a:prstGeom prst="rect">
            <a:avLst/>
          </a:prstGeom>
        </p:spPr>
      </p:pic>
      <p:sp>
        <p:nvSpPr>
          <p:cNvPr id="3" name="TextBox 2"/>
          <p:cNvSpPr txBox="1"/>
          <p:nvPr/>
        </p:nvSpPr>
        <p:spPr>
          <a:xfrm>
            <a:off x="509403" y="6341571"/>
            <a:ext cx="144270" cy="133370"/>
          </a:xfrm>
          <a:prstGeom prst="rect">
            <a:avLst/>
          </a:prstGeom>
          <a:noFill/>
        </p:spPr>
        <p:txBody>
          <a:bodyPr vert="horz" wrap="none" lIns="0" tIns="0" rIns="0" bIns="0" rtlCol="0">
            <a:spAutoFit/>
          </a:bodyPr>
          <a:lstStyle/>
          <a:p>
            <a:pPr>
              <a:lnSpc>
                <a:spcPts val="1016"/>
              </a:lnSpc>
            </a:pPr>
            <a:r>
              <a:rPr lang="en-US" altLang="zh-CN" sz="1098" dirty="0">
                <a:solidFill>
                  <a:srgbClr val="761437"/>
                </a:solidFill>
                <a:latin typeface="Times New Roman"/>
              </a:rPr>
              <a:t>24</a:t>
            </a:r>
            <a:endParaRPr lang="zh-CN" altLang="en-US" sz="1098" dirty="0">
              <a:solidFill>
                <a:srgbClr val="761437"/>
              </a:solidFill>
              <a:latin typeface="Times New Roman"/>
            </a:endParaRPr>
          </a:p>
        </p:txBody>
      </p:sp>
      <p:sp>
        <p:nvSpPr>
          <p:cNvPr id="4" name="TextBox 3"/>
          <p:cNvSpPr txBox="1"/>
          <p:nvPr/>
        </p:nvSpPr>
        <p:spPr>
          <a:xfrm>
            <a:off x="903358" y="512002"/>
            <a:ext cx="6335068" cy="487313"/>
          </a:xfrm>
          <a:prstGeom prst="rect">
            <a:avLst/>
          </a:prstGeom>
          <a:noFill/>
        </p:spPr>
        <p:txBody>
          <a:bodyPr vert="horz" wrap="none" lIns="0" tIns="0" rIns="0" bIns="0" rtlCol="0">
            <a:spAutoFit/>
          </a:bodyPr>
          <a:lstStyle/>
          <a:p>
            <a:pPr>
              <a:lnSpc>
                <a:spcPts val="3794"/>
              </a:lnSpc>
            </a:pPr>
            <a:r>
              <a:rPr lang="zh-CN" altLang="en-US" sz="3798" dirty="0">
                <a:solidFill>
                  <a:srgbClr val="FFFFFF"/>
                </a:solidFill>
                <a:latin typeface="Times New Roman"/>
              </a:rPr>
              <a:t>我們客戶中常見內部控制問題</a:t>
            </a:r>
          </a:p>
        </p:txBody>
      </p:sp>
      <p:sp>
        <p:nvSpPr>
          <p:cNvPr id="5" name="TextBox 4"/>
          <p:cNvSpPr txBox="1"/>
          <p:nvPr/>
        </p:nvSpPr>
        <p:spPr>
          <a:xfrm>
            <a:off x="696855" y="1826143"/>
            <a:ext cx="6049733" cy="1051570"/>
          </a:xfrm>
          <a:prstGeom prst="rect">
            <a:avLst/>
          </a:prstGeom>
          <a:noFill/>
        </p:spPr>
        <p:txBody>
          <a:bodyPr vert="horz" wrap="none" lIns="0" tIns="0" rIns="0" bIns="0" rtlCol="0">
            <a:spAutoFit/>
          </a:bodyPr>
          <a:lstStyle/>
          <a:p>
            <a:pPr>
              <a:lnSpc>
                <a:spcPts val="3015"/>
              </a:lnSpc>
            </a:pPr>
            <a:r>
              <a:rPr lang="en-US" altLang="zh-CN" sz="2802" dirty="0">
                <a:solidFill>
                  <a:srgbClr val="761437"/>
                </a:solidFill>
                <a:latin typeface="Times New Roman"/>
              </a:rPr>
              <a:t>•  </a:t>
            </a:r>
            <a:r>
              <a:rPr lang="zh-CN" altLang="en-US" sz="2802" dirty="0">
                <a:solidFill>
                  <a:srgbClr val="000000"/>
                </a:solidFill>
                <a:latin typeface="Times New Roman"/>
              </a:rPr>
              <a:t>各層次的人員缺乏現代管理實踐知識</a:t>
            </a:r>
          </a:p>
          <a:p>
            <a:pPr>
              <a:lnSpc>
                <a:spcPts val="1000"/>
              </a:lnSpc>
            </a:pPr>
            <a:endParaRPr lang="zh-CN" altLang="en-US" sz="2802" dirty="0">
              <a:solidFill>
                <a:srgbClr val="000000"/>
              </a:solidFill>
              <a:latin typeface="Times New Roman"/>
            </a:endParaRPr>
          </a:p>
          <a:p>
            <a:pPr>
              <a:lnSpc>
                <a:spcPts val="1000"/>
              </a:lnSpc>
            </a:pPr>
            <a:endParaRPr lang="zh-CN" altLang="en-US" sz="2802" dirty="0">
              <a:solidFill>
                <a:srgbClr val="000000"/>
              </a:solidFill>
              <a:latin typeface="Times New Roman"/>
            </a:endParaRPr>
          </a:p>
          <a:p>
            <a:pPr>
              <a:lnSpc>
                <a:spcPts val="3208"/>
              </a:lnSpc>
            </a:pPr>
            <a:r>
              <a:rPr lang="en-US" altLang="zh-CN" sz="2802" dirty="0">
                <a:solidFill>
                  <a:srgbClr val="761437"/>
                </a:solidFill>
                <a:latin typeface="Times New Roman"/>
              </a:rPr>
              <a:t>•  </a:t>
            </a:r>
            <a:r>
              <a:rPr lang="zh-CN" altLang="en-US" sz="2802" dirty="0">
                <a:solidFill>
                  <a:srgbClr val="000000"/>
                </a:solidFill>
                <a:latin typeface="Times New Roman"/>
              </a:rPr>
              <a:t>缺乏應有的資源</a:t>
            </a:r>
          </a:p>
        </p:txBody>
      </p:sp>
      <p:sp>
        <p:nvSpPr>
          <p:cNvPr id="6" name="TextBox 5"/>
          <p:cNvSpPr txBox="1"/>
          <p:nvPr/>
        </p:nvSpPr>
        <p:spPr>
          <a:xfrm>
            <a:off x="696855" y="3149742"/>
            <a:ext cx="3536224" cy="384721"/>
          </a:xfrm>
          <a:prstGeom prst="rect">
            <a:avLst/>
          </a:prstGeom>
          <a:noFill/>
        </p:spPr>
        <p:txBody>
          <a:bodyPr vert="horz" wrap="none" lIns="0" tIns="0" rIns="0" bIns="0" rtlCol="0">
            <a:spAutoFit/>
          </a:bodyPr>
          <a:lstStyle/>
          <a:p>
            <a:pPr>
              <a:lnSpc>
                <a:spcPts val="3015"/>
              </a:lnSpc>
            </a:pPr>
            <a:r>
              <a:rPr lang="en-US" altLang="zh-CN" sz="2802" dirty="0">
                <a:solidFill>
                  <a:srgbClr val="761437"/>
                </a:solidFill>
                <a:latin typeface="Times New Roman"/>
              </a:rPr>
              <a:t>•  </a:t>
            </a:r>
            <a:r>
              <a:rPr lang="zh-CN" altLang="en-US" sz="2802" dirty="0">
                <a:solidFill>
                  <a:srgbClr val="000000"/>
                </a:solidFill>
                <a:latin typeface="Times New Roman"/>
              </a:rPr>
              <a:t>存在變革的內部阻力</a:t>
            </a:r>
          </a:p>
        </p:txBody>
      </p:sp>
      <p:sp>
        <p:nvSpPr>
          <p:cNvPr id="7" name="TextBox 6"/>
          <p:cNvSpPr txBox="1"/>
          <p:nvPr/>
        </p:nvSpPr>
        <p:spPr>
          <a:xfrm>
            <a:off x="696855" y="3811915"/>
            <a:ext cx="4254370" cy="384721"/>
          </a:xfrm>
          <a:prstGeom prst="rect">
            <a:avLst/>
          </a:prstGeom>
          <a:noFill/>
        </p:spPr>
        <p:txBody>
          <a:bodyPr vert="horz" wrap="none" lIns="0" tIns="0" rIns="0" bIns="0" rtlCol="0">
            <a:spAutoFit/>
          </a:bodyPr>
          <a:lstStyle/>
          <a:p>
            <a:pPr>
              <a:lnSpc>
                <a:spcPts val="3015"/>
              </a:lnSpc>
            </a:pPr>
            <a:r>
              <a:rPr lang="en-US" altLang="zh-CN" sz="2802" dirty="0">
                <a:solidFill>
                  <a:srgbClr val="761437"/>
                </a:solidFill>
                <a:latin typeface="Times New Roman"/>
              </a:rPr>
              <a:t>•  </a:t>
            </a:r>
            <a:r>
              <a:rPr lang="zh-CN" altLang="en-US" sz="2802" dirty="0">
                <a:solidFill>
                  <a:srgbClr val="000000"/>
                </a:solidFill>
                <a:latin typeface="Times New Roman"/>
              </a:rPr>
              <a:t>缺少現代管理體系和工具</a:t>
            </a:r>
          </a:p>
        </p:txBody>
      </p:sp>
      <p:sp>
        <p:nvSpPr>
          <p:cNvPr id="8" name="TextBox 7"/>
          <p:cNvSpPr txBox="1"/>
          <p:nvPr/>
        </p:nvSpPr>
        <p:spPr>
          <a:xfrm>
            <a:off x="696855" y="4474088"/>
            <a:ext cx="5690660" cy="384721"/>
          </a:xfrm>
          <a:prstGeom prst="rect">
            <a:avLst/>
          </a:prstGeom>
          <a:noFill/>
        </p:spPr>
        <p:txBody>
          <a:bodyPr vert="horz" wrap="none" lIns="0" tIns="0" rIns="0" bIns="0" rtlCol="0">
            <a:spAutoFit/>
          </a:bodyPr>
          <a:lstStyle/>
          <a:p>
            <a:pPr>
              <a:lnSpc>
                <a:spcPts val="3015"/>
              </a:lnSpc>
            </a:pPr>
            <a:r>
              <a:rPr lang="en-US" altLang="zh-CN" sz="2802" dirty="0">
                <a:solidFill>
                  <a:srgbClr val="761437"/>
                </a:solidFill>
                <a:latin typeface="Times New Roman"/>
              </a:rPr>
              <a:t>•  </a:t>
            </a:r>
            <a:r>
              <a:rPr lang="zh-CN" altLang="en-US" sz="2802" dirty="0">
                <a:solidFill>
                  <a:srgbClr val="000000"/>
                </a:solidFill>
                <a:latin typeface="Times New Roman"/>
              </a:rPr>
              <a:t>監控的範圍和力度不夠充分、統一</a:t>
            </a:r>
          </a:p>
        </p:txBody>
      </p:sp>
      <p:sp>
        <p:nvSpPr>
          <p:cNvPr id="9" name="TextBox 8"/>
          <p:cNvSpPr txBox="1"/>
          <p:nvPr/>
        </p:nvSpPr>
        <p:spPr>
          <a:xfrm>
            <a:off x="8067681" y="6285482"/>
            <a:ext cx="1477969" cy="461665"/>
          </a:xfrm>
          <a:prstGeom prst="rect">
            <a:avLst/>
          </a:prstGeom>
          <a:noFill/>
        </p:spPr>
        <p:txBody>
          <a:bodyPr vert="horz" wrap="none" lIns="0" tIns="0" rIns="0" bIns="0" rtlCol="0">
            <a:spAutoFit/>
          </a:bodyPr>
          <a:lstStyle/>
          <a:p>
            <a:pPr>
              <a:lnSpc>
                <a:spcPts val="1800"/>
              </a:lnSpc>
            </a:pPr>
            <a:r>
              <a:rPr lang="en-US" altLang="zh-CN" dirty="0" err="1">
                <a:solidFill>
                  <a:srgbClr val="000000"/>
                </a:solidFill>
                <a:latin typeface="Times New Roman"/>
              </a:rPr>
              <a:t>Pwc</a:t>
            </a:r>
            <a:endParaRPr lang="en-US" altLang="zh-CN" dirty="0">
              <a:solidFill>
                <a:srgbClr val="000000"/>
              </a:solidFill>
              <a:latin typeface="Times New Roman"/>
            </a:endParaRPr>
          </a:p>
          <a:p>
            <a:pPr>
              <a:lnSpc>
                <a:spcPts val="1779"/>
              </a:lnSpc>
            </a:pPr>
            <a:r>
              <a:rPr lang="zh-CN" altLang="en-US" sz="1478" dirty="0">
                <a:solidFill>
                  <a:srgbClr val="000000"/>
                </a:solidFill>
                <a:latin typeface="Times New Roman"/>
              </a:rPr>
              <a:t>普     華     永     道</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myslide25">
    <p:spTree>
      <p:nvGrpSpPr>
        <p:cNvPr id="1" name=""/>
        <p:cNvGrpSpPr/>
        <p:nvPr/>
      </p:nvGrpSpPr>
      <p:grpSpPr>
        <a:xfrm>
          <a:off x="0" y="0"/>
          <a:ext cx="0" cy="0"/>
          <a:chOff x="0" y="0"/>
          <a:chExt cx="0" cy="0"/>
        </a:xfrm>
      </p:grpSpPr>
      <p:pic>
        <p:nvPicPr>
          <p:cNvPr id="2" name="图片 1" descr="ws_1B3.tmp"/>
          <p:cNvPicPr>
            <a:picLocks/>
          </p:cNvPicPr>
          <p:nvPr/>
        </p:nvPicPr>
        <p:blipFill>
          <a:blip r:embed="rId2"/>
          <a:stretch>
            <a:fillRect/>
          </a:stretch>
        </p:blipFill>
        <p:spPr>
          <a:xfrm>
            <a:off x="0" y="0"/>
            <a:ext cx="9880600" cy="6819900"/>
          </a:xfrm>
          <a:prstGeom prst="rect">
            <a:avLst/>
          </a:prstGeom>
        </p:spPr>
      </p:pic>
      <p:sp>
        <p:nvSpPr>
          <p:cNvPr id="3" name="TextBox 2"/>
          <p:cNvSpPr txBox="1"/>
          <p:nvPr/>
        </p:nvSpPr>
        <p:spPr>
          <a:xfrm>
            <a:off x="784485" y="2791601"/>
            <a:ext cx="897682" cy="179536"/>
          </a:xfrm>
          <a:prstGeom prst="rect">
            <a:avLst/>
          </a:prstGeom>
          <a:noFill/>
        </p:spPr>
        <p:txBody>
          <a:bodyPr vert="horz" wrap="none" lIns="0" tIns="0" rIns="0" bIns="0" rtlCol="0">
            <a:spAutoFit/>
          </a:bodyPr>
          <a:lstStyle/>
          <a:p>
            <a:pPr>
              <a:lnSpc>
                <a:spcPts val="1397"/>
              </a:lnSpc>
            </a:pPr>
            <a:r>
              <a:rPr lang="zh-CN" altLang="en-US" sz="1398" dirty="0">
                <a:solidFill>
                  <a:srgbClr val="502800"/>
                </a:solidFill>
                <a:latin typeface="Times New Roman"/>
              </a:rPr>
              <a:t>不可依賴的</a:t>
            </a:r>
          </a:p>
        </p:txBody>
      </p:sp>
      <p:sp>
        <p:nvSpPr>
          <p:cNvPr id="4" name="TextBox 3"/>
          <p:cNvSpPr txBox="1"/>
          <p:nvPr/>
        </p:nvSpPr>
        <p:spPr>
          <a:xfrm>
            <a:off x="784485" y="3004195"/>
            <a:ext cx="718145" cy="179536"/>
          </a:xfrm>
          <a:prstGeom prst="rect">
            <a:avLst/>
          </a:prstGeom>
          <a:noFill/>
        </p:spPr>
        <p:txBody>
          <a:bodyPr vert="horz" wrap="none" lIns="0" tIns="0" rIns="0" bIns="0" rtlCol="0">
            <a:spAutoFit/>
          </a:bodyPr>
          <a:lstStyle/>
          <a:p>
            <a:pPr>
              <a:lnSpc>
                <a:spcPts val="1397"/>
              </a:lnSpc>
            </a:pPr>
            <a:r>
              <a:rPr lang="zh-CN" altLang="en-US" sz="1398" dirty="0">
                <a:solidFill>
                  <a:srgbClr val="502800"/>
                </a:solidFill>
                <a:latin typeface="Times New Roman"/>
              </a:rPr>
              <a:t>內部控制</a:t>
            </a:r>
          </a:p>
        </p:txBody>
      </p:sp>
      <p:sp>
        <p:nvSpPr>
          <p:cNvPr id="5" name="TextBox 4"/>
          <p:cNvSpPr txBox="1"/>
          <p:nvPr/>
        </p:nvSpPr>
        <p:spPr>
          <a:xfrm>
            <a:off x="2831969" y="2791569"/>
            <a:ext cx="718145" cy="179536"/>
          </a:xfrm>
          <a:prstGeom prst="rect">
            <a:avLst/>
          </a:prstGeom>
          <a:noFill/>
        </p:spPr>
        <p:txBody>
          <a:bodyPr vert="horz" wrap="none" lIns="0" tIns="0" rIns="0" bIns="0" rtlCol="0">
            <a:spAutoFit/>
          </a:bodyPr>
          <a:lstStyle/>
          <a:p>
            <a:pPr>
              <a:lnSpc>
                <a:spcPts val="1397"/>
              </a:lnSpc>
            </a:pPr>
            <a:r>
              <a:rPr lang="zh-CN" altLang="en-US" sz="1398" dirty="0">
                <a:solidFill>
                  <a:srgbClr val="502800"/>
                </a:solidFill>
                <a:latin typeface="Times New Roman"/>
              </a:rPr>
              <a:t>非正式的</a:t>
            </a:r>
          </a:p>
        </p:txBody>
      </p:sp>
      <p:sp>
        <p:nvSpPr>
          <p:cNvPr id="6" name="TextBox 5"/>
          <p:cNvSpPr txBox="1"/>
          <p:nvPr/>
        </p:nvSpPr>
        <p:spPr>
          <a:xfrm>
            <a:off x="2831969" y="3004162"/>
            <a:ext cx="718145" cy="179536"/>
          </a:xfrm>
          <a:prstGeom prst="rect">
            <a:avLst/>
          </a:prstGeom>
          <a:noFill/>
        </p:spPr>
        <p:txBody>
          <a:bodyPr vert="horz" wrap="none" lIns="0" tIns="0" rIns="0" bIns="0" rtlCol="0">
            <a:spAutoFit/>
          </a:bodyPr>
          <a:lstStyle/>
          <a:p>
            <a:pPr>
              <a:lnSpc>
                <a:spcPts val="1397"/>
              </a:lnSpc>
            </a:pPr>
            <a:r>
              <a:rPr lang="zh-CN" altLang="en-US" sz="1398" dirty="0">
                <a:solidFill>
                  <a:srgbClr val="502800"/>
                </a:solidFill>
                <a:latin typeface="Times New Roman"/>
              </a:rPr>
              <a:t>內部控制</a:t>
            </a:r>
          </a:p>
        </p:txBody>
      </p:sp>
      <p:sp>
        <p:nvSpPr>
          <p:cNvPr id="7" name="TextBox 6"/>
          <p:cNvSpPr txBox="1"/>
          <p:nvPr/>
        </p:nvSpPr>
        <p:spPr>
          <a:xfrm>
            <a:off x="4241667" y="2791569"/>
            <a:ext cx="718145" cy="179536"/>
          </a:xfrm>
          <a:prstGeom prst="rect">
            <a:avLst/>
          </a:prstGeom>
          <a:noFill/>
        </p:spPr>
        <p:txBody>
          <a:bodyPr vert="horz" wrap="none" lIns="0" tIns="0" rIns="0" bIns="0" rtlCol="0">
            <a:spAutoFit/>
          </a:bodyPr>
          <a:lstStyle/>
          <a:p>
            <a:pPr>
              <a:lnSpc>
                <a:spcPts val="1397"/>
              </a:lnSpc>
            </a:pPr>
            <a:r>
              <a:rPr lang="zh-CN" altLang="en-US" sz="1398" dirty="0">
                <a:solidFill>
                  <a:srgbClr val="502800"/>
                </a:solidFill>
                <a:latin typeface="Times New Roman"/>
              </a:rPr>
              <a:t>標準化的</a:t>
            </a:r>
          </a:p>
        </p:txBody>
      </p:sp>
      <p:sp>
        <p:nvSpPr>
          <p:cNvPr id="8" name="TextBox 7"/>
          <p:cNvSpPr txBox="1"/>
          <p:nvPr/>
        </p:nvSpPr>
        <p:spPr>
          <a:xfrm>
            <a:off x="4241667" y="3004162"/>
            <a:ext cx="718145" cy="179536"/>
          </a:xfrm>
          <a:prstGeom prst="rect">
            <a:avLst/>
          </a:prstGeom>
          <a:noFill/>
        </p:spPr>
        <p:txBody>
          <a:bodyPr vert="horz" wrap="none" lIns="0" tIns="0" rIns="0" bIns="0" rtlCol="0">
            <a:spAutoFit/>
          </a:bodyPr>
          <a:lstStyle/>
          <a:p>
            <a:pPr>
              <a:lnSpc>
                <a:spcPts val="1397"/>
              </a:lnSpc>
            </a:pPr>
            <a:r>
              <a:rPr lang="zh-CN" altLang="en-US" sz="1398" dirty="0">
                <a:solidFill>
                  <a:srgbClr val="502800"/>
                </a:solidFill>
                <a:latin typeface="Times New Roman"/>
              </a:rPr>
              <a:t>內部控制</a:t>
            </a:r>
          </a:p>
        </p:txBody>
      </p:sp>
      <p:sp>
        <p:nvSpPr>
          <p:cNvPr id="9" name="TextBox 8"/>
          <p:cNvSpPr txBox="1"/>
          <p:nvPr/>
        </p:nvSpPr>
        <p:spPr>
          <a:xfrm>
            <a:off x="5771772" y="2791569"/>
            <a:ext cx="718145" cy="179536"/>
          </a:xfrm>
          <a:prstGeom prst="rect">
            <a:avLst/>
          </a:prstGeom>
          <a:noFill/>
        </p:spPr>
        <p:txBody>
          <a:bodyPr vert="horz" wrap="none" lIns="0" tIns="0" rIns="0" bIns="0" rtlCol="0">
            <a:spAutoFit/>
          </a:bodyPr>
          <a:lstStyle/>
          <a:p>
            <a:pPr>
              <a:lnSpc>
                <a:spcPts val="1397"/>
              </a:lnSpc>
            </a:pPr>
            <a:r>
              <a:rPr lang="zh-CN" altLang="en-US" sz="1398" dirty="0">
                <a:solidFill>
                  <a:srgbClr val="502800"/>
                </a:solidFill>
                <a:latin typeface="Times New Roman"/>
              </a:rPr>
              <a:t>有監控的</a:t>
            </a:r>
          </a:p>
        </p:txBody>
      </p:sp>
      <p:sp>
        <p:nvSpPr>
          <p:cNvPr id="10" name="TextBox 9"/>
          <p:cNvSpPr txBox="1"/>
          <p:nvPr/>
        </p:nvSpPr>
        <p:spPr>
          <a:xfrm>
            <a:off x="5771772" y="3004162"/>
            <a:ext cx="718145" cy="179536"/>
          </a:xfrm>
          <a:prstGeom prst="rect">
            <a:avLst/>
          </a:prstGeom>
          <a:noFill/>
        </p:spPr>
        <p:txBody>
          <a:bodyPr vert="horz" wrap="none" lIns="0" tIns="0" rIns="0" bIns="0" rtlCol="0">
            <a:spAutoFit/>
          </a:bodyPr>
          <a:lstStyle/>
          <a:p>
            <a:pPr>
              <a:lnSpc>
                <a:spcPts val="1397"/>
              </a:lnSpc>
            </a:pPr>
            <a:r>
              <a:rPr lang="zh-CN" altLang="en-US" sz="1398" dirty="0">
                <a:solidFill>
                  <a:srgbClr val="502800"/>
                </a:solidFill>
                <a:latin typeface="Times New Roman"/>
              </a:rPr>
              <a:t>內部控制</a:t>
            </a:r>
          </a:p>
        </p:txBody>
      </p:sp>
      <p:sp>
        <p:nvSpPr>
          <p:cNvPr id="11" name="TextBox 10"/>
          <p:cNvSpPr txBox="1"/>
          <p:nvPr/>
        </p:nvSpPr>
        <p:spPr>
          <a:xfrm>
            <a:off x="7540369" y="2791569"/>
            <a:ext cx="718145" cy="179536"/>
          </a:xfrm>
          <a:prstGeom prst="rect">
            <a:avLst/>
          </a:prstGeom>
          <a:noFill/>
        </p:spPr>
        <p:txBody>
          <a:bodyPr vert="horz" wrap="none" lIns="0" tIns="0" rIns="0" bIns="0" rtlCol="0">
            <a:spAutoFit/>
          </a:bodyPr>
          <a:lstStyle/>
          <a:p>
            <a:pPr>
              <a:lnSpc>
                <a:spcPts val="1397"/>
              </a:lnSpc>
            </a:pPr>
            <a:r>
              <a:rPr lang="zh-CN" altLang="en-US" sz="1398" dirty="0">
                <a:solidFill>
                  <a:srgbClr val="502800"/>
                </a:solidFill>
                <a:latin typeface="Times New Roman"/>
              </a:rPr>
              <a:t>最優化的</a:t>
            </a:r>
          </a:p>
        </p:txBody>
      </p:sp>
      <p:sp>
        <p:nvSpPr>
          <p:cNvPr id="12" name="TextBox 11"/>
          <p:cNvSpPr txBox="1"/>
          <p:nvPr/>
        </p:nvSpPr>
        <p:spPr>
          <a:xfrm>
            <a:off x="7540369" y="3004162"/>
            <a:ext cx="718145" cy="179536"/>
          </a:xfrm>
          <a:prstGeom prst="rect">
            <a:avLst/>
          </a:prstGeom>
          <a:noFill/>
        </p:spPr>
        <p:txBody>
          <a:bodyPr vert="horz" wrap="none" lIns="0" tIns="0" rIns="0" bIns="0" rtlCol="0">
            <a:spAutoFit/>
          </a:bodyPr>
          <a:lstStyle/>
          <a:p>
            <a:pPr>
              <a:lnSpc>
                <a:spcPts val="1397"/>
              </a:lnSpc>
            </a:pPr>
            <a:r>
              <a:rPr lang="zh-CN" altLang="en-US" sz="1398" dirty="0">
                <a:solidFill>
                  <a:srgbClr val="502800"/>
                </a:solidFill>
                <a:latin typeface="Times New Roman"/>
              </a:rPr>
              <a:t>內部控制</a:t>
            </a:r>
          </a:p>
        </p:txBody>
      </p:sp>
      <p:sp>
        <p:nvSpPr>
          <p:cNvPr id="13" name="TextBox 12"/>
          <p:cNvSpPr txBox="1"/>
          <p:nvPr/>
        </p:nvSpPr>
        <p:spPr>
          <a:xfrm>
            <a:off x="784485" y="3430146"/>
            <a:ext cx="1436291" cy="179536"/>
          </a:xfrm>
          <a:prstGeom prst="rect">
            <a:avLst/>
          </a:prstGeom>
          <a:noFill/>
        </p:spPr>
        <p:txBody>
          <a:bodyPr vert="horz" wrap="none" lIns="0" tIns="0" rIns="0" bIns="0" rtlCol="0">
            <a:spAutoFit/>
          </a:bodyPr>
          <a:lstStyle/>
          <a:p>
            <a:pPr>
              <a:lnSpc>
                <a:spcPts val="1397"/>
              </a:lnSpc>
            </a:pPr>
            <a:r>
              <a:rPr lang="zh-CN" altLang="en-US" sz="1398" dirty="0">
                <a:solidFill>
                  <a:srgbClr val="502800"/>
                </a:solidFill>
                <a:latin typeface="Times New Roman"/>
              </a:rPr>
              <a:t>－控制環境不可預</a:t>
            </a:r>
          </a:p>
        </p:txBody>
      </p:sp>
      <p:sp>
        <p:nvSpPr>
          <p:cNvPr id="14" name="TextBox 13"/>
          <p:cNvSpPr txBox="1"/>
          <p:nvPr/>
        </p:nvSpPr>
        <p:spPr>
          <a:xfrm>
            <a:off x="898780" y="3642739"/>
            <a:ext cx="1256754" cy="179536"/>
          </a:xfrm>
          <a:prstGeom prst="rect">
            <a:avLst/>
          </a:prstGeom>
          <a:noFill/>
        </p:spPr>
        <p:txBody>
          <a:bodyPr vert="horz" wrap="none" lIns="0" tIns="0" rIns="0" bIns="0" rtlCol="0">
            <a:spAutoFit/>
          </a:bodyPr>
          <a:lstStyle/>
          <a:p>
            <a:pPr>
              <a:lnSpc>
                <a:spcPts val="1397"/>
              </a:lnSpc>
            </a:pPr>
            <a:r>
              <a:rPr lang="zh-CN" altLang="en-US" sz="1398" dirty="0">
                <a:solidFill>
                  <a:srgbClr val="502800"/>
                </a:solidFill>
                <a:latin typeface="Times New Roman"/>
              </a:rPr>
              <a:t>期，未設計相應</a:t>
            </a:r>
          </a:p>
        </p:txBody>
      </p:sp>
      <p:sp>
        <p:nvSpPr>
          <p:cNvPr id="15" name="TextBox 14"/>
          <p:cNvSpPr txBox="1"/>
          <p:nvPr/>
        </p:nvSpPr>
        <p:spPr>
          <a:xfrm>
            <a:off x="898780" y="3855333"/>
            <a:ext cx="1256754" cy="179536"/>
          </a:xfrm>
          <a:prstGeom prst="rect">
            <a:avLst/>
          </a:prstGeom>
          <a:noFill/>
        </p:spPr>
        <p:txBody>
          <a:bodyPr vert="horz" wrap="none" lIns="0" tIns="0" rIns="0" bIns="0" rtlCol="0">
            <a:spAutoFit/>
          </a:bodyPr>
          <a:lstStyle/>
          <a:p>
            <a:pPr>
              <a:lnSpc>
                <a:spcPts val="1397"/>
              </a:lnSpc>
            </a:pPr>
            <a:r>
              <a:rPr lang="zh-CN" altLang="en-US" sz="1398" dirty="0">
                <a:solidFill>
                  <a:srgbClr val="502800"/>
                </a:solidFill>
                <a:latin typeface="Times New Roman"/>
              </a:rPr>
              <a:t>的控制程式或控</a:t>
            </a:r>
          </a:p>
        </p:txBody>
      </p:sp>
      <p:sp>
        <p:nvSpPr>
          <p:cNvPr id="16" name="TextBox 15"/>
          <p:cNvSpPr txBox="1"/>
          <p:nvPr/>
        </p:nvSpPr>
        <p:spPr>
          <a:xfrm>
            <a:off x="898780" y="4057256"/>
            <a:ext cx="897682" cy="179536"/>
          </a:xfrm>
          <a:prstGeom prst="rect">
            <a:avLst/>
          </a:prstGeom>
          <a:noFill/>
        </p:spPr>
        <p:txBody>
          <a:bodyPr vert="horz" wrap="none" lIns="0" tIns="0" rIns="0" bIns="0" rtlCol="0">
            <a:spAutoFit/>
          </a:bodyPr>
          <a:lstStyle/>
          <a:p>
            <a:pPr>
              <a:lnSpc>
                <a:spcPts val="1397"/>
              </a:lnSpc>
            </a:pPr>
            <a:r>
              <a:rPr lang="zh-CN" altLang="en-US" sz="1398" dirty="0">
                <a:solidFill>
                  <a:srgbClr val="502800"/>
                </a:solidFill>
                <a:latin typeface="Times New Roman"/>
              </a:rPr>
              <a:t>制程式失效</a:t>
            </a:r>
          </a:p>
        </p:txBody>
      </p:sp>
      <p:sp>
        <p:nvSpPr>
          <p:cNvPr id="17" name="TextBox 16"/>
          <p:cNvSpPr txBox="1"/>
          <p:nvPr/>
        </p:nvSpPr>
        <p:spPr>
          <a:xfrm>
            <a:off x="2565263" y="3430113"/>
            <a:ext cx="1256754" cy="179536"/>
          </a:xfrm>
          <a:prstGeom prst="rect">
            <a:avLst/>
          </a:prstGeom>
          <a:noFill/>
        </p:spPr>
        <p:txBody>
          <a:bodyPr vert="horz" wrap="none" lIns="0" tIns="0" rIns="0" bIns="0" rtlCol="0">
            <a:spAutoFit/>
          </a:bodyPr>
          <a:lstStyle/>
          <a:p>
            <a:pPr>
              <a:lnSpc>
                <a:spcPts val="1397"/>
              </a:lnSpc>
            </a:pPr>
            <a:r>
              <a:rPr lang="zh-CN" altLang="en-US" sz="1398" dirty="0">
                <a:solidFill>
                  <a:srgbClr val="502800"/>
                </a:solidFill>
                <a:latin typeface="Times New Roman"/>
              </a:rPr>
              <a:t>－報告和控制程</a:t>
            </a:r>
          </a:p>
        </p:txBody>
      </p:sp>
      <p:sp>
        <p:nvSpPr>
          <p:cNvPr id="18" name="TextBox 17"/>
          <p:cNvSpPr txBox="1"/>
          <p:nvPr/>
        </p:nvSpPr>
        <p:spPr>
          <a:xfrm>
            <a:off x="2748899" y="3642707"/>
            <a:ext cx="1077218" cy="179536"/>
          </a:xfrm>
          <a:prstGeom prst="rect">
            <a:avLst/>
          </a:prstGeom>
          <a:noFill/>
        </p:spPr>
        <p:txBody>
          <a:bodyPr vert="horz" wrap="none" lIns="0" tIns="0" rIns="0" bIns="0" rtlCol="0">
            <a:spAutoFit/>
          </a:bodyPr>
          <a:lstStyle/>
          <a:p>
            <a:pPr>
              <a:lnSpc>
                <a:spcPts val="1397"/>
              </a:lnSpc>
            </a:pPr>
            <a:r>
              <a:rPr lang="zh-CN" altLang="en-US" sz="1398" dirty="0">
                <a:solidFill>
                  <a:srgbClr val="502800"/>
                </a:solidFill>
                <a:latin typeface="Times New Roman"/>
              </a:rPr>
              <a:t>序已設計並正</a:t>
            </a:r>
          </a:p>
        </p:txBody>
      </p:sp>
      <p:sp>
        <p:nvSpPr>
          <p:cNvPr id="19" name="TextBox 18"/>
          <p:cNvSpPr txBox="1"/>
          <p:nvPr/>
        </p:nvSpPr>
        <p:spPr>
          <a:xfrm>
            <a:off x="2748899" y="3855300"/>
            <a:ext cx="1077218" cy="179536"/>
          </a:xfrm>
          <a:prstGeom prst="rect">
            <a:avLst/>
          </a:prstGeom>
          <a:noFill/>
        </p:spPr>
        <p:txBody>
          <a:bodyPr vert="horz" wrap="none" lIns="0" tIns="0" rIns="0" bIns="0" rtlCol="0">
            <a:spAutoFit/>
          </a:bodyPr>
          <a:lstStyle/>
          <a:p>
            <a:pPr>
              <a:lnSpc>
                <a:spcPts val="1397"/>
              </a:lnSpc>
            </a:pPr>
            <a:r>
              <a:rPr lang="zh-CN" altLang="en-US" sz="1398" dirty="0">
                <a:solidFill>
                  <a:srgbClr val="502800"/>
                </a:solidFill>
                <a:latin typeface="Times New Roman"/>
              </a:rPr>
              <a:t>常運行，但未</a:t>
            </a:r>
          </a:p>
        </p:txBody>
      </p:sp>
      <p:sp>
        <p:nvSpPr>
          <p:cNvPr id="20" name="TextBox 19"/>
          <p:cNvSpPr txBox="1"/>
          <p:nvPr/>
        </p:nvSpPr>
        <p:spPr>
          <a:xfrm>
            <a:off x="2838061" y="4057223"/>
            <a:ext cx="897682" cy="179536"/>
          </a:xfrm>
          <a:prstGeom prst="rect">
            <a:avLst/>
          </a:prstGeom>
          <a:noFill/>
        </p:spPr>
        <p:txBody>
          <a:bodyPr vert="horz" wrap="none" lIns="0" tIns="0" rIns="0" bIns="0" rtlCol="0">
            <a:spAutoFit/>
          </a:bodyPr>
          <a:lstStyle/>
          <a:p>
            <a:pPr>
              <a:lnSpc>
                <a:spcPts val="1397"/>
              </a:lnSpc>
            </a:pPr>
            <a:r>
              <a:rPr lang="zh-CN" altLang="en-US" sz="1398" dirty="0">
                <a:solidFill>
                  <a:srgbClr val="502800"/>
                </a:solidFill>
                <a:latin typeface="Times New Roman"/>
              </a:rPr>
              <a:t>作適當記錄</a:t>
            </a:r>
          </a:p>
        </p:txBody>
      </p:sp>
      <p:sp>
        <p:nvSpPr>
          <p:cNvPr id="21" name="TextBox 20"/>
          <p:cNvSpPr txBox="1"/>
          <p:nvPr/>
        </p:nvSpPr>
        <p:spPr>
          <a:xfrm>
            <a:off x="4241667" y="3430113"/>
            <a:ext cx="1077218" cy="179536"/>
          </a:xfrm>
          <a:prstGeom prst="rect">
            <a:avLst/>
          </a:prstGeom>
          <a:noFill/>
        </p:spPr>
        <p:txBody>
          <a:bodyPr vert="horz" wrap="none" lIns="0" tIns="0" rIns="0" bIns="0" rtlCol="0">
            <a:spAutoFit/>
          </a:bodyPr>
          <a:lstStyle/>
          <a:p>
            <a:pPr>
              <a:lnSpc>
                <a:spcPts val="1397"/>
              </a:lnSpc>
            </a:pPr>
            <a:r>
              <a:rPr lang="zh-CN" altLang="en-US" sz="1398" dirty="0">
                <a:solidFill>
                  <a:srgbClr val="502800"/>
                </a:solidFill>
                <a:latin typeface="Times New Roman"/>
              </a:rPr>
              <a:t>－報告和控制</a:t>
            </a:r>
          </a:p>
        </p:txBody>
      </p:sp>
      <p:sp>
        <p:nvSpPr>
          <p:cNvPr id="22" name="TextBox 21"/>
          <p:cNvSpPr txBox="1"/>
          <p:nvPr/>
        </p:nvSpPr>
        <p:spPr>
          <a:xfrm>
            <a:off x="4355962" y="3642707"/>
            <a:ext cx="1077218" cy="179536"/>
          </a:xfrm>
          <a:prstGeom prst="rect">
            <a:avLst/>
          </a:prstGeom>
          <a:noFill/>
        </p:spPr>
        <p:txBody>
          <a:bodyPr vert="horz" wrap="none" lIns="0" tIns="0" rIns="0" bIns="0" rtlCol="0">
            <a:spAutoFit/>
          </a:bodyPr>
          <a:lstStyle/>
          <a:p>
            <a:pPr>
              <a:lnSpc>
                <a:spcPts val="1397"/>
              </a:lnSpc>
            </a:pPr>
            <a:r>
              <a:rPr lang="zh-CN" altLang="en-US" sz="1398" dirty="0">
                <a:solidFill>
                  <a:srgbClr val="502800"/>
                </a:solidFill>
                <a:latin typeface="Times New Roman"/>
              </a:rPr>
              <a:t>程式已設計並</a:t>
            </a:r>
          </a:p>
        </p:txBody>
      </p:sp>
      <p:sp>
        <p:nvSpPr>
          <p:cNvPr id="23" name="TextBox 22"/>
          <p:cNvSpPr txBox="1"/>
          <p:nvPr/>
        </p:nvSpPr>
        <p:spPr>
          <a:xfrm>
            <a:off x="4355962" y="3855300"/>
            <a:ext cx="1077218" cy="179536"/>
          </a:xfrm>
          <a:prstGeom prst="rect">
            <a:avLst/>
          </a:prstGeom>
          <a:noFill/>
        </p:spPr>
        <p:txBody>
          <a:bodyPr vert="horz" wrap="none" lIns="0" tIns="0" rIns="0" bIns="0" rtlCol="0">
            <a:spAutoFit/>
          </a:bodyPr>
          <a:lstStyle/>
          <a:p>
            <a:pPr>
              <a:lnSpc>
                <a:spcPts val="1397"/>
              </a:lnSpc>
            </a:pPr>
            <a:r>
              <a:rPr lang="zh-CN" altLang="en-US" sz="1398" dirty="0">
                <a:solidFill>
                  <a:srgbClr val="502800"/>
                </a:solidFill>
                <a:latin typeface="Times New Roman"/>
              </a:rPr>
              <a:t>正常運行，且</a:t>
            </a:r>
          </a:p>
        </p:txBody>
      </p:sp>
      <p:sp>
        <p:nvSpPr>
          <p:cNvPr id="24" name="TextBox 23"/>
          <p:cNvSpPr txBox="1"/>
          <p:nvPr/>
        </p:nvSpPr>
        <p:spPr>
          <a:xfrm>
            <a:off x="4355962" y="4067894"/>
            <a:ext cx="718145" cy="179536"/>
          </a:xfrm>
          <a:prstGeom prst="rect">
            <a:avLst/>
          </a:prstGeom>
          <a:noFill/>
        </p:spPr>
        <p:txBody>
          <a:bodyPr vert="horz" wrap="none" lIns="0" tIns="0" rIns="0" bIns="0" rtlCol="0">
            <a:spAutoFit/>
          </a:bodyPr>
          <a:lstStyle/>
          <a:p>
            <a:pPr>
              <a:lnSpc>
                <a:spcPts val="1397"/>
              </a:lnSpc>
            </a:pPr>
            <a:r>
              <a:rPr lang="zh-CN" altLang="en-US" sz="1398" dirty="0">
                <a:solidFill>
                  <a:srgbClr val="502800"/>
                </a:solidFill>
                <a:latin typeface="Times New Roman"/>
              </a:rPr>
              <a:t>適當記錄</a:t>
            </a:r>
          </a:p>
        </p:txBody>
      </p:sp>
      <p:sp>
        <p:nvSpPr>
          <p:cNvPr id="25" name="TextBox 24"/>
          <p:cNvSpPr txBox="1"/>
          <p:nvPr/>
        </p:nvSpPr>
        <p:spPr>
          <a:xfrm>
            <a:off x="5771772" y="3430113"/>
            <a:ext cx="1436291" cy="179536"/>
          </a:xfrm>
          <a:prstGeom prst="rect">
            <a:avLst/>
          </a:prstGeom>
          <a:noFill/>
        </p:spPr>
        <p:txBody>
          <a:bodyPr vert="horz" wrap="none" lIns="0" tIns="0" rIns="0" bIns="0" rtlCol="0">
            <a:spAutoFit/>
          </a:bodyPr>
          <a:lstStyle/>
          <a:p>
            <a:pPr>
              <a:lnSpc>
                <a:spcPts val="1397"/>
              </a:lnSpc>
            </a:pPr>
            <a:r>
              <a:rPr lang="zh-CN" altLang="en-US" sz="1398" dirty="0">
                <a:solidFill>
                  <a:srgbClr val="502800"/>
                </a:solidFill>
                <a:latin typeface="Times New Roman"/>
              </a:rPr>
              <a:t>－定期測試標準化</a:t>
            </a:r>
          </a:p>
        </p:txBody>
      </p:sp>
      <p:sp>
        <p:nvSpPr>
          <p:cNvPr id="26" name="TextBox 25"/>
          <p:cNvSpPr txBox="1"/>
          <p:nvPr/>
        </p:nvSpPr>
        <p:spPr>
          <a:xfrm>
            <a:off x="5886067" y="3642707"/>
            <a:ext cx="1256754" cy="179536"/>
          </a:xfrm>
          <a:prstGeom prst="rect">
            <a:avLst/>
          </a:prstGeom>
          <a:noFill/>
        </p:spPr>
        <p:txBody>
          <a:bodyPr vert="horz" wrap="none" lIns="0" tIns="0" rIns="0" bIns="0" rtlCol="0">
            <a:spAutoFit/>
          </a:bodyPr>
          <a:lstStyle/>
          <a:p>
            <a:pPr>
              <a:lnSpc>
                <a:spcPts val="1397"/>
              </a:lnSpc>
            </a:pPr>
            <a:r>
              <a:rPr lang="zh-CN" altLang="en-US" sz="1398" dirty="0">
                <a:solidFill>
                  <a:srgbClr val="502800"/>
                </a:solidFill>
                <a:latin typeface="Times New Roman"/>
              </a:rPr>
              <a:t>控制程式的有效</a:t>
            </a:r>
          </a:p>
        </p:txBody>
      </p:sp>
      <p:sp>
        <p:nvSpPr>
          <p:cNvPr id="27" name="TextBox 26"/>
          <p:cNvSpPr txBox="1"/>
          <p:nvPr/>
        </p:nvSpPr>
        <p:spPr>
          <a:xfrm>
            <a:off x="5886067" y="3855300"/>
            <a:ext cx="1256754" cy="179536"/>
          </a:xfrm>
          <a:prstGeom prst="rect">
            <a:avLst/>
          </a:prstGeom>
          <a:noFill/>
        </p:spPr>
        <p:txBody>
          <a:bodyPr vert="horz" wrap="none" lIns="0" tIns="0" rIns="0" bIns="0" rtlCol="0">
            <a:spAutoFit/>
          </a:bodyPr>
          <a:lstStyle/>
          <a:p>
            <a:pPr>
              <a:lnSpc>
                <a:spcPts val="1397"/>
              </a:lnSpc>
            </a:pPr>
            <a:r>
              <a:rPr lang="zh-CN" altLang="en-US" sz="1398" dirty="0">
                <a:solidFill>
                  <a:srgbClr val="502800"/>
                </a:solidFill>
                <a:latin typeface="Times New Roman"/>
              </a:rPr>
              <a:t>性，並報告管理</a:t>
            </a:r>
          </a:p>
        </p:txBody>
      </p:sp>
      <p:sp>
        <p:nvSpPr>
          <p:cNvPr id="28" name="TextBox 27"/>
          <p:cNvSpPr txBox="1"/>
          <p:nvPr/>
        </p:nvSpPr>
        <p:spPr>
          <a:xfrm>
            <a:off x="5886067" y="4067894"/>
            <a:ext cx="179536" cy="179536"/>
          </a:xfrm>
          <a:prstGeom prst="rect">
            <a:avLst/>
          </a:prstGeom>
          <a:noFill/>
        </p:spPr>
        <p:txBody>
          <a:bodyPr vert="horz" wrap="none" lIns="0" tIns="0" rIns="0" bIns="0" rtlCol="0">
            <a:spAutoFit/>
          </a:bodyPr>
          <a:lstStyle/>
          <a:p>
            <a:pPr>
              <a:lnSpc>
                <a:spcPts val="1397"/>
              </a:lnSpc>
            </a:pPr>
            <a:r>
              <a:rPr lang="zh-CN" altLang="en-US" sz="1398" dirty="0">
                <a:solidFill>
                  <a:srgbClr val="502800"/>
                </a:solidFill>
                <a:latin typeface="Times New Roman"/>
              </a:rPr>
              <a:t>層</a:t>
            </a:r>
          </a:p>
        </p:txBody>
      </p:sp>
      <p:sp>
        <p:nvSpPr>
          <p:cNvPr id="29" name="TextBox 28"/>
          <p:cNvSpPr txBox="1"/>
          <p:nvPr/>
        </p:nvSpPr>
        <p:spPr>
          <a:xfrm>
            <a:off x="7540369" y="3430113"/>
            <a:ext cx="1256754" cy="179536"/>
          </a:xfrm>
          <a:prstGeom prst="rect">
            <a:avLst/>
          </a:prstGeom>
          <a:noFill/>
        </p:spPr>
        <p:txBody>
          <a:bodyPr vert="horz" wrap="none" lIns="0" tIns="0" rIns="0" bIns="0" rtlCol="0">
            <a:spAutoFit/>
          </a:bodyPr>
          <a:lstStyle/>
          <a:p>
            <a:pPr>
              <a:lnSpc>
                <a:spcPts val="1397"/>
              </a:lnSpc>
            </a:pPr>
            <a:r>
              <a:rPr lang="zh-CN" altLang="en-US" sz="1398" dirty="0">
                <a:solidFill>
                  <a:srgbClr val="502800"/>
                </a:solidFill>
                <a:latin typeface="Times New Roman"/>
              </a:rPr>
              <a:t>－管理層即時監</a:t>
            </a:r>
          </a:p>
        </p:txBody>
      </p:sp>
      <p:sp>
        <p:nvSpPr>
          <p:cNvPr id="30" name="TextBox 29"/>
          <p:cNvSpPr txBox="1"/>
          <p:nvPr/>
        </p:nvSpPr>
        <p:spPr>
          <a:xfrm>
            <a:off x="7654664" y="3642707"/>
            <a:ext cx="1077218" cy="179536"/>
          </a:xfrm>
          <a:prstGeom prst="rect">
            <a:avLst/>
          </a:prstGeom>
          <a:noFill/>
        </p:spPr>
        <p:txBody>
          <a:bodyPr vert="horz" wrap="none" lIns="0" tIns="0" rIns="0" bIns="0" rtlCol="0">
            <a:spAutoFit/>
          </a:bodyPr>
          <a:lstStyle/>
          <a:p>
            <a:pPr>
              <a:lnSpc>
                <a:spcPts val="1397"/>
              </a:lnSpc>
            </a:pPr>
            <a:r>
              <a:rPr lang="zh-CN" altLang="en-US" sz="1398" dirty="0">
                <a:solidFill>
                  <a:srgbClr val="502800"/>
                </a:solidFill>
                <a:latin typeface="Times New Roman"/>
              </a:rPr>
              <a:t>控並不斷完善</a:t>
            </a:r>
          </a:p>
        </p:txBody>
      </p:sp>
      <p:sp>
        <p:nvSpPr>
          <p:cNvPr id="31" name="TextBox 30"/>
          <p:cNvSpPr txBox="1"/>
          <p:nvPr/>
        </p:nvSpPr>
        <p:spPr>
          <a:xfrm>
            <a:off x="7654664" y="3855300"/>
            <a:ext cx="1077218" cy="179536"/>
          </a:xfrm>
          <a:prstGeom prst="rect">
            <a:avLst/>
          </a:prstGeom>
          <a:noFill/>
        </p:spPr>
        <p:txBody>
          <a:bodyPr vert="horz" wrap="none" lIns="0" tIns="0" rIns="0" bIns="0" rtlCol="0">
            <a:spAutoFit/>
          </a:bodyPr>
          <a:lstStyle/>
          <a:p>
            <a:pPr>
              <a:lnSpc>
                <a:spcPts val="1397"/>
              </a:lnSpc>
            </a:pPr>
            <a:r>
              <a:rPr lang="zh-CN" altLang="en-US" sz="1398" dirty="0">
                <a:solidFill>
                  <a:srgbClr val="502800"/>
                </a:solidFill>
                <a:latin typeface="Times New Roman"/>
              </a:rPr>
              <a:t>的內部控制構</a:t>
            </a:r>
          </a:p>
        </p:txBody>
      </p:sp>
      <p:sp>
        <p:nvSpPr>
          <p:cNvPr id="32" name="TextBox 31"/>
          <p:cNvSpPr txBox="1"/>
          <p:nvPr/>
        </p:nvSpPr>
        <p:spPr>
          <a:xfrm>
            <a:off x="7654664" y="4067894"/>
            <a:ext cx="179536" cy="179536"/>
          </a:xfrm>
          <a:prstGeom prst="rect">
            <a:avLst/>
          </a:prstGeom>
          <a:noFill/>
        </p:spPr>
        <p:txBody>
          <a:bodyPr vert="horz" wrap="none" lIns="0" tIns="0" rIns="0" bIns="0" rtlCol="0">
            <a:spAutoFit/>
          </a:bodyPr>
          <a:lstStyle/>
          <a:p>
            <a:pPr>
              <a:lnSpc>
                <a:spcPts val="1397"/>
              </a:lnSpc>
            </a:pPr>
            <a:r>
              <a:rPr lang="zh-CN" altLang="en-US" sz="1398" dirty="0">
                <a:solidFill>
                  <a:srgbClr val="502800"/>
                </a:solidFill>
                <a:latin typeface="Times New Roman"/>
              </a:rPr>
              <a:t>架</a:t>
            </a:r>
          </a:p>
        </p:txBody>
      </p:sp>
      <p:sp>
        <p:nvSpPr>
          <p:cNvPr id="33" name="TextBox 32"/>
          <p:cNvSpPr txBox="1"/>
          <p:nvPr/>
        </p:nvSpPr>
        <p:spPr>
          <a:xfrm>
            <a:off x="509403" y="6341571"/>
            <a:ext cx="144270" cy="133370"/>
          </a:xfrm>
          <a:prstGeom prst="rect">
            <a:avLst/>
          </a:prstGeom>
          <a:noFill/>
        </p:spPr>
        <p:txBody>
          <a:bodyPr vert="horz" wrap="none" lIns="0" tIns="0" rIns="0" bIns="0" rtlCol="0">
            <a:spAutoFit/>
          </a:bodyPr>
          <a:lstStyle/>
          <a:p>
            <a:pPr>
              <a:lnSpc>
                <a:spcPts val="1016"/>
              </a:lnSpc>
            </a:pPr>
            <a:r>
              <a:rPr lang="en-US" altLang="zh-CN" sz="1098" dirty="0">
                <a:solidFill>
                  <a:srgbClr val="761437"/>
                </a:solidFill>
                <a:latin typeface="Times New Roman"/>
              </a:rPr>
              <a:t>25</a:t>
            </a:r>
            <a:endParaRPr lang="zh-CN" altLang="en-US" sz="1098" dirty="0">
              <a:solidFill>
                <a:srgbClr val="761437"/>
              </a:solidFill>
              <a:latin typeface="Times New Roman"/>
            </a:endParaRPr>
          </a:p>
        </p:txBody>
      </p:sp>
      <p:sp>
        <p:nvSpPr>
          <p:cNvPr id="34" name="TextBox 33"/>
          <p:cNvSpPr txBox="1"/>
          <p:nvPr/>
        </p:nvSpPr>
        <p:spPr>
          <a:xfrm>
            <a:off x="903358" y="468568"/>
            <a:ext cx="5827749" cy="1731243"/>
          </a:xfrm>
          <a:prstGeom prst="rect">
            <a:avLst/>
          </a:prstGeom>
          <a:noFill/>
        </p:spPr>
        <p:txBody>
          <a:bodyPr vert="horz" wrap="none" lIns="0" tIns="0" rIns="0" bIns="0" rtlCol="0">
            <a:spAutoFit/>
          </a:bodyPr>
          <a:lstStyle/>
          <a:p>
            <a:pPr marL="0" marR="0" lvl="0" indent="0" defTabSz="914400" eaLnBrk="1" fontAlgn="auto" latinLnBrk="0" hangingPunct="1">
              <a:lnSpc>
                <a:spcPts val="3794"/>
              </a:lnSpc>
              <a:buClrTx/>
              <a:buSzTx/>
              <a:buNone/>
              <a:tabLst>
                <a:tab pos="622300" algn="l"/>
                <a:tab pos="2438400" algn="l"/>
              </a:tabLst>
              <a:defRPr/>
            </a:pPr>
            <a:r>
              <a:rPr lang="zh-CN" altLang="en-US" sz="3798" dirty="0">
                <a:solidFill>
                  <a:srgbClr val="FFFFFF"/>
                </a:solidFill>
                <a:latin typeface="Times New Roman"/>
              </a:rPr>
              <a:t>內部控制的發展進程</a:t>
            </a:r>
          </a:p>
          <a:p>
            <a:pPr marL="0" marR="0" lvl="0" indent="0" defTabSz="914400" eaLnBrk="1" fontAlgn="auto" latinLnBrk="0" hangingPunct="1">
              <a:lnSpc>
                <a:spcPts val="1000"/>
              </a:lnSpc>
              <a:buClrTx/>
              <a:buSzTx/>
              <a:buNone/>
              <a:tabLst>
                <a:tab pos="622300" algn="l"/>
                <a:tab pos="2438400" algn="l"/>
              </a:tabLst>
              <a:defRPr/>
            </a:pPr>
            <a:endParaRPr lang="zh-CN" altLang="en-US" sz="3798" dirty="0">
              <a:solidFill>
                <a:srgbClr val="FFFFFF"/>
              </a:solidFill>
              <a:latin typeface="Times New Roman"/>
            </a:endParaRPr>
          </a:p>
          <a:p>
            <a:pPr marL="0" marR="0" lvl="0" indent="0" defTabSz="914400" eaLnBrk="1" fontAlgn="auto" latinLnBrk="0" hangingPunct="1">
              <a:lnSpc>
                <a:spcPts val="1000"/>
              </a:lnSpc>
              <a:buClrTx/>
              <a:buSzTx/>
              <a:buNone/>
              <a:tabLst>
                <a:tab pos="622300" algn="l"/>
                <a:tab pos="2438400" algn="l"/>
              </a:tabLst>
              <a:defRPr/>
            </a:pPr>
            <a:endParaRPr lang="zh-CN" altLang="en-US" sz="3798" dirty="0">
              <a:solidFill>
                <a:srgbClr val="FFFFFF"/>
              </a:solidFill>
              <a:latin typeface="Times New Roman"/>
            </a:endParaRPr>
          </a:p>
          <a:p>
            <a:pPr marL="0" marR="0" lvl="0" indent="0" defTabSz="914400" eaLnBrk="1" fontAlgn="auto" latinLnBrk="0" hangingPunct="1">
              <a:lnSpc>
                <a:spcPts val="1000"/>
              </a:lnSpc>
              <a:buClrTx/>
              <a:buSzTx/>
              <a:buNone/>
              <a:tabLst>
                <a:tab pos="622300" algn="l"/>
                <a:tab pos="2438400" algn="l"/>
              </a:tabLst>
              <a:defRPr/>
            </a:pPr>
            <a:endParaRPr lang="zh-CN" altLang="en-US" sz="3798" dirty="0">
              <a:solidFill>
                <a:srgbClr val="FFFFFF"/>
              </a:solidFill>
              <a:latin typeface="Times New Roman"/>
            </a:endParaRPr>
          </a:p>
          <a:p>
            <a:pPr marL="0" marR="0" lvl="0" indent="0" defTabSz="914400" eaLnBrk="1" fontAlgn="auto" latinLnBrk="0" hangingPunct="1">
              <a:lnSpc>
                <a:spcPts val="1000"/>
              </a:lnSpc>
              <a:buClrTx/>
              <a:buSzTx/>
              <a:buNone/>
              <a:tabLst>
                <a:tab pos="622300" algn="l"/>
                <a:tab pos="2438400" algn="l"/>
              </a:tabLst>
              <a:defRPr/>
            </a:pPr>
            <a:endParaRPr lang="zh-CN" altLang="en-US" sz="3798" dirty="0">
              <a:solidFill>
                <a:srgbClr val="FFFFFF"/>
              </a:solidFill>
              <a:latin typeface="Times New Roman"/>
            </a:endParaRPr>
          </a:p>
          <a:p>
            <a:pPr marL="0" marR="0" lvl="0" indent="0" defTabSz="914400" eaLnBrk="1" fontAlgn="auto" latinLnBrk="0" hangingPunct="1">
              <a:lnSpc>
                <a:spcPts val="1000"/>
              </a:lnSpc>
              <a:buClrTx/>
              <a:buSzTx/>
              <a:buNone/>
              <a:tabLst>
                <a:tab pos="622300" algn="l"/>
                <a:tab pos="2438400" algn="l"/>
              </a:tabLst>
              <a:defRPr/>
            </a:pPr>
            <a:endParaRPr lang="zh-CN" altLang="en-US" sz="3798" dirty="0">
              <a:solidFill>
                <a:srgbClr val="FFFFFF"/>
              </a:solidFill>
              <a:latin typeface="Times New Roman"/>
            </a:endParaRPr>
          </a:p>
          <a:p>
            <a:pPr marL="0" marR="0" lvl="0" indent="0" defTabSz="914400" eaLnBrk="1" fontAlgn="auto" latinLnBrk="0" hangingPunct="1">
              <a:lnSpc>
                <a:spcPts val="3173"/>
              </a:lnSpc>
              <a:buClrTx/>
              <a:buSzTx/>
              <a:buNone/>
              <a:tabLst>
                <a:tab pos="622300" algn="l"/>
                <a:tab pos="2438400" algn="l"/>
              </a:tabLst>
              <a:defRPr/>
            </a:pPr>
            <a:r>
              <a:rPr lang="zh-CN" altLang="en-US" sz="3798" dirty="0">
                <a:solidFill>
                  <a:srgbClr val="FFFFFF"/>
                </a:solidFill>
                <a:latin typeface="Times New Roman"/>
              </a:rPr>
              <a:t>	</a:t>
            </a:r>
            <a:r>
              <a:rPr lang="en-US" altLang="zh-CN" sz="2400" b="1" dirty="0">
                <a:solidFill>
                  <a:srgbClr val="000000"/>
                </a:solidFill>
                <a:latin typeface="Times New Roman"/>
              </a:rPr>
              <a:t>Internal Controls Maturity Framework</a:t>
            </a:r>
          </a:p>
          <a:p>
            <a:pPr marL="0" marR="0" lvl="0" indent="0" defTabSz="914400" eaLnBrk="1" fontAlgn="auto" latinLnBrk="0" hangingPunct="1">
              <a:lnSpc>
                <a:spcPts val="1513"/>
              </a:lnSpc>
              <a:buClrTx/>
              <a:buSzTx/>
              <a:buNone/>
              <a:tabLst>
                <a:tab pos="622300" algn="l"/>
                <a:tab pos="2438400" algn="l"/>
              </a:tabLst>
              <a:defRPr/>
            </a:pPr>
            <a:r>
              <a:rPr lang="en-US" altLang="zh-CN" sz="2400" b="1" dirty="0">
                <a:solidFill>
                  <a:srgbClr val="000000"/>
                </a:solidFill>
                <a:latin typeface="Times New Roman"/>
              </a:rPr>
              <a:t>		</a:t>
            </a:r>
            <a:r>
              <a:rPr lang="zh-CN" altLang="en-US" sz="2400" dirty="0">
                <a:solidFill>
                  <a:srgbClr val="FFFFFF"/>
                </a:solidFill>
                <a:latin typeface="Times New Roman"/>
              </a:rPr>
              <a:t>內部控制發展構架</a:t>
            </a:r>
          </a:p>
        </p:txBody>
      </p:sp>
      <p:sp>
        <p:nvSpPr>
          <p:cNvPr id="35" name="TextBox 34"/>
          <p:cNvSpPr txBox="1"/>
          <p:nvPr/>
        </p:nvSpPr>
        <p:spPr>
          <a:xfrm>
            <a:off x="708285" y="2715401"/>
            <a:ext cx="1436291" cy="1474763"/>
          </a:xfrm>
          <a:prstGeom prst="rect">
            <a:avLst/>
          </a:prstGeom>
        </p:spPr>
        <p:style>
          <a:lnRef idx="2">
            <a:schemeClr val="dk1"/>
          </a:lnRef>
          <a:fillRef idx="1">
            <a:schemeClr val="lt1"/>
          </a:fillRef>
          <a:effectRef idx="0">
            <a:schemeClr val="dk1"/>
          </a:effectRef>
          <a:fontRef idx="minor">
            <a:schemeClr val="dk1"/>
          </a:fontRef>
        </p:style>
        <p:txBody>
          <a:bodyPr vert="horz" wrap="none" lIns="0" tIns="0" rIns="0" bIns="0" rtlCol="0">
            <a:spAutoFit/>
          </a:bodyPr>
          <a:lstStyle/>
          <a:p>
            <a:pPr marL="0" marR="0" lvl="0" indent="0" defTabSz="914400" eaLnBrk="1" fontAlgn="auto" latinLnBrk="0" hangingPunct="1">
              <a:lnSpc>
                <a:spcPts val="1397"/>
              </a:lnSpc>
              <a:buClrTx/>
              <a:buSzTx/>
              <a:buNone/>
              <a:tabLst>
                <a:tab pos="114300" algn="l"/>
              </a:tabLst>
              <a:defRPr/>
            </a:pPr>
            <a:r>
              <a:rPr lang="zh-CN" altLang="en-US" sz="1398" dirty="0">
                <a:solidFill>
                  <a:srgbClr val="000000"/>
                </a:solidFill>
                <a:latin typeface="Times New Roman"/>
              </a:rPr>
              <a:t>不可依賴的</a:t>
            </a:r>
          </a:p>
          <a:p>
            <a:pPr marL="0" marR="0" lvl="0" indent="0" defTabSz="914400" eaLnBrk="1" fontAlgn="auto" latinLnBrk="0" hangingPunct="1">
              <a:lnSpc>
                <a:spcPts val="1674"/>
              </a:lnSpc>
              <a:buClrTx/>
              <a:buSzTx/>
              <a:buNone/>
              <a:tabLst>
                <a:tab pos="114300" algn="l"/>
              </a:tabLst>
              <a:defRPr/>
            </a:pPr>
            <a:r>
              <a:rPr lang="zh-CN" altLang="en-US" sz="1398" dirty="0">
                <a:solidFill>
                  <a:srgbClr val="000000"/>
                </a:solidFill>
                <a:latin typeface="Times New Roman"/>
              </a:rPr>
              <a:t>內部控制</a:t>
            </a:r>
          </a:p>
          <a:p>
            <a:pPr marL="0" marR="0" lvl="0" indent="0" defTabSz="914400" eaLnBrk="1" fontAlgn="auto" latinLnBrk="0" hangingPunct="1">
              <a:lnSpc>
                <a:spcPts val="1000"/>
              </a:lnSpc>
              <a:buClrTx/>
              <a:buSzTx/>
              <a:buNone/>
              <a:tabLst>
                <a:tab pos="114300" algn="l"/>
              </a:tabLst>
              <a:defRPr/>
            </a:pPr>
            <a:endParaRPr lang="zh-CN" altLang="en-US" sz="1398" dirty="0">
              <a:solidFill>
                <a:srgbClr val="000000"/>
              </a:solidFill>
              <a:latin typeface="Times New Roman"/>
            </a:endParaRPr>
          </a:p>
          <a:p>
            <a:pPr marL="0" marR="0" lvl="0" indent="0" defTabSz="914400" eaLnBrk="1" fontAlgn="auto" latinLnBrk="0" hangingPunct="1">
              <a:lnSpc>
                <a:spcPts val="2354"/>
              </a:lnSpc>
              <a:buClrTx/>
              <a:buSzTx/>
              <a:buNone/>
              <a:tabLst>
                <a:tab pos="114300" algn="l"/>
              </a:tabLst>
              <a:defRPr/>
            </a:pPr>
            <a:r>
              <a:rPr lang="zh-CN" altLang="en-US" sz="1398" dirty="0">
                <a:solidFill>
                  <a:srgbClr val="000000"/>
                </a:solidFill>
                <a:latin typeface="Times New Roman"/>
              </a:rPr>
              <a:t>－控制環境不可預</a:t>
            </a:r>
          </a:p>
          <a:p>
            <a:pPr marL="0" marR="0" lvl="0" indent="0" defTabSz="914400" eaLnBrk="1" fontAlgn="auto" latinLnBrk="0" hangingPunct="1">
              <a:lnSpc>
                <a:spcPts val="1674"/>
              </a:lnSpc>
              <a:buClrTx/>
              <a:buSzTx/>
              <a:buNone/>
              <a:tabLst>
                <a:tab pos="114300" algn="l"/>
              </a:tabLst>
              <a:defRPr/>
            </a:pPr>
            <a:r>
              <a:rPr lang="zh-CN" altLang="en-US" sz="1398" dirty="0">
                <a:solidFill>
                  <a:srgbClr val="000000"/>
                </a:solidFill>
                <a:latin typeface="Times New Roman"/>
              </a:rPr>
              <a:t>	期，未設計相應</a:t>
            </a:r>
          </a:p>
          <a:p>
            <a:pPr marL="0" marR="0" lvl="0" indent="0" defTabSz="914400" eaLnBrk="1" fontAlgn="auto" latinLnBrk="0" hangingPunct="1">
              <a:lnSpc>
                <a:spcPts val="1674"/>
              </a:lnSpc>
              <a:buClrTx/>
              <a:buSzTx/>
              <a:buNone/>
              <a:tabLst>
                <a:tab pos="114300" algn="l"/>
              </a:tabLst>
              <a:defRPr/>
            </a:pPr>
            <a:r>
              <a:rPr lang="zh-CN" altLang="en-US" sz="1398" dirty="0">
                <a:solidFill>
                  <a:srgbClr val="000000"/>
                </a:solidFill>
                <a:latin typeface="Times New Roman"/>
              </a:rPr>
              <a:t>	的控制程式或控</a:t>
            </a:r>
          </a:p>
          <a:p>
            <a:pPr marL="0" marR="0" lvl="0" indent="0" defTabSz="914400" eaLnBrk="1" fontAlgn="auto" latinLnBrk="0" hangingPunct="1">
              <a:lnSpc>
                <a:spcPts val="1590"/>
              </a:lnSpc>
              <a:buClrTx/>
              <a:buSzTx/>
              <a:buNone/>
              <a:tabLst>
                <a:tab pos="114300" algn="l"/>
              </a:tabLst>
              <a:defRPr/>
            </a:pPr>
            <a:r>
              <a:rPr lang="zh-CN" altLang="en-US" sz="1398" dirty="0">
                <a:solidFill>
                  <a:srgbClr val="000000"/>
                </a:solidFill>
                <a:latin typeface="Times New Roman"/>
              </a:rPr>
              <a:t>	制程式失效</a:t>
            </a:r>
          </a:p>
        </p:txBody>
      </p:sp>
      <p:sp>
        <p:nvSpPr>
          <p:cNvPr id="36" name="TextBox 35"/>
          <p:cNvSpPr txBox="1"/>
          <p:nvPr/>
        </p:nvSpPr>
        <p:spPr>
          <a:xfrm>
            <a:off x="2489073" y="2715401"/>
            <a:ext cx="1269578" cy="1474763"/>
          </a:xfrm>
          <a:prstGeom prst="rect">
            <a:avLst/>
          </a:prstGeom>
        </p:spPr>
        <p:style>
          <a:lnRef idx="2">
            <a:schemeClr val="dk1"/>
          </a:lnRef>
          <a:fillRef idx="1">
            <a:schemeClr val="lt1"/>
          </a:fillRef>
          <a:effectRef idx="0">
            <a:schemeClr val="dk1"/>
          </a:effectRef>
          <a:fontRef idx="minor">
            <a:schemeClr val="dk1"/>
          </a:fontRef>
        </p:style>
        <p:txBody>
          <a:bodyPr vert="horz" wrap="none" lIns="0" tIns="0" rIns="0" bIns="0" rtlCol="0">
            <a:spAutoFit/>
          </a:bodyPr>
          <a:lstStyle/>
          <a:p>
            <a:pPr marL="0" marR="0" lvl="0" indent="0" defTabSz="914400" eaLnBrk="1" fontAlgn="auto" latinLnBrk="0" hangingPunct="1">
              <a:lnSpc>
                <a:spcPts val="1397"/>
              </a:lnSpc>
              <a:buClrTx/>
              <a:buSzTx/>
              <a:buNone/>
              <a:tabLst>
                <a:tab pos="190500" algn="l"/>
                <a:tab pos="266700" algn="l"/>
                <a:tab pos="279400" algn="l"/>
              </a:tabLst>
              <a:defRPr/>
            </a:pPr>
            <a:r>
              <a:rPr lang="zh-CN" altLang="en-US" dirty="0"/>
              <a:t>		</a:t>
            </a:r>
            <a:r>
              <a:rPr lang="zh-CN" altLang="en-US" sz="1398" dirty="0">
                <a:solidFill>
                  <a:srgbClr val="000000"/>
                </a:solidFill>
                <a:latin typeface="Times New Roman"/>
              </a:rPr>
              <a:t>非正式的</a:t>
            </a:r>
          </a:p>
          <a:p>
            <a:pPr marL="0" marR="0" lvl="0" indent="0" defTabSz="914400" eaLnBrk="1" fontAlgn="auto" latinLnBrk="0" hangingPunct="1">
              <a:lnSpc>
                <a:spcPts val="1674"/>
              </a:lnSpc>
              <a:buClrTx/>
              <a:buSzTx/>
              <a:buNone/>
              <a:tabLst>
                <a:tab pos="190500" algn="l"/>
                <a:tab pos="266700" algn="l"/>
                <a:tab pos="279400" algn="l"/>
              </a:tabLst>
              <a:defRPr/>
            </a:pPr>
            <a:r>
              <a:rPr lang="zh-CN" altLang="en-US" sz="1398" dirty="0">
                <a:solidFill>
                  <a:srgbClr val="000000"/>
                </a:solidFill>
                <a:latin typeface="Times New Roman"/>
              </a:rPr>
              <a:t>		內部控制</a:t>
            </a:r>
          </a:p>
          <a:p>
            <a:pPr marL="0" marR="0" lvl="0" indent="0" defTabSz="914400" eaLnBrk="1" fontAlgn="auto" latinLnBrk="0" hangingPunct="1">
              <a:lnSpc>
                <a:spcPts val="1000"/>
              </a:lnSpc>
              <a:buClrTx/>
              <a:buSzTx/>
              <a:buNone/>
              <a:tabLst>
                <a:tab pos="190500" algn="l"/>
                <a:tab pos="266700" algn="l"/>
                <a:tab pos="279400" algn="l"/>
              </a:tabLst>
              <a:defRPr/>
            </a:pPr>
            <a:endParaRPr lang="zh-CN" altLang="en-US" sz="1398" dirty="0">
              <a:solidFill>
                <a:srgbClr val="000000"/>
              </a:solidFill>
              <a:latin typeface="Times New Roman"/>
            </a:endParaRPr>
          </a:p>
          <a:p>
            <a:pPr marL="0" marR="0" lvl="0" indent="0" defTabSz="914400" eaLnBrk="1" fontAlgn="auto" latinLnBrk="0" hangingPunct="1">
              <a:lnSpc>
                <a:spcPts val="2354"/>
              </a:lnSpc>
              <a:buClrTx/>
              <a:buSzTx/>
              <a:buNone/>
              <a:tabLst>
                <a:tab pos="190500" algn="l"/>
                <a:tab pos="266700" algn="l"/>
                <a:tab pos="279400" algn="l"/>
              </a:tabLst>
              <a:defRPr/>
            </a:pPr>
            <a:r>
              <a:rPr lang="zh-CN" altLang="en-US" sz="1398" dirty="0">
                <a:solidFill>
                  <a:srgbClr val="000000"/>
                </a:solidFill>
                <a:latin typeface="Times New Roman"/>
              </a:rPr>
              <a:t>－報告和控制程</a:t>
            </a:r>
          </a:p>
          <a:p>
            <a:pPr marL="0" marR="0" lvl="0" indent="0" defTabSz="914400" eaLnBrk="1" fontAlgn="auto" latinLnBrk="0" hangingPunct="1">
              <a:lnSpc>
                <a:spcPts val="1674"/>
              </a:lnSpc>
              <a:buClrTx/>
              <a:buSzTx/>
              <a:buNone/>
              <a:tabLst>
                <a:tab pos="190500" algn="l"/>
                <a:tab pos="266700" algn="l"/>
                <a:tab pos="279400" algn="l"/>
              </a:tabLst>
              <a:defRPr/>
            </a:pPr>
            <a:r>
              <a:rPr lang="zh-CN" altLang="en-US" sz="1398" dirty="0">
                <a:solidFill>
                  <a:srgbClr val="000000"/>
                </a:solidFill>
                <a:latin typeface="Times New Roman"/>
              </a:rPr>
              <a:t>	序已設計並正</a:t>
            </a:r>
          </a:p>
          <a:p>
            <a:pPr marL="0" marR="0" lvl="0" indent="0" defTabSz="914400" eaLnBrk="1" fontAlgn="auto" latinLnBrk="0" hangingPunct="1">
              <a:lnSpc>
                <a:spcPts val="1674"/>
              </a:lnSpc>
              <a:buClrTx/>
              <a:buSzTx/>
              <a:buNone/>
              <a:tabLst>
                <a:tab pos="190500" algn="l"/>
                <a:tab pos="266700" algn="l"/>
                <a:tab pos="279400" algn="l"/>
              </a:tabLst>
              <a:defRPr/>
            </a:pPr>
            <a:r>
              <a:rPr lang="zh-CN" altLang="en-US" sz="1398" dirty="0">
                <a:solidFill>
                  <a:srgbClr val="000000"/>
                </a:solidFill>
                <a:latin typeface="Times New Roman"/>
              </a:rPr>
              <a:t>	常運行，但未</a:t>
            </a:r>
          </a:p>
          <a:p>
            <a:pPr marL="0" marR="0" lvl="0" indent="0" defTabSz="914400" eaLnBrk="1" fontAlgn="auto" latinLnBrk="0" hangingPunct="1">
              <a:lnSpc>
                <a:spcPts val="1590"/>
              </a:lnSpc>
              <a:buClrTx/>
              <a:buSzTx/>
              <a:buNone/>
              <a:tabLst>
                <a:tab pos="190500" algn="l"/>
                <a:tab pos="266700" algn="l"/>
                <a:tab pos="279400" algn="l"/>
              </a:tabLst>
              <a:defRPr/>
            </a:pPr>
            <a:r>
              <a:rPr lang="zh-CN" altLang="en-US" sz="1398" dirty="0">
                <a:solidFill>
                  <a:srgbClr val="000000"/>
                </a:solidFill>
                <a:latin typeface="Times New Roman"/>
              </a:rPr>
              <a:t>			作適當記錄</a:t>
            </a:r>
          </a:p>
        </p:txBody>
      </p:sp>
      <p:sp>
        <p:nvSpPr>
          <p:cNvPr id="37" name="TextBox 36"/>
          <p:cNvSpPr txBox="1"/>
          <p:nvPr/>
        </p:nvSpPr>
        <p:spPr>
          <a:xfrm>
            <a:off x="4165479" y="2715401"/>
            <a:ext cx="1192634" cy="1476943"/>
          </a:xfrm>
          <a:prstGeom prst="rect">
            <a:avLst/>
          </a:prstGeom>
        </p:spPr>
        <p:style>
          <a:lnRef idx="2">
            <a:schemeClr val="dk1"/>
          </a:lnRef>
          <a:fillRef idx="1">
            <a:schemeClr val="lt1"/>
          </a:fillRef>
          <a:effectRef idx="0">
            <a:schemeClr val="dk1"/>
          </a:effectRef>
          <a:fontRef idx="minor">
            <a:schemeClr val="dk1"/>
          </a:fontRef>
        </p:style>
        <p:txBody>
          <a:bodyPr vert="horz" wrap="none" lIns="0" tIns="0" rIns="0" bIns="0" rtlCol="0">
            <a:spAutoFit/>
          </a:bodyPr>
          <a:lstStyle/>
          <a:p>
            <a:pPr marL="0" marR="0" lvl="0" indent="0" defTabSz="914400" eaLnBrk="1" fontAlgn="auto" latinLnBrk="0" hangingPunct="1">
              <a:lnSpc>
                <a:spcPts val="1397"/>
              </a:lnSpc>
              <a:buClrTx/>
              <a:buSzTx/>
              <a:buNone/>
              <a:tabLst>
                <a:tab pos="114300" algn="l"/>
              </a:tabLst>
              <a:defRPr/>
            </a:pPr>
            <a:r>
              <a:rPr lang="zh-CN" altLang="en-US" sz="1398" dirty="0">
                <a:solidFill>
                  <a:srgbClr val="000000"/>
                </a:solidFill>
                <a:latin typeface="Times New Roman"/>
              </a:rPr>
              <a:t>標準化的</a:t>
            </a:r>
          </a:p>
          <a:p>
            <a:pPr marL="0" marR="0" lvl="0" indent="0" defTabSz="914400" eaLnBrk="1" fontAlgn="auto" latinLnBrk="0" hangingPunct="1">
              <a:lnSpc>
                <a:spcPts val="1674"/>
              </a:lnSpc>
              <a:buClrTx/>
              <a:buSzTx/>
              <a:buNone/>
              <a:tabLst>
                <a:tab pos="114300" algn="l"/>
              </a:tabLst>
              <a:defRPr/>
            </a:pPr>
            <a:r>
              <a:rPr lang="zh-CN" altLang="en-US" sz="1398" dirty="0">
                <a:solidFill>
                  <a:srgbClr val="000000"/>
                </a:solidFill>
                <a:latin typeface="Times New Roman"/>
              </a:rPr>
              <a:t>內部控制</a:t>
            </a:r>
          </a:p>
          <a:p>
            <a:pPr marL="0" marR="0" lvl="0" indent="0" defTabSz="914400" eaLnBrk="1" fontAlgn="auto" latinLnBrk="0" hangingPunct="1">
              <a:lnSpc>
                <a:spcPts val="1000"/>
              </a:lnSpc>
              <a:buClrTx/>
              <a:buSzTx/>
              <a:buNone/>
              <a:tabLst>
                <a:tab pos="114300" algn="l"/>
              </a:tabLst>
              <a:defRPr/>
            </a:pPr>
            <a:endParaRPr lang="zh-CN" altLang="en-US" sz="1398" dirty="0">
              <a:solidFill>
                <a:srgbClr val="000000"/>
              </a:solidFill>
              <a:latin typeface="Times New Roman"/>
            </a:endParaRPr>
          </a:p>
          <a:p>
            <a:pPr marL="0" marR="0" lvl="0" indent="0" defTabSz="914400" eaLnBrk="1" fontAlgn="auto" latinLnBrk="0" hangingPunct="1">
              <a:lnSpc>
                <a:spcPts val="2354"/>
              </a:lnSpc>
              <a:buClrTx/>
              <a:buSzTx/>
              <a:buNone/>
              <a:tabLst>
                <a:tab pos="114300" algn="l"/>
              </a:tabLst>
              <a:defRPr/>
            </a:pPr>
            <a:r>
              <a:rPr lang="zh-CN" altLang="en-US" sz="1398" dirty="0">
                <a:solidFill>
                  <a:srgbClr val="000000"/>
                </a:solidFill>
                <a:latin typeface="Times New Roman"/>
              </a:rPr>
              <a:t>－報告和控制</a:t>
            </a:r>
          </a:p>
          <a:p>
            <a:pPr marL="0" marR="0" lvl="0" indent="0" defTabSz="914400" eaLnBrk="1" fontAlgn="auto" latinLnBrk="0" hangingPunct="1">
              <a:lnSpc>
                <a:spcPts val="1674"/>
              </a:lnSpc>
              <a:buClrTx/>
              <a:buSzTx/>
              <a:buNone/>
              <a:tabLst>
                <a:tab pos="114300" algn="l"/>
              </a:tabLst>
              <a:defRPr/>
            </a:pPr>
            <a:r>
              <a:rPr lang="zh-CN" altLang="en-US" sz="1398" dirty="0">
                <a:solidFill>
                  <a:srgbClr val="000000"/>
                </a:solidFill>
                <a:latin typeface="Times New Roman"/>
              </a:rPr>
              <a:t>	程式已設計並</a:t>
            </a:r>
          </a:p>
          <a:p>
            <a:pPr marL="0" marR="0" lvl="0" indent="0" defTabSz="914400" eaLnBrk="1" fontAlgn="auto" latinLnBrk="0" hangingPunct="1">
              <a:lnSpc>
                <a:spcPts val="1674"/>
              </a:lnSpc>
              <a:buClrTx/>
              <a:buSzTx/>
              <a:buNone/>
              <a:tabLst>
                <a:tab pos="114300" algn="l"/>
              </a:tabLst>
              <a:defRPr/>
            </a:pPr>
            <a:r>
              <a:rPr lang="zh-CN" altLang="en-US" sz="1398" dirty="0">
                <a:solidFill>
                  <a:srgbClr val="000000"/>
                </a:solidFill>
                <a:latin typeface="Times New Roman"/>
              </a:rPr>
              <a:t>	正常運行，且</a:t>
            </a:r>
          </a:p>
          <a:p>
            <a:pPr marL="0" marR="0" lvl="0" indent="0" defTabSz="914400" eaLnBrk="1" fontAlgn="auto" latinLnBrk="0" hangingPunct="1">
              <a:lnSpc>
                <a:spcPts val="1674"/>
              </a:lnSpc>
              <a:buClrTx/>
              <a:buSzTx/>
              <a:buNone/>
              <a:tabLst>
                <a:tab pos="114300" algn="l"/>
              </a:tabLst>
              <a:defRPr/>
            </a:pPr>
            <a:r>
              <a:rPr lang="zh-CN" altLang="en-US" sz="1398" dirty="0">
                <a:solidFill>
                  <a:srgbClr val="000000"/>
                </a:solidFill>
                <a:latin typeface="Times New Roman"/>
              </a:rPr>
              <a:t>	適當記錄</a:t>
            </a:r>
          </a:p>
        </p:txBody>
      </p:sp>
      <p:sp>
        <p:nvSpPr>
          <p:cNvPr id="38" name="TextBox 37"/>
          <p:cNvSpPr txBox="1"/>
          <p:nvPr/>
        </p:nvSpPr>
        <p:spPr>
          <a:xfrm>
            <a:off x="5695575" y="2715401"/>
            <a:ext cx="1436291" cy="1476943"/>
          </a:xfrm>
          <a:prstGeom prst="rect">
            <a:avLst/>
          </a:prstGeom>
        </p:spPr>
        <p:style>
          <a:lnRef idx="2">
            <a:schemeClr val="dk1"/>
          </a:lnRef>
          <a:fillRef idx="1">
            <a:schemeClr val="lt1"/>
          </a:fillRef>
          <a:effectRef idx="0">
            <a:schemeClr val="dk1"/>
          </a:effectRef>
          <a:fontRef idx="minor">
            <a:schemeClr val="dk1"/>
          </a:fontRef>
        </p:style>
        <p:txBody>
          <a:bodyPr vert="horz" wrap="none" lIns="0" tIns="0" rIns="0" bIns="0" rtlCol="0">
            <a:spAutoFit/>
          </a:bodyPr>
          <a:lstStyle/>
          <a:p>
            <a:pPr marL="0" marR="0" lvl="0" indent="0" defTabSz="914400" eaLnBrk="1" fontAlgn="auto" latinLnBrk="0" hangingPunct="1">
              <a:lnSpc>
                <a:spcPts val="1397"/>
              </a:lnSpc>
              <a:buClrTx/>
              <a:buSzTx/>
              <a:buNone/>
              <a:tabLst>
                <a:tab pos="114300" algn="l"/>
              </a:tabLst>
              <a:defRPr/>
            </a:pPr>
            <a:r>
              <a:rPr lang="zh-CN" altLang="en-US" sz="1398" dirty="0">
                <a:solidFill>
                  <a:srgbClr val="000000"/>
                </a:solidFill>
                <a:latin typeface="Times New Roman"/>
              </a:rPr>
              <a:t>有監控的</a:t>
            </a:r>
          </a:p>
          <a:p>
            <a:pPr marL="0" marR="0" lvl="0" indent="0" defTabSz="914400" eaLnBrk="1" fontAlgn="auto" latinLnBrk="0" hangingPunct="1">
              <a:lnSpc>
                <a:spcPts val="1674"/>
              </a:lnSpc>
              <a:buClrTx/>
              <a:buSzTx/>
              <a:buNone/>
              <a:tabLst>
                <a:tab pos="114300" algn="l"/>
              </a:tabLst>
              <a:defRPr/>
            </a:pPr>
            <a:r>
              <a:rPr lang="zh-CN" altLang="en-US" sz="1398" dirty="0">
                <a:solidFill>
                  <a:srgbClr val="000000"/>
                </a:solidFill>
                <a:latin typeface="Times New Roman"/>
              </a:rPr>
              <a:t>內部控制</a:t>
            </a:r>
          </a:p>
          <a:p>
            <a:pPr marL="0" marR="0" lvl="0" indent="0" defTabSz="914400" eaLnBrk="1" fontAlgn="auto" latinLnBrk="0" hangingPunct="1">
              <a:lnSpc>
                <a:spcPts val="1000"/>
              </a:lnSpc>
              <a:buClrTx/>
              <a:buSzTx/>
              <a:buNone/>
              <a:tabLst>
                <a:tab pos="114300" algn="l"/>
              </a:tabLst>
              <a:defRPr/>
            </a:pPr>
            <a:endParaRPr lang="zh-CN" altLang="en-US" sz="1398" dirty="0">
              <a:solidFill>
                <a:srgbClr val="000000"/>
              </a:solidFill>
              <a:latin typeface="Times New Roman"/>
            </a:endParaRPr>
          </a:p>
          <a:p>
            <a:pPr marL="0" marR="0" lvl="0" indent="0" defTabSz="914400" eaLnBrk="1" fontAlgn="auto" latinLnBrk="0" hangingPunct="1">
              <a:lnSpc>
                <a:spcPts val="2354"/>
              </a:lnSpc>
              <a:buClrTx/>
              <a:buSzTx/>
              <a:buNone/>
              <a:tabLst>
                <a:tab pos="114300" algn="l"/>
              </a:tabLst>
              <a:defRPr/>
            </a:pPr>
            <a:r>
              <a:rPr lang="zh-CN" altLang="en-US" sz="1398" dirty="0">
                <a:solidFill>
                  <a:srgbClr val="000000"/>
                </a:solidFill>
                <a:latin typeface="Times New Roman"/>
              </a:rPr>
              <a:t>－定期測試標準化</a:t>
            </a:r>
          </a:p>
          <a:p>
            <a:pPr marL="0" marR="0" lvl="0" indent="0" defTabSz="914400" eaLnBrk="1" fontAlgn="auto" latinLnBrk="0" hangingPunct="1">
              <a:lnSpc>
                <a:spcPts val="1674"/>
              </a:lnSpc>
              <a:buClrTx/>
              <a:buSzTx/>
              <a:buNone/>
              <a:tabLst>
                <a:tab pos="114300" algn="l"/>
              </a:tabLst>
              <a:defRPr/>
            </a:pPr>
            <a:r>
              <a:rPr lang="zh-CN" altLang="en-US" sz="1398" dirty="0">
                <a:solidFill>
                  <a:srgbClr val="000000"/>
                </a:solidFill>
                <a:latin typeface="Times New Roman"/>
              </a:rPr>
              <a:t>	控制程式的有效</a:t>
            </a:r>
          </a:p>
          <a:p>
            <a:pPr marL="0" marR="0" lvl="0" indent="0" defTabSz="914400" eaLnBrk="1" fontAlgn="auto" latinLnBrk="0" hangingPunct="1">
              <a:lnSpc>
                <a:spcPts val="1674"/>
              </a:lnSpc>
              <a:buClrTx/>
              <a:buSzTx/>
              <a:buNone/>
              <a:tabLst>
                <a:tab pos="114300" algn="l"/>
              </a:tabLst>
              <a:defRPr/>
            </a:pPr>
            <a:r>
              <a:rPr lang="zh-CN" altLang="en-US" sz="1398" dirty="0">
                <a:solidFill>
                  <a:srgbClr val="000000"/>
                </a:solidFill>
                <a:latin typeface="Times New Roman"/>
              </a:rPr>
              <a:t>	性，並報告管理</a:t>
            </a:r>
          </a:p>
          <a:p>
            <a:pPr marL="0" marR="0" lvl="0" indent="0" defTabSz="914400" eaLnBrk="1" fontAlgn="auto" latinLnBrk="0" hangingPunct="1">
              <a:lnSpc>
                <a:spcPts val="1674"/>
              </a:lnSpc>
              <a:buClrTx/>
              <a:buSzTx/>
              <a:buNone/>
              <a:tabLst>
                <a:tab pos="114300" algn="l"/>
              </a:tabLst>
              <a:defRPr/>
            </a:pPr>
            <a:r>
              <a:rPr lang="zh-CN" altLang="en-US" sz="1398" dirty="0">
                <a:solidFill>
                  <a:srgbClr val="000000"/>
                </a:solidFill>
                <a:latin typeface="Times New Roman"/>
              </a:rPr>
              <a:t>	層</a:t>
            </a:r>
          </a:p>
        </p:txBody>
      </p:sp>
      <p:sp>
        <p:nvSpPr>
          <p:cNvPr id="39" name="TextBox 38"/>
          <p:cNvSpPr txBox="1"/>
          <p:nvPr/>
        </p:nvSpPr>
        <p:spPr>
          <a:xfrm>
            <a:off x="7464177" y="2715401"/>
            <a:ext cx="1256754" cy="1476943"/>
          </a:xfrm>
          <a:prstGeom prst="rect">
            <a:avLst/>
          </a:prstGeom>
        </p:spPr>
        <p:style>
          <a:lnRef idx="2">
            <a:schemeClr val="dk1"/>
          </a:lnRef>
          <a:fillRef idx="1">
            <a:schemeClr val="lt1"/>
          </a:fillRef>
          <a:effectRef idx="0">
            <a:schemeClr val="dk1"/>
          </a:effectRef>
          <a:fontRef idx="minor">
            <a:schemeClr val="dk1"/>
          </a:fontRef>
        </p:style>
        <p:txBody>
          <a:bodyPr vert="horz" wrap="none" lIns="0" tIns="0" rIns="0" bIns="0" rtlCol="0">
            <a:spAutoFit/>
          </a:bodyPr>
          <a:lstStyle/>
          <a:p>
            <a:pPr marL="0" marR="0" lvl="0" indent="0" defTabSz="914400" eaLnBrk="1" fontAlgn="auto" latinLnBrk="0" hangingPunct="1">
              <a:lnSpc>
                <a:spcPts val="1397"/>
              </a:lnSpc>
              <a:buClrTx/>
              <a:buSzTx/>
              <a:buNone/>
              <a:tabLst>
                <a:tab pos="114300" algn="l"/>
              </a:tabLst>
              <a:defRPr/>
            </a:pPr>
            <a:r>
              <a:rPr lang="zh-CN" altLang="en-US" sz="1398" dirty="0">
                <a:solidFill>
                  <a:srgbClr val="000000"/>
                </a:solidFill>
                <a:latin typeface="Times New Roman"/>
              </a:rPr>
              <a:t>最優化的</a:t>
            </a:r>
          </a:p>
          <a:p>
            <a:pPr marL="0" marR="0" lvl="0" indent="0" defTabSz="914400" eaLnBrk="1" fontAlgn="auto" latinLnBrk="0" hangingPunct="1">
              <a:lnSpc>
                <a:spcPts val="1674"/>
              </a:lnSpc>
              <a:buClrTx/>
              <a:buSzTx/>
              <a:buNone/>
              <a:tabLst>
                <a:tab pos="114300" algn="l"/>
              </a:tabLst>
              <a:defRPr/>
            </a:pPr>
            <a:r>
              <a:rPr lang="zh-CN" altLang="en-US" sz="1398" dirty="0">
                <a:solidFill>
                  <a:srgbClr val="000000"/>
                </a:solidFill>
                <a:latin typeface="Times New Roman"/>
              </a:rPr>
              <a:t>內部控制</a:t>
            </a:r>
          </a:p>
          <a:p>
            <a:pPr marL="0" marR="0" lvl="0" indent="0" defTabSz="914400" eaLnBrk="1" fontAlgn="auto" latinLnBrk="0" hangingPunct="1">
              <a:lnSpc>
                <a:spcPts val="1000"/>
              </a:lnSpc>
              <a:buClrTx/>
              <a:buSzTx/>
              <a:buNone/>
              <a:tabLst>
                <a:tab pos="114300" algn="l"/>
              </a:tabLst>
              <a:defRPr/>
            </a:pPr>
            <a:endParaRPr lang="zh-CN" altLang="en-US" sz="1398" dirty="0">
              <a:solidFill>
                <a:srgbClr val="000000"/>
              </a:solidFill>
              <a:latin typeface="Times New Roman"/>
            </a:endParaRPr>
          </a:p>
          <a:p>
            <a:pPr marL="0" marR="0" lvl="0" indent="0" defTabSz="914400" eaLnBrk="1" fontAlgn="auto" latinLnBrk="0" hangingPunct="1">
              <a:lnSpc>
                <a:spcPts val="2354"/>
              </a:lnSpc>
              <a:buClrTx/>
              <a:buSzTx/>
              <a:buNone/>
              <a:tabLst>
                <a:tab pos="114300" algn="l"/>
              </a:tabLst>
              <a:defRPr/>
            </a:pPr>
            <a:r>
              <a:rPr lang="zh-CN" altLang="en-US" sz="1398" dirty="0">
                <a:solidFill>
                  <a:srgbClr val="000000"/>
                </a:solidFill>
                <a:latin typeface="Times New Roman"/>
              </a:rPr>
              <a:t>－管理層即時監</a:t>
            </a:r>
          </a:p>
          <a:p>
            <a:pPr marL="0" marR="0" lvl="0" indent="0" defTabSz="914400" eaLnBrk="1" fontAlgn="auto" latinLnBrk="0" hangingPunct="1">
              <a:lnSpc>
                <a:spcPts val="1674"/>
              </a:lnSpc>
              <a:buClrTx/>
              <a:buSzTx/>
              <a:buNone/>
              <a:tabLst>
                <a:tab pos="114300" algn="l"/>
              </a:tabLst>
              <a:defRPr/>
            </a:pPr>
            <a:r>
              <a:rPr lang="zh-CN" altLang="en-US" sz="1398" dirty="0">
                <a:solidFill>
                  <a:srgbClr val="000000"/>
                </a:solidFill>
                <a:latin typeface="Times New Roman"/>
              </a:rPr>
              <a:t>	控並不斷完善</a:t>
            </a:r>
          </a:p>
          <a:p>
            <a:pPr marL="0" marR="0" lvl="0" indent="0" defTabSz="914400" eaLnBrk="1" fontAlgn="auto" latinLnBrk="0" hangingPunct="1">
              <a:lnSpc>
                <a:spcPts val="1674"/>
              </a:lnSpc>
              <a:buClrTx/>
              <a:buSzTx/>
              <a:buNone/>
              <a:tabLst>
                <a:tab pos="114300" algn="l"/>
              </a:tabLst>
              <a:defRPr/>
            </a:pPr>
            <a:r>
              <a:rPr lang="zh-CN" altLang="en-US" sz="1398" dirty="0">
                <a:solidFill>
                  <a:srgbClr val="000000"/>
                </a:solidFill>
                <a:latin typeface="Times New Roman"/>
              </a:rPr>
              <a:t>	的內部控制構</a:t>
            </a:r>
          </a:p>
          <a:p>
            <a:pPr marL="0" marR="0" lvl="0" indent="0" defTabSz="914400" eaLnBrk="1" fontAlgn="auto" latinLnBrk="0" hangingPunct="1">
              <a:lnSpc>
                <a:spcPts val="1674"/>
              </a:lnSpc>
              <a:buClrTx/>
              <a:buSzTx/>
              <a:buNone/>
              <a:tabLst>
                <a:tab pos="114300" algn="l"/>
              </a:tabLst>
              <a:defRPr/>
            </a:pPr>
            <a:r>
              <a:rPr lang="zh-CN" altLang="en-US" sz="1398" dirty="0">
                <a:solidFill>
                  <a:srgbClr val="000000"/>
                </a:solidFill>
                <a:latin typeface="Times New Roman"/>
              </a:rPr>
              <a:t>	架</a:t>
            </a:r>
          </a:p>
        </p:txBody>
      </p:sp>
      <p:sp>
        <p:nvSpPr>
          <p:cNvPr id="40" name="TextBox 39"/>
          <p:cNvSpPr txBox="1"/>
          <p:nvPr/>
        </p:nvSpPr>
        <p:spPr>
          <a:xfrm>
            <a:off x="1861944" y="5219334"/>
            <a:ext cx="538609" cy="987450"/>
          </a:xfrm>
          <a:prstGeom prst="rect">
            <a:avLst/>
          </a:prstGeom>
          <a:noFill/>
        </p:spPr>
        <p:txBody>
          <a:bodyPr vert="horz" wrap="none" lIns="0" tIns="0" rIns="0" bIns="0" rtlCol="0">
            <a:spAutoFit/>
          </a:bodyPr>
          <a:lstStyle/>
          <a:p>
            <a:pPr marL="0" marR="0" lvl="0" indent="0" defTabSz="914400" eaLnBrk="1" fontAlgn="auto" latinLnBrk="0" hangingPunct="1">
              <a:lnSpc>
                <a:spcPts val="1397"/>
              </a:lnSpc>
              <a:buClrTx/>
              <a:buSzTx/>
              <a:buNone/>
              <a:tabLst>
                <a:tab pos="88900" algn="l"/>
              </a:tabLst>
              <a:defRPr/>
            </a:pPr>
            <a:r>
              <a:rPr lang="zh-CN" altLang="en-US" dirty="0"/>
              <a:t>	</a:t>
            </a:r>
            <a:r>
              <a:rPr lang="zh-CN" altLang="en-US" sz="1398" dirty="0">
                <a:solidFill>
                  <a:srgbClr val="000000"/>
                </a:solidFill>
                <a:latin typeface="Times New Roman"/>
              </a:rPr>
              <a:t>中國</a:t>
            </a:r>
          </a:p>
          <a:p>
            <a:pPr marL="0" marR="0" lvl="0" indent="0" defTabSz="914400" eaLnBrk="1" fontAlgn="auto" latinLnBrk="0" hangingPunct="1">
              <a:lnSpc>
                <a:spcPts val="1000"/>
              </a:lnSpc>
              <a:buClrTx/>
              <a:buSzTx/>
              <a:buNone/>
              <a:tabLst>
                <a:tab pos="88900" algn="l"/>
              </a:tabLst>
              <a:defRPr/>
            </a:pPr>
            <a:endParaRPr lang="zh-CN" altLang="en-US" sz="1398" dirty="0">
              <a:solidFill>
                <a:srgbClr val="000000"/>
              </a:solidFill>
              <a:latin typeface="Times New Roman"/>
            </a:endParaRPr>
          </a:p>
          <a:p>
            <a:pPr marL="0" marR="0" lvl="0" indent="0" defTabSz="914400" eaLnBrk="1" fontAlgn="auto" latinLnBrk="0" hangingPunct="1">
              <a:lnSpc>
                <a:spcPts val="2048"/>
              </a:lnSpc>
              <a:buClrTx/>
              <a:buSzTx/>
              <a:buNone/>
              <a:tabLst>
                <a:tab pos="88900" algn="l"/>
              </a:tabLst>
              <a:defRPr/>
            </a:pPr>
            <a:r>
              <a:rPr lang="zh-CN" altLang="en-US" sz="1398" dirty="0">
                <a:solidFill>
                  <a:srgbClr val="000000"/>
                </a:solidFill>
                <a:latin typeface="Times New Roman"/>
              </a:rPr>
              <a:t>	</a:t>
            </a:r>
            <a:r>
              <a:rPr lang="zh-CN" altLang="en-US" sz="1398" dirty="0">
                <a:solidFill>
                  <a:srgbClr val="FFFFFF"/>
                </a:solidFill>
                <a:latin typeface="Times New Roman"/>
              </a:rPr>
              <a:t>學習</a:t>
            </a:r>
          </a:p>
          <a:p>
            <a:pPr marL="0" marR="0" lvl="0" indent="0" defTabSz="914400" eaLnBrk="1" fontAlgn="auto" latinLnBrk="0" hangingPunct="1">
              <a:lnSpc>
                <a:spcPts val="1674"/>
              </a:lnSpc>
              <a:buClrTx/>
              <a:buSzTx/>
              <a:buNone/>
              <a:tabLst>
                <a:tab pos="88900" algn="l"/>
              </a:tabLst>
              <a:defRPr/>
            </a:pPr>
            <a:r>
              <a:rPr lang="zh-CN" altLang="en-US" sz="1398" dirty="0">
                <a:solidFill>
                  <a:srgbClr val="FFFFFF"/>
                </a:solidFill>
                <a:latin typeface="Times New Roman"/>
              </a:rPr>
              <a:t>正式化</a:t>
            </a:r>
          </a:p>
          <a:p>
            <a:pPr marL="0" marR="0" lvl="0" indent="0" defTabSz="914400" eaLnBrk="1" fontAlgn="auto" latinLnBrk="0" hangingPunct="1">
              <a:lnSpc>
                <a:spcPts val="1590"/>
              </a:lnSpc>
              <a:buClrTx/>
              <a:buSzTx/>
              <a:buNone/>
              <a:tabLst>
                <a:tab pos="88900" algn="l"/>
              </a:tabLst>
              <a:defRPr/>
            </a:pPr>
            <a:r>
              <a:rPr lang="zh-CN" altLang="en-US" sz="1398" dirty="0">
                <a:solidFill>
                  <a:srgbClr val="FFFFFF"/>
                </a:solidFill>
                <a:latin typeface="Times New Roman"/>
              </a:rPr>
              <a:t>標準化</a:t>
            </a:r>
          </a:p>
        </p:txBody>
      </p:sp>
      <p:sp>
        <p:nvSpPr>
          <p:cNvPr id="41" name="TextBox 40"/>
          <p:cNvSpPr txBox="1"/>
          <p:nvPr/>
        </p:nvSpPr>
        <p:spPr>
          <a:xfrm>
            <a:off x="5729103" y="5225429"/>
            <a:ext cx="897682" cy="859210"/>
          </a:xfrm>
          <a:prstGeom prst="rect">
            <a:avLst/>
          </a:prstGeom>
          <a:noFill/>
        </p:spPr>
        <p:txBody>
          <a:bodyPr vert="horz" wrap="none" lIns="0" tIns="0" rIns="0" bIns="0" rtlCol="0">
            <a:spAutoFit/>
          </a:bodyPr>
          <a:lstStyle/>
          <a:p>
            <a:pPr marL="0" marR="0" lvl="0" indent="0" defTabSz="914400" eaLnBrk="1" fontAlgn="auto" latinLnBrk="0" hangingPunct="1">
              <a:lnSpc>
                <a:spcPts val="1397"/>
              </a:lnSpc>
              <a:buClrTx/>
              <a:buSzTx/>
              <a:buNone/>
              <a:tabLst>
                <a:tab pos="266700" algn="l"/>
              </a:tabLst>
              <a:defRPr/>
            </a:pPr>
            <a:r>
              <a:rPr lang="zh-CN" altLang="en-US" sz="1398" dirty="0">
                <a:solidFill>
                  <a:srgbClr val="000000"/>
                </a:solidFill>
                <a:latin typeface="Times New Roman"/>
              </a:rPr>
              <a:t>已發展國家</a:t>
            </a:r>
          </a:p>
          <a:p>
            <a:pPr marL="0" marR="0" lvl="0" indent="0" defTabSz="914400" eaLnBrk="1" fontAlgn="auto" latinLnBrk="0" hangingPunct="1">
              <a:lnSpc>
                <a:spcPts val="1000"/>
              </a:lnSpc>
              <a:buClrTx/>
              <a:buSzTx/>
              <a:buNone/>
              <a:tabLst>
                <a:tab pos="266700" algn="l"/>
              </a:tabLst>
              <a:defRPr/>
            </a:pPr>
            <a:endParaRPr lang="zh-CN" altLang="en-US" sz="1398" dirty="0">
              <a:solidFill>
                <a:srgbClr val="000000"/>
              </a:solidFill>
              <a:latin typeface="Times New Roman"/>
            </a:endParaRPr>
          </a:p>
          <a:p>
            <a:pPr marL="0" marR="0" lvl="0" indent="0" defTabSz="914400" eaLnBrk="1" fontAlgn="auto" latinLnBrk="0" hangingPunct="1">
              <a:lnSpc>
                <a:spcPts val="1000"/>
              </a:lnSpc>
              <a:buClrTx/>
              <a:buSzTx/>
              <a:buNone/>
              <a:tabLst>
                <a:tab pos="266700" algn="l"/>
              </a:tabLst>
              <a:defRPr/>
            </a:pPr>
            <a:endParaRPr lang="zh-CN" altLang="en-US" sz="1398" dirty="0">
              <a:solidFill>
                <a:srgbClr val="000000"/>
              </a:solidFill>
              <a:latin typeface="Times New Roman"/>
            </a:endParaRPr>
          </a:p>
          <a:p>
            <a:pPr marL="0" marR="0" lvl="0" indent="0" defTabSz="914400" eaLnBrk="1" fontAlgn="auto" latinLnBrk="0" hangingPunct="1">
              <a:lnSpc>
                <a:spcPts val="1552"/>
              </a:lnSpc>
              <a:buClrTx/>
              <a:buSzTx/>
              <a:buNone/>
              <a:tabLst>
                <a:tab pos="266700" algn="l"/>
              </a:tabLst>
              <a:defRPr/>
            </a:pPr>
            <a:r>
              <a:rPr lang="zh-CN" altLang="en-US" sz="1398" dirty="0">
                <a:solidFill>
                  <a:srgbClr val="000000"/>
                </a:solidFill>
                <a:latin typeface="Times New Roman"/>
              </a:rPr>
              <a:t>	</a:t>
            </a:r>
            <a:r>
              <a:rPr lang="zh-CN" altLang="en-US" sz="1398" dirty="0">
                <a:solidFill>
                  <a:srgbClr val="FFFFFF"/>
                </a:solidFill>
                <a:latin typeface="Times New Roman"/>
              </a:rPr>
              <a:t>提升</a:t>
            </a:r>
          </a:p>
          <a:p>
            <a:pPr marL="0" marR="0" lvl="0" indent="0" defTabSz="914400" eaLnBrk="1" fontAlgn="auto" latinLnBrk="0" hangingPunct="1">
              <a:lnSpc>
                <a:spcPts val="1674"/>
              </a:lnSpc>
              <a:buClrTx/>
              <a:buSzTx/>
              <a:buNone/>
              <a:tabLst>
                <a:tab pos="266700" algn="l"/>
              </a:tabLst>
              <a:defRPr/>
            </a:pPr>
            <a:r>
              <a:rPr lang="zh-CN" altLang="en-US" sz="1398" dirty="0">
                <a:solidFill>
                  <a:srgbClr val="FFFFFF"/>
                </a:solidFill>
                <a:latin typeface="Times New Roman"/>
              </a:rPr>
              <a:t>	改進</a:t>
            </a:r>
          </a:p>
        </p:txBody>
      </p:sp>
      <p:sp>
        <p:nvSpPr>
          <p:cNvPr id="42" name="TextBox 41"/>
          <p:cNvSpPr txBox="1"/>
          <p:nvPr/>
        </p:nvSpPr>
        <p:spPr>
          <a:xfrm>
            <a:off x="8067681" y="6285482"/>
            <a:ext cx="1477969" cy="461665"/>
          </a:xfrm>
          <a:prstGeom prst="rect">
            <a:avLst/>
          </a:prstGeom>
          <a:noFill/>
        </p:spPr>
        <p:txBody>
          <a:bodyPr vert="horz" wrap="none" lIns="0" tIns="0" rIns="0" bIns="0" rtlCol="0">
            <a:spAutoFit/>
          </a:bodyPr>
          <a:lstStyle/>
          <a:p>
            <a:pPr>
              <a:lnSpc>
                <a:spcPts val="1800"/>
              </a:lnSpc>
            </a:pPr>
            <a:r>
              <a:rPr lang="en-US" altLang="zh-CN" dirty="0" err="1">
                <a:solidFill>
                  <a:srgbClr val="000000"/>
                </a:solidFill>
                <a:latin typeface="Times New Roman"/>
              </a:rPr>
              <a:t>Pwc</a:t>
            </a:r>
            <a:endParaRPr lang="en-US" altLang="zh-CN" dirty="0">
              <a:solidFill>
                <a:srgbClr val="000000"/>
              </a:solidFill>
              <a:latin typeface="Times New Roman"/>
            </a:endParaRPr>
          </a:p>
          <a:p>
            <a:pPr>
              <a:lnSpc>
                <a:spcPts val="1779"/>
              </a:lnSpc>
            </a:pPr>
            <a:r>
              <a:rPr lang="zh-CN" altLang="en-US" sz="1478" dirty="0">
                <a:solidFill>
                  <a:srgbClr val="000000"/>
                </a:solidFill>
                <a:latin typeface="Times New Roman"/>
              </a:rPr>
              <a:t>普     華     永     道</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myslide26">
    <p:spTree>
      <p:nvGrpSpPr>
        <p:cNvPr id="1" name=""/>
        <p:cNvGrpSpPr/>
        <p:nvPr/>
      </p:nvGrpSpPr>
      <p:grpSpPr>
        <a:xfrm>
          <a:off x="0" y="0"/>
          <a:ext cx="0" cy="0"/>
          <a:chOff x="0" y="0"/>
          <a:chExt cx="0" cy="0"/>
        </a:xfrm>
      </p:grpSpPr>
      <p:pic>
        <p:nvPicPr>
          <p:cNvPr id="2" name="图片 1" descr="ws_1B5.tmp"/>
          <p:cNvPicPr>
            <a:picLocks/>
          </p:cNvPicPr>
          <p:nvPr/>
        </p:nvPicPr>
        <p:blipFill>
          <a:blip r:embed="rId2"/>
          <a:stretch>
            <a:fillRect/>
          </a:stretch>
        </p:blipFill>
        <p:spPr>
          <a:xfrm>
            <a:off x="0" y="0"/>
            <a:ext cx="9880600" cy="6819900"/>
          </a:xfrm>
          <a:prstGeom prst="rect">
            <a:avLst/>
          </a:prstGeom>
        </p:spPr>
      </p:pic>
      <p:sp>
        <p:nvSpPr>
          <p:cNvPr id="3" name="TextBox 2"/>
          <p:cNvSpPr txBox="1"/>
          <p:nvPr/>
        </p:nvSpPr>
        <p:spPr>
          <a:xfrm>
            <a:off x="4544193" y="2918663"/>
            <a:ext cx="4616648" cy="461665"/>
          </a:xfrm>
          <a:prstGeom prst="rect">
            <a:avLst/>
          </a:prstGeom>
          <a:noFill/>
        </p:spPr>
        <p:txBody>
          <a:bodyPr vert="horz" wrap="none" lIns="0" tIns="0" rIns="0" bIns="0" rtlCol="0">
            <a:spAutoFit/>
          </a:bodyPr>
          <a:lstStyle/>
          <a:p>
            <a:pPr>
              <a:lnSpc>
                <a:spcPts val="3596"/>
              </a:lnSpc>
            </a:pPr>
            <a:r>
              <a:rPr lang="zh-CN" altLang="en-US" sz="3600" dirty="0">
                <a:solidFill>
                  <a:srgbClr val="502800"/>
                </a:solidFill>
                <a:latin typeface="Times New Roman"/>
              </a:rPr>
              <a:t>如何評價內部控制體系</a:t>
            </a:r>
          </a:p>
        </p:txBody>
      </p:sp>
      <p:sp>
        <p:nvSpPr>
          <p:cNvPr id="4" name="TextBox 3"/>
          <p:cNvSpPr txBox="1"/>
          <p:nvPr/>
        </p:nvSpPr>
        <p:spPr>
          <a:xfrm>
            <a:off x="8067681" y="6285482"/>
            <a:ext cx="1477969" cy="461665"/>
          </a:xfrm>
          <a:prstGeom prst="rect">
            <a:avLst/>
          </a:prstGeom>
          <a:noFill/>
        </p:spPr>
        <p:txBody>
          <a:bodyPr vert="horz" wrap="none" lIns="0" tIns="0" rIns="0" bIns="0" rtlCol="0">
            <a:spAutoFit/>
          </a:bodyPr>
          <a:lstStyle/>
          <a:p>
            <a:pPr>
              <a:lnSpc>
                <a:spcPts val="1800"/>
              </a:lnSpc>
            </a:pPr>
            <a:r>
              <a:rPr lang="en-US" altLang="zh-CN" dirty="0" err="1">
                <a:solidFill>
                  <a:srgbClr val="000000"/>
                </a:solidFill>
                <a:latin typeface="Times New Roman"/>
              </a:rPr>
              <a:t>Pwc</a:t>
            </a:r>
            <a:endParaRPr lang="en-US" altLang="zh-CN" dirty="0">
              <a:solidFill>
                <a:srgbClr val="000000"/>
              </a:solidFill>
              <a:latin typeface="Times New Roman"/>
            </a:endParaRPr>
          </a:p>
          <a:p>
            <a:pPr>
              <a:lnSpc>
                <a:spcPts val="1779"/>
              </a:lnSpc>
            </a:pPr>
            <a:r>
              <a:rPr lang="zh-CN" altLang="en-US" sz="1478" dirty="0">
                <a:solidFill>
                  <a:srgbClr val="000000"/>
                </a:solidFill>
                <a:latin typeface="Times New Roman"/>
              </a:rPr>
              <a:t>普     華     永     道</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myslide27">
    <p:spTree>
      <p:nvGrpSpPr>
        <p:cNvPr id="1" name=""/>
        <p:cNvGrpSpPr/>
        <p:nvPr/>
      </p:nvGrpSpPr>
      <p:grpSpPr>
        <a:xfrm>
          <a:off x="0" y="0"/>
          <a:ext cx="0" cy="0"/>
          <a:chOff x="0" y="0"/>
          <a:chExt cx="0" cy="0"/>
        </a:xfrm>
      </p:grpSpPr>
      <p:pic>
        <p:nvPicPr>
          <p:cNvPr id="2" name="图片 1" descr="ws_1B7.tmp"/>
          <p:cNvPicPr>
            <a:picLocks/>
          </p:cNvPicPr>
          <p:nvPr/>
        </p:nvPicPr>
        <p:blipFill>
          <a:blip r:embed="rId2"/>
          <a:stretch>
            <a:fillRect/>
          </a:stretch>
        </p:blipFill>
        <p:spPr>
          <a:xfrm>
            <a:off x="0" y="0"/>
            <a:ext cx="9880600" cy="6819900"/>
          </a:xfrm>
          <a:prstGeom prst="rect">
            <a:avLst/>
          </a:prstGeom>
        </p:spPr>
      </p:pic>
      <p:sp>
        <p:nvSpPr>
          <p:cNvPr id="3" name="TextBox 2"/>
          <p:cNvSpPr txBox="1"/>
          <p:nvPr/>
        </p:nvSpPr>
        <p:spPr>
          <a:xfrm>
            <a:off x="466731" y="2591765"/>
            <a:ext cx="174728" cy="224420"/>
          </a:xfrm>
          <a:prstGeom prst="rect">
            <a:avLst/>
          </a:prstGeom>
          <a:noFill/>
        </p:spPr>
        <p:txBody>
          <a:bodyPr vert="horz" wrap="none" lIns="0" tIns="0" rIns="0" bIns="0" rtlCol="0">
            <a:spAutoFit/>
          </a:bodyPr>
          <a:lstStyle/>
          <a:p>
            <a:pPr>
              <a:lnSpc>
                <a:spcPts val="1665"/>
              </a:lnSpc>
            </a:pPr>
            <a:r>
              <a:rPr lang="en-US" altLang="zh-CN" dirty="0">
                <a:solidFill>
                  <a:srgbClr val="000000"/>
                </a:solidFill>
                <a:latin typeface="Times New Roman"/>
              </a:rPr>
              <a:t>1.</a:t>
            </a:r>
            <a:endParaRPr lang="zh-CN" altLang="en-US" dirty="0">
              <a:solidFill>
                <a:srgbClr val="000000"/>
              </a:solidFill>
              <a:latin typeface="Times New Roman"/>
            </a:endParaRPr>
          </a:p>
        </p:txBody>
      </p:sp>
      <p:sp>
        <p:nvSpPr>
          <p:cNvPr id="4" name="TextBox 3"/>
          <p:cNvSpPr txBox="1"/>
          <p:nvPr/>
        </p:nvSpPr>
        <p:spPr>
          <a:xfrm>
            <a:off x="466731" y="3141159"/>
            <a:ext cx="174728" cy="224420"/>
          </a:xfrm>
          <a:prstGeom prst="rect">
            <a:avLst/>
          </a:prstGeom>
          <a:noFill/>
        </p:spPr>
        <p:txBody>
          <a:bodyPr vert="horz" wrap="none" lIns="0" tIns="0" rIns="0" bIns="0" rtlCol="0">
            <a:spAutoFit/>
          </a:bodyPr>
          <a:lstStyle/>
          <a:p>
            <a:pPr>
              <a:lnSpc>
                <a:spcPts val="1665"/>
              </a:lnSpc>
            </a:pPr>
            <a:r>
              <a:rPr lang="en-US" altLang="zh-CN" dirty="0">
                <a:solidFill>
                  <a:srgbClr val="000000"/>
                </a:solidFill>
                <a:latin typeface="Times New Roman"/>
              </a:rPr>
              <a:t>2.</a:t>
            </a:r>
            <a:endParaRPr lang="zh-CN" altLang="en-US" dirty="0">
              <a:solidFill>
                <a:srgbClr val="000000"/>
              </a:solidFill>
              <a:latin typeface="Times New Roman"/>
            </a:endParaRPr>
          </a:p>
        </p:txBody>
      </p:sp>
      <p:sp>
        <p:nvSpPr>
          <p:cNvPr id="5" name="TextBox 4"/>
          <p:cNvSpPr txBox="1"/>
          <p:nvPr/>
        </p:nvSpPr>
        <p:spPr>
          <a:xfrm>
            <a:off x="466731" y="3415479"/>
            <a:ext cx="174728" cy="224420"/>
          </a:xfrm>
          <a:prstGeom prst="rect">
            <a:avLst/>
          </a:prstGeom>
          <a:noFill/>
        </p:spPr>
        <p:txBody>
          <a:bodyPr vert="horz" wrap="none" lIns="0" tIns="0" rIns="0" bIns="0" rtlCol="0">
            <a:spAutoFit/>
          </a:bodyPr>
          <a:lstStyle/>
          <a:p>
            <a:pPr>
              <a:lnSpc>
                <a:spcPts val="1665"/>
              </a:lnSpc>
            </a:pPr>
            <a:r>
              <a:rPr lang="en-US" altLang="zh-CN" dirty="0">
                <a:solidFill>
                  <a:srgbClr val="000000"/>
                </a:solidFill>
                <a:latin typeface="Times New Roman"/>
              </a:rPr>
              <a:t>3.</a:t>
            </a:r>
            <a:endParaRPr lang="zh-CN" altLang="en-US" dirty="0">
              <a:solidFill>
                <a:srgbClr val="000000"/>
              </a:solidFill>
              <a:latin typeface="Times New Roman"/>
            </a:endParaRPr>
          </a:p>
        </p:txBody>
      </p:sp>
      <p:sp>
        <p:nvSpPr>
          <p:cNvPr id="6" name="TextBox 5"/>
          <p:cNvSpPr txBox="1"/>
          <p:nvPr/>
        </p:nvSpPr>
        <p:spPr>
          <a:xfrm>
            <a:off x="466731" y="3689799"/>
            <a:ext cx="174728" cy="224420"/>
          </a:xfrm>
          <a:prstGeom prst="rect">
            <a:avLst/>
          </a:prstGeom>
          <a:noFill/>
        </p:spPr>
        <p:txBody>
          <a:bodyPr vert="horz" wrap="none" lIns="0" tIns="0" rIns="0" bIns="0" rtlCol="0">
            <a:spAutoFit/>
          </a:bodyPr>
          <a:lstStyle/>
          <a:p>
            <a:pPr>
              <a:lnSpc>
                <a:spcPts val="1665"/>
              </a:lnSpc>
            </a:pPr>
            <a:r>
              <a:rPr lang="en-US" altLang="zh-CN" dirty="0">
                <a:solidFill>
                  <a:srgbClr val="000000"/>
                </a:solidFill>
                <a:latin typeface="Times New Roman"/>
              </a:rPr>
              <a:t>4.</a:t>
            </a:r>
            <a:endParaRPr lang="zh-CN" altLang="en-US" dirty="0">
              <a:solidFill>
                <a:srgbClr val="000000"/>
              </a:solidFill>
              <a:latin typeface="Times New Roman"/>
            </a:endParaRPr>
          </a:p>
        </p:txBody>
      </p:sp>
      <p:sp>
        <p:nvSpPr>
          <p:cNvPr id="7" name="TextBox 6"/>
          <p:cNvSpPr txBox="1"/>
          <p:nvPr/>
        </p:nvSpPr>
        <p:spPr>
          <a:xfrm>
            <a:off x="466731" y="3964873"/>
            <a:ext cx="174728" cy="224420"/>
          </a:xfrm>
          <a:prstGeom prst="rect">
            <a:avLst/>
          </a:prstGeom>
          <a:noFill/>
        </p:spPr>
        <p:txBody>
          <a:bodyPr vert="horz" wrap="none" lIns="0" tIns="0" rIns="0" bIns="0" rtlCol="0">
            <a:spAutoFit/>
          </a:bodyPr>
          <a:lstStyle/>
          <a:p>
            <a:pPr>
              <a:lnSpc>
                <a:spcPts val="1665"/>
              </a:lnSpc>
            </a:pPr>
            <a:r>
              <a:rPr lang="en-US" altLang="zh-CN" dirty="0">
                <a:solidFill>
                  <a:srgbClr val="000000"/>
                </a:solidFill>
                <a:latin typeface="Times New Roman"/>
              </a:rPr>
              <a:t>5.</a:t>
            </a:r>
            <a:endParaRPr lang="zh-CN" altLang="en-US" dirty="0">
              <a:solidFill>
                <a:srgbClr val="000000"/>
              </a:solidFill>
              <a:latin typeface="Times New Roman"/>
            </a:endParaRPr>
          </a:p>
        </p:txBody>
      </p:sp>
      <p:sp>
        <p:nvSpPr>
          <p:cNvPr id="8" name="TextBox 7"/>
          <p:cNvSpPr txBox="1"/>
          <p:nvPr/>
        </p:nvSpPr>
        <p:spPr>
          <a:xfrm>
            <a:off x="466731" y="4514268"/>
            <a:ext cx="174728" cy="224420"/>
          </a:xfrm>
          <a:prstGeom prst="rect">
            <a:avLst/>
          </a:prstGeom>
          <a:noFill/>
        </p:spPr>
        <p:txBody>
          <a:bodyPr vert="horz" wrap="none" lIns="0" tIns="0" rIns="0" bIns="0" rtlCol="0">
            <a:spAutoFit/>
          </a:bodyPr>
          <a:lstStyle/>
          <a:p>
            <a:pPr>
              <a:lnSpc>
                <a:spcPts val="1665"/>
              </a:lnSpc>
            </a:pPr>
            <a:r>
              <a:rPr lang="en-US" altLang="zh-CN" dirty="0">
                <a:solidFill>
                  <a:srgbClr val="000000"/>
                </a:solidFill>
                <a:latin typeface="Times New Roman"/>
              </a:rPr>
              <a:t>6.</a:t>
            </a:r>
            <a:endParaRPr lang="zh-CN" altLang="en-US" dirty="0">
              <a:solidFill>
                <a:srgbClr val="000000"/>
              </a:solidFill>
              <a:latin typeface="Times New Roman"/>
            </a:endParaRPr>
          </a:p>
        </p:txBody>
      </p:sp>
      <p:sp>
        <p:nvSpPr>
          <p:cNvPr id="9" name="TextBox 8"/>
          <p:cNvSpPr txBox="1"/>
          <p:nvPr/>
        </p:nvSpPr>
        <p:spPr>
          <a:xfrm>
            <a:off x="466731" y="5323512"/>
            <a:ext cx="174728" cy="224420"/>
          </a:xfrm>
          <a:prstGeom prst="rect">
            <a:avLst/>
          </a:prstGeom>
          <a:noFill/>
        </p:spPr>
        <p:txBody>
          <a:bodyPr vert="horz" wrap="none" lIns="0" tIns="0" rIns="0" bIns="0" rtlCol="0">
            <a:spAutoFit/>
          </a:bodyPr>
          <a:lstStyle/>
          <a:p>
            <a:pPr>
              <a:lnSpc>
                <a:spcPts val="1665"/>
              </a:lnSpc>
            </a:pPr>
            <a:r>
              <a:rPr lang="en-US" altLang="zh-CN" dirty="0">
                <a:solidFill>
                  <a:srgbClr val="000000"/>
                </a:solidFill>
                <a:latin typeface="Times New Roman"/>
              </a:rPr>
              <a:t>7.</a:t>
            </a:r>
            <a:endParaRPr lang="zh-CN" altLang="en-US" dirty="0">
              <a:solidFill>
                <a:srgbClr val="000000"/>
              </a:solidFill>
              <a:latin typeface="Times New Roman"/>
            </a:endParaRPr>
          </a:p>
        </p:txBody>
      </p:sp>
      <p:sp>
        <p:nvSpPr>
          <p:cNvPr id="10" name="TextBox 9"/>
          <p:cNvSpPr txBox="1"/>
          <p:nvPr/>
        </p:nvSpPr>
        <p:spPr>
          <a:xfrm>
            <a:off x="466731" y="5597832"/>
            <a:ext cx="174728" cy="224420"/>
          </a:xfrm>
          <a:prstGeom prst="rect">
            <a:avLst/>
          </a:prstGeom>
          <a:noFill/>
        </p:spPr>
        <p:txBody>
          <a:bodyPr vert="horz" wrap="none" lIns="0" tIns="0" rIns="0" bIns="0" rtlCol="0">
            <a:spAutoFit/>
          </a:bodyPr>
          <a:lstStyle/>
          <a:p>
            <a:pPr>
              <a:lnSpc>
                <a:spcPts val="1665"/>
              </a:lnSpc>
            </a:pPr>
            <a:r>
              <a:rPr lang="en-US" altLang="zh-CN" dirty="0">
                <a:solidFill>
                  <a:srgbClr val="000000"/>
                </a:solidFill>
                <a:latin typeface="Times New Roman"/>
              </a:rPr>
              <a:t>8.</a:t>
            </a:r>
            <a:endParaRPr lang="zh-CN" altLang="en-US" dirty="0">
              <a:solidFill>
                <a:srgbClr val="000000"/>
              </a:solidFill>
              <a:latin typeface="Times New Roman"/>
            </a:endParaRPr>
          </a:p>
        </p:txBody>
      </p:sp>
      <p:sp>
        <p:nvSpPr>
          <p:cNvPr id="11" name="TextBox 10"/>
          <p:cNvSpPr txBox="1"/>
          <p:nvPr/>
        </p:nvSpPr>
        <p:spPr>
          <a:xfrm>
            <a:off x="466754" y="5887399"/>
            <a:ext cx="174728" cy="224420"/>
          </a:xfrm>
          <a:prstGeom prst="rect">
            <a:avLst/>
          </a:prstGeom>
          <a:noFill/>
        </p:spPr>
        <p:txBody>
          <a:bodyPr vert="horz" wrap="none" lIns="0" tIns="0" rIns="0" bIns="0" rtlCol="0">
            <a:spAutoFit/>
          </a:bodyPr>
          <a:lstStyle/>
          <a:p>
            <a:pPr>
              <a:lnSpc>
                <a:spcPts val="1665"/>
              </a:lnSpc>
            </a:pPr>
            <a:r>
              <a:rPr lang="en-US" altLang="zh-CN" dirty="0">
                <a:solidFill>
                  <a:srgbClr val="000000"/>
                </a:solidFill>
                <a:latin typeface="Times New Roman"/>
              </a:rPr>
              <a:t>9.</a:t>
            </a:r>
            <a:endParaRPr lang="zh-CN" altLang="en-US" dirty="0">
              <a:solidFill>
                <a:srgbClr val="000000"/>
              </a:solidFill>
              <a:latin typeface="Times New Roman"/>
            </a:endParaRPr>
          </a:p>
        </p:txBody>
      </p:sp>
      <p:sp>
        <p:nvSpPr>
          <p:cNvPr id="12" name="TextBox 11"/>
          <p:cNvSpPr txBox="1"/>
          <p:nvPr/>
        </p:nvSpPr>
        <p:spPr>
          <a:xfrm>
            <a:off x="509403" y="6341571"/>
            <a:ext cx="144270" cy="133370"/>
          </a:xfrm>
          <a:prstGeom prst="rect">
            <a:avLst/>
          </a:prstGeom>
          <a:noFill/>
        </p:spPr>
        <p:txBody>
          <a:bodyPr vert="horz" wrap="none" lIns="0" tIns="0" rIns="0" bIns="0" rtlCol="0">
            <a:spAutoFit/>
          </a:bodyPr>
          <a:lstStyle/>
          <a:p>
            <a:pPr>
              <a:lnSpc>
                <a:spcPts val="1016"/>
              </a:lnSpc>
            </a:pPr>
            <a:r>
              <a:rPr lang="en-US" altLang="zh-CN" sz="1098" dirty="0">
                <a:solidFill>
                  <a:srgbClr val="761437"/>
                </a:solidFill>
                <a:latin typeface="Times New Roman"/>
              </a:rPr>
              <a:t>27</a:t>
            </a:r>
            <a:endParaRPr lang="zh-CN" altLang="en-US" sz="1098" dirty="0">
              <a:solidFill>
                <a:srgbClr val="761437"/>
              </a:solidFill>
              <a:latin typeface="Times New Roman"/>
            </a:endParaRPr>
          </a:p>
        </p:txBody>
      </p:sp>
      <p:sp>
        <p:nvSpPr>
          <p:cNvPr id="13" name="TextBox 12"/>
          <p:cNvSpPr txBox="1"/>
          <p:nvPr/>
        </p:nvSpPr>
        <p:spPr>
          <a:xfrm>
            <a:off x="830205" y="390082"/>
            <a:ext cx="6091411" cy="525785"/>
          </a:xfrm>
          <a:prstGeom prst="rect">
            <a:avLst/>
          </a:prstGeom>
          <a:noFill/>
        </p:spPr>
        <p:txBody>
          <a:bodyPr vert="horz" wrap="none" lIns="0" tIns="0" rIns="0" bIns="0" rtlCol="0">
            <a:spAutoFit/>
          </a:bodyPr>
          <a:lstStyle/>
          <a:p>
            <a:pPr>
              <a:lnSpc>
                <a:spcPts val="4087"/>
              </a:lnSpc>
            </a:pPr>
            <a:r>
              <a:rPr lang="zh-CN" altLang="en-US" sz="3798" dirty="0">
                <a:solidFill>
                  <a:srgbClr val="FFFFFF"/>
                </a:solidFill>
                <a:latin typeface="Times New Roman"/>
              </a:rPr>
              <a:t>控制環境  </a:t>
            </a:r>
            <a:r>
              <a:rPr lang="en-US" altLang="zh-CN" sz="3798" b="1" dirty="0">
                <a:solidFill>
                  <a:srgbClr val="FFFFFF"/>
                </a:solidFill>
                <a:latin typeface="Times New Roman"/>
              </a:rPr>
              <a:t>–  </a:t>
            </a:r>
            <a:r>
              <a:rPr lang="zh-CN" altLang="en-US" sz="3798" dirty="0">
                <a:solidFill>
                  <a:srgbClr val="FFFFFF"/>
                </a:solidFill>
                <a:latin typeface="Times New Roman"/>
              </a:rPr>
              <a:t>監管部門的參與</a:t>
            </a:r>
          </a:p>
        </p:txBody>
      </p:sp>
      <p:sp>
        <p:nvSpPr>
          <p:cNvPr id="14" name="TextBox 13"/>
          <p:cNvSpPr txBox="1"/>
          <p:nvPr/>
        </p:nvSpPr>
        <p:spPr>
          <a:xfrm>
            <a:off x="509427" y="1636742"/>
            <a:ext cx="8771632" cy="512961"/>
          </a:xfrm>
          <a:prstGeom prst="rect">
            <a:avLst/>
          </a:prstGeom>
          <a:noFill/>
        </p:spPr>
        <p:txBody>
          <a:bodyPr vert="horz" wrap="none" lIns="0" tIns="0" rIns="0" bIns="0" rtlCol="0">
            <a:spAutoFit/>
          </a:bodyPr>
          <a:lstStyle/>
          <a:p>
            <a:pPr>
              <a:lnSpc>
                <a:spcPts val="1798"/>
              </a:lnSpc>
            </a:pPr>
            <a:r>
              <a:rPr lang="zh-CN" altLang="en-US" dirty="0">
                <a:solidFill>
                  <a:srgbClr val="000000"/>
                </a:solidFill>
                <a:latin typeface="Times New Roman"/>
              </a:rPr>
              <a:t>管理層應該向員工傳達誠信與道德標準，必須不折不扣的執行。員工應該知曉和理解這</a:t>
            </a:r>
          </a:p>
          <a:p>
            <a:pPr>
              <a:lnSpc>
                <a:spcPts val="2166"/>
              </a:lnSpc>
            </a:pPr>
            <a:r>
              <a:rPr lang="zh-CN" altLang="en-US" dirty="0">
                <a:solidFill>
                  <a:srgbClr val="000000"/>
                </a:solidFill>
                <a:latin typeface="Times New Roman"/>
              </a:rPr>
              <a:t>些規定。管理層應該通過言談和行動的方式表現出對道德標準的重視。</a:t>
            </a:r>
          </a:p>
        </p:txBody>
      </p:sp>
      <p:sp>
        <p:nvSpPr>
          <p:cNvPr id="15" name="TextBox 14"/>
          <p:cNvSpPr txBox="1"/>
          <p:nvPr/>
        </p:nvSpPr>
        <p:spPr>
          <a:xfrm>
            <a:off x="917843" y="2559532"/>
            <a:ext cx="8309967" cy="512961"/>
          </a:xfrm>
          <a:prstGeom prst="rect">
            <a:avLst/>
          </a:prstGeom>
          <a:noFill/>
        </p:spPr>
        <p:txBody>
          <a:bodyPr vert="horz" wrap="none" lIns="0" tIns="0" rIns="0" bIns="0" rtlCol="0">
            <a:spAutoFit/>
          </a:bodyPr>
          <a:lstStyle/>
          <a:p>
            <a:pPr>
              <a:lnSpc>
                <a:spcPts val="1798"/>
              </a:lnSpc>
            </a:pPr>
            <a:r>
              <a:rPr lang="zh-CN" altLang="en-US" dirty="0">
                <a:solidFill>
                  <a:srgbClr val="000000"/>
                </a:solidFill>
                <a:latin typeface="Times New Roman"/>
              </a:rPr>
              <a:t>董事會或審計委員會是獨立於管理層的，這樣必要時能夠提出有挑戰性甚至審查式</a:t>
            </a:r>
          </a:p>
          <a:p>
            <a:pPr>
              <a:lnSpc>
                <a:spcPts val="2160"/>
              </a:lnSpc>
            </a:pPr>
            <a:r>
              <a:rPr lang="zh-CN" altLang="en-US" dirty="0">
                <a:solidFill>
                  <a:srgbClr val="000000"/>
                </a:solidFill>
                <a:latin typeface="Times New Roman"/>
              </a:rPr>
              <a:t>的問題。</a:t>
            </a:r>
          </a:p>
        </p:txBody>
      </p:sp>
      <p:sp>
        <p:nvSpPr>
          <p:cNvPr id="16" name="TextBox 15"/>
          <p:cNvSpPr txBox="1"/>
          <p:nvPr/>
        </p:nvSpPr>
        <p:spPr>
          <a:xfrm>
            <a:off x="917843" y="3108926"/>
            <a:ext cx="5770811" cy="512961"/>
          </a:xfrm>
          <a:prstGeom prst="rect">
            <a:avLst/>
          </a:prstGeom>
          <a:noFill/>
        </p:spPr>
        <p:txBody>
          <a:bodyPr vert="horz" wrap="none" lIns="0" tIns="0" rIns="0" bIns="0" rtlCol="0">
            <a:spAutoFit/>
          </a:bodyPr>
          <a:lstStyle/>
          <a:p>
            <a:pPr>
              <a:lnSpc>
                <a:spcPts val="1798"/>
              </a:lnSpc>
            </a:pPr>
            <a:r>
              <a:rPr lang="zh-CN" altLang="en-US" dirty="0">
                <a:solidFill>
                  <a:srgbClr val="000000"/>
                </a:solidFill>
                <a:latin typeface="Times New Roman"/>
              </a:rPr>
              <a:t>建立董事會專門委員會以特別關注和處理相關重要事件。</a:t>
            </a:r>
          </a:p>
          <a:p>
            <a:pPr>
              <a:lnSpc>
                <a:spcPts val="2160"/>
              </a:lnSpc>
            </a:pPr>
            <a:r>
              <a:rPr lang="zh-CN" altLang="en-US" dirty="0">
                <a:solidFill>
                  <a:srgbClr val="000000"/>
                </a:solidFill>
                <a:latin typeface="Times New Roman"/>
              </a:rPr>
              <a:t>董事的知識和經驗</a:t>
            </a:r>
          </a:p>
        </p:txBody>
      </p:sp>
      <p:sp>
        <p:nvSpPr>
          <p:cNvPr id="17" name="TextBox 16"/>
          <p:cNvSpPr txBox="1"/>
          <p:nvPr/>
        </p:nvSpPr>
        <p:spPr>
          <a:xfrm>
            <a:off x="917843" y="3657567"/>
            <a:ext cx="3924151" cy="230832"/>
          </a:xfrm>
          <a:prstGeom prst="rect">
            <a:avLst/>
          </a:prstGeom>
          <a:noFill/>
        </p:spPr>
        <p:txBody>
          <a:bodyPr vert="horz" wrap="none" lIns="0" tIns="0" rIns="0" bIns="0" rtlCol="0">
            <a:spAutoFit/>
          </a:bodyPr>
          <a:lstStyle/>
          <a:p>
            <a:pPr>
              <a:lnSpc>
                <a:spcPts val="1798"/>
              </a:lnSpc>
            </a:pPr>
            <a:r>
              <a:rPr lang="zh-CN" altLang="en-US" dirty="0">
                <a:solidFill>
                  <a:srgbClr val="000000"/>
                </a:solidFill>
                <a:latin typeface="Times New Roman"/>
              </a:rPr>
              <a:t>與內、外部審計師等的會面頻率和接觸</a:t>
            </a:r>
          </a:p>
        </p:txBody>
      </p:sp>
      <p:sp>
        <p:nvSpPr>
          <p:cNvPr id="18" name="TextBox 17"/>
          <p:cNvSpPr txBox="1"/>
          <p:nvPr/>
        </p:nvSpPr>
        <p:spPr>
          <a:xfrm>
            <a:off x="917843" y="3932641"/>
            <a:ext cx="8309967" cy="512961"/>
          </a:xfrm>
          <a:prstGeom prst="rect">
            <a:avLst/>
          </a:prstGeom>
          <a:noFill/>
        </p:spPr>
        <p:txBody>
          <a:bodyPr vert="horz" wrap="none" lIns="0" tIns="0" rIns="0" bIns="0" rtlCol="0">
            <a:spAutoFit/>
          </a:bodyPr>
          <a:lstStyle/>
          <a:p>
            <a:pPr>
              <a:lnSpc>
                <a:spcPts val="1798"/>
              </a:lnSpc>
            </a:pPr>
            <a:r>
              <a:rPr lang="zh-CN" altLang="en-US" dirty="0">
                <a:solidFill>
                  <a:srgbClr val="000000"/>
                </a:solidFill>
                <a:latin typeface="Times New Roman"/>
              </a:rPr>
              <a:t>為董事會或專門委員會委員提供資訊的及時性和充分性，以便及時監督管理層的目</a:t>
            </a:r>
          </a:p>
          <a:p>
            <a:pPr>
              <a:lnSpc>
                <a:spcPts val="2160"/>
              </a:lnSpc>
            </a:pPr>
            <a:r>
              <a:rPr lang="zh-CN" altLang="en-US" dirty="0">
                <a:solidFill>
                  <a:srgbClr val="000000"/>
                </a:solidFill>
                <a:latin typeface="Times New Roman"/>
              </a:rPr>
              <a:t>標和戰略、公司的財務狀況和經營成果、以及重大協議的條款等。</a:t>
            </a:r>
          </a:p>
        </p:txBody>
      </p:sp>
      <p:sp>
        <p:nvSpPr>
          <p:cNvPr id="19" name="TextBox 18"/>
          <p:cNvSpPr txBox="1"/>
          <p:nvPr/>
        </p:nvSpPr>
        <p:spPr>
          <a:xfrm>
            <a:off x="917843" y="4482035"/>
            <a:ext cx="8309967" cy="795089"/>
          </a:xfrm>
          <a:prstGeom prst="rect">
            <a:avLst/>
          </a:prstGeom>
          <a:noFill/>
        </p:spPr>
        <p:txBody>
          <a:bodyPr vert="horz" wrap="none" lIns="0" tIns="0" rIns="0" bIns="0" rtlCol="0">
            <a:spAutoFit/>
          </a:bodyPr>
          <a:lstStyle/>
          <a:p>
            <a:pPr>
              <a:lnSpc>
                <a:spcPts val="1798"/>
              </a:lnSpc>
            </a:pPr>
            <a:r>
              <a:rPr lang="zh-CN" altLang="en-US" dirty="0">
                <a:solidFill>
                  <a:srgbClr val="000000"/>
                </a:solidFill>
                <a:latin typeface="Times New Roman"/>
              </a:rPr>
              <a:t>為董事會或審計委員會提供充分、及時的資訊，以便及時獲知敏感資訊、調查、不</a:t>
            </a:r>
          </a:p>
          <a:p>
            <a:pPr>
              <a:lnSpc>
                <a:spcPts val="2160"/>
              </a:lnSpc>
            </a:pPr>
            <a:r>
              <a:rPr lang="zh-CN" altLang="en-US" dirty="0">
                <a:solidFill>
                  <a:srgbClr val="000000"/>
                </a:solidFill>
                <a:latin typeface="Times New Roman"/>
              </a:rPr>
              <a:t>當行為（例如：監管機構調查、貪污、挪用公款、濫用公司財產、違反內部人員交</a:t>
            </a:r>
          </a:p>
          <a:p>
            <a:pPr>
              <a:lnSpc>
                <a:spcPts val="2160"/>
              </a:lnSpc>
            </a:pPr>
            <a:r>
              <a:rPr lang="zh-CN" altLang="en-US" dirty="0">
                <a:solidFill>
                  <a:srgbClr val="000000"/>
                </a:solidFill>
                <a:latin typeface="Times New Roman"/>
              </a:rPr>
              <a:t>易法規、非法支付等）。</a:t>
            </a:r>
          </a:p>
        </p:txBody>
      </p:sp>
      <p:sp>
        <p:nvSpPr>
          <p:cNvPr id="20" name="TextBox 19"/>
          <p:cNvSpPr txBox="1"/>
          <p:nvPr/>
        </p:nvSpPr>
        <p:spPr>
          <a:xfrm>
            <a:off x="917843" y="5291279"/>
            <a:ext cx="5539978" cy="512961"/>
          </a:xfrm>
          <a:prstGeom prst="rect">
            <a:avLst/>
          </a:prstGeom>
          <a:noFill/>
        </p:spPr>
        <p:txBody>
          <a:bodyPr vert="horz" wrap="none" lIns="0" tIns="0" rIns="0" bIns="0" rtlCol="0">
            <a:spAutoFit/>
          </a:bodyPr>
          <a:lstStyle/>
          <a:p>
            <a:pPr>
              <a:lnSpc>
                <a:spcPts val="1798"/>
              </a:lnSpc>
            </a:pPr>
            <a:r>
              <a:rPr lang="zh-CN" altLang="en-US" dirty="0">
                <a:solidFill>
                  <a:srgbClr val="000000"/>
                </a:solidFill>
                <a:latin typeface="Times New Roman"/>
              </a:rPr>
              <a:t>監督高級管理人員的薪酬，聘用和解聘高級管理人員。</a:t>
            </a:r>
          </a:p>
          <a:p>
            <a:pPr>
              <a:lnSpc>
                <a:spcPts val="2160"/>
              </a:lnSpc>
            </a:pPr>
            <a:r>
              <a:rPr lang="zh-CN" altLang="en-US" dirty="0">
                <a:solidFill>
                  <a:srgbClr val="000000"/>
                </a:solidFill>
                <a:latin typeface="Times New Roman"/>
              </a:rPr>
              <a:t>建立“高層管理基調”</a:t>
            </a:r>
          </a:p>
        </p:txBody>
      </p:sp>
      <p:sp>
        <p:nvSpPr>
          <p:cNvPr id="21" name="TextBox 20"/>
          <p:cNvSpPr txBox="1"/>
          <p:nvPr/>
        </p:nvSpPr>
        <p:spPr>
          <a:xfrm>
            <a:off x="917865" y="5855167"/>
            <a:ext cx="6001643" cy="230832"/>
          </a:xfrm>
          <a:prstGeom prst="rect">
            <a:avLst/>
          </a:prstGeom>
          <a:noFill/>
        </p:spPr>
        <p:txBody>
          <a:bodyPr vert="horz" wrap="none" lIns="0" tIns="0" rIns="0" bIns="0" rtlCol="0">
            <a:spAutoFit/>
          </a:bodyPr>
          <a:lstStyle/>
          <a:p>
            <a:pPr>
              <a:lnSpc>
                <a:spcPts val="1798"/>
              </a:lnSpc>
            </a:pPr>
            <a:r>
              <a:rPr lang="zh-CN" altLang="en-US" dirty="0">
                <a:solidFill>
                  <a:srgbClr val="000000"/>
                </a:solidFill>
                <a:latin typeface="Times New Roman"/>
              </a:rPr>
              <a:t>董事會或審計委員會依據其發現採取行動，包括特殊調查。</a:t>
            </a:r>
          </a:p>
        </p:txBody>
      </p:sp>
      <p:sp>
        <p:nvSpPr>
          <p:cNvPr id="22" name="TextBox 21"/>
          <p:cNvSpPr txBox="1"/>
          <p:nvPr/>
        </p:nvSpPr>
        <p:spPr>
          <a:xfrm>
            <a:off x="8067681" y="6285482"/>
            <a:ext cx="1477969" cy="461665"/>
          </a:xfrm>
          <a:prstGeom prst="rect">
            <a:avLst/>
          </a:prstGeom>
          <a:noFill/>
        </p:spPr>
        <p:txBody>
          <a:bodyPr vert="horz" wrap="none" lIns="0" tIns="0" rIns="0" bIns="0" rtlCol="0">
            <a:spAutoFit/>
          </a:bodyPr>
          <a:lstStyle/>
          <a:p>
            <a:pPr>
              <a:lnSpc>
                <a:spcPts val="1800"/>
              </a:lnSpc>
            </a:pPr>
            <a:r>
              <a:rPr lang="en-US" altLang="zh-CN" dirty="0" err="1">
                <a:solidFill>
                  <a:srgbClr val="000000"/>
                </a:solidFill>
                <a:latin typeface="Times New Roman"/>
              </a:rPr>
              <a:t>Pwc</a:t>
            </a:r>
            <a:endParaRPr lang="en-US" altLang="zh-CN" dirty="0">
              <a:solidFill>
                <a:srgbClr val="000000"/>
              </a:solidFill>
              <a:latin typeface="Times New Roman"/>
            </a:endParaRPr>
          </a:p>
          <a:p>
            <a:pPr>
              <a:lnSpc>
                <a:spcPts val="1779"/>
              </a:lnSpc>
            </a:pPr>
            <a:r>
              <a:rPr lang="zh-CN" altLang="en-US" sz="1478" dirty="0">
                <a:solidFill>
                  <a:srgbClr val="000000"/>
                </a:solidFill>
                <a:latin typeface="Times New Roman"/>
              </a:rPr>
              <a:t>普     華     永     道</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myslide28">
    <p:spTree>
      <p:nvGrpSpPr>
        <p:cNvPr id="1" name=""/>
        <p:cNvGrpSpPr/>
        <p:nvPr/>
      </p:nvGrpSpPr>
      <p:grpSpPr>
        <a:xfrm>
          <a:off x="0" y="0"/>
          <a:ext cx="0" cy="0"/>
          <a:chOff x="0" y="0"/>
          <a:chExt cx="0" cy="0"/>
        </a:xfrm>
      </p:grpSpPr>
      <p:pic>
        <p:nvPicPr>
          <p:cNvPr id="2" name="图片 1" descr="ws_1B9.tmp"/>
          <p:cNvPicPr>
            <a:picLocks/>
          </p:cNvPicPr>
          <p:nvPr/>
        </p:nvPicPr>
        <p:blipFill>
          <a:blip r:embed="rId2"/>
          <a:stretch>
            <a:fillRect/>
          </a:stretch>
        </p:blipFill>
        <p:spPr>
          <a:xfrm>
            <a:off x="0" y="0"/>
            <a:ext cx="9880600" cy="6819900"/>
          </a:xfrm>
          <a:prstGeom prst="rect">
            <a:avLst/>
          </a:prstGeom>
        </p:spPr>
      </p:pic>
      <p:sp>
        <p:nvSpPr>
          <p:cNvPr id="3" name="TextBox 2"/>
          <p:cNvSpPr txBox="1"/>
          <p:nvPr/>
        </p:nvSpPr>
        <p:spPr>
          <a:xfrm>
            <a:off x="7873026" y="4394860"/>
            <a:ext cx="128240" cy="98745"/>
          </a:xfrm>
          <a:prstGeom prst="rect">
            <a:avLst/>
          </a:prstGeom>
          <a:noFill/>
        </p:spPr>
        <p:txBody>
          <a:bodyPr vert="horz" wrap="none" lIns="0" tIns="0" rIns="0" bIns="0" rtlCol="0">
            <a:spAutoFit/>
          </a:bodyPr>
          <a:lstStyle/>
          <a:p>
            <a:pPr>
              <a:lnSpc>
                <a:spcPts val="709"/>
              </a:lnSpc>
            </a:pPr>
            <a:r>
              <a:rPr lang="zh-CN" altLang="en-US" sz="1002" dirty="0">
                <a:solidFill>
                  <a:srgbClr val="FFFFFF"/>
                </a:solidFill>
                <a:latin typeface="Times New Roman"/>
              </a:rPr>
              <a:t>財</a:t>
            </a:r>
          </a:p>
        </p:txBody>
      </p:sp>
      <p:sp>
        <p:nvSpPr>
          <p:cNvPr id="4" name="TextBox 3"/>
          <p:cNvSpPr txBox="1"/>
          <p:nvPr/>
        </p:nvSpPr>
        <p:spPr>
          <a:xfrm>
            <a:off x="7962944" y="4304941"/>
            <a:ext cx="128240" cy="98745"/>
          </a:xfrm>
          <a:prstGeom prst="rect">
            <a:avLst/>
          </a:prstGeom>
          <a:noFill/>
        </p:spPr>
        <p:txBody>
          <a:bodyPr vert="horz" wrap="none" lIns="0" tIns="0" rIns="0" bIns="0" rtlCol="0">
            <a:spAutoFit/>
          </a:bodyPr>
          <a:lstStyle/>
          <a:p>
            <a:pPr>
              <a:lnSpc>
                <a:spcPts val="709"/>
              </a:lnSpc>
            </a:pPr>
            <a:r>
              <a:rPr lang="zh-CN" altLang="en-US" sz="1002" dirty="0">
                <a:solidFill>
                  <a:srgbClr val="FFFFFF"/>
                </a:solidFill>
                <a:latin typeface="Times New Roman"/>
              </a:rPr>
              <a:t>務</a:t>
            </a:r>
          </a:p>
        </p:txBody>
      </p:sp>
      <p:sp>
        <p:nvSpPr>
          <p:cNvPr id="5" name="TextBox 4"/>
          <p:cNvSpPr txBox="1"/>
          <p:nvPr/>
        </p:nvSpPr>
        <p:spPr>
          <a:xfrm>
            <a:off x="8052863" y="4215023"/>
            <a:ext cx="128240" cy="98745"/>
          </a:xfrm>
          <a:prstGeom prst="rect">
            <a:avLst/>
          </a:prstGeom>
          <a:noFill/>
        </p:spPr>
        <p:txBody>
          <a:bodyPr vert="horz" wrap="none" lIns="0" tIns="0" rIns="0" bIns="0" rtlCol="0">
            <a:spAutoFit/>
          </a:bodyPr>
          <a:lstStyle/>
          <a:p>
            <a:pPr>
              <a:lnSpc>
                <a:spcPts val="709"/>
              </a:lnSpc>
            </a:pPr>
            <a:r>
              <a:rPr lang="zh-CN" altLang="en-US" sz="1002" dirty="0">
                <a:solidFill>
                  <a:srgbClr val="FFFFFF"/>
                </a:solidFill>
                <a:latin typeface="Times New Roman"/>
              </a:rPr>
              <a:t>報</a:t>
            </a:r>
          </a:p>
        </p:txBody>
      </p:sp>
      <p:sp>
        <p:nvSpPr>
          <p:cNvPr id="6" name="TextBox 5"/>
          <p:cNvSpPr txBox="1"/>
          <p:nvPr/>
        </p:nvSpPr>
        <p:spPr>
          <a:xfrm>
            <a:off x="8142782" y="4125104"/>
            <a:ext cx="128240" cy="98745"/>
          </a:xfrm>
          <a:prstGeom prst="rect">
            <a:avLst/>
          </a:prstGeom>
          <a:noFill/>
        </p:spPr>
        <p:txBody>
          <a:bodyPr vert="horz" wrap="none" lIns="0" tIns="0" rIns="0" bIns="0" rtlCol="0">
            <a:spAutoFit/>
          </a:bodyPr>
          <a:lstStyle/>
          <a:p>
            <a:pPr>
              <a:lnSpc>
                <a:spcPts val="709"/>
              </a:lnSpc>
            </a:pPr>
            <a:r>
              <a:rPr lang="zh-CN" altLang="en-US" sz="1002" dirty="0">
                <a:solidFill>
                  <a:srgbClr val="FFFFFF"/>
                </a:solidFill>
                <a:latin typeface="Times New Roman"/>
              </a:rPr>
              <a:t>告</a:t>
            </a:r>
          </a:p>
        </p:txBody>
      </p:sp>
      <p:sp>
        <p:nvSpPr>
          <p:cNvPr id="7" name="TextBox 6"/>
          <p:cNvSpPr txBox="1"/>
          <p:nvPr/>
        </p:nvSpPr>
        <p:spPr>
          <a:xfrm>
            <a:off x="8540536" y="4349899"/>
            <a:ext cx="128240" cy="98745"/>
          </a:xfrm>
          <a:prstGeom prst="rect">
            <a:avLst/>
          </a:prstGeom>
          <a:noFill/>
        </p:spPr>
        <p:txBody>
          <a:bodyPr vert="horz" wrap="none" lIns="0" tIns="0" rIns="0" bIns="0" rtlCol="0">
            <a:spAutoFit/>
          </a:bodyPr>
          <a:lstStyle/>
          <a:p>
            <a:pPr>
              <a:lnSpc>
                <a:spcPts val="709"/>
              </a:lnSpc>
            </a:pPr>
            <a:r>
              <a:rPr lang="zh-CN" altLang="en-US" sz="1002" dirty="0">
                <a:solidFill>
                  <a:srgbClr val="FFFFFF"/>
                </a:solidFill>
                <a:latin typeface="Times New Roman"/>
              </a:rPr>
              <a:t>合</a:t>
            </a:r>
          </a:p>
        </p:txBody>
      </p:sp>
      <p:sp>
        <p:nvSpPr>
          <p:cNvPr id="8" name="TextBox 7"/>
          <p:cNvSpPr txBox="1"/>
          <p:nvPr/>
        </p:nvSpPr>
        <p:spPr>
          <a:xfrm>
            <a:off x="8630455" y="4259981"/>
            <a:ext cx="128240" cy="98745"/>
          </a:xfrm>
          <a:prstGeom prst="rect">
            <a:avLst/>
          </a:prstGeom>
          <a:noFill/>
        </p:spPr>
        <p:txBody>
          <a:bodyPr vert="horz" wrap="none" lIns="0" tIns="0" rIns="0" bIns="0" rtlCol="0">
            <a:spAutoFit/>
          </a:bodyPr>
          <a:lstStyle/>
          <a:p>
            <a:pPr>
              <a:lnSpc>
                <a:spcPts val="709"/>
              </a:lnSpc>
            </a:pPr>
            <a:r>
              <a:rPr lang="zh-CN" altLang="en-US" sz="1002" dirty="0">
                <a:solidFill>
                  <a:srgbClr val="FFFFFF"/>
                </a:solidFill>
                <a:latin typeface="Times New Roman"/>
              </a:rPr>
              <a:t>規</a:t>
            </a:r>
          </a:p>
        </p:txBody>
      </p:sp>
      <p:sp>
        <p:nvSpPr>
          <p:cNvPr id="9" name="TextBox 8"/>
          <p:cNvSpPr txBox="1"/>
          <p:nvPr/>
        </p:nvSpPr>
        <p:spPr>
          <a:xfrm>
            <a:off x="8720373" y="4170062"/>
            <a:ext cx="128240" cy="98745"/>
          </a:xfrm>
          <a:prstGeom prst="rect">
            <a:avLst/>
          </a:prstGeom>
          <a:noFill/>
        </p:spPr>
        <p:txBody>
          <a:bodyPr vert="horz" wrap="none" lIns="0" tIns="0" rIns="0" bIns="0" rtlCol="0">
            <a:spAutoFit/>
          </a:bodyPr>
          <a:lstStyle/>
          <a:p>
            <a:pPr>
              <a:lnSpc>
                <a:spcPts val="709"/>
              </a:lnSpc>
            </a:pPr>
            <a:r>
              <a:rPr lang="zh-CN" altLang="en-US" sz="1002" dirty="0">
                <a:solidFill>
                  <a:srgbClr val="FFFFFF"/>
                </a:solidFill>
                <a:latin typeface="Times New Roman"/>
              </a:rPr>
              <a:t>性</a:t>
            </a:r>
          </a:p>
        </p:txBody>
      </p:sp>
      <p:sp>
        <p:nvSpPr>
          <p:cNvPr id="10" name="TextBox 9"/>
          <p:cNvSpPr txBox="1"/>
          <p:nvPr/>
        </p:nvSpPr>
        <p:spPr>
          <a:xfrm>
            <a:off x="431679" y="2693126"/>
            <a:ext cx="174728" cy="224420"/>
          </a:xfrm>
          <a:prstGeom prst="rect">
            <a:avLst/>
          </a:prstGeom>
          <a:noFill/>
        </p:spPr>
        <p:txBody>
          <a:bodyPr vert="horz" wrap="none" lIns="0" tIns="0" rIns="0" bIns="0" rtlCol="0">
            <a:spAutoFit/>
          </a:bodyPr>
          <a:lstStyle/>
          <a:p>
            <a:pPr>
              <a:lnSpc>
                <a:spcPts val="1665"/>
              </a:lnSpc>
            </a:pPr>
            <a:r>
              <a:rPr lang="en-US" altLang="zh-CN" dirty="0">
                <a:solidFill>
                  <a:srgbClr val="000000"/>
                </a:solidFill>
                <a:latin typeface="Times New Roman"/>
              </a:rPr>
              <a:t>1.</a:t>
            </a:r>
            <a:endParaRPr lang="zh-CN" altLang="en-US" dirty="0">
              <a:solidFill>
                <a:srgbClr val="000000"/>
              </a:solidFill>
              <a:latin typeface="Times New Roman"/>
            </a:endParaRPr>
          </a:p>
        </p:txBody>
      </p:sp>
      <p:sp>
        <p:nvSpPr>
          <p:cNvPr id="11" name="TextBox 10"/>
          <p:cNvSpPr txBox="1"/>
          <p:nvPr/>
        </p:nvSpPr>
        <p:spPr>
          <a:xfrm>
            <a:off x="431679" y="3242543"/>
            <a:ext cx="174728" cy="224420"/>
          </a:xfrm>
          <a:prstGeom prst="rect">
            <a:avLst/>
          </a:prstGeom>
          <a:noFill/>
        </p:spPr>
        <p:txBody>
          <a:bodyPr vert="horz" wrap="none" lIns="0" tIns="0" rIns="0" bIns="0" rtlCol="0">
            <a:spAutoFit/>
          </a:bodyPr>
          <a:lstStyle/>
          <a:p>
            <a:pPr>
              <a:lnSpc>
                <a:spcPts val="1665"/>
              </a:lnSpc>
            </a:pPr>
            <a:r>
              <a:rPr lang="en-US" altLang="zh-CN" dirty="0">
                <a:solidFill>
                  <a:srgbClr val="000000"/>
                </a:solidFill>
                <a:latin typeface="Times New Roman"/>
              </a:rPr>
              <a:t>2.</a:t>
            </a:r>
            <a:endParaRPr lang="zh-CN" altLang="en-US" dirty="0">
              <a:solidFill>
                <a:srgbClr val="000000"/>
              </a:solidFill>
              <a:latin typeface="Times New Roman"/>
            </a:endParaRPr>
          </a:p>
        </p:txBody>
      </p:sp>
      <p:sp>
        <p:nvSpPr>
          <p:cNvPr id="12" name="TextBox 11"/>
          <p:cNvSpPr txBox="1"/>
          <p:nvPr/>
        </p:nvSpPr>
        <p:spPr>
          <a:xfrm>
            <a:off x="431679" y="3791937"/>
            <a:ext cx="174728" cy="224420"/>
          </a:xfrm>
          <a:prstGeom prst="rect">
            <a:avLst/>
          </a:prstGeom>
          <a:noFill/>
        </p:spPr>
        <p:txBody>
          <a:bodyPr vert="horz" wrap="none" lIns="0" tIns="0" rIns="0" bIns="0" rtlCol="0">
            <a:spAutoFit/>
          </a:bodyPr>
          <a:lstStyle/>
          <a:p>
            <a:pPr>
              <a:lnSpc>
                <a:spcPts val="1665"/>
              </a:lnSpc>
            </a:pPr>
            <a:r>
              <a:rPr lang="en-US" altLang="zh-CN" dirty="0">
                <a:solidFill>
                  <a:srgbClr val="000000"/>
                </a:solidFill>
                <a:latin typeface="Times New Roman"/>
              </a:rPr>
              <a:t>3.</a:t>
            </a:r>
            <a:endParaRPr lang="zh-CN" altLang="en-US" dirty="0">
              <a:solidFill>
                <a:srgbClr val="000000"/>
              </a:solidFill>
              <a:latin typeface="Times New Roman"/>
            </a:endParaRPr>
          </a:p>
        </p:txBody>
      </p:sp>
      <p:sp>
        <p:nvSpPr>
          <p:cNvPr id="13" name="TextBox 12"/>
          <p:cNvSpPr txBox="1"/>
          <p:nvPr/>
        </p:nvSpPr>
        <p:spPr>
          <a:xfrm>
            <a:off x="509403" y="6341571"/>
            <a:ext cx="144270" cy="133370"/>
          </a:xfrm>
          <a:prstGeom prst="rect">
            <a:avLst/>
          </a:prstGeom>
          <a:noFill/>
        </p:spPr>
        <p:txBody>
          <a:bodyPr vert="horz" wrap="none" lIns="0" tIns="0" rIns="0" bIns="0" rtlCol="0">
            <a:spAutoFit/>
          </a:bodyPr>
          <a:lstStyle/>
          <a:p>
            <a:pPr>
              <a:lnSpc>
                <a:spcPts val="1016"/>
              </a:lnSpc>
            </a:pPr>
            <a:r>
              <a:rPr lang="en-US" altLang="zh-CN" sz="1098" dirty="0">
                <a:solidFill>
                  <a:srgbClr val="761437"/>
                </a:solidFill>
                <a:latin typeface="Times New Roman"/>
              </a:rPr>
              <a:t>28</a:t>
            </a:r>
            <a:endParaRPr lang="zh-CN" altLang="en-US" sz="1098" dirty="0">
              <a:solidFill>
                <a:srgbClr val="761437"/>
              </a:solidFill>
              <a:latin typeface="Times New Roman"/>
            </a:endParaRPr>
          </a:p>
        </p:txBody>
      </p:sp>
      <p:sp>
        <p:nvSpPr>
          <p:cNvPr id="14" name="TextBox 13"/>
          <p:cNvSpPr txBox="1"/>
          <p:nvPr/>
        </p:nvSpPr>
        <p:spPr>
          <a:xfrm>
            <a:off x="431679" y="390082"/>
            <a:ext cx="8771632" cy="3629199"/>
          </a:xfrm>
          <a:prstGeom prst="rect">
            <a:avLst/>
          </a:prstGeom>
          <a:noFill/>
        </p:spPr>
        <p:txBody>
          <a:bodyPr vert="horz" wrap="none" lIns="0" tIns="0" rIns="0" bIns="0" rtlCol="0">
            <a:spAutoFit/>
          </a:bodyPr>
          <a:lstStyle/>
          <a:p>
            <a:pPr marL="0" marR="0" lvl="0" indent="0" defTabSz="914400" eaLnBrk="1" fontAlgn="auto" latinLnBrk="0" hangingPunct="1">
              <a:lnSpc>
                <a:spcPts val="4087"/>
              </a:lnSpc>
              <a:buClrTx/>
              <a:buSzTx/>
              <a:buNone/>
              <a:tabLst>
                <a:tab pos="406400" algn="l"/>
                <a:tab pos="457200" algn="l"/>
              </a:tabLst>
              <a:defRPr/>
            </a:pPr>
            <a:r>
              <a:rPr lang="zh-CN" altLang="en-US" dirty="0"/>
              <a:t>	</a:t>
            </a:r>
            <a:r>
              <a:rPr lang="zh-CN" altLang="en-US" sz="3798" dirty="0">
                <a:solidFill>
                  <a:srgbClr val="FFFFFF"/>
                </a:solidFill>
                <a:latin typeface="Times New Roman"/>
              </a:rPr>
              <a:t>控制環境  </a:t>
            </a:r>
            <a:r>
              <a:rPr lang="en-US" altLang="zh-CN" sz="3798" b="1" dirty="0">
                <a:solidFill>
                  <a:srgbClr val="FFFFFF"/>
                </a:solidFill>
                <a:latin typeface="Times New Roman"/>
              </a:rPr>
              <a:t>–  </a:t>
            </a:r>
            <a:r>
              <a:rPr lang="zh-CN" altLang="en-US" sz="3798" dirty="0">
                <a:solidFill>
                  <a:srgbClr val="FFFFFF"/>
                </a:solidFill>
                <a:latin typeface="Times New Roman"/>
              </a:rPr>
              <a:t>管理理念和經營風格</a:t>
            </a:r>
          </a:p>
          <a:p>
            <a:pPr marL="0" marR="0" lvl="0" indent="0" defTabSz="914400" eaLnBrk="1" fontAlgn="auto" latinLnBrk="0" hangingPunct="1">
              <a:lnSpc>
                <a:spcPts val="1000"/>
              </a:lnSpc>
              <a:buClrTx/>
              <a:buSzTx/>
              <a:buNone/>
              <a:tabLst>
                <a:tab pos="406400" algn="l"/>
                <a:tab pos="457200" algn="l"/>
              </a:tabLst>
              <a:defRPr/>
            </a:pPr>
            <a:endParaRPr lang="zh-CN" altLang="en-US" sz="3798" dirty="0">
              <a:solidFill>
                <a:srgbClr val="FFFFFF"/>
              </a:solidFill>
              <a:latin typeface="Times New Roman"/>
            </a:endParaRPr>
          </a:p>
          <a:p>
            <a:pPr marL="0" marR="0" lvl="0" indent="0" defTabSz="914400" eaLnBrk="1" fontAlgn="auto" latinLnBrk="0" hangingPunct="1">
              <a:lnSpc>
                <a:spcPts val="1000"/>
              </a:lnSpc>
              <a:buClrTx/>
              <a:buSzTx/>
              <a:buNone/>
              <a:tabLst>
                <a:tab pos="406400" algn="l"/>
                <a:tab pos="457200" algn="l"/>
              </a:tabLst>
              <a:defRPr/>
            </a:pPr>
            <a:endParaRPr lang="zh-CN" altLang="en-US" sz="3798" dirty="0">
              <a:solidFill>
                <a:srgbClr val="FFFFFF"/>
              </a:solidFill>
              <a:latin typeface="Times New Roman"/>
            </a:endParaRPr>
          </a:p>
          <a:p>
            <a:pPr marL="0" marR="0" lvl="0" indent="0" defTabSz="914400" eaLnBrk="1" fontAlgn="auto" latinLnBrk="0" hangingPunct="1">
              <a:lnSpc>
                <a:spcPts val="1000"/>
              </a:lnSpc>
              <a:buClrTx/>
              <a:buSzTx/>
              <a:buNone/>
              <a:tabLst>
                <a:tab pos="406400" algn="l"/>
                <a:tab pos="457200" algn="l"/>
              </a:tabLst>
              <a:defRPr/>
            </a:pPr>
            <a:endParaRPr lang="zh-CN" altLang="en-US" sz="3798" dirty="0">
              <a:solidFill>
                <a:srgbClr val="FFFFFF"/>
              </a:solidFill>
              <a:latin typeface="Times New Roman"/>
            </a:endParaRPr>
          </a:p>
          <a:p>
            <a:pPr marL="0" marR="0" lvl="0" indent="0" defTabSz="914400" eaLnBrk="1" fontAlgn="auto" latinLnBrk="0" hangingPunct="1">
              <a:lnSpc>
                <a:spcPts val="1000"/>
              </a:lnSpc>
              <a:buClrTx/>
              <a:buSzTx/>
              <a:buNone/>
              <a:tabLst>
                <a:tab pos="406400" algn="l"/>
                <a:tab pos="457200" algn="l"/>
              </a:tabLst>
              <a:defRPr/>
            </a:pPr>
            <a:endParaRPr lang="zh-CN" altLang="en-US" sz="3798" dirty="0">
              <a:solidFill>
                <a:srgbClr val="FFFFFF"/>
              </a:solidFill>
              <a:latin typeface="Times New Roman"/>
            </a:endParaRPr>
          </a:p>
          <a:p>
            <a:pPr marL="0" marR="0" lvl="0" indent="0" defTabSz="914400" eaLnBrk="1" fontAlgn="auto" latinLnBrk="0" hangingPunct="1">
              <a:lnSpc>
                <a:spcPts val="1000"/>
              </a:lnSpc>
              <a:buClrTx/>
              <a:buSzTx/>
              <a:buNone/>
              <a:tabLst>
                <a:tab pos="406400" algn="l"/>
                <a:tab pos="457200" algn="l"/>
              </a:tabLst>
              <a:defRPr/>
            </a:pPr>
            <a:endParaRPr lang="zh-CN" altLang="en-US" sz="3798" dirty="0">
              <a:solidFill>
                <a:srgbClr val="FFFFFF"/>
              </a:solidFill>
              <a:latin typeface="Times New Roman"/>
            </a:endParaRPr>
          </a:p>
          <a:p>
            <a:pPr marL="0" marR="0" lvl="0" indent="0" defTabSz="914400" eaLnBrk="1" fontAlgn="auto" latinLnBrk="0" hangingPunct="1">
              <a:lnSpc>
                <a:spcPts val="1000"/>
              </a:lnSpc>
              <a:buClrTx/>
              <a:buSzTx/>
              <a:buNone/>
              <a:tabLst>
                <a:tab pos="406400" algn="l"/>
                <a:tab pos="457200" algn="l"/>
              </a:tabLst>
              <a:defRPr/>
            </a:pPr>
            <a:endParaRPr lang="zh-CN" altLang="en-US" sz="3798" dirty="0">
              <a:solidFill>
                <a:srgbClr val="FFFFFF"/>
              </a:solidFill>
              <a:latin typeface="Times New Roman"/>
            </a:endParaRPr>
          </a:p>
          <a:p>
            <a:pPr marL="0" marR="0" lvl="0" indent="0" defTabSz="914400" eaLnBrk="1" fontAlgn="auto" latinLnBrk="0" hangingPunct="1">
              <a:lnSpc>
                <a:spcPts val="2620"/>
              </a:lnSpc>
              <a:buClrTx/>
              <a:buSzTx/>
              <a:buNone/>
              <a:tabLst>
                <a:tab pos="406400" algn="l"/>
                <a:tab pos="457200" algn="l"/>
              </a:tabLst>
              <a:defRPr/>
            </a:pPr>
            <a:r>
              <a:rPr lang="zh-CN" altLang="en-US" dirty="0">
                <a:solidFill>
                  <a:srgbClr val="000000"/>
                </a:solidFill>
                <a:latin typeface="Times New Roman"/>
              </a:rPr>
              <a:t>管理層的管理理念和經營風格通常對公司有重大影響。這些雖然是無形的，但是正面或</a:t>
            </a:r>
          </a:p>
          <a:p>
            <a:pPr marL="0" marR="0" lvl="0" indent="0" defTabSz="914400" eaLnBrk="1" fontAlgn="auto" latinLnBrk="0" hangingPunct="1">
              <a:lnSpc>
                <a:spcPts val="2046"/>
              </a:lnSpc>
              <a:buClrTx/>
              <a:buSzTx/>
              <a:buNone/>
              <a:tabLst>
                <a:tab pos="406400" algn="l"/>
                <a:tab pos="457200" algn="l"/>
              </a:tabLst>
              <a:defRPr/>
            </a:pPr>
            <a:r>
              <a:rPr lang="zh-CN" altLang="en-US" dirty="0">
                <a:solidFill>
                  <a:srgbClr val="000000"/>
                </a:solidFill>
                <a:latin typeface="Times New Roman"/>
              </a:rPr>
              <a:t>負面影響的跡象是可以觀察到的。</a:t>
            </a:r>
          </a:p>
          <a:p>
            <a:pPr marL="0" marR="0" lvl="0" indent="0" defTabSz="914400" eaLnBrk="1" fontAlgn="auto" latinLnBrk="0" hangingPunct="1">
              <a:lnSpc>
                <a:spcPts val="1000"/>
              </a:lnSpc>
              <a:buClrTx/>
              <a:buSzTx/>
              <a:buNone/>
              <a:tabLst>
                <a:tab pos="406400" algn="l"/>
                <a:tab pos="457200" algn="l"/>
              </a:tabLst>
              <a:defRPr/>
            </a:pPr>
            <a:endParaRPr lang="zh-CN" altLang="en-US" dirty="0">
              <a:solidFill>
                <a:srgbClr val="000000"/>
              </a:solidFill>
              <a:latin typeface="Times New Roman"/>
            </a:endParaRPr>
          </a:p>
          <a:p>
            <a:pPr marL="0" marR="0" lvl="0" indent="0" defTabSz="914400" eaLnBrk="1" fontAlgn="auto" latinLnBrk="0" hangingPunct="1">
              <a:lnSpc>
                <a:spcPts val="1000"/>
              </a:lnSpc>
              <a:buClrTx/>
              <a:buSzTx/>
              <a:buNone/>
              <a:tabLst>
                <a:tab pos="406400" algn="l"/>
                <a:tab pos="457200" algn="l"/>
              </a:tabLst>
              <a:defRPr/>
            </a:pPr>
            <a:endParaRPr lang="zh-CN" altLang="en-US" dirty="0">
              <a:solidFill>
                <a:srgbClr val="000000"/>
              </a:solidFill>
              <a:latin typeface="Times New Roman"/>
            </a:endParaRPr>
          </a:p>
          <a:p>
            <a:pPr marL="0" marR="0" lvl="0" indent="0" defTabSz="914400" eaLnBrk="1" fontAlgn="auto" latinLnBrk="0" hangingPunct="1">
              <a:lnSpc>
                <a:spcPts val="1000"/>
              </a:lnSpc>
              <a:buClrTx/>
              <a:buSzTx/>
              <a:buNone/>
              <a:tabLst>
                <a:tab pos="406400" algn="l"/>
                <a:tab pos="457200" algn="l"/>
              </a:tabLst>
              <a:defRPr/>
            </a:pPr>
            <a:endParaRPr lang="zh-CN" altLang="en-US" dirty="0">
              <a:solidFill>
                <a:srgbClr val="000000"/>
              </a:solidFill>
              <a:latin typeface="Times New Roman"/>
            </a:endParaRPr>
          </a:p>
          <a:p>
            <a:pPr marL="0" marR="0" lvl="0" indent="0" defTabSz="914400" eaLnBrk="1" fontAlgn="auto" latinLnBrk="0" hangingPunct="1">
              <a:lnSpc>
                <a:spcPts val="1926"/>
              </a:lnSpc>
              <a:buClrTx/>
              <a:buSzTx/>
              <a:buNone/>
              <a:tabLst>
                <a:tab pos="406400" algn="l"/>
                <a:tab pos="457200" algn="l"/>
              </a:tabLst>
              <a:defRPr/>
            </a:pPr>
            <a:r>
              <a:rPr lang="zh-CN" altLang="en-US" dirty="0">
                <a:solidFill>
                  <a:srgbClr val="000000"/>
                </a:solidFill>
                <a:latin typeface="Times New Roman"/>
              </a:rPr>
              <a:t>		接受的業務風險的性質，例如：管理層是否經常介入特</a:t>
            </a:r>
          </a:p>
          <a:p>
            <a:pPr marL="0" marR="0" lvl="0" indent="0" defTabSz="914400" eaLnBrk="1" fontAlgn="auto" latinLnBrk="0" hangingPunct="1">
              <a:lnSpc>
                <a:spcPts val="2046"/>
              </a:lnSpc>
              <a:buClrTx/>
              <a:buSzTx/>
              <a:buNone/>
              <a:tabLst>
                <a:tab pos="406400" algn="l"/>
                <a:tab pos="457200" algn="l"/>
              </a:tabLst>
              <a:defRPr/>
            </a:pPr>
            <a:r>
              <a:rPr lang="zh-CN" altLang="en-US" dirty="0">
                <a:solidFill>
                  <a:srgbClr val="000000"/>
                </a:solidFill>
                <a:latin typeface="Times New Roman"/>
              </a:rPr>
              <a:t>		別高風險的業務，還是在接受風險方面非常保守。</a:t>
            </a:r>
          </a:p>
          <a:p>
            <a:pPr marL="0" marR="0" lvl="0" indent="0" defTabSz="914400" eaLnBrk="1" fontAlgn="auto" latinLnBrk="0" hangingPunct="1">
              <a:lnSpc>
                <a:spcPts val="2280"/>
              </a:lnSpc>
              <a:buClrTx/>
              <a:buSzTx/>
              <a:buNone/>
              <a:tabLst>
                <a:tab pos="406400" algn="l"/>
                <a:tab pos="457200" algn="l"/>
              </a:tabLst>
              <a:defRPr/>
            </a:pPr>
            <a:r>
              <a:rPr lang="zh-CN" altLang="en-US" dirty="0">
                <a:solidFill>
                  <a:srgbClr val="000000"/>
                </a:solidFill>
                <a:latin typeface="Times New Roman"/>
              </a:rPr>
              <a:t>		在關鍵職能部門的人員流動率，例如：經營、會計和數</a:t>
            </a:r>
          </a:p>
          <a:p>
            <a:pPr marL="0" marR="0" lvl="0" indent="0" defTabSz="914400" eaLnBrk="1" fontAlgn="auto" latinLnBrk="0" hangingPunct="1">
              <a:lnSpc>
                <a:spcPts val="2160"/>
              </a:lnSpc>
              <a:buClrTx/>
              <a:buSzTx/>
              <a:buNone/>
              <a:tabLst>
                <a:tab pos="406400" algn="l"/>
                <a:tab pos="457200" algn="l"/>
              </a:tabLst>
              <a:defRPr/>
            </a:pPr>
            <a:r>
              <a:rPr lang="zh-CN" altLang="en-US" dirty="0">
                <a:solidFill>
                  <a:srgbClr val="000000"/>
                </a:solidFill>
                <a:latin typeface="Times New Roman"/>
              </a:rPr>
              <a:t>		據處理部門等。</a:t>
            </a:r>
          </a:p>
          <a:p>
            <a:pPr marL="0" marR="0" lvl="0" indent="0" defTabSz="914400" eaLnBrk="1" fontAlgn="auto" latinLnBrk="0" hangingPunct="1">
              <a:lnSpc>
                <a:spcPts val="2166"/>
              </a:lnSpc>
              <a:buClrTx/>
              <a:buSzTx/>
              <a:buNone/>
              <a:tabLst>
                <a:tab pos="406400" algn="l"/>
                <a:tab pos="457200" algn="l"/>
              </a:tabLst>
              <a:defRPr/>
            </a:pPr>
            <a:r>
              <a:rPr lang="zh-CN" altLang="en-US" dirty="0">
                <a:solidFill>
                  <a:srgbClr val="000000"/>
                </a:solidFill>
                <a:latin typeface="Times New Roman"/>
              </a:rPr>
              <a:t>		管理層對資料處理和會計職能的態度，以及對財務報告</a:t>
            </a:r>
          </a:p>
        </p:txBody>
      </p:sp>
      <p:sp>
        <p:nvSpPr>
          <p:cNvPr id="15" name="TextBox 14"/>
          <p:cNvSpPr txBox="1"/>
          <p:nvPr/>
        </p:nvSpPr>
        <p:spPr>
          <a:xfrm>
            <a:off x="431679" y="4341332"/>
            <a:ext cx="174728" cy="224420"/>
          </a:xfrm>
          <a:prstGeom prst="rect">
            <a:avLst/>
          </a:prstGeom>
          <a:noFill/>
        </p:spPr>
        <p:txBody>
          <a:bodyPr vert="horz" wrap="none" lIns="0" tIns="0" rIns="0" bIns="0" rtlCol="0">
            <a:spAutoFit/>
          </a:bodyPr>
          <a:lstStyle/>
          <a:p>
            <a:pPr>
              <a:lnSpc>
                <a:spcPts val="1665"/>
              </a:lnSpc>
            </a:pPr>
            <a:r>
              <a:rPr lang="en-US" altLang="zh-CN" dirty="0">
                <a:solidFill>
                  <a:srgbClr val="000000"/>
                </a:solidFill>
                <a:latin typeface="Times New Roman"/>
              </a:rPr>
              <a:t>4.</a:t>
            </a:r>
            <a:endParaRPr lang="zh-CN" altLang="en-US" dirty="0">
              <a:solidFill>
                <a:srgbClr val="000000"/>
              </a:solidFill>
              <a:latin typeface="Times New Roman"/>
            </a:endParaRPr>
          </a:p>
        </p:txBody>
      </p:sp>
      <p:sp>
        <p:nvSpPr>
          <p:cNvPr id="16" name="TextBox 15"/>
          <p:cNvSpPr txBox="1"/>
          <p:nvPr/>
        </p:nvSpPr>
        <p:spPr>
          <a:xfrm>
            <a:off x="888874" y="4034025"/>
            <a:ext cx="5539978" cy="512961"/>
          </a:xfrm>
          <a:prstGeom prst="rect">
            <a:avLst/>
          </a:prstGeom>
          <a:noFill/>
        </p:spPr>
        <p:txBody>
          <a:bodyPr vert="horz" wrap="none" lIns="0" tIns="0" rIns="0" bIns="0" rtlCol="0">
            <a:spAutoFit/>
          </a:bodyPr>
          <a:lstStyle/>
          <a:p>
            <a:pPr>
              <a:lnSpc>
                <a:spcPts val="1798"/>
              </a:lnSpc>
            </a:pPr>
            <a:r>
              <a:rPr lang="zh-CN" altLang="en-US" dirty="0">
                <a:solidFill>
                  <a:srgbClr val="000000"/>
                </a:solidFill>
                <a:latin typeface="Times New Roman"/>
              </a:rPr>
              <a:t>和資產安全可靠性的關心。</a:t>
            </a:r>
          </a:p>
          <a:p>
            <a:pPr>
              <a:lnSpc>
                <a:spcPts val="2166"/>
              </a:lnSpc>
            </a:pPr>
            <a:r>
              <a:rPr lang="zh-CN" altLang="en-US" dirty="0">
                <a:solidFill>
                  <a:srgbClr val="000000"/>
                </a:solidFill>
                <a:latin typeface="Times New Roman"/>
              </a:rPr>
              <a:t>高級管理層和業務部門管理層相互交流的頻率，特別是</a:t>
            </a:r>
          </a:p>
        </p:txBody>
      </p:sp>
      <p:sp>
        <p:nvSpPr>
          <p:cNvPr id="17" name="TextBox 16"/>
          <p:cNvSpPr txBox="1"/>
          <p:nvPr/>
        </p:nvSpPr>
        <p:spPr>
          <a:xfrm>
            <a:off x="7387977" y="4312336"/>
            <a:ext cx="128240" cy="128240"/>
          </a:xfrm>
          <a:prstGeom prst="rect">
            <a:avLst/>
          </a:prstGeom>
          <a:noFill/>
        </p:spPr>
        <p:txBody>
          <a:bodyPr vert="horz" wrap="none" lIns="0" tIns="0" rIns="0" bIns="0" rtlCol="0">
            <a:spAutoFit/>
          </a:bodyPr>
          <a:lstStyle/>
          <a:p>
            <a:pPr>
              <a:lnSpc>
                <a:spcPts val="1001"/>
              </a:lnSpc>
            </a:pPr>
            <a:r>
              <a:rPr lang="zh-CN" altLang="en-US" sz="1002" dirty="0">
                <a:solidFill>
                  <a:srgbClr val="FFFFFF"/>
                </a:solidFill>
                <a:latin typeface="Times New Roman"/>
              </a:rPr>
              <a:t>營</a:t>
            </a:r>
          </a:p>
        </p:txBody>
      </p:sp>
      <p:sp>
        <p:nvSpPr>
          <p:cNvPr id="18" name="TextBox 17"/>
          <p:cNvSpPr txBox="1"/>
          <p:nvPr/>
        </p:nvSpPr>
        <p:spPr>
          <a:xfrm>
            <a:off x="7478660" y="4223182"/>
            <a:ext cx="128240" cy="128240"/>
          </a:xfrm>
          <a:prstGeom prst="rect">
            <a:avLst/>
          </a:prstGeom>
          <a:noFill/>
        </p:spPr>
        <p:txBody>
          <a:bodyPr vert="horz" wrap="none" lIns="0" tIns="0" rIns="0" bIns="0" rtlCol="0">
            <a:spAutoFit/>
          </a:bodyPr>
          <a:lstStyle/>
          <a:p>
            <a:pPr>
              <a:lnSpc>
                <a:spcPts val="1001"/>
              </a:lnSpc>
            </a:pPr>
            <a:r>
              <a:rPr lang="zh-CN" altLang="en-US" sz="1002" dirty="0">
                <a:solidFill>
                  <a:srgbClr val="FFFFFF"/>
                </a:solidFill>
                <a:latin typeface="Times New Roman"/>
              </a:rPr>
              <a:t>運</a:t>
            </a:r>
          </a:p>
        </p:txBody>
      </p:sp>
      <p:sp>
        <p:nvSpPr>
          <p:cNvPr id="19" name="TextBox 18"/>
          <p:cNvSpPr txBox="1"/>
          <p:nvPr/>
        </p:nvSpPr>
        <p:spPr>
          <a:xfrm>
            <a:off x="431679" y="4889972"/>
            <a:ext cx="174728" cy="224420"/>
          </a:xfrm>
          <a:prstGeom prst="rect">
            <a:avLst/>
          </a:prstGeom>
          <a:noFill/>
        </p:spPr>
        <p:txBody>
          <a:bodyPr vert="horz" wrap="none" lIns="0" tIns="0" rIns="0" bIns="0" rtlCol="0">
            <a:spAutoFit/>
          </a:bodyPr>
          <a:lstStyle/>
          <a:p>
            <a:pPr>
              <a:lnSpc>
                <a:spcPts val="1665"/>
              </a:lnSpc>
            </a:pPr>
            <a:r>
              <a:rPr lang="en-US" altLang="zh-CN" dirty="0">
                <a:solidFill>
                  <a:srgbClr val="000000"/>
                </a:solidFill>
                <a:latin typeface="Times New Roman"/>
              </a:rPr>
              <a:t>5.</a:t>
            </a:r>
            <a:endParaRPr lang="zh-CN" altLang="en-US" dirty="0">
              <a:solidFill>
                <a:srgbClr val="000000"/>
              </a:solidFill>
              <a:latin typeface="Times New Roman"/>
            </a:endParaRPr>
          </a:p>
        </p:txBody>
      </p:sp>
      <p:sp>
        <p:nvSpPr>
          <p:cNvPr id="20" name="TextBox 19"/>
          <p:cNvSpPr txBox="1"/>
          <p:nvPr/>
        </p:nvSpPr>
        <p:spPr>
          <a:xfrm>
            <a:off x="888874" y="4583419"/>
            <a:ext cx="5539978" cy="1359346"/>
          </a:xfrm>
          <a:prstGeom prst="rect">
            <a:avLst/>
          </a:prstGeom>
          <a:noFill/>
        </p:spPr>
        <p:txBody>
          <a:bodyPr vert="horz" wrap="none" lIns="0" tIns="0" rIns="0" bIns="0" rtlCol="0">
            <a:spAutoFit/>
          </a:bodyPr>
          <a:lstStyle/>
          <a:p>
            <a:pPr>
              <a:lnSpc>
                <a:spcPts val="1798"/>
              </a:lnSpc>
            </a:pPr>
            <a:r>
              <a:rPr lang="zh-CN" altLang="en-US" dirty="0">
                <a:solidFill>
                  <a:srgbClr val="000000"/>
                </a:solidFill>
                <a:latin typeface="Times New Roman"/>
              </a:rPr>
              <a:t>雙方處於不同的地域時。</a:t>
            </a:r>
          </a:p>
          <a:p>
            <a:pPr>
              <a:lnSpc>
                <a:spcPts val="2160"/>
              </a:lnSpc>
            </a:pPr>
            <a:r>
              <a:rPr lang="zh-CN" altLang="en-US" dirty="0">
                <a:solidFill>
                  <a:srgbClr val="000000"/>
                </a:solidFill>
                <a:latin typeface="Times New Roman"/>
              </a:rPr>
              <a:t>對財務報告的態度和行動，包括對採取的會計處理的爭</a:t>
            </a:r>
          </a:p>
          <a:p>
            <a:pPr>
              <a:lnSpc>
                <a:spcPts val="2166"/>
              </a:lnSpc>
            </a:pPr>
            <a:r>
              <a:rPr lang="zh-CN" altLang="en-US" dirty="0">
                <a:solidFill>
                  <a:srgbClr val="000000"/>
                </a:solidFill>
                <a:latin typeface="Times New Roman"/>
              </a:rPr>
              <a:t>議（例如：採取保守的還是激進的會計政策；會計原則</a:t>
            </a:r>
          </a:p>
          <a:p>
            <a:pPr>
              <a:lnSpc>
                <a:spcPts val="2160"/>
              </a:lnSpc>
            </a:pPr>
            <a:r>
              <a:rPr lang="zh-CN" altLang="en-US" dirty="0">
                <a:solidFill>
                  <a:srgbClr val="000000"/>
                </a:solidFill>
                <a:latin typeface="Times New Roman"/>
              </a:rPr>
              <a:t>是否被濫用了；關鍵的財務資訊沒有被披露；或會計記</a:t>
            </a:r>
          </a:p>
          <a:p>
            <a:pPr>
              <a:lnSpc>
                <a:spcPts val="2166"/>
              </a:lnSpc>
            </a:pPr>
            <a:r>
              <a:rPr lang="zh-CN" altLang="en-US" dirty="0">
                <a:solidFill>
                  <a:srgbClr val="000000"/>
                </a:solidFill>
                <a:latin typeface="Times New Roman"/>
              </a:rPr>
              <a:t>錄被粉飾或篡改了）。</a:t>
            </a:r>
          </a:p>
        </p:txBody>
      </p:sp>
      <p:sp>
        <p:nvSpPr>
          <p:cNvPr id="21" name="TextBox 20"/>
          <p:cNvSpPr txBox="1"/>
          <p:nvPr/>
        </p:nvSpPr>
        <p:spPr>
          <a:xfrm>
            <a:off x="7392550" y="4732182"/>
            <a:ext cx="641201" cy="1115690"/>
          </a:xfrm>
          <a:prstGeom prst="rect">
            <a:avLst/>
          </a:prstGeom>
          <a:noFill/>
        </p:spPr>
        <p:txBody>
          <a:bodyPr vert="horz" wrap="none" lIns="0" tIns="0" rIns="0" bIns="0" rtlCol="0">
            <a:spAutoFit/>
          </a:bodyPr>
          <a:lstStyle/>
          <a:p>
            <a:pPr marL="0" marR="0" lvl="0" indent="0" defTabSz="914400" eaLnBrk="1" fontAlgn="auto" latinLnBrk="0" hangingPunct="1">
              <a:lnSpc>
                <a:spcPts val="1001"/>
              </a:lnSpc>
              <a:buClrTx/>
              <a:buSzTx/>
              <a:buNone/>
              <a:tabLst>
                <a:tab pos="63500" algn="l"/>
                <a:tab pos="190500" algn="l"/>
              </a:tabLst>
              <a:defRPr/>
            </a:pPr>
            <a:r>
              <a:rPr lang="zh-CN" altLang="en-US" dirty="0"/>
              <a:t>		</a:t>
            </a:r>
            <a:r>
              <a:rPr lang="zh-CN" altLang="en-US" sz="1002" dirty="0">
                <a:solidFill>
                  <a:srgbClr val="FFFFFF"/>
                </a:solidFill>
                <a:latin typeface="Times New Roman"/>
              </a:rPr>
              <a:t>監控</a:t>
            </a:r>
          </a:p>
          <a:p>
            <a:pPr marL="0" marR="0" lvl="0" indent="0" defTabSz="914400" eaLnBrk="1" fontAlgn="auto" latinLnBrk="0" hangingPunct="1">
              <a:lnSpc>
                <a:spcPts val="1000"/>
              </a:lnSpc>
              <a:buClrTx/>
              <a:buSzTx/>
              <a:buNone/>
              <a:tabLst>
                <a:tab pos="63500" algn="l"/>
                <a:tab pos="190500" algn="l"/>
              </a:tabLst>
              <a:defRPr/>
            </a:pPr>
            <a:endParaRPr lang="zh-CN" altLang="en-US" sz="1002" dirty="0">
              <a:solidFill>
                <a:srgbClr val="FFFFFF"/>
              </a:solidFill>
              <a:latin typeface="Times New Roman"/>
            </a:endParaRPr>
          </a:p>
          <a:p>
            <a:pPr marL="0" marR="0" lvl="0" indent="0" defTabSz="914400" eaLnBrk="1" fontAlgn="auto" latinLnBrk="0" hangingPunct="1">
              <a:lnSpc>
                <a:spcPts val="1550"/>
              </a:lnSpc>
              <a:buClrTx/>
              <a:buSzTx/>
              <a:buNone/>
              <a:tabLst>
                <a:tab pos="63500" algn="l"/>
                <a:tab pos="190500" algn="l"/>
              </a:tabLst>
              <a:defRPr/>
            </a:pPr>
            <a:r>
              <a:rPr lang="zh-CN" altLang="en-US" sz="1002" dirty="0">
                <a:solidFill>
                  <a:srgbClr val="FFFFFF"/>
                </a:solidFill>
                <a:latin typeface="Times New Roman"/>
              </a:rPr>
              <a:t>資訊和溝通</a:t>
            </a:r>
          </a:p>
          <a:p>
            <a:pPr marL="0" marR="0" lvl="0" indent="0" defTabSz="914400" eaLnBrk="1" fontAlgn="auto" latinLnBrk="0" hangingPunct="1">
              <a:lnSpc>
                <a:spcPts val="1000"/>
              </a:lnSpc>
              <a:buClrTx/>
              <a:buSzTx/>
              <a:buNone/>
              <a:tabLst>
                <a:tab pos="63500" algn="l"/>
                <a:tab pos="190500" algn="l"/>
              </a:tabLst>
              <a:defRPr/>
            </a:pPr>
            <a:endParaRPr lang="zh-CN" altLang="en-US" sz="1002" dirty="0">
              <a:solidFill>
                <a:srgbClr val="FFFFFF"/>
              </a:solidFill>
              <a:latin typeface="Times New Roman"/>
            </a:endParaRPr>
          </a:p>
          <a:p>
            <a:pPr marL="0" marR="0" lvl="0" indent="0" defTabSz="914400" eaLnBrk="1" fontAlgn="auto" latinLnBrk="0" hangingPunct="1">
              <a:lnSpc>
                <a:spcPts val="1466"/>
              </a:lnSpc>
              <a:buClrTx/>
              <a:buSzTx/>
              <a:buNone/>
              <a:tabLst>
                <a:tab pos="63500" algn="l"/>
                <a:tab pos="190500" algn="l"/>
              </a:tabLst>
              <a:defRPr/>
            </a:pPr>
            <a:r>
              <a:rPr lang="zh-CN" altLang="en-US" sz="1002" dirty="0">
                <a:solidFill>
                  <a:srgbClr val="FFFFFF"/>
                </a:solidFill>
                <a:latin typeface="Times New Roman"/>
              </a:rPr>
              <a:t>	控制活動</a:t>
            </a:r>
          </a:p>
          <a:p>
            <a:pPr marL="0" marR="0" lvl="0" indent="0" defTabSz="914400" eaLnBrk="1" fontAlgn="auto" latinLnBrk="0" hangingPunct="1">
              <a:lnSpc>
                <a:spcPts val="1000"/>
              </a:lnSpc>
              <a:buClrTx/>
              <a:buSzTx/>
              <a:buNone/>
              <a:tabLst>
                <a:tab pos="63500" algn="l"/>
                <a:tab pos="190500" algn="l"/>
              </a:tabLst>
              <a:defRPr/>
            </a:pPr>
            <a:endParaRPr lang="zh-CN" altLang="en-US" sz="1002" dirty="0">
              <a:solidFill>
                <a:srgbClr val="FFFFFF"/>
              </a:solidFill>
              <a:latin typeface="Times New Roman"/>
            </a:endParaRPr>
          </a:p>
          <a:p>
            <a:pPr marL="0" marR="0" lvl="0" indent="0" defTabSz="914400" eaLnBrk="1" fontAlgn="auto" latinLnBrk="0" hangingPunct="1">
              <a:lnSpc>
                <a:spcPts val="1646"/>
              </a:lnSpc>
              <a:buClrTx/>
              <a:buSzTx/>
              <a:buNone/>
              <a:tabLst>
                <a:tab pos="63500" algn="l"/>
                <a:tab pos="190500" algn="l"/>
              </a:tabLst>
              <a:defRPr/>
            </a:pPr>
            <a:r>
              <a:rPr lang="zh-CN" altLang="en-US" sz="1002" dirty="0">
                <a:solidFill>
                  <a:srgbClr val="FFFFFF"/>
                </a:solidFill>
                <a:latin typeface="Times New Roman"/>
              </a:rPr>
              <a:t>	風險評估</a:t>
            </a:r>
          </a:p>
        </p:txBody>
      </p:sp>
      <p:sp>
        <p:nvSpPr>
          <p:cNvPr id="22" name="TextBox 21"/>
          <p:cNvSpPr txBox="1"/>
          <p:nvPr/>
        </p:nvSpPr>
        <p:spPr>
          <a:xfrm>
            <a:off x="8750433" y="5104819"/>
            <a:ext cx="128240" cy="743793"/>
          </a:xfrm>
          <a:prstGeom prst="rect">
            <a:avLst/>
          </a:prstGeom>
          <a:noFill/>
        </p:spPr>
        <p:txBody>
          <a:bodyPr vert="horz" wrap="none" lIns="0" tIns="0" rIns="0" bIns="0" rtlCol="0">
            <a:spAutoFit/>
          </a:bodyPr>
          <a:lstStyle/>
          <a:p>
            <a:pPr>
              <a:lnSpc>
                <a:spcPts val="1001"/>
              </a:lnSpc>
            </a:pPr>
            <a:r>
              <a:rPr lang="zh-CN" altLang="en-US" sz="1002" dirty="0">
                <a:solidFill>
                  <a:srgbClr val="FFFFFF"/>
                </a:solidFill>
                <a:latin typeface="Times New Roman"/>
              </a:rPr>
              <a:t>業</a:t>
            </a:r>
          </a:p>
          <a:p>
            <a:pPr>
              <a:lnSpc>
                <a:spcPts val="1200"/>
              </a:lnSpc>
            </a:pPr>
            <a:r>
              <a:rPr lang="zh-CN" altLang="en-US" sz="1002" dirty="0">
                <a:solidFill>
                  <a:srgbClr val="FFFFFF"/>
                </a:solidFill>
                <a:latin typeface="Times New Roman"/>
              </a:rPr>
              <a:t>務</a:t>
            </a:r>
          </a:p>
          <a:p>
            <a:pPr>
              <a:lnSpc>
                <a:spcPts val="1200"/>
              </a:lnSpc>
            </a:pPr>
            <a:r>
              <a:rPr lang="zh-CN" altLang="en-US" sz="1002" dirty="0">
                <a:solidFill>
                  <a:srgbClr val="FFFFFF"/>
                </a:solidFill>
                <a:latin typeface="Times New Roman"/>
              </a:rPr>
              <a:t>單</a:t>
            </a:r>
          </a:p>
          <a:p>
            <a:pPr>
              <a:lnSpc>
                <a:spcPts val="1200"/>
              </a:lnSpc>
            </a:pPr>
            <a:r>
              <a:rPr lang="zh-CN" altLang="en-US" sz="1002" dirty="0">
                <a:solidFill>
                  <a:srgbClr val="FFFFFF"/>
                </a:solidFill>
                <a:latin typeface="Times New Roman"/>
              </a:rPr>
              <a:t>位</a:t>
            </a:r>
          </a:p>
          <a:p>
            <a:pPr>
              <a:lnSpc>
                <a:spcPts val="1193"/>
              </a:lnSpc>
            </a:pPr>
            <a:r>
              <a:rPr lang="en-US" altLang="zh-CN" sz="1002" b="1" dirty="0">
                <a:solidFill>
                  <a:srgbClr val="FFFFFF"/>
                </a:solidFill>
                <a:latin typeface="Times New Roman"/>
              </a:rPr>
              <a:t>A</a:t>
            </a:r>
            <a:endParaRPr lang="zh-CN" altLang="en-US" sz="1002" b="1" dirty="0">
              <a:solidFill>
                <a:srgbClr val="FFFFFF"/>
              </a:solidFill>
              <a:latin typeface="Times New Roman"/>
            </a:endParaRPr>
          </a:p>
        </p:txBody>
      </p:sp>
      <p:sp>
        <p:nvSpPr>
          <p:cNvPr id="23" name="TextBox 22"/>
          <p:cNvSpPr txBox="1"/>
          <p:nvPr/>
        </p:nvSpPr>
        <p:spPr>
          <a:xfrm>
            <a:off x="8921868" y="4643033"/>
            <a:ext cx="474489" cy="1064394"/>
          </a:xfrm>
          <a:prstGeom prst="rect">
            <a:avLst/>
          </a:prstGeom>
          <a:noFill/>
        </p:spPr>
        <p:txBody>
          <a:bodyPr vert="horz" wrap="none" lIns="0" tIns="0" rIns="0" bIns="0" rtlCol="0">
            <a:spAutoFit/>
          </a:bodyPr>
          <a:lstStyle/>
          <a:p>
            <a:pPr marL="0" marR="0" lvl="0" indent="0" defTabSz="914400" eaLnBrk="1" fontAlgn="auto" latinLnBrk="0" hangingPunct="1">
              <a:lnSpc>
                <a:spcPts val="1001"/>
              </a:lnSpc>
              <a:buClrTx/>
              <a:buSzTx/>
              <a:buNone/>
              <a:tabLst>
                <a:tab pos="25400" algn="l"/>
                <a:tab pos="165100" algn="l"/>
                <a:tab pos="342900" algn="l"/>
              </a:tabLst>
              <a:defRPr/>
            </a:pPr>
            <a:r>
              <a:rPr lang="zh-CN" altLang="en-US" dirty="0"/>
              <a:t>			</a:t>
            </a:r>
            <a:r>
              <a:rPr lang="zh-CN" altLang="en-US" sz="1002" dirty="0">
                <a:solidFill>
                  <a:srgbClr val="FFFFFF"/>
                </a:solidFill>
                <a:latin typeface="Times New Roman"/>
              </a:rPr>
              <a:t>活</a:t>
            </a:r>
          </a:p>
          <a:p>
            <a:pPr marL="0" marR="0" lvl="0" indent="0" defTabSz="914400" eaLnBrk="1" fontAlgn="auto" latinLnBrk="0" hangingPunct="1">
              <a:lnSpc>
                <a:spcPts val="1284"/>
              </a:lnSpc>
              <a:buClrTx/>
              <a:buSzTx/>
              <a:buNone/>
              <a:tabLst>
                <a:tab pos="25400" algn="l"/>
                <a:tab pos="165100" algn="l"/>
                <a:tab pos="342900" algn="l"/>
              </a:tabLst>
              <a:defRPr/>
            </a:pPr>
            <a:r>
              <a:rPr lang="zh-CN" altLang="en-US" sz="1002" dirty="0">
                <a:solidFill>
                  <a:srgbClr val="FFFFFF"/>
                </a:solidFill>
                <a:latin typeface="Times New Roman"/>
              </a:rPr>
              <a:t>		活 動</a:t>
            </a:r>
          </a:p>
          <a:p>
            <a:pPr marL="0" marR="0" lvl="0" indent="0" defTabSz="914400" eaLnBrk="1" fontAlgn="auto" latinLnBrk="0" hangingPunct="1">
              <a:lnSpc>
                <a:spcPts val="1200"/>
              </a:lnSpc>
              <a:buClrTx/>
              <a:buSzTx/>
              <a:buNone/>
              <a:tabLst>
                <a:tab pos="25400" algn="l"/>
                <a:tab pos="165100" algn="l"/>
                <a:tab pos="342900" algn="l"/>
              </a:tabLst>
              <a:defRPr/>
            </a:pPr>
            <a:r>
              <a:rPr lang="zh-CN" altLang="en-US" sz="1002" dirty="0">
                <a:solidFill>
                  <a:srgbClr val="FFFFFF"/>
                </a:solidFill>
                <a:latin typeface="Times New Roman"/>
              </a:rPr>
              <a:t>業 動 </a:t>
            </a:r>
            <a:r>
              <a:rPr lang="en-US" altLang="zh-CN" sz="1002" b="1" dirty="0">
                <a:solidFill>
                  <a:srgbClr val="FFFFFF"/>
                </a:solidFill>
                <a:latin typeface="Times New Roman"/>
              </a:rPr>
              <a:t>2</a:t>
            </a:r>
          </a:p>
          <a:p>
            <a:pPr marL="0" marR="0" lvl="0" indent="0" defTabSz="914400" eaLnBrk="1" fontAlgn="auto" latinLnBrk="0" hangingPunct="1">
              <a:lnSpc>
                <a:spcPts val="1193"/>
              </a:lnSpc>
              <a:buClrTx/>
              <a:buSzTx/>
              <a:buNone/>
              <a:tabLst>
                <a:tab pos="25400" algn="l"/>
                <a:tab pos="165100" algn="l"/>
                <a:tab pos="342900" algn="l"/>
              </a:tabLst>
              <a:defRPr/>
            </a:pPr>
            <a:r>
              <a:rPr lang="zh-CN" altLang="en-US" sz="1002" dirty="0">
                <a:solidFill>
                  <a:srgbClr val="FFFFFF"/>
                </a:solidFill>
                <a:latin typeface="Times New Roman"/>
              </a:rPr>
              <a:t>務 </a:t>
            </a:r>
            <a:r>
              <a:rPr lang="en-US" altLang="zh-CN" sz="1002" b="1" dirty="0">
                <a:solidFill>
                  <a:srgbClr val="FFFFFF"/>
                </a:solidFill>
                <a:latin typeface="Times New Roman"/>
              </a:rPr>
              <a:t>1</a:t>
            </a:r>
          </a:p>
          <a:p>
            <a:pPr marL="0" marR="0" lvl="0" indent="0" defTabSz="914400" eaLnBrk="1" fontAlgn="auto" latinLnBrk="0" hangingPunct="1">
              <a:lnSpc>
                <a:spcPts val="1171"/>
              </a:lnSpc>
              <a:buClrTx/>
              <a:buSzTx/>
              <a:buNone/>
              <a:tabLst>
                <a:tab pos="25400" algn="l"/>
                <a:tab pos="165100" algn="l"/>
                <a:tab pos="342900" algn="l"/>
              </a:tabLst>
              <a:defRPr/>
            </a:pPr>
            <a:r>
              <a:rPr lang="zh-CN" altLang="en-US" sz="1002" dirty="0">
                <a:solidFill>
                  <a:srgbClr val="FFFFFF"/>
                </a:solidFill>
                <a:latin typeface="Times New Roman"/>
              </a:rPr>
              <a:t>單</a:t>
            </a:r>
          </a:p>
          <a:p>
            <a:pPr marL="0" marR="0" lvl="0" indent="0" defTabSz="914400" eaLnBrk="1" fontAlgn="auto" latinLnBrk="0" hangingPunct="1">
              <a:lnSpc>
                <a:spcPts val="1200"/>
              </a:lnSpc>
              <a:buClrTx/>
              <a:buSzTx/>
              <a:buNone/>
              <a:tabLst>
                <a:tab pos="25400" algn="l"/>
                <a:tab pos="165100" algn="l"/>
                <a:tab pos="342900" algn="l"/>
              </a:tabLst>
              <a:defRPr/>
            </a:pPr>
            <a:r>
              <a:rPr lang="zh-CN" altLang="en-US" sz="1002" dirty="0">
                <a:solidFill>
                  <a:srgbClr val="FFFFFF"/>
                </a:solidFill>
                <a:latin typeface="Times New Roman"/>
              </a:rPr>
              <a:t>位</a:t>
            </a:r>
          </a:p>
          <a:p>
            <a:pPr marL="0" marR="0" lvl="0" indent="0" defTabSz="914400" eaLnBrk="1" fontAlgn="auto" latinLnBrk="0" hangingPunct="1">
              <a:lnSpc>
                <a:spcPts val="1193"/>
              </a:lnSpc>
              <a:buClrTx/>
              <a:buSzTx/>
              <a:buNone/>
              <a:tabLst>
                <a:tab pos="25400" algn="l"/>
                <a:tab pos="165100" algn="l"/>
                <a:tab pos="342900" algn="l"/>
              </a:tabLst>
              <a:defRPr/>
            </a:pPr>
            <a:r>
              <a:rPr lang="zh-CN" altLang="en-US" sz="1002" dirty="0">
                <a:solidFill>
                  <a:srgbClr val="FFFFFF"/>
                </a:solidFill>
                <a:latin typeface="Times New Roman"/>
              </a:rPr>
              <a:t>	</a:t>
            </a:r>
            <a:r>
              <a:rPr lang="en-US" altLang="zh-CN" sz="1002" b="1" dirty="0">
                <a:solidFill>
                  <a:srgbClr val="FFFFFF"/>
                </a:solidFill>
                <a:latin typeface="Times New Roman"/>
              </a:rPr>
              <a:t>B</a:t>
            </a:r>
            <a:endParaRPr lang="zh-CN" altLang="en-US" sz="1002" b="1" dirty="0">
              <a:solidFill>
                <a:srgbClr val="FFFFFF"/>
              </a:solidFill>
              <a:latin typeface="Times New Roman"/>
            </a:endParaRPr>
          </a:p>
        </p:txBody>
      </p:sp>
      <p:sp>
        <p:nvSpPr>
          <p:cNvPr id="24" name="TextBox 23"/>
          <p:cNvSpPr txBox="1"/>
          <p:nvPr/>
        </p:nvSpPr>
        <p:spPr>
          <a:xfrm>
            <a:off x="7455794" y="6043586"/>
            <a:ext cx="2093522" cy="705321"/>
          </a:xfrm>
          <a:prstGeom prst="rect">
            <a:avLst/>
          </a:prstGeom>
          <a:noFill/>
        </p:spPr>
        <p:txBody>
          <a:bodyPr vert="horz" wrap="none" lIns="0" tIns="0" rIns="0" bIns="0" rtlCol="0">
            <a:spAutoFit/>
          </a:bodyPr>
          <a:lstStyle/>
          <a:p>
            <a:pPr marL="0" marR="0" lvl="0" indent="0" defTabSz="914400" eaLnBrk="1" fontAlgn="auto" latinLnBrk="0" hangingPunct="1">
              <a:lnSpc>
                <a:spcPts val="1001"/>
              </a:lnSpc>
              <a:buClrTx/>
              <a:buSzTx/>
              <a:buNone/>
              <a:tabLst>
                <a:tab pos="609600" algn="l"/>
              </a:tabLst>
              <a:defRPr/>
            </a:pPr>
            <a:r>
              <a:rPr lang="zh-CN" altLang="en-US" sz="1002" dirty="0">
                <a:solidFill>
                  <a:srgbClr val="FFFFFF"/>
                </a:solidFill>
                <a:latin typeface="Times New Roman"/>
              </a:rPr>
              <a:t>控制環境</a:t>
            </a:r>
          </a:p>
          <a:p>
            <a:pPr marL="0" marR="0" lvl="0" indent="0" defTabSz="914400" eaLnBrk="1" fontAlgn="auto" latinLnBrk="0" hangingPunct="1">
              <a:lnSpc>
                <a:spcPts val="2704"/>
              </a:lnSpc>
              <a:buClrTx/>
              <a:buSzTx/>
              <a:buNone/>
              <a:tabLst>
                <a:tab pos="609600" algn="l"/>
              </a:tabLst>
              <a:defRPr/>
            </a:pPr>
            <a:r>
              <a:rPr lang="zh-CN" altLang="en-US" sz="1002" dirty="0">
                <a:solidFill>
                  <a:srgbClr val="FFFFFF"/>
                </a:solidFill>
                <a:latin typeface="Times New Roman"/>
              </a:rPr>
              <a:t>	</a:t>
            </a:r>
            <a:r>
              <a:rPr lang="en-US" altLang="zh-CN" dirty="0" err="1">
                <a:solidFill>
                  <a:srgbClr val="000000"/>
                </a:solidFill>
                <a:latin typeface="Times New Roman"/>
              </a:rPr>
              <a:t>Pwc</a:t>
            </a:r>
            <a:endParaRPr lang="en-US" altLang="zh-CN" dirty="0">
              <a:solidFill>
                <a:srgbClr val="000000"/>
              </a:solidFill>
              <a:latin typeface="Times New Roman"/>
            </a:endParaRPr>
          </a:p>
          <a:p>
            <a:pPr marL="0" marR="0" lvl="0" indent="0" defTabSz="914400" eaLnBrk="1" fontAlgn="auto" latinLnBrk="0" hangingPunct="1">
              <a:lnSpc>
                <a:spcPts val="1779"/>
              </a:lnSpc>
              <a:buClrTx/>
              <a:buSzTx/>
              <a:buNone/>
              <a:tabLst>
                <a:tab pos="609600" algn="l"/>
              </a:tabLst>
              <a:defRPr/>
            </a:pPr>
            <a:r>
              <a:rPr lang="en-US" altLang="zh-CN" dirty="0">
                <a:solidFill>
                  <a:srgbClr val="000000"/>
                </a:solidFill>
                <a:latin typeface="Times New Roman"/>
              </a:rPr>
              <a:t>	</a:t>
            </a:r>
            <a:r>
              <a:rPr lang="zh-CN" altLang="en-US" sz="1478" dirty="0">
                <a:solidFill>
                  <a:srgbClr val="000000"/>
                </a:solidFill>
                <a:latin typeface="Times New Roman"/>
              </a:rPr>
              <a:t>普     華     永     道</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myslide29">
    <p:spTree>
      <p:nvGrpSpPr>
        <p:cNvPr id="1" name=""/>
        <p:cNvGrpSpPr/>
        <p:nvPr/>
      </p:nvGrpSpPr>
      <p:grpSpPr>
        <a:xfrm>
          <a:off x="0" y="0"/>
          <a:ext cx="0" cy="0"/>
          <a:chOff x="0" y="0"/>
          <a:chExt cx="0" cy="0"/>
        </a:xfrm>
      </p:grpSpPr>
      <p:pic>
        <p:nvPicPr>
          <p:cNvPr id="2" name="图片 1" descr="ws_1BB.tmp"/>
          <p:cNvPicPr>
            <a:picLocks/>
          </p:cNvPicPr>
          <p:nvPr/>
        </p:nvPicPr>
        <p:blipFill>
          <a:blip r:embed="rId2"/>
          <a:stretch>
            <a:fillRect/>
          </a:stretch>
        </p:blipFill>
        <p:spPr>
          <a:xfrm>
            <a:off x="0" y="0"/>
            <a:ext cx="9880600" cy="6819900"/>
          </a:xfrm>
          <a:prstGeom prst="rect">
            <a:avLst/>
          </a:prstGeom>
        </p:spPr>
      </p:pic>
      <p:sp>
        <p:nvSpPr>
          <p:cNvPr id="3" name="TextBox 2"/>
          <p:cNvSpPr txBox="1"/>
          <p:nvPr/>
        </p:nvSpPr>
        <p:spPr>
          <a:xfrm>
            <a:off x="7873026" y="4394860"/>
            <a:ext cx="128240" cy="98745"/>
          </a:xfrm>
          <a:prstGeom prst="rect">
            <a:avLst/>
          </a:prstGeom>
          <a:noFill/>
        </p:spPr>
        <p:txBody>
          <a:bodyPr vert="horz" wrap="none" lIns="0" tIns="0" rIns="0" bIns="0" rtlCol="0">
            <a:spAutoFit/>
          </a:bodyPr>
          <a:lstStyle/>
          <a:p>
            <a:pPr>
              <a:lnSpc>
                <a:spcPts val="709"/>
              </a:lnSpc>
            </a:pPr>
            <a:r>
              <a:rPr lang="zh-CN" altLang="en-US" sz="1002" dirty="0">
                <a:solidFill>
                  <a:srgbClr val="FFFFFF"/>
                </a:solidFill>
                <a:latin typeface="Times New Roman"/>
              </a:rPr>
              <a:t>財</a:t>
            </a:r>
          </a:p>
        </p:txBody>
      </p:sp>
      <p:sp>
        <p:nvSpPr>
          <p:cNvPr id="4" name="TextBox 3"/>
          <p:cNvSpPr txBox="1"/>
          <p:nvPr/>
        </p:nvSpPr>
        <p:spPr>
          <a:xfrm>
            <a:off x="7962944" y="4304941"/>
            <a:ext cx="128240" cy="98745"/>
          </a:xfrm>
          <a:prstGeom prst="rect">
            <a:avLst/>
          </a:prstGeom>
          <a:noFill/>
        </p:spPr>
        <p:txBody>
          <a:bodyPr vert="horz" wrap="none" lIns="0" tIns="0" rIns="0" bIns="0" rtlCol="0">
            <a:spAutoFit/>
          </a:bodyPr>
          <a:lstStyle/>
          <a:p>
            <a:pPr>
              <a:lnSpc>
                <a:spcPts val="709"/>
              </a:lnSpc>
            </a:pPr>
            <a:r>
              <a:rPr lang="zh-CN" altLang="en-US" sz="1002" dirty="0">
                <a:solidFill>
                  <a:srgbClr val="FFFFFF"/>
                </a:solidFill>
                <a:latin typeface="Times New Roman"/>
              </a:rPr>
              <a:t>務</a:t>
            </a:r>
          </a:p>
        </p:txBody>
      </p:sp>
      <p:sp>
        <p:nvSpPr>
          <p:cNvPr id="5" name="TextBox 4"/>
          <p:cNvSpPr txBox="1"/>
          <p:nvPr/>
        </p:nvSpPr>
        <p:spPr>
          <a:xfrm>
            <a:off x="8052863" y="4215023"/>
            <a:ext cx="128240" cy="98745"/>
          </a:xfrm>
          <a:prstGeom prst="rect">
            <a:avLst/>
          </a:prstGeom>
          <a:noFill/>
        </p:spPr>
        <p:txBody>
          <a:bodyPr vert="horz" wrap="none" lIns="0" tIns="0" rIns="0" bIns="0" rtlCol="0">
            <a:spAutoFit/>
          </a:bodyPr>
          <a:lstStyle/>
          <a:p>
            <a:pPr>
              <a:lnSpc>
                <a:spcPts val="709"/>
              </a:lnSpc>
            </a:pPr>
            <a:r>
              <a:rPr lang="zh-CN" altLang="en-US" sz="1002" dirty="0">
                <a:solidFill>
                  <a:srgbClr val="FFFFFF"/>
                </a:solidFill>
                <a:latin typeface="Times New Roman"/>
              </a:rPr>
              <a:t>報</a:t>
            </a:r>
          </a:p>
        </p:txBody>
      </p:sp>
      <p:sp>
        <p:nvSpPr>
          <p:cNvPr id="6" name="TextBox 5"/>
          <p:cNvSpPr txBox="1"/>
          <p:nvPr/>
        </p:nvSpPr>
        <p:spPr>
          <a:xfrm>
            <a:off x="8142782" y="4125104"/>
            <a:ext cx="128240" cy="98745"/>
          </a:xfrm>
          <a:prstGeom prst="rect">
            <a:avLst/>
          </a:prstGeom>
          <a:noFill/>
        </p:spPr>
        <p:txBody>
          <a:bodyPr vert="horz" wrap="none" lIns="0" tIns="0" rIns="0" bIns="0" rtlCol="0">
            <a:spAutoFit/>
          </a:bodyPr>
          <a:lstStyle/>
          <a:p>
            <a:pPr>
              <a:lnSpc>
                <a:spcPts val="709"/>
              </a:lnSpc>
            </a:pPr>
            <a:r>
              <a:rPr lang="zh-CN" altLang="en-US" sz="1002" dirty="0">
                <a:solidFill>
                  <a:srgbClr val="FFFFFF"/>
                </a:solidFill>
                <a:latin typeface="Times New Roman"/>
              </a:rPr>
              <a:t>告</a:t>
            </a:r>
          </a:p>
        </p:txBody>
      </p:sp>
      <p:sp>
        <p:nvSpPr>
          <p:cNvPr id="7" name="TextBox 6"/>
          <p:cNvSpPr txBox="1"/>
          <p:nvPr/>
        </p:nvSpPr>
        <p:spPr>
          <a:xfrm>
            <a:off x="8540536" y="4349899"/>
            <a:ext cx="128240" cy="98745"/>
          </a:xfrm>
          <a:prstGeom prst="rect">
            <a:avLst/>
          </a:prstGeom>
          <a:noFill/>
        </p:spPr>
        <p:txBody>
          <a:bodyPr vert="horz" wrap="none" lIns="0" tIns="0" rIns="0" bIns="0" rtlCol="0">
            <a:spAutoFit/>
          </a:bodyPr>
          <a:lstStyle/>
          <a:p>
            <a:pPr>
              <a:lnSpc>
                <a:spcPts val="709"/>
              </a:lnSpc>
            </a:pPr>
            <a:r>
              <a:rPr lang="zh-CN" altLang="en-US" sz="1002" dirty="0">
                <a:solidFill>
                  <a:srgbClr val="FFFFFF"/>
                </a:solidFill>
                <a:latin typeface="Times New Roman"/>
              </a:rPr>
              <a:t>合</a:t>
            </a:r>
          </a:p>
        </p:txBody>
      </p:sp>
      <p:sp>
        <p:nvSpPr>
          <p:cNvPr id="8" name="TextBox 7"/>
          <p:cNvSpPr txBox="1"/>
          <p:nvPr/>
        </p:nvSpPr>
        <p:spPr>
          <a:xfrm>
            <a:off x="8630455" y="4259981"/>
            <a:ext cx="128240" cy="98745"/>
          </a:xfrm>
          <a:prstGeom prst="rect">
            <a:avLst/>
          </a:prstGeom>
          <a:noFill/>
        </p:spPr>
        <p:txBody>
          <a:bodyPr vert="horz" wrap="none" lIns="0" tIns="0" rIns="0" bIns="0" rtlCol="0">
            <a:spAutoFit/>
          </a:bodyPr>
          <a:lstStyle/>
          <a:p>
            <a:pPr>
              <a:lnSpc>
                <a:spcPts val="709"/>
              </a:lnSpc>
            </a:pPr>
            <a:r>
              <a:rPr lang="zh-CN" altLang="en-US" sz="1002" dirty="0">
                <a:solidFill>
                  <a:srgbClr val="FFFFFF"/>
                </a:solidFill>
                <a:latin typeface="Times New Roman"/>
              </a:rPr>
              <a:t>規</a:t>
            </a:r>
          </a:p>
        </p:txBody>
      </p:sp>
      <p:sp>
        <p:nvSpPr>
          <p:cNvPr id="9" name="TextBox 8"/>
          <p:cNvSpPr txBox="1"/>
          <p:nvPr/>
        </p:nvSpPr>
        <p:spPr>
          <a:xfrm>
            <a:off x="8720373" y="4170062"/>
            <a:ext cx="128240" cy="98745"/>
          </a:xfrm>
          <a:prstGeom prst="rect">
            <a:avLst/>
          </a:prstGeom>
          <a:noFill/>
        </p:spPr>
        <p:txBody>
          <a:bodyPr vert="horz" wrap="none" lIns="0" tIns="0" rIns="0" bIns="0" rtlCol="0">
            <a:spAutoFit/>
          </a:bodyPr>
          <a:lstStyle/>
          <a:p>
            <a:pPr>
              <a:lnSpc>
                <a:spcPts val="709"/>
              </a:lnSpc>
            </a:pPr>
            <a:r>
              <a:rPr lang="zh-CN" altLang="en-US" sz="1002" dirty="0">
                <a:solidFill>
                  <a:srgbClr val="FFFFFF"/>
                </a:solidFill>
                <a:latin typeface="Times New Roman"/>
              </a:rPr>
              <a:t>性</a:t>
            </a:r>
          </a:p>
        </p:txBody>
      </p:sp>
      <p:sp>
        <p:nvSpPr>
          <p:cNvPr id="10" name="TextBox 9"/>
          <p:cNvSpPr txBox="1"/>
          <p:nvPr/>
        </p:nvSpPr>
        <p:spPr>
          <a:xfrm>
            <a:off x="431672" y="2448509"/>
            <a:ext cx="174728" cy="224420"/>
          </a:xfrm>
          <a:prstGeom prst="rect">
            <a:avLst/>
          </a:prstGeom>
          <a:noFill/>
        </p:spPr>
        <p:txBody>
          <a:bodyPr vert="horz" wrap="none" lIns="0" tIns="0" rIns="0" bIns="0" rtlCol="0">
            <a:spAutoFit/>
          </a:bodyPr>
          <a:lstStyle/>
          <a:p>
            <a:pPr>
              <a:lnSpc>
                <a:spcPts val="1665"/>
              </a:lnSpc>
            </a:pPr>
            <a:r>
              <a:rPr lang="en-US" altLang="zh-CN" dirty="0">
                <a:solidFill>
                  <a:srgbClr val="000000"/>
                </a:solidFill>
                <a:latin typeface="Times New Roman"/>
              </a:rPr>
              <a:t>1.</a:t>
            </a:r>
            <a:endParaRPr lang="zh-CN" altLang="en-US" dirty="0">
              <a:solidFill>
                <a:srgbClr val="000000"/>
              </a:solidFill>
              <a:latin typeface="Times New Roman"/>
            </a:endParaRPr>
          </a:p>
        </p:txBody>
      </p:sp>
      <p:sp>
        <p:nvSpPr>
          <p:cNvPr id="11" name="TextBox 10"/>
          <p:cNvSpPr txBox="1"/>
          <p:nvPr/>
        </p:nvSpPr>
        <p:spPr>
          <a:xfrm>
            <a:off x="431672" y="2983433"/>
            <a:ext cx="174728" cy="224420"/>
          </a:xfrm>
          <a:prstGeom prst="rect">
            <a:avLst/>
          </a:prstGeom>
          <a:noFill/>
        </p:spPr>
        <p:txBody>
          <a:bodyPr vert="horz" wrap="none" lIns="0" tIns="0" rIns="0" bIns="0" rtlCol="0">
            <a:spAutoFit/>
          </a:bodyPr>
          <a:lstStyle/>
          <a:p>
            <a:pPr>
              <a:lnSpc>
                <a:spcPts val="1665"/>
              </a:lnSpc>
            </a:pPr>
            <a:r>
              <a:rPr lang="en-US" altLang="zh-CN" dirty="0">
                <a:solidFill>
                  <a:srgbClr val="000000"/>
                </a:solidFill>
                <a:latin typeface="Times New Roman"/>
              </a:rPr>
              <a:t>2.</a:t>
            </a:r>
            <a:endParaRPr lang="zh-CN" altLang="en-US" dirty="0">
              <a:solidFill>
                <a:srgbClr val="000000"/>
              </a:solidFill>
              <a:latin typeface="Times New Roman"/>
            </a:endParaRPr>
          </a:p>
        </p:txBody>
      </p:sp>
      <p:sp>
        <p:nvSpPr>
          <p:cNvPr id="12" name="TextBox 11"/>
          <p:cNvSpPr txBox="1"/>
          <p:nvPr/>
        </p:nvSpPr>
        <p:spPr>
          <a:xfrm>
            <a:off x="431672" y="3547297"/>
            <a:ext cx="174728" cy="224420"/>
          </a:xfrm>
          <a:prstGeom prst="rect">
            <a:avLst/>
          </a:prstGeom>
          <a:noFill/>
        </p:spPr>
        <p:txBody>
          <a:bodyPr vert="horz" wrap="none" lIns="0" tIns="0" rIns="0" bIns="0" rtlCol="0">
            <a:spAutoFit/>
          </a:bodyPr>
          <a:lstStyle/>
          <a:p>
            <a:pPr>
              <a:lnSpc>
                <a:spcPts val="1665"/>
              </a:lnSpc>
            </a:pPr>
            <a:r>
              <a:rPr lang="en-US" altLang="zh-CN" dirty="0">
                <a:solidFill>
                  <a:srgbClr val="000000"/>
                </a:solidFill>
                <a:latin typeface="Times New Roman"/>
              </a:rPr>
              <a:t>3.</a:t>
            </a:r>
            <a:endParaRPr lang="zh-CN" altLang="en-US" dirty="0">
              <a:solidFill>
                <a:srgbClr val="000000"/>
              </a:solidFill>
              <a:latin typeface="Times New Roman"/>
            </a:endParaRPr>
          </a:p>
        </p:txBody>
      </p:sp>
      <p:sp>
        <p:nvSpPr>
          <p:cNvPr id="13" name="TextBox 12"/>
          <p:cNvSpPr txBox="1"/>
          <p:nvPr/>
        </p:nvSpPr>
        <p:spPr>
          <a:xfrm>
            <a:off x="509403" y="6341571"/>
            <a:ext cx="144270" cy="133370"/>
          </a:xfrm>
          <a:prstGeom prst="rect">
            <a:avLst/>
          </a:prstGeom>
          <a:noFill/>
        </p:spPr>
        <p:txBody>
          <a:bodyPr vert="horz" wrap="none" lIns="0" tIns="0" rIns="0" bIns="0" rtlCol="0">
            <a:spAutoFit/>
          </a:bodyPr>
          <a:lstStyle/>
          <a:p>
            <a:pPr>
              <a:lnSpc>
                <a:spcPts val="1016"/>
              </a:lnSpc>
            </a:pPr>
            <a:r>
              <a:rPr lang="en-US" altLang="zh-CN" sz="1098" dirty="0">
                <a:solidFill>
                  <a:srgbClr val="761437"/>
                </a:solidFill>
                <a:latin typeface="Times New Roman"/>
              </a:rPr>
              <a:t>29</a:t>
            </a:r>
            <a:endParaRPr lang="zh-CN" altLang="en-US" sz="1098" dirty="0">
              <a:solidFill>
                <a:srgbClr val="761437"/>
              </a:solidFill>
              <a:latin typeface="Times New Roman"/>
            </a:endParaRPr>
          </a:p>
        </p:txBody>
      </p:sp>
      <p:sp>
        <p:nvSpPr>
          <p:cNvPr id="14" name="TextBox 13"/>
          <p:cNvSpPr txBox="1"/>
          <p:nvPr/>
        </p:nvSpPr>
        <p:spPr>
          <a:xfrm>
            <a:off x="509403" y="390082"/>
            <a:ext cx="8771632" cy="3693319"/>
          </a:xfrm>
          <a:prstGeom prst="rect">
            <a:avLst/>
          </a:prstGeom>
          <a:noFill/>
        </p:spPr>
        <p:txBody>
          <a:bodyPr vert="horz" wrap="none" lIns="0" tIns="0" rIns="0" bIns="0" rtlCol="0">
            <a:spAutoFit/>
          </a:bodyPr>
          <a:lstStyle/>
          <a:p>
            <a:pPr marL="0" marR="0" lvl="0" indent="0" defTabSz="914400" eaLnBrk="1" fontAlgn="auto" latinLnBrk="0" hangingPunct="1">
              <a:lnSpc>
                <a:spcPts val="4087"/>
              </a:lnSpc>
              <a:buClrTx/>
              <a:buSzTx/>
              <a:buNone/>
              <a:tabLst>
                <a:tab pos="317500" algn="l"/>
                <a:tab pos="368300" algn="l"/>
              </a:tabLst>
              <a:defRPr/>
            </a:pPr>
            <a:r>
              <a:rPr lang="zh-CN" altLang="en-US" dirty="0"/>
              <a:t>	</a:t>
            </a:r>
            <a:r>
              <a:rPr lang="zh-CN" altLang="en-US" sz="3798" dirty="0">
                <a:solidFill>
                  <a:srgbClr val="FFFFFF"/>
                </a:solidFill>
                <a:latin typeface="Times New Roman"/>
              </a:rPr>
              <a:t>控制環境  </a:t>
            </a:r>
            <a:r>
              <a:rPr lang="en-US" altLang="zh-CN" sz="3798" b="1" dirty="0">
                <a:solidFill>
                  <a:srgbClr val="FFFFFF"/>
                </a:solidFill>
                <a:latin typeface="Times New Roman"/>
              </a:rPr>
              <a:t>–  </a:t>
            </a:r>
            <a:r>
              <a:rPr lang="zh-CN" altLang="en-US" sz="3798" dirty="0">
                <a:solidFill>
                  <a:srgbClr val="FFFFFF"/>
                </a:solidFill>
                <a:latin typeface="Times New Roman"/>
              </a:rPr>
              <a:t>誠信與道德觀</a:t>
            </a:r>
          </a:p>
          <a:p>
            <a:pPr marL="0" marR="0" lvl="0" indent="0" defTabSz="914400" eaLnBrk="1" fontAlgn="auto" latinLnBrk="0" hangingPunct="1">
              <a:lnSpc>
                <a:spcPts val="1000"/>
              </a:lnSpc>
              <a:buClrTx/>
              <a:buSzTx/>
              <a:buNone/>
              <a:tabLst>
                <a:tab pos="317500" algn="l"/>
                <a:tab pos="368300" algn="l"/>
              </a:tabLst>
              <a:defRPr/>
            </a:pPr>
            <a:endParaRPr lang="zh-CN" altLang="en-US" sz="3798" dirty="0">
              <a:solidFill>
                <a:srgbClr val="FFFFFF"/>
              </a:solidFill>
              <a:latin typeface="Times New Roman"/>
            </a:endParaRPr>
          </a:p>
          <a:p>
            <a:pPr marL="0" marR="0" lvl="0" indent="0" defTabSz="914400" eaLnBrk="1" fontAlgn="auto" latinLnBrk="0" hangingPunct="1">
              <a:lnSpc>
                <a:spcPts val="1000"/>
              </a:lnSpc>
              <a:buClrTx/>
              <a:buSzTx/>
              <a:buNone/>
              <a:tabLst>
                <a:tab pos="317500" algn="l"/>
                <a:tab pos="368300" algn="l"/>
              </a:tabLst>
              <a:defRPr/>
            </a:pPr>
            <a:endParaRPr lang="zh-CN" altLang="en-US" sz="3798" dirty="0">
              <a:solidFill>
                <a:srgbClr val="FFFFFF"/>
              </a:solidFill>
              <a:latin typeface="Times New Roman"/>
            </a:endParaRPr>
          </a:p>
          <a:p>
            <a:pPr marL="0" marR="0" lvl="0" indent="0" defTabSz="914400" eaLnBrk="1" fontAlgn="auto" latinLnBrk="0" hangingPunct="1">
              <a:lnSpc>
                <a:spcPts val="1000"/>
              </a:lnSpc>
              <a:buClrTx/>
              <a:buSzTx/>
              <a:buNone/>
              <a:tabLst>
                <a:tab pos="317500" algn="l"/>
                <a:tab pos="368300" algn="l"/>
              </a:tabLst>
              <a:defRPr/>
            </a:pPr>
            <a:endParaRPr lang="zh-CN" altLang="en-US" sz="3798" dirty="0">
              <a:solidFill>
                <a:srgbClr val="FFFFFF"/>
              </a:solidFill>
              <a:latin typeface="Times New Roman"/>
            </a:endParaRPr>
          </a:p>
          <a:p>
            <a:pPr marL="0" marR="0" lvl="0" indent="0" defTabSz="914400" eaLnBrk="1" fontAlgn="auto" latinLnBrk="0" hangingPunct="1">
              <a:lnSpc>
                <a:spcPts val="1000"/>
              </a:lnSpc>
              <a:buClrTx/>
              <a:buSzTx/>
              <a:buNone/>
              <a:tabLst>
                <a:tab pos="317500" algn="l"/>
                <a:tab pos="368300" algn="l"/>
              </a:tabLst>
              <a:defRPr/>
            </a:pPr>
            <a:endParaRPr lang="zh-CN" altLang="en-US" sz="3798" dirty="0">
              <a:solidFill>
                <a:srgbClr val="FFFFFF"/>
              </a:solidFill>
              <a:latin typeface="Times New Roman"/>
            </a:endParaRPr>
          </a:p>
          <a:p>
            <a:pPr marL="0" marR="0" lvl="0" indent="0" defTabSz="914400" eaLnBrk="1" fontAlgn="auto" latinLnBrk="0" hangingPunct="1">
              <a:lnSpc>
                <a:spcPts val="1000"/>
              </a:lnSpc>
              <a:buClrTx/>
              <a:buSzTx/>
              <a:buNone/>
              <a:tabLst>
                <a:tab pos="317500" algn="l"/>
                <a:tab pos="368300" algn="l"/>
              </a:tabLst>
              <a:defRPr/>
            </a:pPr>
            <a:endParaRPr lang="zh-CN" altLang="en-US" sz="3798" dirty="0">
              <a:solidFill>
                <a:srgbClr val="FFFFFF"/>
              </a:solidFill>
              <a:latin typeface="Times New Roman"/>
            </a:endParaRPr>
          </a:p>
          <a:p>
            <a:pPr marL="0" marR="0" lvl="0" indent="0" defTabSz="914400" eaLnBrk="1" fontAlgn="auto" latinLnBrk="0" hangingPunct="1">
              <a:lnSpc>
                <a:spcPts val="2528"/>
              </a:lnSpc>
              <a:buClrTx/>
              <a:buSzTx/>
              <a:buNone/>
              <a:tabLst>
                <a:tab pos="317500" algn="l"/>
                <a:tab pos="368300" algn="l"/>
              </a:tabLst>
              <a:defRPr/>
            </a:pPr>
            <a:r>
              <a:rPr lang="zh-CN" altLang="en-US" dirty="0">
                <a:solidFill>
                  <a:srgbClr val="000000"/>
                </a:solidFill>
                <a:latin typeface="Times New Roman"/>
              </a:rPr>
              <a:t>管理層應該向員工傳達誠信與道德標準，必須不折不扣的執行。員工應該知曉和理解這</a:t>
            </a:r>
          </a:p>
          <a:p>
            <a:pPr marL="0" marR="0" lvl="0" indent="0" defTabSz="914400" eaLnBrk="1" fontAlgn="auto" latinLnBrk="0" hangingPunct="1">
              <a:lnSpc>
                <a:spcPts val="2166"/>
              </a:lnSpc>
              <a:buClrTx/>
              <a:buSzTx/>
              <a:buNone/>
              <a:tabLst>
                <a:tab pos="317500" algn="l"/>
                <a:tab pos="368300" algn="l"/>
              </a:tabLst>
              <a:defRPr/>
            </a:pPr>
            <a:r>
              <a:rPr lang="zh-CN" altLang="en-US" dirty="0">
                <a:solidFill>
                  <a:srgbClr val="000000"/>
                </a:solidFill>
                <a:latin typeface="Times New Roman"/>
              </a:rPr>
              <a:t>些規定。管理層應該通過言談和行動的方式表現出對道德標準的重視。</a:t>
            </a:r>
          </a:p>
          <a:p>
            <a:pPr marL="0" marR="0" lvl="0" indent="0" defTabSz="914400" eaLnBrk="1" fontAlgn="auto" latinLnBrk="0" hangingPunct="1">
              <a:lnSpc>
                <a:spcPts val="1000"/>
              </a:lnSpc>
              <a:buClrTx/>
              <a:buSzTx/>
              <a:buNone/>
              <a:tabLst>
                <a:tab pos="317500" algn="l"/>
                <a:tab pos="368300" algn="l"/>
              </a:tabLst>
              <a:defRPr/>
            </a:pPr>
            <a:endParaRPr lang="zh-CN" altLang="en-US" dirty="0">
              <a:solidFill>
                <a:srgbClr val="000000"/>
              </a:solidFill>
              <a:latin typeface="Times New Roman"/>
            </a:endParaRPr>
          </a:p>
          <a:p>
            <a:pPr marL="0" marR="0" lvl="0" indent="0" defTabSz="914400" eaLnBrk="1" fontAlgn="auto" latinLnBrk="0" hangingPunct="1">
              <a:lnSpc>
                <a:spcPts val="1000"/>
              </a:lnSpc>
              <a:buClrTx/>
              <a:buSzTx/>
              <a:buNone/>
              <a:tabLst>
                <a:tab pos="317500" algn="l"/>
                <a:tab pos="368300" algn="l"/>
              </a:tabLst>
              <a:defRPr/>
            </a:pPr>
            <a:endParaRPr lang="zh-CN" altLang="en-US" dirty="0">
              <a:solidFill>
                <a:srgbClr val="000000"/>
              </a:solidFill>
              <a:latin typeface="Times New Roman"/>
            </a:endParaRPr>
          </a:p>
          <a:p>
            <a:pPr marL="0" marR="0" lvl="0" indent="0" defTabSz="914400" eaLnBrk="1" fontAlgn="auto" latinLnBrk="0" hangingPunct="1">
              <a:lnSpc>
                <a:spcPts val="1972"/>
              </a:lnSpc>
              <a:buClrTx/>
              <a:buSzTx/>
              <a:buNone/>
              <a:tabLst>
                <a:tab pos="317500" algn="l"/>
                <a:tab pos="368300" algn="l"/>
              </a:tabLst>
              <a:defRPr/>
            </a:pPr>
            <a:r>
              <a:rPr lang="zh-CN" altLang="en-US" dirty="0">
                <a:solidFill>
                  <a:srgbClr val="000000"/>
                </a:solidFill>
                <a:latin typeface="Times New Roman"/>
              </a:rPr>
              <a:t>		存在行為準則及其他相關可接受的商業行為、利益沖</a:t>
            </a:r>
          </a:p>
          <a:p>
            <a:pPr marL="0" marR="0" lvl="0" indent="0" defTabSz="914400" eaLnBrk="1" fontAlgn="auto" latinLnBrk="0" hangingPunct="1">
              <a:lnSpc>
                <a:spcPts val="2166"/>
              </a:lnSpc>
              <a:buClrTx/>
              <a:buSzTx/>
              <a:buNone/>
              <a:tabLst>
                <a:tab pos="317500" algn="l"/>
                <a:tab pos="368300" algn="l"/>
              </a:tabLst>
              <a:defRPr/>
            </a:pPr>
            <a:r>
              <a:rPr lang="zh-CN" altLang="en-US" dirty="0">
                <a:solidFill>
                  <a:srgbClr val="000000"/>
                </a:solidFill>
                <a:latin typeface="Times New Roman"/>
              </a:rPr>
              <a:t>		突、倫理的道德標準等的政策，並有效執行。</a:t>
            </a:r>
          </a:p>
          <a:p>
            <a:pPr marL="0" marR="0" lvl="0" indent="0" defTabSz="914400" eaLnBrk="1" fontAlgn="auto" latinLnBrk="0" hangingPunct="1">
              <a:lnSpc>
                <a:spcPts val="2167"/>
              </a:lnSpc>
              <a:buClrTx/>
              <a:buSzTx/>
              <a:buNone/>
              <a:tabLst>
                <a:tab pos="317500" algn="l"/>
                <a:tab pos="368300" algn="l"/>
              </a:tabLst>
              <a:defRPr/>
            </a:pPr>
            <a:r>
              <a:rPr lang="zh-CN" altLang="en-US" dirty="0">
                <a:solidFill>
                  <a:srgbClr val="000000"/>
                </a:solidFill>
                <a:latin typeface="Times New Roman"/>
              </a:rPr>
              <a:t>		“高層管理基調”的建立－－包括明確的道德指導（什麼</a:t>
            </a:r>
          </a:p>
          <a:p>
            <a:pPr marL="0" marR="0" lvl="0" indent="0" defTabSz="914400" eaLnBrk="1" fontAlgn="auto" latinLnBrk="0" hangingPunct="1">
              <a:lnSpc>
                <a:spcPts val="2153"/>
              </a:lnSpc>
              <a:buClrTx/>
              <a:buSzTx/>
              <a:buNone/>
              <a:tabLst>
                <a:tab pos="317500" algn="l"/>
                <a:tab pos="368300" algn="l"/>
              </a:tabLst>
              <a:defRPr/>
            </a:pPr>
            <a:r>
              <a:rPr lang="zh-CN" altLang="en-US" dirty="0">
                <a:solidFill>
                  <a:srgbClr val="000000"/>
                </a:solidFill>
                <a:latin typeface="Times New Roman"/>
              </a:rPr>
              <a:t>		是對的和錯的），</a:t>
            </a:r>
          </a:p>
          <a:p>
            <a:pPr marL="0" marR="0" lvl="0" indent="0" defTabSz="914400" eaLnBrk="1" fontAlgn="auto" latinLnBrk="0" hangingPunct="1">
              <a:lnSpc>
                <a:spcPts val="2166"/>
              </a:lnSpc>
              <a:buClrTx/>
              <a:buSzTx/>
              <a:buNone/>
              <a:tabLst>
                <a:tab pos="317500" algn="l"/>
                <a:tab pos="368300" algn="l"/>
              </a:tabLst>
              <a:defRPr/>
            </a:pPr>
            <a:r>
              <a:rPr lang="zh-CN" altLang="en-US" dirty="0">
                <a:solidFill>
                  <a:srgbClr val="000000"/>
                </a:solidFill>
                <a:latin typeface="Times New Roman"/>
              </a:rPr>
              <a:t>		和在公司範圍內進行溝通的程度的指導。與員工、供應</a:t>
            </a:r>
          </a:p>
          <a:p>
            <a:pPr marL="0" marR="0" lvl="0" indent="0" defTabSz="914400" eaLnBrk="1" fontAlgn="auto" latinLnBrk="0" hangingPunct="1">
              <a:lnSpc>
                <a:spcPts val="2160"/>
              </a:lnSpc>
              <a:buClrTx/>
              <a:buSzTx/>
              <a:buNone/>
              <a:tabLst>
                <a:tab pos="317500" algn="l"/>
                <a:tab pos="368300" algn="l"/>
              </a:tabLst>
              <a:defRPr/>
            </a:pPr>
            <a:r>
              <a:rPr lang="zh-CN" altLang="en-US" dirty="0">
                <a:solidFill>
                  <a:srgbClr val="000000"/>
                </a:solidFill>
                <a:latin typeface="Times New Roman"/>
              </a:rPr>
              <a:t>		商、客戶、投資人、債權人、保險人、競爭對象和審計</a:t>
            </a:r>
          </a:p>
        </p:txBody>
      </p:sp>
      <p:sp>
        <p:nvSpPr>
          <p:cNvPr id="15" name="TextBox 14"/>
          <p:cNvSpPr txBox="1"/>
          <p:nvPr/>
        </p:nvSpPr>
        <p:spPr>
          <a:xfrm>
            <a:off x="888866" y="4064459"/>
            <a:ext cx="5539978" cy="512961"/>
          </a:xfrm>
          <a:prstGeom prst="rect">
            <a:avLst/>
          </a:prstGeom>
          <a:noFill/>
        </p:spPr>
        <p:txBody>
          <a:bodyPr vert="horz" wrap="none" lIns="0" tIns="0" rIns="0" bIns="0" rtlCol="0">
            <a:spAutoFit/>
          </a:bodyPr>
          <a:lstStyle/>
          <a:p>
            <a:pPr>
              <a:lnSpc>
                <a:spcPts val="1798"/>
              </a:lnSpc>
            </a:pPr>
            <a:r>
              <a:rPr lang="zh-CN" altLang="en-US" dirty="0">
                <a:solidFill>
                  <a:srgbClr val="000000"/>
                </a:solidFill>
                <a:latin typeface="Times New Roman"/>
              </a:rPr>
              <a:t>師等的關係。（例如：管理層進行商業行為時，是否非</a:t>
            </a:r>
          </a:p>
          <a:p>
            <a:pPr>
              <a:lnSpc>
                <a:spcPts val="2160"/>
              </a:lnSpc>
            </a:pPr>
            <a:r>
              <a:rPr lang="zh-CN" altLang="en-US" dirty="0">
                <a:solidFill>
                  <a:srgbClr val="000000"/>
                </a:solidFill>
                <a:latin typeface="Times New Roman"/>
              </a:rPr>
              <a:t>常關注道德標準，是否也要求其他人遵守道德標準，還</a:t>
            </a:r>
          </a:p>
        </p:txBody>
      </p:sp>
      <p:sp>
        <p:nvSpPr>
          <p:cNvPr id="16" name="TextBox 15"/>
          <p:cNvSpPr txBox="1"/>
          <p:nvPr/>
        </p:nvSpPr>
        <p:spPr>
          <a:xfrm>
            <a:off x="7387977" y="4312336"/>
            <a:ext cx="128240" cy="128240"/>
          </a:xfrm>
          <a:prstGeom prst="rect">
            <a:avLst/>
          </a:prstGeom>
          <a:noFill/>
        </p:spPr>
        <p:txBody>
          <a:bodyPr vert="horz" wrap="none" lIns="0" tIns="0" rIns="0" bIns="0" rtlCol="0">
            <a:spAutoFit/>
          </a:bodyPr>
          <a:lstStyle/>
          <a:p>
            <a:pPr>
              <a:lnSpc>
                <a:spcPts val="1001"/>
              </a:lnSpc>
            </a:pPr>
            <a:r>
              <a:rPr lang="zh-CN" altLang="en-US" sz="1002" dirty="0">
                <a:solidFill>
                  <a:srgbClr val="FFFFFF"/>
                </a:solidFill>
                <a:latin typeface="Times New Roman"/>
              </a:rPr>
              <a:t>營</a:t>
            </a:r>
          </a:p>
        </p:txBody>
      </p:sp>
      <p:sp>
        <p:nvSpPr>
          <p:cNvPr id="17" name="TextBox 16"/>
          <p:cNvSpPr txBox="1"/>
          <p:nvPr/>
        </p:nvSpPr>
        <p:spPr>
          <a:xfrm>
            <a:off x="7478660" y="4223182"/>
            <a:ext cx="128240" cy="128240"/>
          </a:xfrm>
          <a:prstGeom prst="rect">
            <a:avLst/>
          </a:prstGeom>
          <a:noFill/>
        </p:spPr>
        <p:txBody>
          <a:bodyPr vert="horz" wrap="none" lIns="0" tIns="0" rIns="0" bIns="0" rtlCol="0">
            <a:spAutoFit/>
          </a:bodyPr>
          <a:lstStyle/>
          <a:p>
            <a:pPr>
              <a:lnSpc>
                <a:spcPts val="1001"/>
              </a:lnSpc>
            </a:pPr>
            <a:r>
              <a:rPr lang="zh-CN" altLang="en-US" sz="1002" dirty="0">
                <a:solidFill>
                  <a:srgbClr val="FFFFFF"/>
                </a:solidFill>
                <a:latin typeface="Times New Roman"/>
              </a:rPr>
              <a:t>運</a:t>
            </a:r>
          </a:p>
        </p:txBody>
      </p:sp>
      <p:sp>
        <p:nvSpPr>
          <p:cNvPr id="18" name="TextBox 17"/>
          <p:cNvSpPr txBox="1"/>
          <p:nvPr/>
        </p:nvSpPr>
        <p:spPr>
          <a:xfrm>
            <a:off x="431672" y="4920406"/>
            <a:ext cx="174728" cy="1051570"/>
          </a:xfrm>
          <a:prstGeom prst="rect">
            <a:avLst/>
          </a:prstGeom>
          <a:noFill/>
        </p:spPr>
        <p:txBody>
          <a:bodyPr vert="horz" wrap="none" lIns="0" tIns="0" rIns="0" bIns="0" rtlCol="0">
            <a:spAutoFit/>
          </a:bodyPr>
          <a:lstStyle/>
          <a:p>
            <a:pPr>
              <a:lnSpc>
                <a:spcPts val="1665"/>
              </a:lnSpc>
            </a:pPr>
            <a:r>
              <a:rPr lang="en-US" altLang="zh-CN" dirty="0">
                <a:solidFill>
                  <a:srgbClr val="000000"/>
                </a:solidFill>
                <a:latin typeface="Times New Roman"/>
              </a:rPr>
              <a:t>4.</a:t>
            </a:r>
          </a:p>
          <a:p>
            <a:pPr>
              <a:lnSpc>
                <a:spcPts val="1000"/>
              </a:lnSpc>
            </a:pPr>
            <a:endParaRPr lang="en-US" altLang="zh-CN" dirty="0">
              <a:solidFill>
                <a:srgbClr val="000000"/>
              </a:solidFill>
              <a:latin typeface="Times New Roman"/>
            </a:endParaRPr>
          </a:p>
          <a:p>
            <a:pPr>
              <a:lnSpc>
                <a:spcPts val="1000"/>
              </a:lnSpc>
            </a:pPr>
            <a:endParaRPr lang="en-US" altLang="zh-CN" dirty="0">
              <a:solidFill>
                <a:srgbClr val="000000"/>
              </a:solidFill>
              <a:latin typeface="Times New Roman"/>
            </a:endParaRPr>
          </a:p>
          <a:p>
            <a:pPr>
              <a:lnSpc>
                <a:spcPts val="2326"/>
              </a:lnSpc>
            </a:pPr>
            <a:r>
              <a:rPr lang="en-US" altLang="zh-CN" dirty="0">
                <a:solidFill>
                  <a:srgbClr val="000000"/>
                </a:solidFill>
                <a:latin typeface="Times New Roman"/>
              </a:rPr>
              <a:t>5.</a:t>
            </a:r>
          </a:p>
          <a:p>
            <a:pPr>
              <a:lnSpc>
                <a:spcPts val="2160"/>
              </a:lnSpc>
            </a:pPr>
            <a:r>
              <a:rPr lang="en-US" altLang="zh-CN" dirty="0">
                <a:solidFill>
                  <a:srgbClr val="000000"/>
                </a:solidFill>
                <a:latin typeface="Times New Roman"/>
              </a:rPr>
              <a:t>6.</a:t>
            </a:r>
            <a:endParaRPr lang="zh-CN" altLang="en-US" dirty="0">
              <a:solidFill>
                <a:srgbClr val="000000"/>
              </a:solidFill>
              <a:latin typeface="Times New Roman"/>
            </a:endParaRPr>
          </a:p>
        </p:txBody>
      </p:sp>
      <p:sp>
        <p:nvSpPr>
          <p:cNvPr id="19" name="TextBox 18"/>
          <p:cNvSpPr txBox="1"/>
          <p:nvPr/>
        </p:nvSpPr>
        <p:spPr>
          <a:xfrm>
            <a:off x="888866" y="4613854"/>
            <a:ext cx="5539978" cy="1359346"/>
          </a:xfrm>
          <a:prstGeom prst="rect">
            <a:avLst/>
          </a:prstGeom>
          <a:noFill/>
        </p:spPr>
        <p:txBody>
          <a:bodyPr vert="horz" wrap="none" lIns="0" tIns="0" rIns="0" bIns="0" rtlCol="0">
            <a:spAutoFit/>
          </a:bodyPr>
          <a:lstStyle/>
          <a:p>
            <a:pPr>
              <a:lnSpc>
                <a:spcPts val="1798"/>
              </a:lnSpc>
            </a:pPr>
            <a:r>
              <a:rPr lang="zh-CN" altLang="en-US" dirty="0">
                <a:solidFill>
                  <a:srgbClr val="000000"/>
                </a:solidFill>
                <a:latin typeface="Times New Roman"/>
              </a:rPr>
              <a:t>是根本不關注道德問題。）</a:t>
            </a:r>
          </a:p>
          <a:p>
            <a:pPr>
              <a:lnSpc>
                <a:spcPts val="2160"/>
              </a:lnSpc>
            </a:pPr>
            <a:r>
              <a:rPr lang="zh-CN" altLang="en-US" dirty="0">
                <a:solidFill>
                  <a:srgbClr val="000000"/>
                </a:solidFill>
                <a:latin typeface="Times New Roman"/>
              </a:rPr>
              <a:t>針對違反政策和道德準則的情況採取適當的措施。採取</a:t>
            </a:r>
          </a:p>
          <a:p>
            <a:pPr>
              <a:lnSpc>
                <a:spcPts val="2160"/>
              </a:lnSpc>
            </a:pPr>
            <a:r>
              <a:rPr lang="zh-CN" altLang="en-US" dirty="0">
                <a:solidFill>
                  <a:srgbClr val="000000"/>
                </a:solidFill>
                <a:latin typeface="Times New Roman"/>
              </a:rPr>
              <a:t>措施的範圍在公司內進行溝通。</a:t>
            </a:r>
          </a:p>
          <a:p>
            <a:pPr>
              <a:lnSpc>
                <a:spcPts val="2166"/>
              </a:lnSpc>
            </a:pPr>
            <a:r>
              <a:rPr lang="zh-CN" altLang="en-US" dirty="0">
                <a:solidFill>
                  <a:srgbClr val="000000"/>
                </a:solidFill>
                <a:latin typeface="Times New Roman"/>
              </a:rPr>
              <a:t>管理層對干預或逾越既定控制制度的態度。</a:t>
            </a:r>
          </a:p>
          <a:p>
            <a:pPr>
              <a:lnSpc>
                <a:spcPts val="2160"/>
              </a:lnSpc>
            </a:pPr>
            <a:r>
              <a:rPr lang="zh-CN" altLang="en-US" dirty="0">
                <a:solidFill>
                  <a:srgbClr val="000000"/>
                </a:solidFill>
                <a:latin typeface="Times New Roman"/>
              </a:rPr>
              <a:t>達到不切實際的目標的壓力，特別是那些短期目標，薪</a:t>
            </a:r>
          </a:p>
        </p:txBody>
      </p:sp>
      <p:sp>
        <p:nvSpPr>
          <p:cNvPr id="20" name="TextBox 19"/>
          <p:cNvSpPr txBox="1"/>
          <p:nvPr/>
        </p:nvSpPr>
        <p:spPr>
          <a:xfrm>
            <a:off x="7392550" y="4732182"/>
            <a:ext cx="641201" cy="1115690"/>
          </a:xfrm>
          <a:prstGeom prst="rect">
            <a:avLst/>
          </a:prstGeom>
          <a:noFill/>
        </p:spPr>
        <p:txBody>
          <a:bodyPr vert="horz" wrap="none" lIns="0" tIns="0" rIns="0" bIns="0" rtlCol="0">
            <a:spAutoFit/>
          </a:bodyPr>
          <a:lstStyle/>
          <a:p>
            <a:pPr marL="0" marR="0" lvl="0" indent="0" defTabSz="914400" eaLnBrk="1" fontAlgn="auto" latinLnBrk="0" hangingPunct="1">
              <a:lnSpc>
                <a:spcPts val="1001"/>
              </a:lnSpc>
              <a:buClrTx/>
              <a:buSzTx/>
              <a:buNone/>
              <a:tabLst>
                <a:tab pos="63500" algn="l"/>
                <a:tab pos="190500" algn="l"/>
              </a:tabLst>
              <a:defRPr/>
            </a:pPr>
            <a:r>
              <a:rPr lang="zh-CN" altLang="en-US" dirty="0"/>
              <a:t>		</a:t>
            </a:r>
            <a:r>
              <a:rPr lang="zh-CN" altLang="en-US" sz="1002" dirty="0">
                <a:solidFill>
                  <a:srgbClr val="FFFFFF"/>
                </a:solidFill>
                <a:latin typeface="Times New Roman"/>
              </a:rPr>
              <a:t>監控</a:t>
            </a:r>
          </a:p>
          <a:p>
            <a:pPr marL="0" marR="0" lvl="0" indent="0" defTabSz="914400" eaLnBrk="1" fontAlgn="auto" latinLnBrk="0" hangingPunct="1">
              <a:lnSpc>
                <a:spcPts val="1000"/>
              </a:lnSpc>
              <a:buClrTx/>
              <a:buSzTx/>
              <a:buNone/>
              <a:tabLst>
                <a:tab pos="63500" algn="l"/>
                <a:tab pos="190500" algn="l"/>
              </a:tabLst>
              <a:defRPr/>
            </a:pPr>
            <a:endParaRPr lang="zh-CN" altLang="en-US" sz="1002" dirty="0">
              <a:solidFill>
                <a:srgbClr val="FFFFFF"/>
              </a:solidFill>
              <a:latin typeface="Times New Roman"/>
            </a:endParaRPr>
          </a:p>
          <a:p>
            <a:pPr marL="0" marR="0" lvl="0" indent="0" defTabSz="914400" eaLnBrk="1" fontAlgn="auto" latinLnBrk="0" hangingPunct="1">
              <a:lnSpc>
                <a:spcPts val="1550"/>
              </a:lnSpc>
              <a:buClrTx/>
              <a:buSzTx/>
              <a:buNone/>
              <a:tabLst>
                <a:tab pos="63500" algn="l"/>
                <a:tab pos="190500" algn="l"/>
              </a:tabLst>
              <a:defRPr/>
            </a:pPr>
            <a:r>
              <a:rPr lang="zh-CN" altLang="en-US" sz="1002" dirty="0">
                <a:solidFill>
                  <a:srgbClr val="FFFFFF"/>
                </a:solidFill>
                <a:latin typeface="Times New Roman"/>
              </a:rPr>
              <a:t>資訊和溝通</a:t>
            </a:r>
          </a:p>
          <a:p>
            <a:pPr marL="0" marR="0" lvl="0" indent="0" defTabSz="914400" eaLnBrk="1" fontAlgn="auto" latinLnBrk="0" hangingPunct="1">
              <a:lnSpc>
                <a:spcPts val="1000"/>
              </a:lnSpc>
              <a:buClrTx/>
              <a:buSzTx/>
              <a:buNone/>
              <a:tabLst>
                <a:tab pos="63500" algn="l"/>
                <a:tab pos="190500" algn="l"/>
              </a:tabLst>
              <a:defRPr/>
            </a:pPr>
            <a:endParaRPr lang="zh-CN" altLang="en-US" sz="1002" dirty="0">
              <a:solidFill>
                <a:srgbClr val="FFFFFF"/>
              </a:solidFill>
              <a:latin typeface="Times New Roman"/>
            </a:endParaRPr>
          </a:p>
          <a:p>
            <a:pPr marL="0" marR="0" lvl="0" indent="0" defTabSz="914400" eaLnBrk="1" fontAlgn="auto" latinLnBrk="0" hangingPunct="1">
              <a:lnSpc>
                <a:spcPts val="1466"/>
              </a:lnSpc>
              <a:buClrTx/>
              <a:buSzTx/>
              <a:buNone/>
              <a:tabLst>
                <a:tab pos="63500" algn="l"/>
                <a:tab pos="190500" algn="l"/>
              </a:tabLst>
              <a:defRPr/>
            </a:pPr>
            <a:r>
              <a:rPr lang="zh-CN" altLang="en-US" sz="1002" dirty="0">
                <a:solidFill>
                  <a:srgbClr val="FFFFFF"/>
                </a:solidFill>
                <a:latin typeface="Times New Roman"/>
              </a:rPr>
              <a:t>	控制活動</a:t>
            </a:r>
          </a:p>
          <a:p>
            <a:pPr marL="0" marR="0" lvl="0" indent="0" defTabSz="914400" eaLnBrk="1" fontAlgn="auto" latinLnBrk="0" hangingPunct="1">
              <a:lnSpc>
                <a:spcPts val="1000"/>
              </a:lnSpc>
              <a:buClrTx/>
              <a:buSzTx/>
              <a:buNone/>
              <a:tabLst>
                <a:tab pos="63500" algn="l"/>
                <a:tab pos="190500" algn="l"/>
              </a:tabLst>
              <a:defRPr/>
            </a:pPr>
            <a:endParaRPr lang="zh-CN" altLang="en-US" sz="1002" dirty="0">
              <a:solidFill>
                <a:srgbClr val="FFFFFF"/>
              </a:solidFill>
              <a:latin typeface="Times New Roman"/>
            </a:endParaRPr>
          </a:p>
          <a:p>
            <a:pPr marL="0" marR="0" lvl="0" indent="0" defTabSz="914400" eaLnBrk="1" fontAlgn="auto" latinLnBrk="0" hangingPunct="1">
              <a:lnSpc>
                <a:spcPts val="1646"/>
              </a:lnSpc>
              <a:buClrTx/>
              <a:buSzTx/>
              <a:buNone/>
              <a:tabLst>
                <a:tab pos="63500" algn="l"/>
                <a:tab pos="190500" algn="l"/>
              </a:tabLst>
              <a:defRPr/>
            </a:pPr>
            <a:r>
              <a:rPr lang="zh-CN" altLang="en-US" sz="1002" dirty="0">
                <a:solidFill>
                  <a:srgbClr val="FFFFFF"/>
                </a:solidFill>
                <a:latin typeface="Times New Roman"/>
              </a:rPr>
              <a:t>	風險評估</a:t>
            </a:r>
          </a:p>
        </p:txBody>
      </p:sp>
      <p:sp>
        <p:nvSpPr>
          <p:cNvPr id="21" name="TextBox 20"/>
          <p:cNvSpPr txBox="1"/>
          <p:nvPr/>
        </p:nvSpPr>
        <p:spPr>
          <a:xfrm>
            <a:off x="8750433" y="5104819"/>
            <a:ext cx="128240" cy="743793"/>
          </a:xfrm>
          <a:prstGeom prst="rect">
            <a:avLst/>
          </a:prstGeom>
          <a:noFill/>
        </p:spPr>
        <p:txBody>
          <a:bodyPr vert="horz" wrap="none" lIns="0" tIns="0" rIns="0" bIns="0" rtlCol="0">
            <a:spAutoFit/>
          </a:bodyPr>
          <a:lstStyle/>
          <a:p>
            <a:pPr>
              <a:lnSpc>
                <a:spcPts val="1001"/>
              </a:lnSpc>
            </a:pPr>
            <a:r>
              <a:rPr lang="zh-CN" altLang="en-US" sz="1002" dirty="0">
                <a:solidFill>
                  <a:srgbClr val="FFFFFF"/>
                </a:solidFill>
                <a:latin typeface="Times New Roman"/>
              </a:rPr>
              <a:t>業</a:t>
            </a:r>
          </a:p>
          <a:p>
            <a:pPr>
              <a:lnSpc>
                <a:spcPts val="1200"/>
              </a:lnSpc>
            </a:pPr>
            <a:r>
              <a:rPr lang="zh-CN" altLang="en-US" sz="1002" dirty="0">
                <a:solidFill>
                  <a:srgbClr val="FFFFFF"/>
                </a:solidFill>
                <a:latin typeface="Times New Roman"/>
              </a:rPr>
              <a:t>務</a:t>
            </a:r>
          </a:p>
          <a:p>
            <a:pPr>
              <a:lnSpc>
                <a:spcPts val="1200"/>
              </a:lnSpc>
            </a:pPr>
            <a:r>
              <a:rPr lang="zh-CN" altLang="en-US" sz="1002" dirty="0">
                <a:solidFill>
                  <a:srgbClr val="FFFFFF"/>
                </a:solidFill>
                <a:latin typeface="Times New Roman"/>
              </a:rPr>
              <a:t>單</a:t>
            </a:r>
          </a:p>
          <a:p>
            <a:pPr>
              <a:lnSpc>
                <a:spcPts val="1200"/>
              </a:lnSpc>
            </a:pPr>
            <a:r>
              <a:rPr lang="zh-CN" altLang="en-US" sz="1002" dirty="0">
                <a:solidFill>
                  <a:srgbClr val="FFFFFF"/>
                </a:solidFill>
                <a:latin typeface="Times New Roman"/>
              </a:rPr>
              <a:t>位</a:t>
            </a:r>
          </a:p>
          <a:p>
            <a:pPr>
              <a:lnSpc>
                <a:spcPts val="1193"/>
              </a:lnSpc>
            </a:pPr>
            <a:r>
              <a:rPr lang="en-US" altLang="zh-CN" sz="1002" b="1" dirty="0">
                <a:solidFill>
                  <a:srgbClr val="FFFFFF"/>
                </a:solidFill>
                <a:latin typeface="Times New Roman"/>
              </a:rPr>
              <a:t>A</a:t>
            </a:r>
            <a:endParaRPr lang="zh-CN" altLang="en-US" sz="1002" b="1" dirty="0">
              <a:solidFill>
                <a:srgbClr val="FFFFFF"/>
              </a:solidFill>
              <a:latin typeface="Times New Roman"/>
            </a:endParaRPr>
          </a:p>
        </p:txBody>
      </p:sp>
      <p:sp>
        <p:nvSpPr>
          <p:cNvPr id="22" name="TextBox 21"/>
          <p:cNvSpPr txBox="1"/>
          <p:nvPr/>
        </p:nvSpPr>
        <p:spPr>
          <a:xfrm>
            <a:off x="8921868" y="4643033"/>
            <a:ext cx="474489" cy="1064394"/>
          </a:xfrm>
          <a:prstGeom prst="rect">
            <a:avLst/>
          </a:prstGeom>
          <a:noFill/>
        </p:spPr>
        <p:txBody>
          <a:bodyPr vert="horz" wrap="none" lIns="0" tIns="0" rIns="0" bIns="0" rtlCol="0">
            <a:spAutoFit/>
          </a:bodyPr>
          <a:lstStyle/>
          <a:p>
            <a:pPr marL="0" marR="0" lvl="0" indent="0" defTabSz="914400" eaLnBrk="1" fontAlgn="auto" latinLnBrk="0" hangingPunct="1">
              <a:lnSpc>
                <a:spcPts val="1001"/>
              </a:lnSpc>
              <a:buClrTx/>
              <a:buSzTx/>
              <a:buNone/>
              <a:tabLst>
                <a:tab pos="25400" algn="l"/>
                <a:tab pos="165100" algn="l"/>
                <a:tab pos="342900" algn="l"/>
              </a:tabLst>
              <a:defRPr/>
            </a:pPr>
            <a:r>
              <a:rPr lang="zh-CN" altLang="en-US" dirty="0"/>
              <a:t>			</a:t>
            </a:r>
            <a:r>
              <a:rPr lang="zh-CN" altLang="en-US" sz="1002" dirty="0">
                <a:solidFill>
                  <a:srgbClr val="FFFFFF"/>
                </a:solidFill>
                <a:latin typeface="Times New Roman"/>
              </a:rPr>
              <a:t>活</a:t>
            </a:r>
          </a:p>
          <a:p>
            <a:pPr marL="0" marR="0" lvl="0" indent="0" defTabSz="914400" eaLnBrk="1" fontAlgn="auto" latinLnBrk="0" hangingPunct="1">
              <a:lnSpc>
                <a:spcPts val="1284"/>
              </a:lnSpc>
              <a:buClrTx/>
              <a:buSzTx/>
              <a:buNone/>
              <a:tabLst>
                <a:tab pos="25400" algn="l"/>
                <a:tab pos="165100" algn="l"/>
                <a:tab pos="342900" algn="l"/>
              </a:tabLst>
              <a:defRPr/>
            </a:pPr>
            <a:r>
              <a:rPr lang="zh-CN" altLang="en-US" sz="1002" dirty="0">
                <a:solidFill>
                  <a:srgbClr val="FFFFFF"/>
                </a:solidFill>
                <a:latin typeface="Times New Roman"/>
              </a:rPr>
              <a:t>		活 動</a:t>
            </a:r>
          </a:p>
          <a:p>
            <a:pPr marL="0" marR="0" lvl="0" indent="0" defTabSz="914400" eaLnBrk="1" fontAlgn="auto" latinLnBrk="0" hangingPunct="1">
              <a:lnSpc>
                <a:spcPts val="1200"/>
              </a:lnSpc>
              <a:buClrTx/>
              <a:buSzTx/>
              <a:buNone/>
              <a:tabLst>
                <a:tab pos="25400" algn="l"/>
                <a:tab pos="165100" algn="l"/>
                <a:tab pos="342900" algn="l"/>
              </a:tabLst>
              <a:defRPr/>
            </a:pPr>
            <a:r>
              <a:rPr lang="zh-CN" altLang="en-US" sz="1002" dirty="0">
                <a:solidFill>
                  <a:srgbClr val="FFFFFF"/>
                </a:solidFill>
                <a:latin typeface="Times New Roman"/>
              </a:rPr>
              <a:t>業 動 </a:t>
            </a:r>
            <a:r>
              <a:rPr lang="en-US" altLang="zh-CN" sz="1002" b="1" dirty="0">
                <a:solidFill>
                  <a:srgbClr val="FFFFFF"/>
                </a:solidFill>
                <a:latin typeface="Times New Roman"/>
              </a:rPr>
              <a:t>2</a:t>
            </a:r>
          </a:p>
          <a:p>
            <a:pPr marL="0" marR="0" lvl="0" indent="0" defTabSz="914400" eaLnBrk="1" fontAlgn="auto" latinLnBrk="0" hangingPunct="1">
              <a:lnSpc>
                <a:spcPts val="1193"/>
              </a:lnSpc>
              <a:buClrTx/>
              <a:buSzTx/>
              <a:buNone/>
              <a:tabLst>
                <a:tab pos="25400" algn="l"/>
                <a:tab pos="165100" algn="l"/>
                <a:tab pos="342900" algn="l"/>
              </a:tabLst>
              <a:defRPr/>
            </a:pPr>
            <a:r>
              <a:rPr lang="zh-CN" altLang="en-US" sz="1002" dirty="0">
                <a:solidFill>
                  <a:srgbClr val="FFFFFF"/>
                </a:solidFill>
                <a:latin typeface="Times New Roman"/>
              </a:rPr>
              <a:t>務 </a:t>
            </a:r>
            <a:r>
              <a:rPr lang="en-US" altLang="zh-CN" sz="1002" b="1" dirty="0">
                <a:solidFill>
                  <a:srgbClr val="FFFFFF"/>
                </a:solidFill>
                <a:latin typeface="Times New Roman"/>
              </a:rPr>
              <a:t>1</a:t>
            </a:r>
          </a:p>
          <a:p>
            <a:pPr marL="0" marR="0" lvl="0" indent="0" defTabSz="914400" eaLnBrk="1" fontAlgn="auto" latinLnBrk="0" hangingPunct="1">
              <a:lnSpc>
                <a:spcPts val="1171"/>
              </a:lnSpc>
              <a:buClrTx/>
              <a:buSzTx/>
              <a:buNone/>
              <a:tabLst>
                <a:tab pos="25400" algn="l"/>
                <a:tab pos="165100" algn="l"/>
                <a:tab pos="342900" algn="l"/>
              </a:tabLst>
              <a:defRPr/>
            </a:pPr>
            <a:r>
              <a:rPr lang="zh-CN" altLang="en-US" sz="1002" dirty="0">
                <a:solidFill>
                  <a:srgbClr val="FFFFFF"/>
                </a:solidFill>
                <a:latin typeface="Times New Roman"/>
              </a:rPr>
              <a:t>單</a:t>
            </a:r>
          </a:p>
          <a:p>
            <a:pPr marL="0" marR="0" lvl="0" indent="0" defTabSz="914400" eaLnBrk="1" fontAlgn="auto" latinLnBrk="0" hangingPunct="1">
              <a:lnSpc>
                <a:spcPts val="1200"/>
              </a:lnSpc>
              <a:buClrTx/>
              <a:buSzTx/>
              <a:buNone/>
              <a:tabLst>
                <a:tab pos="25400" algn="l"/>
                <a:tab pos="165100" algn="l"/>
                <a:tab pos="342900" algn="l"/>
              </a:tabLst>
              <a:defRPr/>
            </a:pPr>
            <a:r>
              <a:rPr lang="zh-CN" altLang="en-US" sz="1002" dirty="0">
                <a:solidFill>
                  <a:srgbClr val="FFFFFF"/>
                </a:solidFill>
                <a:latin typeface="Times New Roman"/>
              </a:rPr>
              <a:t>位</a:t>
            </a:r>
          </a:p>
          <a:p>
            <a:pPr marL="0" marR="0" lvl="0" indent="0" defTabSz="914400" eaLnBrk="1" fontAlgn="auto" latinLnBrk="0" hangingPunct="1">
              <a:lnSpc>
                <a:spcPts val="1193"/>
              </a:lnSpc>
              <a:buClrTx/>
              <a:buSzTx/>
              <a:buNone/>
              <a:tabLst>
                <a:tab pos="25400" algn="l"/>
                <a:tab pos="165100" algn="l"/>
                <a:tab pos="342900" algn="l"/>
              </a:tabLst>
              <a:defRPr/>
            </a:pPr>
            <a:r>
              <a:rPr lang="zh-CN" altLang="en-US" sz="1002" dirty="0">
                <a:solidFill>
                  <a:srgbClr val="FFFFFF"/>
                </a:solidFill>
                <a:latin typeface="Times New Roman"/>
              </a:rPr>
              <a:t>	</a:t>
            </a:r>
            <a:r>
              <a:rPr lang="en-US" altLang="zh-CN" sz="1002" b="1" dirty="0">
                <a:solidFill>
                  <a:srgbClr val="FFFFFF"/>
                </a:solidFill>
                <a:latin typeface="Times New Roman"/>
              </a:rPr>
              <a:t>B</a:t>
            </a:r>
            <a:endParaRPr lang="zh-CN" altLang="en-US" sz="1002" b="1" dirty="0">
              <a:solidFill>
                <a:srgbClr val="FFFFFF"/>
              </a:solidFill>
              <a:latin typeface="Times New Roman"/>
            </a:endParaRPr>
          </a:p>
        </p:txBody>
      </p:sp>
      <p:sp>
        <p:nvSpPr>
          <p:cNvPr id="23" name="TextBox 22"/>
          <p:cNvSpPr txBox="1"/>
          <p:nvPr/>
        </p:nvSpPr>
        <p:spPr>
          <a:xfrm>
            <a:off x="888866" y="5986962"/>
            <a:ext cx="3693319" cy="230832"/>
          </a:xfrm>
          <a:prstGeom prst="rect">
            <a:avLst/>
          </a:prstGeom>
          <a:noFill/>
        </p:spPr>
        <p:txBody>
          <a:bodyPr vert="horz" wrap="none" lIns="0" tIns="0" rIns="0" bIns="0" rtlCol="0">
            <a:spAutoFit/>
          </a:bodyPr>
          <a:lstStyle/>
          <a:p>
            <a:pPr>
              <a:lnSpc>
                <a:spcPts val="1798"/>
              </a:lnSpc>
            </a:pPr>
            <a:r>
              <a:rPr lang="zh-CN" altLang="en-US" dirty="0">
                <a:solidFill>
                  <a:srgbClr val="000000"/>
                </a:solidFill>
                <a:latin typeface="Times New Roman"/>
              </a:rPr>
              <a:t>酬多大程度上基於業績目標的實現。</a:t>
            </a:r>
          </a:p>
        </p:txBody>
      </p:sp>
      <p:sp>
        <p:nvSpPr>
          <p:cNvPr id="24" name="TextBox 23"/>
          <p:cNvSpPr txBox="1"/>
          <p:nvPr/>
        </p:nvSpPr>
        <p:spPr>
          <a:xfrm>
            <a:off x="7455794" y="6043586"/>
            <a:ext cx="512961" cy="128240"/>
          </a:xfrm>
          <a:prstGeom prst="rect">
            <a:avLst/>
          </a:prstGeom>
          <a:noFill/>
        </p:spPr>
        <p:txBody>
          <a:bodyPr vert="horz" wrap="none" lIns="0" tIns="0" rIns="0" bIns="0" rtlCol="0">
            <a:spAutoFit/>
          </a:bodyPr>
          <a:lstStyle/>
          <a:p>
            <a:pPr>
              <a:lnSpc>
                <a:spcPts val="1001"/>
              </a:lnSpc>
            </a:pPr>
            <a:r>
              <a:rPr lang="zh-CN" altLang="en-US" sz="1002" dirty="0">
                <a:solidFill>
                  <a:srgbClr val="FFFFFF"/>
                </a:solidFill>
                <a:latin typeface="Times New Roman"/>
              </a:rPr>
              <a:t>控制環境</a:t>
            </a:r>
          </a:p>
        </p:txBody>
      </p:sp>
      <p:sp>
        <p:nvSpPr>
          <p:cNvPr id="25" name="TextBox 24"/>
          <p:cNvSpPr txBox="1"/>
          <p:nvPr/>
        </p:nvSpPr>
        <p:spPr>
          <a:xfrm>
            <a:off x="8067681" y="6285482"/>
            <a:ext cx="1477969" cy="461665"/>
          </a:xfrm>
          <a:prstGeom prst="rect">
            <a:avLst/>
          </a:prstGeom>
          <a:noFill/>
        </p:spPr>
        <p:txBody>
          <a:bodyPr vert="horz" wrap="none" lIns="0" tIns="0" rIns="0" bIns="0" rtlCol="0">
            <a:spAutoFit/>
          </a:bodyPr>
          <a:lstStyle/>
          <a:p>
            <a:pPr>
              <a:lnSpc>
                <a:spcPts val="1800"/>
              </a:lnSpc>
            </a:pPr>
            <a:r>
              <a:rPr lang="en-US" altLang="zh-CN" dirty="0" err="1">
                <a:solidFill>
                  <a:srgbClr val="000000"/>
                </a:solidFill>
                <a:latin typeface="Times New Roman"/>
              </a:rPr>
              <a:t>Pwc</a:t>
            </a:r>
            <a:endParaRPr lang="en-US" altLang="zh-CN" dirty="0">
              <a:solidFill>
                <a:srgbClr val="000000"/>
              </a:solidFill>
              <a:latin typeface="Times New Roman"/>
            </a:endParaRPr>
          </a:p>
          <a:p>
            <a:pPr>
              <a:lnSpc>
                <a:spcPts val="1779"/>
              </a:lnSpc>
            </a:pPr>
            <a:r>
              <a:rPr lang="zh-CN" altLang="en-US" sz="1478" dirty="0">
                <a:solidFill>
                  <a:srgbClr val="000000"/>
                </a:solidFill>
                <a:latin typeface="Times New Roman"/>
              </a:rPr>
              <a:t>普     華     永     道</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myslide30">
    <p:spTree>
      <p:nvGrpSpPr>
        <p:cNvPr id="1" name=""/>
        <p:cNvGrpSpPr/>
        <p:nvPr/>
      </p:nvGrpSpPr>
      <p:grpSpPr>
        <a:xfrm>
          <a:off x="0" y="0"/>
          <a:ext cx="0" cy="0"/>
          <a:chOff x="0" y="0"/>
          <a:chExt cx="0" cy="0"/>
        </a:xfrm>
      </p:grpSpPr>
      <p:pic>
        <p:nvPicPr>
          <p:cNvPr id="2" name="图片 1" descr="ws_1BD.tmp"/>
          <p:cNvPicPr>
            <a:picLocks/>
          </p:cNvPicPr>
          <p:nvPr/>
        </p:nvPicPr>
        <p:blipFill>
          <a:blip r:embed="rId2"/>
          <a:stretch>
            <a:fillRect/>
          </a:stretch>
        </p:blipFill>
        <p:spPr>
          <a:xfrm>
            <a:off x="0" y="0"/>
            <a:ext cx="9880600" cy="6819900"/>
          </a:xfrm>
          <a:prstGeom prst="rect">
            <a:avLst/>
          </a:prstGeom>
        </p:spPr>
      </p:pic>
      <p:sp>
        <p:nvSpPr>
          <p:cNvPr id="3" name="TextBox 2"/>
          <p:cNvSpPr txBox="1"/>
          <p:nvPr/>
        </p:nvSpPr>
        <p:spPr>
          <a:xfrm>
            <a:off x="7873026" y="4394860"/>
            <a:ext cx="128240" cy="98745"/>
          </a:xfrm>
          <a:prstGeom prst="rect">
            <a:avLst/>
          </a:prstGeom>
          <a:noFill/>
        </p:spPr>
        <p:txBody>
          <a:bodyPr vert="horz" wrap="none" lIns="0" tIns="0" rIns="0" bIns="0" rtlCol="0">
            <a:spAutoFit/>
          </a:bodyPr>
          <a:lstStyle/>
          <a:p>
            <a:pPr>
              <a:lnSpc>
                <a:spcPts val="709"/>
              </a:lnSpc>
            </a:pPr>
            <a:r>
              <a:rPr lang="zh-CN" altLang="en-US" sz="1002" dirty="0">
                <a:solidFill>
                  <a:srgbClr val="FFFFFF"/>
                </a:solidFill>
                <a:latin typeface="Times New Roman"/>
              </a:rPr>
              <a:t>財</a:t>
            </a:r>
          </a:p>
        </p:txBody>
      </p:sp>
      <p:sp>
        <p:nvSpPr>
          <p:cNvPr id="4" name="TextBox 3"/>
          <p:cNvSpPr txBox="1"/>
          <p:nvPr/>
        </p:nvSpPr>
        <p:spPr>
          <a:xfrm>
            <a:off x="7962944" y="4304941"/>
            <a:ext cx="128240" cy="98745"/>
          </a:xfrm>
          <a:prstGeom prst="rect">
            <a:avLst/>
          </a:prstGeom>
          <a:noFill/>
        </p:spPr>
        <p:txBody>
          <a:bodyPr vert="horz" wrap="none" lIns="0" tIns="0" rIns="0" bIns="0" rtlCol="0">
            <a:spAutoFit/>
          </a:bodyPr>
          <a:lstStyle/>
          <a:p>
            <a:pPr>
              <a:lnSpc>
                <a:spcPts val="709"/>
              </a:lnSpc>
            </a:pPr>
            <a:r>
              <a:rPr lang="zh-CN" altLang="en-US" sz="1002" dirty="0">
                <a:solidFill>
                  <a:srgbClr val="FFFFFF"/>
                </a:solidFill>
                <a:latin typeface="Times New Roman"/>
              </a:rPr>
              <a:t>務</a:t>
            </a:r>
          </a:p>
        </p:txBody>
      </p:sp>
      <p:sp>
        <p:nvSpPr>
          <p:cNvPr id="5" name="TextBox 4"/>
          <p:cNvSpPr txBox="1"/>
          <p:nvPr/>
        </p:nvSpPr>
        <p:spPr>
          <a:xfrm>
            <a:off x="8052863" y="4215023"/>
            <a:ext cx="128240" cy="98745"/>
          </a:xfrm>
          <a:prstGeom prst="rect">
            <a:avLst/>
          </a:prstGeom>
          <a:noFill/>
        </p:spPr>
        <p:txBody>
          <a:bodyPr vert="horz" wrap="none" lIns="0" tIns="0" rIns="0" bIns="0" rtlCol="0">
            <a:spAutoFit/>
          </a:bodyPr>
          <a:lstStyle/>
          <a:p>
            <a:pPr>
              <a:lnSpc>
                <a:spcPts val="709"/>
              </a:lnSpc>
            </a:pPr>
            <a:r>
              <a:rPr lang="zh-CN" altLang="en-US" sz="1002" dirty="0">
                <a:solidFill>
                  <a:srgbClr val="FFFFFF"/>
                </a:solidFill>
                <a:latin typeface="Times New Roman"/>
              </a:rPr>
              <a:t>報</a:t>
            </a:r>
          </a:p>
        </p:txBody>
      </p:sp>
      <p:sp>
        <p:nvSpPr>
          <p:cNvPr id="6" name="TextBox 5"/>
          <p:cNvSpPr txBox="1"/>
          <p:nvPr/>
        </p:nvSpPr>
        <p:spPr>
          <a:xfrm>
            <a:off x="8142782" y="4125104"/>
            <a:ext cx="128240" cy="98745"/>
          </a:xfrm>
          <a:prstGeom prst="rect">
            <a:avLst/>
          </a:prstGeom>
          <a:noFill/>
        </p:spPr>
        <p:txBody>
          <a:bodyPr vert="horz" wrap="none" lIns="0" tIns="0" rIns="0" bIns="0" rtlCol="0">
            <a:spAutoFit/>
          </a:bodyPr>
          <a:lstStyle/>
          <a:p>
            <a:pPr>
              <a:lnSpc>
                <a:spcPts val="709"/>
              </a:lnSpc>
            </a:pPr>
            <a:r>
              <a:rPr lang="zh-CN" altLang="en-US" sz="1002" dirty="0">
                <a:solidFill>
                  <a:srgbClr val="FFFFFF"/>
                </a:solidFill>
                <a:latin typeface="Times New Roman"/>
              </a:rPr>
              <a:t>告</a:t>
            </a:r>
          </a:p>
        </p:txBody>
      </p:sp>
      <p:sp>
        <p:nvSpPr>
          <p:cNvPr id="7" name="TextBox 6"/>
          <p:cNvSpPr txBox="1"/>
          <p:nvPr/>
        </p:nvSpPr>
        <p:spPr>
          <a:xfrm>
            <a:off x="8540536" y="4349899"/>
            <a:ext cx="128240" cy="98745"/>
          </a:xfrm>
          <a:prstGeom prst="rect">
            <a:avLst/>
          </a:prstGeom>
          <a:noFill/>
        </p:spPr>
        <p:txBody>
          <a:bodyPr vert="horz" wrap="none" lIns="0" tIns="0" rIns="0" bIns="0" rtlCol="0">
            <a:spAutoFit/>
          </a:bodyPr>
          <a:lstStyle/>
          <a:p>
            <a:pPr>
              <a:lnSpc>
                <a:spcPts val="709"/>
              </a:lnSpc>
            </a:pPr>
            <a:r>
              <a:rPr lang="zh-CN" altLang="en-US" sz="1002" dirty="0">
                <a:solidFill>
                  <a:srgbClr val="FFFFFF"/>
                </a:solidFill>
                <a:latin typeface="Times New Roman"/>
              </a:rPr>
              <a:t>合</a:t>
            </a:r>
          </a:p>
        </p:txBody>
      </p:sp>
      <p:sp>
        <p:nvSpPr>
          <p:cNvPr id="8" name="TextBox 7"/>
          <p:cNvSpPr txBox="1"/>
          <p:nvPr/>
        </p:nvSpPr>
        <p:spPr>
          <a:xfrm>
            <a:off x="8630455" y="4259981"/>
            <a:ext cx="128240" cy="98745"/>
          </a:xfrm>
          <a:prstGeom prst="rect">
            <a:avLst/>
          </a:prstGeom>
          <a:noFill/>
        </p:spPr>
        <p:txBody>
          <a:bodyPr vert="horz" wrap="none" lIns="0" tIns="0" rIns="0" bIns="0" rtlCol="0">
            <a:spAutoFit/>
          </a:bodyPr>
          <a:lstStyle/>
          <a:p>
            <a:pPr>
              <a:lnSpc>
                <a:spcPts val="709"/>
              </a:lnSpc>
            </a:pPr>
            <a:r>
              <a:rPr lang="zh-CN" altLang="en-US" sz="1002" dirty="0">
                <a:solidFill>
                  <a:srgbClr val="FFFFFF"/>
                </a:solidFill>
                <a:latin typeface="Times New Roman"/>
              </a:rPr>
              <a:t>規</a:t>
            </a:r>
          </a:p>
        </p:txBody>
      </p:sp>
      <p:sp>
        <p:nvSpPr>
          <p:cNvPr id="9" name="TextBox 8"/>
          <p:cNvSpPr txBox="1"/>
          <p:nvPr/>
        </p:nvSpPr>
        <p:spPr>
          <a:xfrm>
            <a:off x="8720373" y="4170062"/>
            <a:ext cx="128240" cy="98745"/>
          </a:xfrm>
          <a:prstGeom prst="rect">
            <a:avLst/>
          </a:prstGeom>
          <a:noFill/>
        </p:spPr>
        <p:txBody>
          <a:bodyPr vert="horz" wrap="none" lIns="0" tIns="0" rIns="0" bIns="0" rtlCol="0">
            <a:spAutoFit/>
          </a:bodyPr>
          <a:lstStyle/>
          <a:p>
            <a:pPr>
              <a:lnSpc>
                <a:spcPts val="709"/>
              </a:lnSpc>
            </a:pPr>
            <a:r>
              <a:rPr lang="zh-CN" altLang="en-US" sz="1002" dirty="0">
                <a:solidFill>
                  <a:srgbClr val="FFFFFF"/>
                </a:solidFill>
                <a:latin typeface="Times New Roman"/>
              </a:rPr>
              <a:t>性</a:t>
            </a:r>
          </a:p>
        </p:txBody>
      </p:sp>
      <p:sp>
        <p:nvSpPr>
          <p:cNvPr id="10" name="TextBox 9"/>
          <p:cNvSpPr txBox="1"/>
          <p:nvPr/>
        </p:nvSpPr>
        <p:spPr>
          <a:xfrm>
            <a:off x="431672" y="2591765"/>
            <a:ext cx="174728" cy="224420"/>
          </a:xfrm>
          <a:prstGeom prst="rect">
            <a:avLst/>
          </a:prstGeom>
          <a:noFill/>
        </p:spPr>
        <p:txBody>
          <a:bodyPr vert="horz" wrap="none" lIns="0" tIns="0" rIns="0" bIns="0" rtlCol="0">
            <a:spAutoFit/>
          </a:bodyPr>
          <a:lstStyle/>
          <a:p>
            <a:pPr>
              <a:lnSpc>
                <a:spcPts val="1665"/>
              </a:lnSpc>
            </a:pPr>
            <a:r>
              <a:rPr lang="en-US" altLang="zh-CN" dirty="0">
                <a:solidFill>
                  <a:srgbClr val="000000"/>
                </a:solidFill>
                <a:latin typeface="Times New Roman"/>
              </a:rPr>
              <a:t>1.</a:t>
            </a:r>
            <a:endParaRPr lang="zh-CN" altLang="en-US" dirty="0">
              <a:solidFill>
                <a:srgbClr val="000000"/>
              </a:solidFill>
              <a:latin typeface="Times New Roman"/>
            </a:endParaRPr>
          </a:p>
        </p:txBody>
      </p:sp>
      <p:sp>
        <p:nvSpPr>
          <p:cNvPr id="11" name="TextBox 10"/>
          <p:cNvSpPr txBox="1"/>
          <p:nvPr/>
        </p:nvSpPr>
        <p:spPr>
          <a:xfrm>
            <a:off x="431672" y="3141159"/>
            <a:ext cx="174728" cy="224420"/>
          </a:xfrm>
          <a:prstGeom prst="rect">
            <a:avLst/>
          </a:prstGeom>
          <a:noFill/>
        </p:spPr>
        <p:txBody>
          <a:bodyPr vert="horz" wrap="none" lIns="0" tIns="0" rIns="0" bIns="0" rtlCol="0">
            <a:spAutoFit/>
          </a:bodyPr>
          <a:lstStyle/>
          <a:p>
            <a:pPr>
              <a:lnSpc>
                <a:spcPts val="1665"/>
              </a:lnSpc>
            </a:pPr>
            <a:r>
              <a:rPr lang="en-US" altLang="zh-CN" dirty="0">
                <a:solidFill>
                  <a:srgbClr val="000000"/>
                </a:solidFill>
                <a:latin typeface="Times New Roman"/>
              </a:rPr>
              <a:t>2.</a:t>
            </a:r>
            <a:endParaRPr lang="zh-CN" altLang="en-US" dirty="0">
              <a:solidFill>
                <a:srgbClr val="000000"/>
              </a:solidFill>
              <a:latin typeface="Times New Roman"/>
            </a:endParaRPr>
          </a:p>
        </p:txBody>
      </p:sp>
      <p:sp>
        <p:nvSpPr>
          <p:cNvPr id="12" name="TextBox 11"/>
          <p:cNvSpPr txBox="1"/>
          <p:nvPr/>
        </p:nvSpPr>
        <p:spPr>
          <a:xfrm>
            <a:off x="509403" y="6341571"/>
            <a:ext cx="144270" cy="133370"/>
          </a:xfrm>
          <a:prstGeom prst="rect">
            <a:avLst/>
          </a:prstGeom>
          <a:noFill/>
        </p:spPr>
        <p:txBody>
          <a:bodyPr vert="horz" wrap="none" lIns="0" tIns="0" rIns="0" bIns="0" rtlCol="0">
            <a:spAutoFit/>
          </a:bodyPr>
          <a:lstStyle/>
          <a:p>
            <a:pPr>
              <a:lnSpc>
                <a:spcPts val="1016"/>
              </a:lnSpc>
            </a:pPr>
            <a:r>
              <a:rPr lang="en-US" altLang="zh-CN" sz="1098" dirty="0">
                <a:solidFill>
                  <a:srgbClr val="761437"/>
                </a:solidFill>
                <a:latin typeface="Times New Roman"/>
              </a:rPr>
              <a:t>30</a:t>
            </a:r>
            <a:endParaRPr lang="zh-CN" altLang="en-US" sz="1098" dirty="0">
              <a:solidFill>
                <a:srgbClr val="761437"/>
              </a:solidFill>
              <a:latin typeface="Times New Roman"/>
            </a:endParaRPr>
          </a:p>
        </p:txBody>
      </p:sp>
      <p:sp>
        <p:nvSpPr>
          <p:cNvPr id="13" name="TextBox 12"/>
          <p:cNvSpPr txBox="1"/>
          <p:nvPr/>
        </p:nvSpPr>
        <p:spPr>
          <a:xfrm>
            <a:off x="509403" y="390082"/>
            <a:ext cx="8771632" cy="2987997"/>
          </a:xfrm>
          <a:prstGeom prst="rect">
            <a:avLst/>
          </a:prstGeom>
          <a:noFill/>
        </p:spPr>
        <p:txBody>
          <a:bodyPr vert="horz" wrap="none" lIns="0" tIns="0" rIns="0" bIns="0" rtlCol="0">
            <a:spAutoFit/>
          </a:bodyPr>
          <a:lstStyle/>
          <a:p>
            <a:pPr marL="0" marR="0" lvl="0" indent="0" defTabSz="914400" eaLnBrk="1" fontAlgn="auto" latinLnBrk="0" hangingPunct="1">
              <a:lnSpc>
                <a:spcPts val="4087"/>
              </a:lnSpc>
              <a:buClrTx/>
              <a:buSzTx/>
              <a:buNone/>
              <a:tabLst>
                <a:tab pos="317500" algn="l"/>
                <a:tab pos="368300" algn="l"/>
              </a:tabLst>
              <a:defRPr/>
            </a:pPr>
            <a:r>
              <a:rPr lang="zh-CN" altLang="en-US" dirty="0"/>
              <a:t>	</a:t>
            </a:r>
            <a:r>
              <a:rPr lang="zh-CN" altLang="en-US" sz="3798" dirty="0">
                <a:solidFill>
                  <a:srgbClr val="FFFFFF"/>
                </a:solidFill>
                <a:latin typeface="Times New Roman"/>
              </a:rPr>
              <a:t>控制環境  </a:t>
            </a:r>
            <a:r>
              <a:rPr lang="en-US" altLang="zh-CN" sz="3798" b="1" dirty="0">
                <a:solidFill>
                  <a:srgbClr val="FFFFFF"/>
                </a:solidFill>
                <a:latin typeface="Times New Roman"/>
              </a:rPr>
              <a:t>–  </a:t>
            </a:r>
            <a:r>
              <a:rPr lang="zh-CN" altLang="en-US" sz="3798" dirty="0">
                <a:solidFill>
                  <a:srgbClr val="FFFFFF"/>
                </a:solidFill>
                <a:latin typeface="Times New Roman"/>
              </a:rPr>
              <a:t>勝任能力</a:t>
            </a:r>
          </a:p>
          <a:p>
            <a:pPr marL="0" marR="0" lvl="0" indent="0" defTabSz="914400" eaLnBrk="1" fontAlgn="auto" latinLnBrk="0" hangingPunct="1">
              <a:lnSpc>
                <a:spcPts val="1000"/>
              </a:lnSpc>
              <a:buClrTx/>
              <a:buSzTx/>
              <a:buNone/>
              <a:tabLst>
                <a:tab pos="317500" algn="l"/>
                <a:tab pos="368300" algn="l"/>
              </a:tabLst>
              <a:defRPr/>
            </a:pPr>
            <a:endParaRPr lang="zh-CN" altLang="en-US" sz="3798" dirty="0">
              <a:solidFill>
                <a:srgbClr val="FFFFFF"/>
              </a:solidFill>
              <a:latin typeface="Times New Roman"/>
            </a:endParaRPr>
          </a:p>
          <a:p>
            <a:pPr marL="0" marR="0" lvl="0" indent="0" defTabSz="914400" eaLnBrk="1" fontAlgn="auto" latinLnBrk="0" hangingPunct="1">
              <a:lnSpc>
                <a:spcPts val="1000"/>
              </a:lnSpc>
              <a:buClrTx/>
              <a:buSzTx/>
              <a:buNone/>
              <a:tabLst>
                <a:tab pos="317500" algn="l"/>
                <a:tab pos="368300" algn="l"/>
              </a:tabLst>
              <a:defRPr/>
            </a:pPr>
            <a:endParaRPr lang="zh-CN" altLang="en-US" sz="3798" dirty="0">
              <a:solidFill>
                <a:srgbClr val="FFFFFF"/>
              </a:solidFill>
              <a:latin typeface="Times New Roman"/>
            </a:endParaRPr>
          </a:p>
          <a:p>
            <a:pPr marL="0" marR="0" lvl="0" indent="0" defTabSz="914400" eaLnBrk="1" fontAlgn="auto" latinLnBrk="0" hangingPunct="1">
              <a:lnSpc>
                <a:spcPts val="1000"/>
              </a:lnSpc>
              <a:buClrTx/>
              <a:buSzTx/>
              <a:buNone/>
              <a:tabLst>
                <a:tab pos="317500" algn="l"/>
                <a:tab pos="368300" algn="l"/>
              </a:tabLst>
              <a:defRPr/>
            </a:pPr>
            <a:endParaRPr lang="zh-CN" altLang="en-US" sz="3798" dirty="0">
              <a:solidFill>
                <a:srgbClr val="FFFFFF"/>
              </a:solidFill>
              <a:latin typeface="Times New Roman"/>
            </a:endParaRPr>
          </a:p>
          <a:p>
            <a:pPr marL="0" marR="0" lvl="0" indent="0" defTabSz="914400" eaLnBrk="1" fontAlgn="auto" latinLnBrk="0" hangingPunct="1">
              <a:lnSpc>
                <a:spcPts val="1000"/>
              </a:lnSpc>
              <a:buClrTx/>
              <a:buSzTx/>
              <a:buNone/>
              <a:tabLst>
                <a:tab pos="317500" algn="l"/>
                <a:tab pos="368300" algn="l"/>
              </a:tabLst>
              <a:defRPr/>
            </a:pPr>
            <a:endParaRPr lang="zh-CN" altLang="en-US" sz="3798" dirty="0">
              <a:solidFill>
                <a:srgbClr val="FFFFFF"/>
              </a:solidFill>
              <a:latin typeface="Times New Roman"/>
            </a:endParaRPr>
          </a:p>
          <a:p>
            <a:pPr marL="0" marR="0" lvl="0" indent="0" defTabSz="914400" eaLnBrk="1" fontAlgn="auto" latinLnBrk="0" hangingPunct="1">
              <a:lnSpc>
                <a:spcPts val="1000"/>
              </a:lnSpc>
              <a:buClrTx/>
              <a:buSzTx/>
              <a:buNone/>
              <a:tabLst>
                <a:tab pos="317500" algn="l"/>
                <a:tab pos="368300" algn="l"/>
              </a:tabLst>
              <a:defRPr/>
            </a:pPr>
            <a:endParaRPr lang="zh-CN" altLang="en-US" sz="3798" dirty="0">
              <a:solidFill>
                <a:srgbClr val="FFFFFF"/>
              </a:solidFill>
              <a:latin typeface="Times New Roman"/>
            </a:endParaRPr>
          </a:p>
          <a:p>
            <a:pPr marL="0" marR="0" lvl="0" indent="0" defTabSz="914400" eaLnBrk="1" fontAlgn="auto" latinLnBrk="0" hangingPunct="1">
              <a:lnSpc>
                <a:spcPts val="1000"/>
              </a:lnSpc>
              <a:buClrTx/>
              <a:buSzTx/>
              <a:buNone/>
              <a:tabLst>
                <a:tab pos="317500" algn="l"/>
                <a:tab pos="368300" algn="l"/>
              </a:tabLst>
              <a:defRPr/>
            </a:pPr>
            <a:endParaRPr lang="zh-CN" altLang="en-US" sz="3798" dirty="0">
              <a:solidFill>
                <a:srgbClr val="FFFFFF"/>
              </a:solidFill>
              <a:latin typeface="Times New Roman"/>
            </a:endParaRPr>
          </a:p>
          <a:p>
            <a:pPr marL="0" marR="0" lvl="0" indent="0" defTabSz="914400" eaLnBrk="1" fontAlgn="auto" latinLnBrk="0" hangingPunct="1">
              <a:lnSpc>
                <a:spcPts val="1990"/>
              </a:lnSpc>
              <a:buClrTx/>
              <a:buSzTx/>
              <a:buNone/>
              <a:tabLst>
                <a:tab pos="317500" algn="l"/>
                <a:tab pos="368300" algn="l"/>
              </a:tabLst>
              <a:defRPr/>
            </a:pPr>
            <a:r>
              <a:rPr lang="zh-CN" altLang="en-US" dirty="0">
                <a:solidFill>
                  <a:srgbClr val="000000"/>
                </a:solidFill>
                <a:latin typeface="Times New Roman"/>
              </a:rPr>
              <a:t>管理層應該明確規定不同工作所需要的能力級別，並將能力級別細化為必備的知識和技</a:t>
            </a:r>
          </a:p>
          <a:p>
            <a:pPr marL="0" marR="0" lvl="0" indent="0" defTabSz="914400" eaLnBrk="1" fontAlgn="auto" latinLnBrk="0" hangingPunct="1">
              <a:lnSpc>
                <a:spcPts val="2166"/>
              </a:lnSpc>
              <a:buClrTx/>
              <a:buSzTx/>
              <a:buNone/>
              <a:tabLst>
                <a:tab pos="317500" algn="l"/>
                <a:tab pos="368300" algn="l"/>
              </a:tabLst>
              <a:defRPr/>
            </a:pPr>
            <a:r>
              <a:rPr lang="zh-CN" altLang="en-US" dirty="0">
                <a:solidFill>
                  <a:srgbClr val="000000"/>
                </a:solidFill>
                <a:latin typeface="Times New Roman"/>
              </a:rPr>
              <a:t>術。</a:t>
            </a:r>
          </a:p>
          <a:p>
            <a:pPr marL="0" marR="0" lvl="0" indent="0" defTabSz="914400" eaLnBrk="1" fontAlgn="auto" latinLnBrk="0" hangingPunct="1">
              <a:lnSpc>
                <a:spcPts val="1000"/>
              </a:lnSpc>
              <a:buClrTx/>
              <a:buSzTx/>
              <a:buNone/>
              <a:tabLst>
                <a:tab pos="317500" algn="l"/>
                <a:tab pos="368300" algn="l"/>
              </a:tabLst>
              <a:defRPr/>
            </a:pPr>
            <a:endParaRPr lang="zh-CN" altLang="en-US" dirty="0">
              <a:solidFill>
                <a:srgbClr val="000000"/>
              </a:solidFill>
              <a:latin typeface="Times New Roman"/>
            </a:endParaRPr>
          </a:p>
          <a:p>
            <a:pPr marL="0" marR="0" lvl="0" indent="0" defTabSz="914400" eaLnBrk="1" fontAlgn="auto" latinLnBrk="0" hangingPunct="1">
              <a:lnSpc>
                <a:spcPts val="1000"/>
              </a:lnSpc>
              <a:buClrTx/>
              <a:buSzTx/>
              <a:buNone/>
              <a:tabLst>
                <a:tab pos="317500" algn="l"/>
                <a:tab pos="368300" algn="l"/>
              </a:tabLst>
              <a:defRPr/>
            </a:pPr>
            <a:endParaRPr lang="zh-CN" altLang="en-US" dirty="0">
              <a:solidFill>
                <a:srgbClr val="000000"/>
              </a:solidFill>
              <a:latin typeface="Times New Roman"/>
            </a:endParaRPr>
          </a:p>
          <a:p>
            <a:pPr marL="0" marR="0" lvl="0" indent="0" defTabSz="914400" eaLnBrk="1" fontAlgn="auto" latinLnBrk="0" hangingPunct="1">
              <a:lnSpc>
                <a:spcPts val="2638"/>
              </a:lnSpc>
              <a:buClrTx/>
              <a:buSzTx/>
              <a:buNone/>
              <a:tabLst>
                <a:tab pos="317500" algn="l"/>
                <a:tab pos="368300" algn="l"/>
              </a:tabLst>
              <a:defRPr/>
            </a:pPr>
            <a:r>
              <a:rPr lang="zh-CN" altLang="en-US" dirty="0">
                <a:solidFill>
                  <a:srgbClr val="000000"/>
                </a:solidFill>
                <a:latin typeface="Times New Roman"/>
              </a:rPr>
              <a:t>		是否存在正式和非正式的工作描述，或其它能說明具體</a:t>
            </a:r>
          </a:p>
          <a:p>
            <a:pPr marL="0" marR="0" lvl="0" indent="0" defTabSz="914400" eaLnBrk="1" fontAlgn="auto" latinLnBrk="0" hangingPunct="1">
              <a:lnSpc>
                <a:spcPts val="2160"/>
              </a:lnSpc>
              <a:buClrTx/>
              <a:buSzTx/>
              <a:buNone/>
              <a:tabLst>
                <a:tab pos="317500" algn="l"/>
                <a:tab pos="368300" algn="l"/>
              </a:tabLst>
              <a:defRPr/>
            </a:pPr>
            <a:r>
              <a:rPr lang="zh-CN" altLang="en-US" dirty="0">
                <a:solidFill>
                  <a:srgbClr val="000000"/>
                </a:solidFill>
                <a:latin typeface="Times New Roman"/>
              </a:rPr>
              <a:t>		工作的任務和責任的方式。</a:t>
            </a:r>
          </a:p>
          <a:p>
            <a:pPr marL="0" marR="0" lvl="0" indent="0" defTabSz="914400" eaLnBrk="1" fontAlgn="auto" latinLnBrk="0" hangingPunct="1">
              <a:lnSpc>
                <a:spcPts val="2166"/>
              </a:lnSpc>
              <a:buClrTx/>
              <a:buSzTx/>
              <a:buNone/>
              <a:tabLst>
                <a:tab pos="317500" algn="l"/>
                <a:tab pos="368300" algn="l"/>
              </a:tabLst>
              <a:defRPr/>
            </a:pPr>
            <a:r>
              <a:rPr lang="zh-CN" altLang="en-US" dirty="0">
                <a:solidFill>
                  <a:srgbClr val="000000"/>
                </a:solidFill>
                <a:latin typeface="Times New Roman"/>
              </a:rPr>
              <a:t>		分析勝任工作所需要的知識和技能。</a:t>
            </a:r>
          </a:p>
        </p:txBody>
      </p:sp>
      <p:sp>
        <p:nvSpPr>
          <p:cNvPr id="14" name="TextBox 13"/>
          <p:cNvSpPr txBox="1"/>
          <p:nvPr/>
        </p:nvSpPr>
        <p:spPr>
          <a:xfrm>
            <a:off x="7387977" y="4312336"/>
            <a:ext cx="128240" cy="128240"/>
          </a:xfrm>
          <a:prstGeom prst="rect">
            <a:avLst/>
          </a:prstGeom>
          <a:noFill/>
        </p:spPr>
        <p:txBody>
          <a:bodyPr vert="horz" wrap="none" lIns="0" tIns="0" rIns="0" bIns="0" rtlCol="0">
            <a:spAutoFit/>
          </a:bodyPr>
          <a:lstStyle/>
          <a:p>
            <a:pPr>
              <a:lnSpc>
                <a:spcPts val="1001"/>
              </a:lnSpc>
            </a:pPr>
            <a:r>
              <a:rPr lang="zh-CN" altLang="en-US" sz="1002" dirty="0">
                <a:solidFill>
                  <a:srgbClr val="FFFFFF"/>
                </a:solidFill>
                <a:latin typeface="Times New Roman"/>
              </a:rPr>
              <a:t>營</a:t>
            </a:r>
          </a:p>
        </p:txBody>
      </p:sp>
      <p:sp>
        <p:nvSpPr>
          <p:cNvPr id="15" name="TextBox 14"/>
          <p:cNvSpPr txBox="1"/>
          <p:nvPr/>
        </p:nvSpPr>
        <p:spPr>
          <a:xfrm>
            <a:off x="7478660" y="4223182"/>
            <a:ext cx="128240" cy="128240"/>
          </a:xfrm>
          <a:prstGeom prst="rect">
            <a:avLst/>
          </a:prstGeom>
          <a:noFill/>
        </p:spPr>
        <p:txBody>
          <a:bodyPr vert="horz" wrap="none" lIns="0" tIns="0" rIns="0" bIns="0" rtlCol="0">
            <a:spAutoFit/>
          </a:bodyPr>
          <a:lstStyle/>
          <a:p>
            <a:pPr>
              <a:lnSpc>
                <a:spcPts val="1001"/>
              </a:lnSpc>
            </a:pPr>
            <a:r>
              <a:rPr lang="zh-CN" altLang="en-US" sz="1002" dirty="0">
                <a:solidFill>
                  <a:srgbClr val="FFFFFF"/>
                </a:solidFill>
                <a:latin typeface="Times New Roman"/>
              </a:rPr>
              <a:t>運</a:t>
            </a:r>
          </a:p>
        </p:txBody>
      </p:sp>
      <p:sp>
        <p:nvSpPr>
          <p:cNvPr id="16" name="TextBox 15"/>
          <p:cNvSpPr txBox="1"/>
          <p:nvPr/>
        </p:nvSpPr>
        <p:spPr>
          <a:xfrm>
            <a:off x="7584573" y="4732182"/>
            <a:ext cx="256480" cy="128240"/>
          </a:xfrm>
          <a:prstGeom prst="rect">
            <a:avLst/>
          </a:prstGeom>
          <a:noFill/>
        </p:spPr>
        <p:txBody>
          <a:bodyPr vert="horz" wrap="none" lIns="0" tIns="0" rIns="0" bIns="0" rtlCol="0">
            <a:spAutoFit/>
          </a:bodyPr>
          <a:lstStyle/>
          <a:p>
            <a:pPr>
              <a:lnSpc>
                <a:spcPts val="1001"/>
              </a:lnSpc>
            </a:pPr>
            <a:r>
              <a:rPr lang="zh-CN" altLang="en-US" sz="1002" dirty="0">
                <a:solidFill>
                  <a:srgbClr val="FFFFFF"/>
                </a:solidFill>
                <a:latin typeface="Times New Roman"/>
              </a:rPr>
              <a:t>監控</a:t>
            </a:r>
          </a:p>
        </p:txBody>
      </p:sp>
      <p:sp>
        <p:nvSpPr>
          <p:cNvPr id="17" name="TextBox 16"/>
          <p:cNvSpPr txBox="1"/>
          <p:nvPr/>
        </p:nvSpPr>
        <p:spPr>
          <a:xfrm>
            <a:off x="9087966" y="4643033"/>
            <a:ext cx="307777" cy="294953"/>
          </a:xfrm>
          <a:prstGeom prst="rect">
            <a:avLst/>
          </a:prstGeom>
          <a:noFill/>
        </p:spPr>
        <p:txBody>
          <a:bodyPr vert="horz" wrap="none" lIns="0" tIns="0" rIns="0" bIns="0" rtlCol="0">
            <a:spAutoFit/>
          </a:bodyPr>
          <a:lstStyle/>
          <a:p>
            <a:pPr marL="0" marR="0" lvl="0" indent="0" defTabSz="914400" eaLnBrk="1" fontAlgn="auto" latinLnBrk="0" hangingPunct="1">
              <a:lnSpc>
                <a:spcPts val="1001"/>
              </a:lnSpc>
              <a:buClrTx/>
              <a:buSzTx/>
              <a:buNone/>
              <a:tabLst>
                <a:tab pos="177800" algn="l"/>
              </a:tabLst>
              <a:defRPr/>
            </a:pPr>
            <a:r>
              <a:rPr lang="zh-CN" altLang="en-US" dirty="0"/>
              <a:t>	</a:t>
            </a:r>
            <a:r>
              <a:rPr lang="zh-CN" altLang="en-US" sz="1002" dirty="0">
                <a:solidFill>
                  <a:srgbClr val="FFFFFF"/>
                </a:solidFill>
                <a:latin typeface="Times New Roman"/>
              </a:rPr>
              <a:t>活</a:t>
            </a:r>
          </a:p>
          <a:p>
            <a:pPr marL="0" marR="0" lvl="0" indent="0" defTabSz="914400" eaLnBrk="1" fontAlgn="auto" latinLnBrk="0" hangingPunct="1">
              <a:lnSpc>
                <a:spcPts val="1284"/>
              </a:lnSpc>
              <a:buClrTx/>
              <a:buSzTx/>
              <a:buNone/>
              <a:tabLst>
                <a:tab pos="177800" algn="l"/>
              </a:tabLst>
              <a:defRPr/>
            </a:pPr>
            <a:r>
              <a:rPr lang="zh-CN" altLang="en-US" sz="1002" dirty="0">
                <a:solidFill>
                  <a:srgbClr val="FFFFFF"/>
                </a:solidFill>
                <a:latin typeface="Times New Roman"/>
              </a:rPr>
              <a:t>活 動</a:t>
            </a:r>
          </a:p>
        </p:txBody>
      </p:sp>
      <p:sp>
        <p:nvSpPr>
          <p:cNvPr id="18" name="TextBox 17"/>
          <p:cNvSpPr txBox="1"/>
          <p:nvPr/>
        </p:nvSpPr>
        <p:spPr>
          <a:xfrm>
            <a:off x="7392550" y="5056031"/>
            <a:ext cx="641201" cy="782265"/>
          </a:xfrm>
          <a:prstGeom prst="rect">
            <a:avLst/>
          </a:prstGeom>
          <a:noFill/>
        </p:spPr>
        <p:txBody>
          <a:bodyPr vert="horz" wrap="none" lIns="0" tIns="0" rIns="0" bIns="0" rtlCol="0">
            <a:spAutoFit/>
          </a:bodyPr>
          <a:lstStyle/>
          <a:p>
            <a:pPr marL="0" marR="0" lvl="0" indent="0" defTabSz="914400" eaLnBrk="1" fontAlgn="auto" latinLnBrk="0" hangingPunct="1">
              <a:lnSpc>
                <a:spcPts val="1001"/>
              </a:lnSpc>
              <a:buClrTx/>
              <a:buSzTx/>
              <a:buNone/>
              <a:tabLst>
                <a:tab pos="63500" algn="l"/>
              </a:tabLst>
              <a:defRPr/>
            </a:pPr>
            <a:r>
              <a:rPr lang="zh-CN" altLang="en-US" sz="1002" dirty="0">
                <a:solidFill>
                  <a:srgbClr val="FFFFFF"/>
                </a:solidFill>
                <a:latin typeface="Times New Roman"/>
              </a:rPr>
              <a:t>資訊和溝通</a:t>
            </a:r>
          </a:p>
          <a:p>
            <a:pPr marL="0" marR="0" lvl="0" indent="0" defTabSz="914400" eaLnBrk="1" fontAlgn="auto" latinLnBrk="0" hangingPunct="1">
              <a:lnSpc>
                <a:spcPts val="1000"/>
              </a:lnSpc>
              <a:buClrTx/>
              <a:buSzTx/>
              <a:buNone/>
              <a:tabLst>
                <a:tab pos="63500" algn="l"/>
              </a:tabLst>
              <a:defRPr/>
            </a:pPr>
            <a:endParaRPr lang="zh-CN" altLang="en-US" sz="1002" dirty="0">
              <a:solidFill>
                <a:srgbClr val="FFFFFF"/>
              </a:solidFill>
              <a:latin typeface="Times New Roman"/>
            </a:endParaRPr>
          </a:p>
          <a:p>
            <a:pPr marL="0" marR="0" lvl="0" indent="0" defTabSz="914400" eaLnBrk="1" fontAlgn="auto" latinLnBrk="0" hangingPunct="1">
              <a:lnSpc>
                <a:spcPts val="1466"/>
              </a:lnSpc>
              <a:buClrTx/>
              <a:buSzTx/>
              <a:buNone/>
              <a:tabLst>
                <a:tab pos="63500" algn="l"/>
              </a:tabLst>
              <a:defRPr/>
            </a:pPr>
            <a:r>
              <a:rPr lang="zh-CN" altLang="en-US" sz="1002" dirty="0">
                <a:solidFill>
                  <a:srgbClr val="FFFFFF"/>
                </a:solidFill>
                <a:latin typeface="Times New Roman"/>
              </a:rPr>
              <a:t>	控制活動</a:t>
            </a:r>
          </a:p>
          <a:p>
            <a:pPr marL="0" marR="0" lvl="0" indent="0" defTabSz="914400" eaLnBrk="1" fontAlgn="auto" latinLnBrk="0" hangingPunct="1">
              <a:lnSpc>
                <a:spcPts val="1000"/>
              </a:lnSpc>
              <a:buClrTx/>
              <a:buSzTx/>
              <a:buNone/>
              <a:tabLst>
                <a:tab pos="63500" algn="l"/>
              </a:tabLst>
              <a:defRPr/>
            </a:pPr>
            <a:endParaRPr lang="zh-CN" altLang="en-US" sz="1002" dirty="0">
              <a:solidFill>
                <a:srgbClr val="FFFFFF"/>
              </a:solidFill>
              <a:latin typeface="Times New Roman"/>
            </a:endParaRPr>
          </a:p>
          <a:p>
            <a:pPr marL="0" marR="0" lvl="0" indent="0" defTabSz="914400" eaLnBrk="1" fontAlgn="auto" latinLnBrk="0" hangingPunct="1">
              <a:lnSpc>
                <a:spcPts val="1646"/>
              </a:lnSpc>
              <a:buClrTx/>
              <a:buSzTx/>
              <a:buNone/>
              <a:tabLst>
                <a:tab pos="63500" algn="l"/>
              </a:tabLst>
              <a:defRPr/>
            </a:pPr>
            <a:r>
              <a:rPr lang="zh-CN" altLang="en-US" sz="1002" dirty="0">
                <a:solidFill>
                  <a:srgbClr val="FFFFFF"/>
                </a:solidFill>
                <a:latin typeface="Times New Roman"/>
              </a:rPr>
              <a:t>	風險評估</a:t>
            </a:r>
          </a:p>
        </p:txBody>
      </p:sp>
      <p:sp>
        <p:nvSpPr>
          <p:cNvPr id="19" name="TextBox 18"/>
          <p:cNvSpPr txBox="1"/>
          <p:nvPr/>
        </p:nvSpPr>
        <p:spPr>
          <a:xfrm>
            <a:off x="8750433" y="5104819"/>
            <a:ext cx="128240" cy="743793"/>
          </a:xfrm>
          <a:prstGeom prst="rect">
            <a:avLst/>
          </a:prstGeom>
          <a:noFill/>
        </p:spPr>
        <p:txBody>
          <a:bodyPr vert="horz" wrap="none" lIns="0" tIns="0" rIns="0" bIns="0" rtlCol="0">
            <a:spAutoFit/>
          </a:bodyPr>
          <a:lstStyle/>
          <a:p>
            <a:pPr>
              <a:lnSpc>
                <a:spcPts val="1001"/>
              </a:lnSpc>
            </a:pPr>
            <a:r>
              <a:rPr lang="zh-CN" altLang="en-US" sz="1002" dirty="0">
                <a:solidFill>
                  <a:srgbClr val="FFFFFF"/>
                </a:solidFill>
                <a:latin typeface="Times New Roman"/>
              </a:rPr>
              <a:t>業</a:t>
            </a:r>
          </a:p>
          <a:p>
            <a:pPr>
              <a:lnSpc>
                <a:spcPts val="1200"/>
              </a:lnSpc>
            </a:pPr>
            <a:r>
              <a:rPr lang="zh-CN" altLang="en-US" sz="1002" dirty="0">
                <a:solidFill>
                  <a:srgbClr val="FFFFFF"/>
                </a:solidFill>
                <a:latin typeface="Times New Roman"/>
              </a:rPr>
              <a:t>務</a:t>
            </a:r>
          </a:p>
          <a:p>
            <a:pPr>
              <a:lnSpc>
                <a:spcPts val="1200"/>
              </a:lnSpc>
            </a:pPr>
            <a:r>
              <a:rPr lang="zh-CN" altLang="en-US" sz="1002" dirty="0">
                <a:solidFill>
                  <a:srgbClr val="FFFFFF"/>
                </a:solidFill>
                <a:latin typeface="Times New Roman"/>
              </a:rPr>
              <a:t>單</a:t>
            </a:r>
          </a:p>
          <a:p>
            <a:pPr>
              <a:lnSpc>
                <a:spcPts val="1200"/>
              </a:lnSpc>
            </a:pPr>
            <a:r>
              <a:rPr lang="zh-CN" altLang="en-US" sz="1002" dirty="0">
                <a:solidFill>
                  <a:srgbClr val="FFFFFF"/>
                </a:solidFill>
                <a:latin typeface="Times New Roman"/>
              </a:rPr>
              <a:t>位</a:t>
            </a:r>
          </a:p>
          <a:p>
            <a:pPr>
              <a:lnSpc>
                <a:spcPts val="1193"/>
              </a:lnSpc>
            </a:pPr>
            <a:r>
              <a:rPr lang="en-US" altLang="zh-CN" sz="1002" b="1" dirty="0">
                <a:solidFill>
                  <a:srgbClr val="FFFFFF"/>
                </a:solidFill>
                <a:latin typeface="Times New Roman"/>
              </a:rPr>
              <a:t>A</a:t>
            </a:r>
            <a:endParaRPr lang="zh-CN" altLang="en-US" sz="1002" b="1" dirty="0">
              <a:solidFill>
                <a:srgbClr val="FFFFFF"/>
              </a:solidFill>
              <a:latin typeface="Times New Roman"/>
            </a:endParaRPr>
          </a:p>
        </p:txBody>
      </p:sp>
      <p:sp>
        <p:nvSpPr>
          <p:cNvPr id="20" name="TextBox 19"/>
          <p:cNvSpPr txBox="1"/>
          <p:nvPr/>
        </p:nvSpPr>
        <p:spPr>
          <a:xfrm>
            <a:off x="8921868" y="4953931"/>
            <a:ext cx="384721" cy="743793"/>
          </a:xfrm>
          <a:prstGeom prst="rect">
            <a:avLst/>
          </a:prstGeom>
          <a:noFill/>
        </p:spPr>
        <p:txBody>
          <a:bodyPr vert="horz" wrap="none" lIns="0" tIns="0" rIns="0" bIns="0" rtlCol="0">
            <a:spAutoFit/>
          </a:bodyPr>
          <a:lstStyle/>
          <a:p>
            <a:pPr marL="0" marR="0" lvl="0" indent="0" defTabSz="914400" eaLnBrk="1" fontAlgn="auto" latinLnBrk="0" hangingPunct="1">
              <a:lnSpc>
                <a:spcPts val="1037"/>
              </a:lnSpc>
              <a:buClrTx/>
              <a:buSzTx/>
              <a:buNone/>
              <a:tabLst>
                <a:tab pos="25400" algn="l"/>
              </a:tabLst>
              <a:defRPr/>
            </a:pPr>
            <a:r>
              <a:rPr lang="zh-CN" altLang="en-US" sz="1002" dirty="0">
                <a:solidFill>
                  <a:srgbClr val="FFFFFF"/>
                </a:solidFill>
                <a:latin typeface="Times New Roman"/>
              </a:rPr>
              <a:t>業 動 </a:t>
            </a:r>
            <a:r>
              <a:rPr lang="en-US" altLang="zh-CN" sz="1002" b="1" dirty="0">
                <a:solidFill>
                  <a:srgbClr val="FFFFFF"/>
                </a:solidFill>
                <a:latin typeface="Times New Roman"/>
              </a:rPr>
              <a:t>2</a:t>
            </a:r>
          </a:p>
          <a:p>
            <a:pPr marL="0" marR="0" lvl="0" indent="0" defTabSz="914400" eaLnBrk="1" fontAlgn="auto" latinLnBrk="0" hangingPunct="1">
              <a:lnSpc>
                <a:spcPts val="1193"/>
              </a:lnSpc>
              <a:buClrTx/>
              <a:buSzTx/>
              <a:buNone/>
              <a:tabLst>
                <a:tab pos="25400" algn="l"/>
              </a:tabLst>
              <a:defRPr/>
            </a:pPr>
            <a:r>
              <a:rPr lang="zh-CN" altLang="en-US" sz="1002" dirty="0">
                <a:solidFill>
                  <a:srgbClr val="FFFFFF"/>
                </a:solidFill>
                <a:latin typeface="Times New Roman"/>
              </a:rPr>
              <a:t>務 </a:t>
            </a:r>
            <a:r>
              <a:rPr lang="en-US" altLang="zh-CN" sz="1002" b="1" dirty="0">
                <a:solidFill>
                  <a:srgbClr val="FFFFFF"/>
                </a:solidFill>
                <a:latin typeface="Times New Roman"/>
              </a:rPr>
              <a:t>1</a:t>
            </a:r>
          </a:p>
          <a:p>
            <a:pPr marL="0" marR="0" lvl="0" indent="0" defTabSz="914400" eaLnBrk="1" fontAlgn="auto" latinLnBrk="0" hangingPunct="1">
              <a:lnSpc>
                <a:spcPts val="1171"/>
              </a:lnSpc>
              <a:buClrTx/>
              <a:buSzTx/>
              <a:buNone/>
              <a:tabLst>
                <a:tab pos="25400" algn="l"/>
              </a:tabLst>
              <a:defRPr/>
            </a:pPr>
            <a:r>
              <a:rPr lang="zh-CN" altLang="en-US" sz="1002" dirty="0">
                <a:solidFill>
                  <a:srgbClr val="FFFFFF"/>
                </a:solidFill>
                <a:latin typeface="Times New Roman"/>
              </a:rPr>
              <a:t>單</a:t>
            </a:r>
          </a:p>
          <a:p>
            <a:pPr marL="0" marR="0" lvl="0" indent="0" defTabSz="914400" eaLnBrk="1" fontAlgn="auto" latinLnBrk="0" hangingPunct="1">
              <a:lnSpc>
                <a:spcPts val="1200"/>
              </a:lnSpc>
              <a:buClrTx/>
              <a:buSzTx/>
              <a:buNone/>
              <a:tabLst>
                <a:tab pos="25400" algn="l"/>
              </a:tabLst>
              <a:defRPr/>
            </a:pPr>
            <a:r>
              <a:rPr lang="zh-CN" altLang="en-US" sz="1002" dirty="0">
                <a:solidFill>
                  <a:srgbClr val="FFFFFF"/>
                </a:solidFill>
                <a:latin typeface="Times New Roman"/>
              </a:rPr>
              <a:t>位</a:t>
            </a:r>
          </a:p>
          <a:p>
            <a:pPr marL="0" marR="0" lvl="0" indent="0" defTabSz="914400" eaLnBrk="1" fontAlgn="auto" latinLnBrk="0" hangingPunct="1">
              <a:lnSpc>
                <a:spcPts val="1193"/>
              </a:lnSpc>
              <a:buClrTx/>
              <a:buSzTx/>
              <a:buNone/>
              <a:tabLst>
                <a:tab pos="25400" algn="l"/>
              </a:tabLst>
              <a:defRPr/>
            </a:pPr>
            <a:r>
              <a:rPr lang="zh-CN" altLang="en-US" sz="1002" dirty="0">
                <a:solidFill>
                  <a:srgbClr val="FFFFFF"/>
                </a:solidFill>
                <a:latin typeface="Times New Roman"/>
              </a:rPr>
              <a:t>	</a:t>
            </a:r>
            <a:r>
              <a:rPr lang="en-US" altLang="zh-CN" sz="1002" b="1" dirty="0">
                <a:solidFill>
                  <a:srgbClr val="FFFFFF"/>
                </a:solidFill>
                <a:latin typeface="Times New Roman"/>
              </a:rPr>
              <a:t>B</a:t>
            </a:r>
            <a:endParaRPr lang="zh-CN" altLang="en-US" sz="1002" b="1" dirty="0">
              <a:solidFill>
                <a:srgbClr val="FFFFFF"/>
              </a:solidFill>
              <a:latin typeface="Times New Roman"/>
            </a:endParaRPr>
          </a:p>
        </p:txBody>
      </p:sp>
      <p:sp>
        <p:nvSpPr>
          <p:cNvPr id="21" name="TextBox 20"/>
          <p:cNvSpPr txBox="1"/>
          <p:nvPr/>
        </p:nvSpPr>
        <p:spPr>
          <a:xfrm>
            <a:off x="7455794" y="6043586"/>
            <a:ext cx="2093522" cy="705321"/>
          </a:xfrm>
          <a:prstGeom prst="rect">
            <a:avLst/>
          </a:prstGeom>
          <a:noFill/>
        </p:spPr>
        <p:txBody>
          <a:bodyPr vert="horz" wrap="none" lIns="0" tIns="0" rIns="0" bIns="0" rtlCol="0">
            <a:spAutoFit/>
          </a:bodyPr>
          <a:lstStyle/>
          <a:p>
            <a:pPr marL="0" marR="0" lvl="0" indent="0" defTabSz="914400" eaLnBrk="1" fontAlgn="auto" latinLnBrk="0" hangingPunct="1">
              <a:lnSpc>
                <a:spcPts val="1001"/>
              </a:lnSpc>
              <a:buClrTx/>
              <a:buSzTx/>
              <a:buNone/>
              <a:tabLst>
                <a:tab pos="609600" algn="l"/>
              </a:tabLst>
              <a:defRPr/>
            </a:pPr>
            <a:r>
              <a:rPr lang="zh-CN" altLang="en-US" sz="1002" dirty="0">
                <a:solidFill>
                  <a:srgbClr val="FFFFFF"/>
                </a:solidFill>
                <a:latin typeface="Times New Roman"/>
              </a:rPr>
              <a:t>控制環境</a:t>
            </a:r>
          </a:p>
          <a:p>
            <a:pPr marL="0" marR="0" lvl="0" indent="0" defTabSz="914400" eaLnBrk="1" fontAlgn="auto" latinLnBrk="0" hangingPunct="1">
              <a:lnSpc>
                <a:spcPts val="2704"/>
              </a:lnSpc>
              <a:buClrTx/>
              <a:buSzTx/>
              <a:buNone/>
              <a:tabLst>
                <a:tab pos="609600" algn="l"/>
              </a:tabLst>
              <a:defRPr/>
            </a:pPr>
            <a:r>
              <a:rPr lang="zh-CN" altLang="en-US" sz="1002" dirty="0">
                <a:solidFill>
                  <a:srgbClr val="FFFFFF"/>
                </a:solidFill>
                <a:latin typeface="Times New Roman"/>
              </a:rPr>
              <a:t>	</a:t>
            </a:r>
            <a:r>
              <a:rPr lang="en-US" altLang="zh-CN" dirty="0" err="1">
                <a:solidFill>
                  <a:srgbClr val="000000"/>
                </a:solidFill>
                <a:latin typeface="Times New Roman"/>
              </a:rPr>
              <a:t>Pwc</a:t>
            </a:r>
            <a:endParaRPr lang="en-US" altLang="zh-CN" dirty="0">
              <a:solidFill>
                <a:srgbClr val="000000"/>
              </a:solidFill>
              <a:latin typeface="Times New Roman"/>
            </a:endParaRPr>
          </a:p>
          <a:p>
            <a:pPr marL="0" marR="0" lvl="0" indent="0" defTabSz="914400" eaLnBrk="1" fontAlgn="auto" latinLnBrk="0" hangingPunct="1">
              <a:lnSpc>
                <a:spcPts val="1779"/>
              </a:lnSpc>
              <a:buClrTx/>
              <a:buSzTx/>
              <a:buNone/>
              <a:tabLst>
                <a:tab pos="609600" algn="l"/>
              </a:tabLst>
              <a:defRPr/>
            </a:pPr>
            <a:r>
              <a:rPr lang="en-US" altLang="zh-CN" dirty="0">
                <a:solidFill>
                  <a:srgbClr val="000000"/>
                </a:solidFill>
                <a:latin typeface="Times New Roman"/>
              </a:rPr>
              <a:t>	</a:t>
            </a:r>
            <a:r>
              <a:rPr lang="zh-CN" altLang="en-US" sz="1478" dirty="0">
                <a:solidFill>
                  <a:srgbClr val="000000"/>
                </a:solidFill>
                <a:latin typeface="Times New Roman"/>
              </a:rPr>
              <a:t>普     華     永     道</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myslide31">
    <p:spTree>
      <p:nvGrpSpPr>
        <p:cNvPr id="1" name=""/>
        <p:cNvGrpSpPr/>
        <p:nvPr/>
      </p:nvGrpSpPr>
      <p:grpSpPr>
        <a:xfrm>
          <a:off x="0" y="0"/>
          <a:ext cx="0" cy="0"/>
          <a:chOff x="0" y="0"/>
          <a:chExt cx="0" cy="0"/>
        </a:xfrm>
      </p:grpSpPr>
      <p:pic>
        <p:nvPicPr>
          <p:cNvPr id="2" name="图片 1" descr="ws_1BF.tmp"/>
          <p:cNvPicPr>
            <a:picLocks/>
          </p:cNvPicPr>
          <p:nvPr/>
        </p:nvPicPr>
        <p:blipFill>
          <a:blip r:embed="rId2"/>
          <a:stretch>
            <a:fillRect/>
          </a:stretch>
        </p:blipFill>
        <p:spPr>
          <a:xfrm>
            <a:off x="0" y="0"/>
            <a:ext cx="9880600" cy="6819900"/>
          </a:xfrm>
          <a:prstGeom prst="rect">
            <a:avLst/>
          </a:prstGeom>
        </p:spPr>
      </p:pic>
      <p:sp>
        <p:nvSpPr>
          <p:cNvPr id="3" name="TextBox 2"/>
          <p:cNvSpPr txBox="1"/>
          <p:nvPr/>
        </p:nvSpPr>
        <p:spPr>
          <a:xfrm>
            <a:off x="7873026" y="4394860"/>
            <a:ext cx="128240" cy="98745"/>
          </a:xfrm>
          <a:prstGeom prst="rect">
            <a:avLst/>
          </a:prstGeom>
          <a:noFill/>
        </p:spPr>
        <p:txBody>
          <a:bodyPr vert="horz" wrap="none" lIns="0" tIns="0" rIns="0" bIns="0" rtlCol="0">
            <a:spAutoFit/>
          </a:bodyPr>
          <a:lstStyle/>
          <a:p>
            <a:pPr>
              <a:lnSpc>
                <a:spcPts val="709"/>
              </a:lnSpc>
            </a:pPr>
            <a:r>
              <a:rPr lang="zh-CN" altLang="en-US" sz="1002" dirty="0">
                <a:solidFill>
                  <a:srgbClr val="FFFFFF"/>
                </a:solidFill>
                <a:latin typeface="Times New Roman"/>
              </a:rPr>
              <a:t>財</a:t>
            </a:r>
          </a:p>
        </p:txBody>
      </p:sp>
      <p:sp>
        <p:nvSpPr>
          <p:cNvPr id="4" name="TextBox 3"/>
          <p:cNvSpPr txBox="1"/>
          <p:nvPr/>
        </p:nvSpPr>
        <p:spPr>
          <a:xfrm>
            <a:off x="7962944" y="4304941"/>
            <a:ext cx="128240" cy="98745"/>
          </a:xfrm>
          <a:prstGeom prst="rect">
            <a:avLst/>
          </a:prstGeom>
          <a:noFill/>
        </p:spPr>
        <p:txBody>
          <a:bodyPr vert="horz" wrap="none" lIns="0" tIns="0" rIns="0" bIns="0" rtlCol="0">
            <a:spAutoFit/>
          </a:bodyPr>
          <a:lstStyle/>
          <a:p>
            <a:pPr>
              <a:lnSpc>
                <a:spcPts val="709"/>
              </a:lnSpc>
            </a:pPr>
            <a:r>
              <a:rPr lang="zh-CN" altLang="en-US" sz="1002" dirty="0">
                <a:solidFill>
                  <a:srgbClr val="FFFFFF"/>
                </a:solidFill>
                <a:latin typeface="Times New Roman"/>
              </a:rPr>
              <a:t>務</a:t>
            </a:r>
          </a:p>
        </p:txBody>
      </p:sp>
      <p:sp>
        <p:nvSpPr>
          <p:cNvPr id="5" name="TextBox 4"/>
          <p:cNvSpPr txBox="1"/>
          <p:nvPr/>
        </p:nvSpPr>
        <p:spPr>
          <a:xfrm>
            <a:off x="8052863" y="4215023"/>
            <a:ext cx="128240" cy="98745"/>
          </a:xfrm>
          <a:prstGeom prst="rect">
            <a:avLst/>
          </a:prstGeom>
          <a:noFill/>
        </p:spPr>
        <p:txBody>
          <a:bodyPr vert="horz" wrap="none" lIns="0" tIns="0" rIns="0" bIns="0" rtlCol="0">
            <a:spAutoFit/>
          </a:bodyPr>
          <a:lstStyle/>
          <a:p>
            <a:pPr>
              <a:lnSpc>
                <a:spcPts val="709"/>
              </a:lnSpc>
            </a:pPr>
            <a:r>
              <a:rPr lang="zh-CN" altLang="en-US" sz="1002" dirty="0">
                <a:solidFill>
                  <a:srgbClr val="FFFFFF"/>
                </a:solidFill>
                <a:latin typeface="Times New Roman"/>
              </a:rPr>
              <a:t>報</a:t>
            </a:r>
          </a:p>
        </p:txBody>
      </p:sp>
      <p:sp>
        <p:nvSpPr>
          <p:cNvPr id="6" name="TextBox 5"/>
          <p:cNvSpPr txBox="1"/>
          <p:nvPr/>
        </p:nvSpPr>
        <p:spPr>
          <a:xfrm>
            <a:off x="8142782" y="4125104"/>
            <a:ext cx="128240" cy="98745"/>
          </a:xfrm>
          <a:prstGeom prst="rect">
            <a:avLst/>
          </a:prstGeom>
          <a:noFill/>
        </p:spPr>
        <p:txBody>
          <a:bodyPr vert="horz" wrap="none" lIns="0" tIns="0" rIns="0" bIns="0" rtlCol="0">
            <a:spAutoFit/>
          </a:bodyPr>
          <a:lstStyle/>
          <a:p>
            <a:pPr>
              <a:lnSpc>
                <a:spcPts val="709"/>
              </a:lnSpc>
            </a:pPr>
            <a:r>
              <a:rPr lang="zh-CN" altLang="en-US" sz="1002" dirty="0">
                <a:solidFill>
                  <a:srgbClr val="FFFFFF"/>
                </a:solidFill>
                <a:latin typeface="Times New Roman"/>
              </a:rPr>
              <a:t>告</a:t>
            </a:r>
          </a:p>
        </p:txBody>
      </p:sp>
      <p:sp>
        <p:nvSpPr>
          <p:cNvPr id="7" name="TextBox 6"/>
          <p:cNvSpPr txBox="1"/>
          <p:nvPr/>
        </p:nvSpPr>
        <p:spPr>
          <a:xfrm>
            <a:off x="8540536" y="4349899"/>
            <a:ext cx="128240" cy="98745"/>
          </a:xfrm>
          <a:prstGeom prst="rect">
            <a:avLst/>
          </a:prstGeom>
          <a:noFill/>
        </p:spPr>
        <p:txBody>
          <a:bodyPr vert="horz" wrap="none" lIns="0" tIns="0" rIns="0" bIns="0" rtlCol="0">
            <a:spAutoFit/>
          </a:bodyPr>
          <a:lstStyle/>
          <a:p>
            <a:pPr>
              <a:lnSpc>
                <a:spcPts val="709"/>
              </a:lnSpc>
            </a:pPr>
            <a:r>
              <a:rPr lang="zh-CN" altLang="en-US" sz="1002" dirty="0">
                <a:solidFill>
                  <a:srgbClr val="FFFFFF"/>
                </a:solidFill>
                <a:latin typeface="Times New Roman"/>
              </a:rPr>
              <a:t>合</a:t>
            </a:r>
          </a:p>
        </p:txBody>
      </p:sp>
      <p:sp>
        <p:nvSpPr>
          <p:cNvPr id="8" name="TextBox 7"/>
          <p:cNvSpPr txBox="1"/>
          <p:nvPr/>
        </p:nvSpPr>
        <p:spPr>
          <a:xfrm>
            <a:off x="8630455" y="4259981"/>
            <a:ext cx="128240" cy="98745"/>
          </a:xfrm>
          <a:prstGeom prst="rect">
            <a:avLst/>
          </a:prstGeom>
          <a:noFill/>
        </p:spPr>
        <p:txBody>
          <a:bodyPr vert="horz" wrap="none" lIns="0" tIns="0" rIns="0" bIns="0" rtlCol="0">
            <a:spAutoFit/>
          </a:bodyPr>
          <a:lstStyle/>
          <a:p>
            <a:pPr>
              <a:lnSpc>
                <a:spcPts val="709"/>
              </a:lnSpc>
            </a:pPr>
            <a:r>
              <a:rPr lang="zh-CN" altLang="en-US" sz="1002" dirty="0">
                <a:solidFill>
                  <a:srgbClr val="FFFFFF"/>
                </a:solidFill>
                <a:latin typeface="Times New Roman"/>
              </a:rPr>
              <a:t>規</a:t>
            </a:r>
          </a:p>
        </p:txBody>
      </p:sp>
      <p:sp>
        <p:nvSpPr>
          <p:cNvPr id="9" name="TextBox 8"/>
          <p:cNvSpPr txBox="1"/>
          <p:nvPr/>
        </p:nvSpPr>
        <p:spPr>
          <a:xfrm>
            <a:off x="8720373" y="4170062"/>
            <a:ext cx="128240" cy="98745"/>
          </a:xfrm>
          <a:prstGeom prst="rect">
            <a:avLst/>
          </a:prstGeom>
          <a:noFill/>
        </p:spPr>
        <p:txBody>
          <a:bodyPr vert="horz" wrap="none" lIns="0" tIns="0" rIns="0" bIns="0" rtlCol="0">
            <a:spAutoFit/>
          </a:bodyPr>
          <a:lstStyle/>
          <a:p>
            <a:pPr>
              <a:lnSpc>
                <a:spcPts val="709"/>
              </a:lnSpc>
            </a:pPr>
            <a:r>
              <a:rPr lang="zh-CN" altLang="en-US" sz="1002" dirty="0">
                <a:solidFill>
                  <a:srgbClr val="FFFFFF"/>
                </a:solidFill>
                <a:latin typeface="Times New Roman"/>
              </a:rPr>
              <a:t>性</a:t>
            </a:r>
          </a:p>
        </p:txBody>
      </p:sp>
      <p:sp>
        <p:nvSpPr>
          <p:cNvPr id="10" name="TextBox 9"/>
          <p:cNvSpPr txBox="1"/>
          <p:nvPr/>
        </p:nvSpPr>
        <p:spPr>
          <a:xfrm>
            <a:off x="431679" y="3031439"/>
            <a:ext cx="174728" cy="224420"/>
          </a:xfrm>
          <a:prstGeom prst="rect">
            <a:avLst/>
          </a:prstGeom>
          <a:noFill/>
        </p:spPr>
        <p:txBody>
          <a:bodyPr vert="horz" wrap="none" lIns="0" tIns="0" rIns="0" bIns="0" rtlCol="0">
            <a:spAutoFit/>
          </a:bodyPr>
          <a:lstStyle/>
          <a:p>
            <a:pPr>
              <a:lnSpc>
                <a:spcPts val="1665"/>
              </a:lnSpc>
            </a:pPr>
            <a:r>
              <a:rPr lang="en-US" altLang="zh-CN" dirty="0">
                <a:solidFill>
                  <a:srgbClr val="000000"/>
                </a:solidFill>
                <a:latin typeface="Times New Roman"/>
              </a:rPr>
              <a:t>1.</a:t>
            </a:r>
            <a:endParaRPr lang="zh-CN" altLang="en-US" dirty="0">
              <a:solidFill>
                <a:srgbClr val="000000"/>
              </a:solidFill>
              <a:latin typeface="Times New Roman"/>
            </a:endParaRPr>
          </a:p>
        </p:txBody>
      </p:sp>
      <p:sp>
        <p:nvSpPr>
          <p:cNvPr id="11" name="TextBox 10"/>
          <p:cNvSpPr txBox="1"/>
          <p:nvPr/>
        </p:nvSpPr>
        <p:spPr>
          <a:xfrm>
            <a:off x="431679" y="3580833"/>
            <a:ext cx="174728" cy="224420"/>
          </a:xfrm>
          <a:prstGeom prst="rect">
            <a:avLst/>
          </a:prstGeom>
          <a:noFill/>
        </p:spPr>
        <p:txBody>
          <a:bodyPr vert="horz" wrap="none" lIns="0" tIns="0" rIns="0" bIns="0" rtlCol="0">
            <a:spAutoFit/>
          </a:bodyPr>
          <a:lstStyle/>
          <a:p>
            <a:pPr>
              <a:lnSpc>
                <a:spcPts val="1665"/>
              </a:lnSpc>
            </a:pPr>
            <a:r>
              <a:rPr lang="en-US" altLang="zh-CN" dirty="0">
                <a:solidFill>
                  <a:srgbClr val="000000"/>
                </a:solidFill>
                <a:latin typeface="Times New Roman"/>
              </a:rPr>
              <a:t>2.</a:t>
            </a:r>
            <a:endParaRPr lang="zh-CN" altLang="en-US" dirty="0">
              <a:solidFill>
                <a:srgbClr val="000000"/>
              </a:solidFill>
              <a:latin typeface="Times New Roman"/>
            </a:endParaRPr>
          </a:p>
        </p:txBody>
      </p:sp>
      <p:sp>
        <p:nvSpPr>
          <p:cNvPr id="12" name="TextBox 11"/>
          <p:cNvSpPr txBox="1"/>
          <p:nvPr/>
        </p:nvSpPr>
        <p:spPr>
          <a:xfrm>
            <a:off x="431679" y="3855153"/>
            <a:ext cx="174728" cy="224420"/>
          </a:xfrm>
          <a:prstGeom prst="rect">
            <a:avLst/>
          </a:prstGeom>
          <a:noFill/>
        </p:spPr>
        <p:txBody>
          <a:bodyPr vert="horz" wrap="none" lIns="0" tIns="0" rIns="0" bIns="0" rtlCol="0">
            <a:spAutoFit/>
          </a:bodyPr>
          <a:lstStyle/>
          <a:p>
            <a:pPr>
              <a:lnSpc>
                <a:spcPts val="1665"/>
              </a:lnSpc>
            </a:pPr>
            <a:r>
              <a:rPr lang="en-US" altLang="zh-CN" dirty="0">
                <a:solidFill>
                  <a:srgbClr val="000000"/>
                </a:solidFill>
                <a:latin typeface="Times New Roman"/>
              </a:rPr>
              <a:t>3.</a:t>
            </a:r>
            <a:endParaRPr lang="zh-CN" altLang="en-US" dirty="0">
              <a:solidFill>
                <a:srgbClr val="000000"/>
              </a:solidFill>
              <a:latin typeface="Times New Roman"/>
            </a:endParaRPr>
          </a:p>
        </p:txBody>
      </p:sp>
      <p:sp>
        <p:nvSpPr>
          <p:cNvPr id="13" name="TextBox 12"/>
          <p:cNvSpPr txBox="1"/>
          <p:nvPr/>
        </p:nvSpPr>
        <p:spPr>
          <a:xfrm>
            <a:off x="509403" y="6341571"/>
            <a:ext cx="144270" cy="133370"/>
          </a:xfrm>
          <a:prstGeom prst="rect">
            <a:avLst/>
          </a:prstGeom>
          <a:noFill/>
        </p:spPr>
        <p:txBody>
          <a:bodyPr vert="horz" wrap="none" lIns="0" tIns="0" rIns="0" bIns="0" rtlCol="0">
            <a:spAutoFit/>
          </a:bodyPr>
          <a:lstStyle/>
          <a:p>
            <a:pPr>
              <a:lnSpc>
                <a:spcPts val="1016"/>
              </a:lnSpc>
            </a:pPr>
            <a:r>
              <a:rPr lang="en-US" altLang="zh-CN" sz="1098" dirty="0">
                <a:solidFill>
                  <a:srgbClr val="761437"/>
                </a:solidFill>
                <a:latin typeface="Times New Roman"/>
              </a:rPr>
              <a:t>31</a:t>
            </a:r>
            <a:endParaRPr lang="zh-CN" altLang="en-US" sz="1098" dirty="0">
              <a:solidFill>
                <a:srgbClr val="761437"/>
              </a:solidFill>
              <a:latin typeface="Times New Roman"/>
            </a:endParaRPr>
          </a:p>
        </p:txBody>
      </p:sp>
      <p:sp>
        <p:nvSpPr>
          <p:cNvPr id="14" name="TextBox 13"/>
          <p:cNvSpPr txBox="1"/>
          <p:nvPr/>
        </p:nvSpPr>
        <p:spPr>
          <a:xfrm>
            <a:off x="509403" y="390082"/>
            <a:ext cx="8720336" cy="3718967"/>
          </a:xfrm>
          <a:prstGeom prst="rect">
            <a:avLst/>
          </a:prstGeom>
          <a:noFill/>
        </p:spPr>
        <p:txBody>
          <a:bodyPr vert="horz" wrap="none" lIns="0" tIns="0" rIns="0" bIns="0" rtlCol="0">
            <a:spAutoFit/>
          </a:bodyPr>
          <a:lstStyle/>
          <a:p>
            <a:pPr marL="0" marR="0" lvl="0" indent="0" defTabSz="914400" eaLnBrk="1" fontAlgn="auto" latinLnBrk="0" hangingPunct="1">
              <a:lnSpc>
                <a:spcPts val="4087"/>
              </a:lnSpc>
              <a:buClrTx/>
              <a:buSzTx/>
              <a:buNone/>
              <a:tabLst>
                <a:tab pos="317500" algn="l"/>
                <a:tab pos="368300" algn="l"/>
              </a:tabLst>
              <a:defRPr/>
            </a:pPr>
            <a:r>
              <a:rPr lang="zh-CN" altLang="en-US" dirty="0"/>
              <a:t>	</a:t>
            </a:r>
            <a:r>
              <a:rPr lang="zh-CN" altLang="en-US" sz="3798" dirty="0">
                <a:solidFill>
                  <a:srgbClr val="FFFFFF"/>
                </a:solidFill>
                <a:latin typeface="Times New Roman"/>
              </a:rPr>
              <a:t>控制環境  </a:t>
            </a:r>
            <a:r>
              <a:rPr lang="en-US" altLang="zh-CN" sz="3798" b="1" dirty="0">
                <a:solidFill>
                  <a:srgbClr val="FFFFFF"/>
                </a:solidFill>
                <a:latin typeface="Times New Roman"/>
              </a:rPr>
              <a:t>–  </a:t>
            </a:r>
            <a:r>
              <a:rPr lang="zh-CN" altLang="en-US" sz="3798" dirty="0">
                <a:solidFill>
                  <a:srgbClr val="FFFFFF"/>
                </a:solidFill>
                <a:latin typeface="Times New Roman"/>
              </a:rPr>
              <a:t>組織結構</a:t>
            </a:r>
          </a:p>
          <a:p>
            <a:pPr marL="0" marR="0" lvl="0" indent="0" defTabSz="914400" eaLnBrk="1" fontAlgn="auto" latinLnBrk="0" hangingPunct="1">
              <a:lnSpc>
                <a:spcPts val="1000"/>
              </a:lnSpc>
              <a:buClrTx/>
              <a:buSzTx/>
              <a:buNone/>
              <a:tabLst>
                <a:tab pos="317500" algn="l"/>
                <a:tab pos="368300" algn="l"/>
              </a:tabLst>
              <a:defRPr/>
            </a:pPr>
            <a:endParaRPr lang="zh-CN" altLang="en-US" sz="3798" dirty="0">
              <a:solidFill>
                <a:srgbClr val="FFFFFF"/>
              </a:solidFill>
              <a:latin typeface="Times New Roman"/>
            </a:endParaRPr>
          </a:p>
          <a:p>
            <a:pPr marL="0" marR="0" lvl="0" indent="0" defTabSz="914400" eaLnBrk="1" fontAlgn="auto" latinLnBrk="0" hangingPunct="1">
              <a:lnSpc>
                <a:spcPts val="1000"/>
              </a:lnSpc>
              <a:buClrTx/>
              <a:buSzTx/>
              <a:buNone/>
              <a:tabLst>
                <a:tab pos="317500" algn="l"/>
                <a:tab pos="368300" algn="l"/>
              </a:tabLst>
              <a:defRPr/>
            </a:pPr>
            <a:endParaRPr lang="zh-CN" altLang="en-US" sz="3798" dirty="0">
              <a:solidFill>
                <a:srgbClr val="FFFFFF"/>
              </a:solidFill>
              <a:latin typeface="Times New Roman"/>
            </a:endParaRPr>
          </a:p>
          <a:p>
            <a:pPr marL="0" marR="0" lvl="0" indent="0" defTabSz="914400" eaLnBrk="1" fontAlgn="auto" latinLnBrk="0" hangingPunct="1">
              <a:lnSpc>
                <a:spcPts val="1000"/>
              </a:lnSpc>
              <a:buClrTx/>
              <a:buSzTx/>
              <a:buNone/>
              <a:tabLst>
                <a:tab pos="317500" algn="l"/>
                <a:tab pos="368300" algn="l"/>
              </a:tabLst>
              <a:defRPr/>
            </a:pPr>
            <a:endParaRPr lang="zh-CN" altLang="en-US" sz="3798" dirty="0">
              <a:solidFill>
                <a:srgbClr val="FFFFFF"/>
              </a:solidFill>
              <a:latin typeface="Times New Roman"/>
            </a:endParaRPr>
          </a:p>
          <a:p>
            <a:pPr marL="0" marR="0" lvl="0" indent="0" defTabSz="914400" eaLnBrk="1" fontAlgn="auto" latinLnBrk="0" hangingPunct="1">
              <a:lnSpc>
                <a:spcPts val="1000"/>
              </a:lnSpc>
              <a:buClrTx/>
              <a:buSzTx/>
              <a:buNone/>
              <a:tabLst>
                <a:tab pos="317500" algn="l"/>
                <a:tab pos="368300" algn="l"/>
              </a:tabLst>
              <a:defRPr/>
            </a:pPr>
            <a:endParaRPr lang="zh-CN" altLang="en-US" sz="3798" dirty="0">
              <a:solidFill>
                <a:srgbClr val="FFFFFF"/>
              </a:solidFill>
              <a:latin typeface="Times New Roman"/>
            </a:endParaRPr>
          </a:p>
          <a:p>
            <a:pPr marL="0" marR="0" lvl="0" indent="0" defTabSz="914400" eaLnBrk="1" fontAlgn="auto" latinLnBrk="0" hangingPunct="1">
              <a:lnSpc>
                <a:spcPts val="2782"/>
              </a:lnSpc>
              <a:buClrTx/>
              <a:buSzTx/>
              <a:buNone/>
              <a:tabLst>
                <a:tab pos="317500" algn="l"/>
                <a:tab pos="368300" algn="l"/>
              </a:tabLst>
              <a:defRPr/>
            </a:pPr>
            <a:r>
              <a:rPr lang="zh-CN" altLang="en-US" sz="1998" dirty="0">
                <a:solidFill>
                  <a:srgbClr val="000000"/>
                </a:solidFill>
                <a:latin typeface="Times New Roman"/>
              </a:rPr>
              <a:t>組織機構不應該太簡單以至於不能足夠地監控公司的業務活動，也不應該太複</a:t>
            </a:r>
          </a:p>
          <a:p>
            <a:pPr marL="0" marR="0" lvl="0" indent="0" defTabSz="914400" eaLnBrk="1" fontAlgn="auto" latinLnBrk="0" hangingPunct="1">
              <a:lnSpc>
                <a:spcPts val="2400"/>
              </a:lnSpc>
              <a:buClrTx/>
              <a:buSzTx/>
              <a:buNone/>
              <a:tabLst>
                <a:tab pos="317500" algn="l"/>
                <a:tab pos="368300" algn="l"/>
              </a:tabLst>
              <a:defRPr/>
            </a:pPr>
            <a:r>
              <a:rPr lang="zh-CN" altLang="en-US" sz="1998" dirty="0">
                <a:solidFill>
                  <a:srgbClr val="000000"/>
                </a:solidFill>
                <a:latin typeface="Times New Roman"/>
              </a:rPr>
              <a:t>雜以至於阻止了資訊的順暢流動。行政人員應該完全理解他們的控制責任，並</a:t>
            </a:r>
          </a:p>
          <a:p>
            <a:pPr marL="0" marR="0" lvl="0" indent="0" defTabSz="914400" eaLnBrk="1" fontAlgn="auto" latinLnBrk="0" hangingPunct="1">
              <a:lnSpc>
                <a:spcPts val="2286"/>
              </a:lnSpc>
              <a:buClrTx/>
              <a:buSzTx/>
              <a:buNone/>
              <a:tabLst>
                <a:tab pos="317500" algn="l"/>
                <a:tab pos="368300" algn="l"/>
              </a:tabLst>
              <a:defRPr/>
            </a:pPr>
            <a:r>
              <a:rPr lang="zh-CN" altLang="en-US" sz="1998" dirty="0">
                <a:solidFill>
                  <a:srgbClr val="000000"/>
                </a:solidFill>
                <a:latin typeface="Times New Roman"/>
              </a:rPr>
              <a:t>且擁有與他們的職位相稱的經驗和知識。</a:t>
            </a:r>
          </a:p>
          <a:p>
            <a:pPr marL="0" marR="0" lvl="0" indent="0" defTabSz="914400" eaLnBrk="1" fontAlgn="auto" latinLnBrk="0" hangingPunct="1">
              <a:lnSpc>
                <a:spcPts val="1000"/>
              </a:lnSpc>
              <a:buClrTx/>
              <a:buSzTx/>
              <a:buNone/>
              <a:tabLst>
                <a:tab pos="317500" algn="l"/>
                <a:tab pos="368300" algn="l"/>
              </a:tabLst>
              <a:defRPr/>
            </a:pPr>
            <a:endParaRPr lang="zh-CN" altLang="en-US" sz="1998" dirty="0">
              <a:solidFill>
                <a:srgbClr val="000000"/>
              </a:solidFill>
              <a:latin typeface="Times New Roman"/>
            </a:endParaRPr>
          </a:p>
          <a:p>
            <a:pPr marL="0" marR="0" lvl="0" indent="0" defTabSz="914400" eaLnBrk="1" fontAlgn="auto" latinLnBrk="0" hangingPunct="1">
              <a:lnSpc>
                <a:spcPts val="1000"/>
              </a:lnSpc>
              <a:buClrTx/>
              <a:buSzTx/>
              <a:buNone/>
              <a:tabLst>
                <a:tab pos="317500" algn="l"/>
                <a:tab pos="368300" algn="l"/>
              </a:tabLst>
              <a:defRPr/>
            </a:pPr>
            <a:endParaRPr lang="zh-CN" altLang="en-US" sz="1998" dirty="0">
              <a:solidFill>
                <a:srgbClr val="000000"/>
              </a:solidFill>
              <a:latin typeface="Times New Roman"/>
            </a:endParaRPr>
          </a:p>
          <a:p>
            <a:pPr marL="0" marR="0" lvl="0" indent="0" defTabSz="914400" eaLnBrk="1" fontAlgn="auto" latinLnBrk="0" hangingPunct="1">
              <a:lnSpc>
                <a:spcPts val="1000"/>
              </a:lnSpc>
              <a:buClrTx/>
              <a:buSzTx/>
              <a:buNone/>
              <a:tabLst>
                <a:tab pos="317500" algn="l"/>
                <a:tab pos="368300" algn="l"/>
              </a:tabLst>
              <a:defRPr/>
            </a:pPr>
            <a:endParaRPr lang="zh-CN" altLang="en-US" sz="1998" dirty="0">
              <a:solidFill>
                <a:srgbClr val="000000"/>
              </a:solidFill>
              <a:latin typeface="Times New Roman"/>
            </a:endParaRPr>
          </a:p>
          <a:p>
            <a:pPr marL="0" marR="0" lvl="0" indent="0" defTabSz="914400" eaLnBrk="1" fontAlgn="auto" latinLnBrk="0" hangingPunct="1">
              <a:lnSpc>
                <a:spcPts val="1000"/>
              </a:lnSpc>
              <a:buClrTx/>
              <a:buSzTx/>
              <a:buNone/>
              <a:tabLst>
                <a:tab pos="317500" algn="l"/>
                <a:tab pos="368300" algn="l"/>
              </a:tabLst>
              <a:defRPr/>
            </a:pPr>
            <a:endParaRPr lang="zh-CN" altLang="en-US" sz="1998" dirty="0">
              <a:solidFill>
                <a:srgbClr val="000000"/>
              </a:solidFill>
              <a:latin typeface="Times New Roman"/>
            </a:endParaRPr>
          </a:p>
          <a:p>
            <a:pPr marL="0" marR="0" lvl="0" indent="0" defTabSz="914400" eaLnBrk="1" fontAlgn="auto" latinLnBrk="0" hangingPunct="1">
              <a:lnSpc>
                <a:spcPts val="2788"/>
              </a:lnSpc>
              <a:buClrTx/>
              <a:buSzTx/>
              <a:buNone/>
              <a:tabLst>
                <a:tab pos="317500" algn="l"/>
                <a:tab pos="368300" algn="l"/>
              </a:tabLst>
              <a:defRPr/>
            </a:pPr>
            <a:r>
              <a:rPr lang="zh-CN" altLang="en-US" sz="1998" dirty="0">
                <a:solidFill>
                  <a:srgbClr val="000000"/>
                </a:solidFill>
                <a:latin typeface="Times New Roman"/>
              </a:rPr>
              <a:t>		</a:t>
            </a:r>
            <a:r>
              <a:rPr lang="zh-CN" altLang="en-US" dirty="0">
                <a:solidFill>
                  <a:srgbClr val="000000"/>
                </a:solidFill>
                <a:latin typeface="Times New Roman"/>
              </a:rPr>
              <a:t>公司組織結構的適當性，以及其提供管理活動必要的信</a:t>
            </a:r>
          </a:p>
          <a:p>
            <a:pPr marL="0" marR="0" lvl="0" indent="0" defTabSz="914400" eaLnBrk="1" fontAlgn="auto" latinLnBrk="0" hangingPunct="1">
              <a:lnSpc>
                <a:spcPts val="2160"/>
              </a:lnSpc>
              <a:buClrTx/>
              <a:buSzTx/>
              <a:buNone/>
              <a:tabLst>
                <a:tab pos="317500" algn="l"/>
                <a:tab pos="368300" algn="l"/>
              </a:tabLst>
              <a:defRPr/>
            </a:pPr>
            <a:r>
              <a:rPr lang="zh-CN" altLang="en-US" dirty="0">
                <a:solidFill>
                  <a:srgbClr val="000000"/>
                </a:solidFill>
                <a:latin typeface="Times New Roman"/>
              </a:rPr>
              <a:t>		息流的能力。</a:t>
            </a:r>
          </a:p>
          <a:p>
            <a:pPr marL="0" marR="0" lvl="0" indent="0" defTabSz="914400" eaLnBrk="1" fontAlgn="auto" latinLnBrk="0" hangingPunct="1">
              <a:lnSpc>
                <a:spcPts val="2166"/>
              </a:lnSpc>
              <a:buClrTx/>
              <a:buSzTx/>
              <a:buNone/>
              <a:tabLst>
                <a:tab pos="317500" algn="l"/>
                <a:tab pos="368300" algn="l"/>
              </a:tabLst>
              <a:defRPr/>
            </a:pPr>
            <a:r>
              <a:rPr lang="zh-CN" altLang="en-US" dirty="0">
                <a:solidFill>
                  <a:srgbClr val="000000"/>
                </a:solidFill>
                <a:latin typeface="Times New Roman"/>
              </a:rPr>
              <a:t>		關鍵經理的職責定義，以及他們對自身職責的理解。</a:t>
            </a:r>
          </a:p>
          <a:p>
            <a:pPr marL="0" marR="0" lvl="0" indent="0" defTabSz="914400" eaLnBrk="1" fontAlgn="auto" latinLnBrk="0" hangingPunct="1">
              <a:lnSpc>
                <a:spcPts val="2160"/>
              </a:lnSpc>
              <a:buClrTx/>
              <a:buSzTx/>
              <a:buNone/>
              <a:tabLst>
                <a:tab pos="317500" algn="l"/>
                <a:tab pos="368300" algn="l"/>
              </a:tabLst>
              <a:defRPr/>
            </a:pPr>
            <a:r>
              <a:rPr lang="zh-CN" altLang="en-US" dirty="0">
                <a:solidFill>
                  <a:srgbClr val="000000"/>
                </a:solidFill>
                <a:latin typeface="Times New Roman"/>
              </a:rPr>
              <a:t>		關鍵經理人員充分具備其相關職責的知識和經驗。</a:t>
            </a:r>
          </a:p>
        </p:txBody>
      </p:sp>
      <p:sp>
        <p:nvSpPr>
          <p:cNvPr id="15" name="TextBox 14"/>
          <p:cNvSpPr txBox="1"/>
          <p:nvPr/>
        </p:nvSpPr>
        <p:spPr>
          <a:xfrm>
            <a:off x="431679" y="4115003"/>
            <a:ext cx="174728" cy="500137"/>
          </a:xfrm>
          <a:prstGeom prst="rect">
            <a:avLst/>
          </a:prstGeom>
          <a:noFill/>
        </p:spPr>
        <p:txBody>
          <a:bodyPr vert="horz" wrap="none" lIns="0" tIns="0" rIns="0" bIns="0" rtlCol="0">
            <a:spAutoFit/>
          </a:bodyPr>
          <a:lstStyle/>
          <a:p>
            <a:pPr>
              <a:lnSpc>
                <a:spcPts val="1665"/>
              </a:lnSpc>
            </a:pPr>
            <a:r>
              <a:rPr lang="en-US" altLang="zh-CN" dirty="0">
                <a:solidFill>
                  <a:srgbClr val="000000"/>
                </a:solidFill>
                <a:latin typeface="Times New Roman"/>
              </a:rPr>
              <a:t>4.</a:t>
            </a:r>
          </a:p>
          <a:p>
            <a:pPr>
              <a:lnSpc>
                <a:spcPts val="2166"/>
              </a:lnSpc>
            </a:pPr>
            <a:r>
              <a:rPr lang="en-US" altLang="zh-CN" dirty="0">
                <a:solidFill>
                  <a:srgbClr val="000000"/>
                </a:solidFill>
                <a:latin typeface="Times New Roman"/>
              </a:rPr>
              <a:t>5.</a:t>
            </a:r>
            <a:endParaRPr lang="zh-CN" altLang="en-US" dirty="0">
              <a:solidFill>
                <a:srgbClr val="000000"/>
              </a:solidFill>
              <a:latin typeface="Times New Roman"/>
            </a:endParaRPr>
          </a:p>
        </p:txBody>
      </p:sp>
      <p:sp>
        <p:nvSpPr>
          <p:cNvPr id="16" name="TextBox 15"/>
          <p:cNvSpPr txBox="1"/>
          <p:nvPr/>
        </p:nvSpPr>
        <p:spPr>
          <a:xfrm>
            <a:off x="888874" y="4082770"/>
            <a:ext cx="4616648" cy="512961"/>
          </a:xfrm>
          <a:prstGeom prst="rect">
            <a:avLst/>
          </a:prstGeom>
          <a:noFill/>
        </p:spPr>
        <p:txBody>
          <a:bodyPr vert="horz" wrap="none" lIns="0" tIns="0" rIns="0" bIns="0" rtlCol="0">
            <a:spAutoFit/>
          </a:bodyPr>
          <a:lstStyle/>
          <a:p>
            <a:pPr>
              <a:lnSpc>
                <a:spcPts val="1798"/>
              </a:lnSpc>
            </a:pPr>
            <a:r>
              <a:rPr lang="zh-CN" altLang="en-US" dirty="0">
                <a:solidFill>
                  <a:srgbClr val="000000"/>
                </a:solidFill>
                <a:latin typeface="Times New Roman"/>
              </a:rPr>
              <a:t>報告關係的適當性</a:t>
            </a:r>
          </a:p>
          <a:p>
            <a:pPr>
              <a:lnSpc>
                <a:spcPts val="2166"/>
              </a:lnSpc>
            </a:pPr>
            <a:r>
              <a:rPr lang="zh-CN" altLang="en-US" dirty="0">
                <a:solidFill>
                  <a:srgbClr val="000000"/>
                </a:solidFill>
                <a:latin typeface="Times New Roman"/>
              </a:rPr>
              <a:t>組織結構會在何種程度上隨環境的變化而變化</a:t>
            </a:r>
          </a:p>
        </p:txBody>
      </p:sp>
      <p:sp>
        <p:nvSpPr>
          <p:cNvPr id="17" name="TextBox 16"/>
          <p:cNvSpPr txBox="1"/>
          <p:nvPr/>
        </p:nvSpPr>
        <p:spPr>
          <a:xfrm>
            <a:off x="7387977" y="4312336"/>
            <a:ext cx="128240" cy="128240"/>
          </a:xfrm>
          <a:prstGeom prst="rect">
            <a:avLst/>
          </a:prstGeom>
          <a:noFill/>
        </p:spPr>
        <p:txBody>
          <a:bodyPr vert="horz" wrap="none" lIns="0" tIns="0" rIns="0" bIns="0" rtlCol="0">
            <a:spAutoFit/>
          </a:bodyPr>
          <a:lstStyle/>
          <a:p>
            <a:pPr>
              <a:lnSpc>
                <a:spcPts val="1001"/>
              </a:lnSpc>
            </a:pPr>
            <a:r>
              <a:rPr lang="zh-CN" altLang="en-US" sz="1002" dirty="0">
                <a:solidFill>
                  <a:srgbClr val="FFFFFF"/>
                </a:solidFill>
                <a:latin typeface="Times New Roman"/>
              </a:rPr>
              <a:t>營</a:t>
            </a:r>
          </a:p>
        </p:txBody>
      </p:sp>
      <p:sp>
        <p:nvSpPr>
          <p:cNvPr id="18" name="TextBox 17"/>
          <p:cNvSpPr txBox="1"/>
          <p:nvPr/>
        </p:nvSpPr>
        <p:spPr>
          <a:xfrm>
            <a:off x="7478660" y="4223182"/>
            <a:ext cx="128240" cy="128240"/>
          </a:xfrm>
          <a:prstGeom prst="rect">
            <a:avLst/>
          </a:prstGeom>
          <a:noFill/>
        </p:spPr>
        <p:txBody>
          <a:bodyPr vert="horz" wrap="none" lIns="0" tIns="0" rIns="0" bIns="0" rtlCol="0">
            <a:spAutoFit/>
          </a:bodyPr>
          <a:lstStyle/>
          <a:p>
            <a:pPr>
              <a:lnSpc>
                <a:spcPts val="1001"/>
              </a:lnSpc>
            </a:pPr>
            <a:r>
              <a:rPr lang="zh-CN" altLang="en-US" sz="1002" dirty="0">
                <a:solidFill>
                  <a:srgbClr val="FFFFFF"/>
                </a:solidFill>
                <a:latin typeface="Times New Roman"/>
              </a:rPr>
              <a:t>運</a:t>
            </a:r>
          </a:p>
        </p:txBody>
      </p:sp>
      <p:sp>
        <p:nvSpPr>
          <p:cNvPr id="19" name="TextBox 18"/>
          <p:cNvSpPr txBox="1"/>
          <p:nvPr/>
        </p:nvSpPr>
        <p:spPr>
          <a:xfrm>
            <a:off x="431679" y="4664397"/>
            <a:ext cx="174728" cy="224420"/>
          </a:xfrm>
          <a:prstGeom prst="rect">
            <a:avLst/>
          </a:prstGeom>
          <a:noFill/>
        </p:spPr>
        <p:txBody>
          <a:bodyPr vert="horz" wrap="none" lIns="0" tIns="0" rIns="0" bIns="0" rtlCol="0">
            <a:spAutoFit/>
          </a:bodyPr>
          <a:lstStyle/>
          <a:p>
            <a:pPr>
              <a:lnSpc>
                <a:spcPts val="1665"/>
              </a:lnSpc>
            </a:pPr>
            <a:r>
              <a:rPr lang="en-US" altLang="zh-CN" dirty="0">
                <a:solidFill>
                  <a:srgbClr val="000000"/>
                </a:solidFill>
                <a:latin typeface="Times New Roman"/>
              </a:rPr>
              <a:t>6.</a:t>
            </a:r>
            <a:endParaRPr lang="zh-CN" altLang="en-US" dirty="0">
              <a:solidFill>
                <a:srgbClr val="000000"/>
              </a:solidFill>
              <a:latin typeface="Times New Roman"/>
            </a:endParaRPr>
          </a:p>
        </p:txBody>
      </p:sp>
      <p:sp>
        <p:nvSpPr>
          <p:cNvPr id="20" name="TextBox 19"/>
          <p:cNvSpPr txBox="1"/>
          <p:nvPr/>
        </p:nvSpPr>
        <p:spPr>
          <a:xfrm>
            <a:off x="888874" y="4632164"/>
            <a:ext cx="4616648" cy="230832"/>
          </a:xfrm>
          <a:prstGeom prst="rect">
            <a:avLst/>
          </a:prstGeom>
          <a:noFill/>
        </p:spPr>
        <p:txBody>
          <a:bodyPr vert="horz" wrap="none" lIns="0" tIns="0" rIns="0" bIns="0" rtlCol="0">
            <a:spAutoFit/>
          </a:bodyPr>
          <a:lstStyle/>
          <a:p>
            <a:pPr>
              <a:lnSpc>
                <a:spcPts val="1798"/>
              </a:lnSpc>
            </a:pPr>
            <a:r>
              <a:rPr lang="zh-CN" altLang="en-US" dirty="0">
                <a:solidFill>
                  <a:srgbClr val="000000"/>
                </a:solidFill>
                <a:latin typeface="Times New Roman"/>
              </a:rPr>
              <a:t>存在足夠數量的雇員，特別是管理和監督人員</a:t>
            </a:r>
          </a:p>
        </p:txBody>
      </p:sp>
      <p:sp>
        <p:nvSpPr>
          <p:cNvPr id="21" name="TextBox 20"/>
          <p:cNvSpPr txBox="1"/>
          <p:nvPr/>
        </p:nvSpPr>
        <p:spPr>
          <a:xfrm>
            <a:off x="7392550" y="4732182"/>
            <a:ext cx="641201" cy="1115690"/>
          </a:xfrm>
          <a:prstGeom prst="rect">
            <a:avLst/>
          </a:prstGeom>
          <a:noFill/>
        </p:spPr>
        <p:txBody>
          <a:bodyPr vert="horz" wrap="none" lIns="0" tIns="0" rIns="0" bIns="0" rtlCol="0">
            <a:spAutoFit/>
          </a:bodyPr>
          <a:lstStyle/>
          <a:p>
            <a:pPr marL="0" marR="0" lvl="0" indent="0" defTabSz="914400" eaLnBrk="1" fontAlgn="auto" latinLnBrk="0" hangingPunct="1">
              <a:lnSpc>
                <a:spcPts val="1001"/>
              </a:lnSpc>
              <a:buClrTx/>
              <a:buSzTx/>
              <a:buNone/>
              <a:tabLst>
                <a:tab pos="63500" algn="l"/>
                <a:tab pos="190500" algn="l"/>
              </a:tabLst>
              <a:defRPr/>
            </a:pPr>
            <a:r>
              <a:rPr lang="zh-CN" altLang="en-US" dirty="0"/>
              <a:t>		</a:t>
            </a:r>
            <a:r>
              <a:rPr lang="zh-CN" altLang="en-US" sz="1002" dirty="0">
                <a:solidFill>
                  <a:srgbClr val="FFFFFF"/>
                </a:solidFill>
                <a:latin typeface="Times New Roman"/>
              </a:rPr>
              <a:t>監控</a:t>
            </a:r>
          </a:p>
          <a:p>
            <a:pPr marL="0" marR="0" lvl="0" indent="0" defTabSz="914400" eaLnBrk="1" fontAlgn="auto" latinLnBrk="0" hangingPunct="1">
              <a:lnSpc>
                <a:spcPts val="1000"/>
              </a:lnSpc>
              <a:buClrTx/>
              <a:buSzTx/>
              <a:buNone/>
              <a:tabLst>
                <a:tab pos="63500" algn="l"/>
                <a:tab pos="190500" algn="l"/>
              </a:tabLst>
              <a:defRPr/>
            </a:pPr>
            <a:endParaRPr lang="zh-CN" altLang="en-US" sz="1002" dirty="0">
              <a:solidFill>
                <a:srgbClr val="FFFFFF"/>
              </a:solidFill>
              <a:latin typeface="Times New Roman"/>
            </a:endParaRPr>
          </a:p>
          <a:p>
            <a:pPr marL="0" marR="0" lvl="0" indent="0" defTabSz="914400" eaLnBrk="1" fontAlgn="auto" latinLnBrk="0" hangingPunct="1">
              <a:lnSpc>
                <a:spcPts val="1550"/>
              </a:lnSpc>
              <a:buClrTx/>
              <a:buSzTx/>
              <a:buNone/>
              <a:tabLst>
                <a:tab pos="63500" algn="l"/>
                <a:tab pos="190500" algn="l"/>
              </a:tabLst>
              <a:defRPr/>
            </a:pPr>
            <a:r>
              <a:rPr lang="zh-CN" altLang="en-US" sz="1002" dirty="0">
                <a:solidFill>
                  <a:srgbClr val="FFFFFF"/>
                </a:solidFill>
                <a:latin typeface="Times New Roman"/>
              </a:rPr>
              <a:t>資訊和溝通</a:t>
            </a:r>
          </a:p>
          <a:p>
            <a:pPr marL="0" marR="0" lvl="0" indent="0" defTabSz="914400" eaLnBrk="1" fontAlgn="auto" latinLnBrk="0" hangingPunct="1">
              <a:lnSpc>
                <a:spcPts val="1000"/>
              </a:lnSpc>
              <a:buClrTx/>
              <a:buSzTx/>
              <a:buNone/>
              <a:tabLst>
                <a:tab pos="63500" algn="l"/>
                <a:tab pos="190500" algn="l"/>
              </a:tabLst>
              <a:defRPr/>
            </a:pPr>
            <a:endParaRPr lang="zh-CN" altLang="en-US" sz="1002" dirty="0">
              <a:solidFill>
                <a:srgbClr val="FFFFFF"/>
              </a:solidFill>
              <a:latin typeface="Times New Roman"/>
            </a:endParaRPr>
          </a:p>
          <a:p>
            <a:pPr marL="0" marR="0" lvl="0" indent="0" defTabSz="914400" eaLnBrk="1" fontAlgn="auto" latinLnBrk="0" hangingPunct="1">
              <a:lnSpc>
                <a:spcPts val="1466"/>
              </a:lnSpc>
              <a:buClrTx/>
              <a:buSzTx/>
              <a:buNone/>
              <a:tabLst>
                <a:tab pos="63500" algn="l"/>
                <a:tab pos="190500" algn="l"/>
              </a:tabLst>
              <a:defRPr/>
            </a:pPr>
            <a:r>
              <a:rPr lang="zh-CN" altLang="en-US" sz="1002" dirty="0">
                <a:solidFill>
                  <a:srgbClr val="FFFFFF"/>
                </a:solidFill>
                <a:latin typeface="Times New Roman"/>
              </a:rPr>
              <a:t>	控制活動</a:t>
            </a:r>
          </a:p>
          <a:p>
            <a:pPr marL="0" marR="0" lvl="0" indent="0" defTabSz="914400" eaLnBrk="1" fontAlgn="auto" latinLnBrk="0" hangingPunct="1">
              <a:lnSpc>
                <a:spcPts val="1000"/>
              </a:lnSpc>
              <a:buClrTx/>
              <a:buSzTx/>
              <a:buNone/>
              <a:tabLst>
                <a:tab pos="63500" algn="l"/>
                <a:tab pos="190500" algn="l"/>
              </a:tabLst>
              <a:defRPr/>
            </a:pPr>
            <a:endParaRPr lang="zh-CN" altLang="en-US" sz="1002" dirty="0">
              <a:solidFill>
                <a:srgbClr val="FFFFFF"/>
              </a:solidFill>
              <a:latin typeface="Times New Roman"/>
            </a:endParaRPr>
          </a:p>
          <a:p>
            <a:pPr marL="0" marR="0" lvl="0" indent="0" defTabSz="914400" eaLnBrk="1" fontAlgn="auto" latinLnBrk="0" hangingPunct="1">
              <a:lnSpc>
                <a:spcPts val="1646"/>
              </a:lnSpc>
              <a:buClrTx/>
              <a:buSzTx/>
              <a:buNone/>
              <a:tabLst>
                <a:tab pos="63500" algn="l"/>
                <a:tab pos="190500" algn="l"/>
              </a:tabLst>
              <a:defRPr/>
            </a:pPr>
            <a:r>
              <a:rPr lang="zh-CN" altLang="en-US" sz="1002" dirty="0">
                <a:solidFill>
                  <a:srgbClr val="FFFFFF"/>
                </a:solidFill>
                <a:latin typeface="Times New Roman"/>
              </a:rPr>
              <a:t>	風險評估</a:t>
            </a:r>
          </a:p>
        </p:txBody>
      </p:sp>
      <p:sp>
        <p:nvSpPr>
          <p:cNvPr id="22" name="TextBox 21"/>
          <p:cNvSpPr txBox="1"/>
          <p:nvPr/>
        </p:nvSpPr>
        <p:spPr>
          <a:xfrm>
            <a:off x="8750433" y="5104819"/>
            <a:ext cx="128240" cy="743793"/>
          </a:xfrm>
          <a:prstGeom prst="rect">
            <a:avLst/>
          </a:prstGeom>
          <a:noFill/>
        </p:spPr>
        <p:txBody>
          <a:bodyPr vert="horz" wrap="none" lIns="0" tIns="0" rIns="0" bIns="0" rtlCol="0">
            <a:spAutoFit/>
          </a:bodyPr>
          <a:lstStyle/>
          <a:p>
            <a:pPr>
              <a:lnSpc>
                <a:spcPts val="1001"/>
              </a:lnSpc>
            </a:pPr>
            <a:r>
              <a:rPr lang="zh-CN" altLang="en-US" sz="1002" dirty="0">
                <a:solidFill>
                  <a:srgbClr val="FFFFFF"/>
                </a:solidFill>
                <a:latin typeface="Times New Roman"/>
              </a:rPr>
              <a:t>業</a:t>
            </a:r>
          </a:p>
          <a:p>
            <a:pPr>
              <a:lnSpc>
                <a:spcPts val="1200"/>
              </a:lnSpc>
            </a:pPr>
            <a:r>
              <a:rPr lang="zh-CN" altLang="en-US" sz="1002" dirty="0">
                <a:solidFill>
                  <a:srgbClr val="FFFFFF"/>
                </a:solidFill>
                <a:latin typeface="Times New Roman"/>
              </a:rPr>
              <a:t>務</a:t>
            </a:r>
          </a:p>
          <a:p>
            <a:pPr>
              <a:lnSpc>
                <a:spcPts val="1200"/>
              </a:lnSpc>
            </a:pPr>
            <a:r>
              <a:rPr lang="zh-CN" altLang="en-US" sz="1002" dirty="0">
                <a:solidFill>
                  <a:srgbClr val="FFFFFF"/>
                </a:solidFill>
                <a:latin typeface="Times New Roman"/>
              </a:rPr>
              <a:t>單</a:t>
            </a:r>
          </a:p>
          <a:p>
            <a:pPr>
              <a:lnSpc>
                <a:spcPts val="1200"/>
              </a:lnSpc>
            </a:pPr>
            <a:r>
              <a:rPr lang="zh-CN" altLang="en-US" sz="1002" dirty="0">
                <a:solidFill>
                  <a:srgbClr val="FFFFFF"/>
                </a:solidFill>
                <a:latin typeface="Times New Roman"/>
              </a:rPr>
              <a:t>位</a:t>
            </a:r>
          </a:p>
          <a:p>
            <a:pPr>
              <a:lnSpc>
                <a:spcPts val="1193"/>
              </a:lnSpc>
            </a:pPr>
            <a:r>
              <a:rPr lang="en-US" altLang="zh-CN" sz="1002" b="1" dirty="0">
                <a:solidFill>
                  <a:srgbClr val="FFFFFF"/>
                </a:solidFill>
                <a:latin typeface="Times New Roman"/>
              </a:rPr>
              <a:t>A</a:t>
            </a:r>
            <a:endParaRPr lang="zh-CN" altLang="en-US" sz="1002" b="1" dirty="0">
              <a:solidFill>
                <a:srgbClr val="FFFFFF"/>
              </a:solidFill>
              <a:latin typeface="Times New Roman"/>
            </a:endParaRPr>
          </a:p>
        </p:txBody>
      </p:sp>
      <p:sp>
        <p:nvSpPr>
          <p:cNvPr id="23" name="TextBox 22"/>
          <p:cNvSpPr txBox="1"/>
          <p:nvPr/>
        </p:nvSpPr>
        <p:spPr>
          <a:xfrm>
            <a:off x="8921868" y="4643033"/>
            <a:ext cx="474489" cy="1064394"/>
          </a:xfrm>
          <a:prstGeom prst="rect">
            <a:avLst/>
          </a:prstGeom>
          <a:noFill/>
        </p:spPr>
        <p:txBody>
          <a:bodyPr vert="horz" wrap="none" lIns="0" tIns="0" rIns="0" bIns="0" rtlCol="0">
            <a:spAutoFit/>
          </a:bodyPr>
          <a:lstStyle/>
          <a:p>
            <a:pPr marL="0" marR="0" lvl="0" indent="0" defTabSz="914400" eaLnBrk="1" fontAlgn="auto" latinLnBrk="0" hangingPunct="1">
              <a:lnSpc>
                <a:spcPts val="1001"/>
              </a:lnSpc>
              <a:buClrTx/>
              <a:buSzTx/>
              <a:buNone/>
              <a:tabLst>
                <a:tab pos="25400" algn="l"/>
                <a:tab pos="165100" algn="l"/>
                <a:tab pos="342900" algn="l"/>
              </a:tabLst>
              <a:defRPr/>
            </a:pPr>
            <a:r>
              <a:rPr lang="zh-CN" altLang="en-US" dirty="0"/>
              <a:t>			</a:t>
            </a:r>
            <a:r>
              <a:rPr lang="zh-CN" altLang="en-US" sz="1002" dirty="0">
                <a:solidFill>
                  <a:srgbClr val="FFFFFF"/>
                </a:solidFill>
                <a:latin typeface="Times New Roman"/>
              </a:rPr>
              <a:t>活</a:t>
            </a:r>
          </a:p>
          <a:p>
            <a:pPr marL="0" marR="0" lvl="0" indent="0" defTabSz="914400" eaLnBrk="1" fontAlgn="auto" latinLnBrk="0" hangingPunct="1">
              <a:lnSpc>
                <a:spcPts val="1284"/>
              </a:lnSpc>
              <a:buClrTx/>
              <a:buSzTx/>
              <a:buNone/>
              <a:tabLst>
                <a:tab pos="25400" algn="l"/>
                <a:tab pos="165100" algn="l"/>
                <a:tab pos="342900" algn="l"/>
              </a:tabLst>
              <a:defRPr/>
            </a:pPr>
            <a:r>
              <a:rPr lang="zh-CN" altLang="en-US" sz="1002" dirty="0">
                <a:solidFill>
                  <a:srgbClr val="FFFFFF"/>
                </a:solidFill>
                <a:latin typeface="Times New Roman"/>
              </a:rPr>
              <a:t>		活 動</a:t>
            </a:r>
          </a:p>
          <a:p>
            <a:pPr marL="0" marR="0" lvl="0" indent="0" defTabSz="914400" eaLnBrk="1" fontAlgn="auto" latinLnBrk="0" hangingPunct="1">
              <a:lnSpc>
                <a:spcPts val="1200"/>
              </a:lnSpc>
              <a:buClrTx/>
              <a:buSzTx/>
              <a:buNone/>
              <a:tabLst>
                <a:tab pos="25400" algn="l"/>
                <a:tab pos="165100" algn="l"/>
                <a:tab pos="342900" algn="l"/>
              </a:tabLst>
              <a:defRPr/>
            </a:pPr>
            <a:r>
              <a:rPr lang="zh-CN" altLang="en-US" sz="1002" dirty="0">
                <a:solidFill>
                  <a:srgbClr val="FFFFFF"/>
                </a:solidFill>
                <a:latin typeface="Times New Roman"/>
              </a:rPr>
              <a:t>業 動 </a:t>
            </a:r>
            <a:r>
              <a:rPr lang="en-US" altLang="zh-CN" sz="1002" b="1" dirty="0">
                <a:solidFill>
                  <a:srgbClr val="FFFFFF"/>
                </a:solidFill>
                <a:latin typeface="Times New Roman"/>
              </a:rPr>
              <a:t>2</a:t>
            </a:r>
          </a:p>
          <a:p>
            <a:pPr marL="0" marR="0" lvl="0" indent="0" defTabSz="914400" eaLnBrk="1" fontAlgn="auto" latinLnBrk="0" hangingPunct="1">
              <a:lnSpc>
                <a:spcPts val="1193"/>
              </a:lnSpc>
              <a:buClrTx/>
              <a:buSzTx/>
              <a:buNone/>
              <a:tabLst>
                <a:tab pos="25400" algn="l"/>
                <a:tab pos="165100" algn="l"/>
                <a:tab pos="342900" algn="l"/>
              </a:tabLst>
              <a:defRPr/>
            </a:pPr>
            <a:r>
              <a:rPr lang="zh-CN" altLang="en-US" sz="1002" dirty="0">
                <a:solidFill>
                  <a:srgbClr val="FFFFFF"/>
                </a:solidFill>
                <a:latin typeface="Times New Roman"/>
              </a:rPr>
              <a:t>務 </a:t>
            </a:r>
            <a:r>
              <a:rPr lang="en-US" altLang="zh-CN" sz="1002" b="1" dirty="0">
                <a:solidFill>
                  <a:srgbClr val="FFFFFF"/>
                </a:solidFill>
                <a:latin typeface="Times New Roman"/>
              </a:rPr>
              <a:t>1</a:t>
            </a:r>
          </a:p>
          <a:p>
            <a:pPr marL="0" marR="0" lvl="0" indent="0" defTabSz="914400" eaLnBrk="1" fontAlgn="auto" latinLnBrk="0" hangingPunct="1">
              <a:lnSpc>
                <a:spcPts val="1171"/>
              </a:lnSpc>
              <a:buClrTx/>
              <a:buSzTx/>
              <a:buNone/>
              <a:tabLst>
                <a:tab pos="25400" algn="l"/>
                <a:tab pos="165100" algn="l"/>
                <a:tab pos="342900" algn="l"/>
              </a:tabLst>
              <a:defRPr/>
            </a:pPr>
            <a:r>
              <a:rPr lang="zh-CN" altLang="en-US" sz="1002" dirty="0">
                <a:solidFill>
                  <a:srgbClr val="FFFFFF"/>
                </a:solidFill>
                <a:latin typeface="Times New Roman"/>
              </a:rPr>
              <a:t>單</a:t>
            </a:r>
          </a:p>
          <a:p>
            <a:pPr marL="0" marR="0" lvl="0" indent="0" defTabSz="914400" eaLnBrk="1" fontAlgn="auto" latinLnBrk="0" hangingPunct="1">
              <a:lnSpc>
                <a:spcPts val="1200"/>
              </a:lnSpc>
              <a:buClrTx/>
              <a:buSzTx/>
              <a:buNone/>
              <a:tabLst>
                <a:tab pos="25400" algn="l"/>
                <a:tab pos="165100" algn="l"/>
                <a:tab pos="342900" algn="l"/>
              </a:tabLst>
              <a:defRPr/>
            </a:pPr>
            <a:r>
              <a:rPr lang="zh-CN" altLang="en-US" sz="1002" dirty="0">
                <a:solidFill>
                  <a:srgbClr val="FFFFFF"/>
                </a:solidFill>
                <a:latin typeface="Times New Roman"/>
              </a:rPr>
              <a:t>位</a:t>
            </a:r>
          </a:p>
          <a:p>
            <a:pPr marL="0" marR="0" lvl="0" indent="0" defTabSz="914400" eaLnBrk="1" fontAlgn="auto" latinLnBrk="0" hangingPunct="1">
              <a:lnSpc>
                <a:spcPts val="1193"/>
              </a:lnSpc>
              <a:buClrTx/>
              <a:buSzTx/>
              <a:buNone/>
              <a:tabLst>
                <a:tab pos="25400" algn="l"/>
                <a:tab pos="165100" algn="l"/>
                <a:tab pos="342900" algn="l"/>
              </a:tabLst>
              <a:defRPr/>
            </a:pPr>
            <a:r>
              <a:rPr lang="zh-CN" altLang="en-US" sz="1002" dirty="0">
                <a:solidFill>
                  <a:srgbClr val="FFFFFF"/>
                </a:solidFill>
                <a:latin typeface="Times New Roman"/>
              </a:rPr>
              <a:t>	</a:t>
            </a:r>
            <a:r>
              <a:rPr lang="en-US" altLang="zh-CN" sz="1002" b="1" dirty="0">
                <a:solidFill>
                  <a:srgbClr val="FFFFFF"/>
                </a:solidFill>
                <a:latin typeface="Times New Roman"/>
              </a:rPr>
              <a:t>B</a:t>
            </a:r>
            <a:endParaRPr lang="zh-CN" altLang="en-US" sz="1002" b="1" dirty="0">
              <a:solidFill>
                <a:srgbClr val="FFFFFF"/>
              </a:solidFill>
              <a:latin typeface="Times New Roman"/>
            </a:endParaRPr>
          </a:p>
        </p:txBody>
      </p:sp>
      <p:sp>
        <p:nvSpPr>
          <p:cNvPr id="24" name="TextBox 23"/>
          <p:cNvSpPr txBox="1"/>
          <p:nvPr/>
        </p:nvSpPr>
        <p:spPr>
          <a:xfrm>
            <a:off x="7455794" y="6043586"/>
            <a:ext cx="2093522" cy="705321"/>
          </a:xfrm>
          <a:prstGeom prst="rect">
            <a:avLst/>
          </a:prstGeom>
          <a:noFill/>
        </p:spPr>
        <p:txBody>
          <a:bodyPr vert="horz" wrap="none" lIns="0" tIns="0" rIns="0" bIns="0" rtlCol="0">
            <a:spAutoFit/>
          </a:bodyPr>
          <a:lstStyle/>
          <a:p>
            <a:pPr marL="0" marR="0" lvl="0" indent="0" defTabSz="914400" eaLnBrk="1" fontAlgn="auto" latinLnBrk="0" hangingPunct="1">
              <a:lnSpc>
                <a:spcPts val="1001"/>
              </a:lnSpc>
              <a:buClrTx/>
              <a:buSzTx/>
              <a:buNone/>
              <a:tabLst>
                <a:tab pos="609600" algn="l"/>
              </a:tabLst>
              <a:defRPr/>
            </a:pPr>
            <a:r>
              <a:rPr lang="zh-CN" altLang="en-US" sz="1002" dirty="0">
                <a:solidFill>
                  <a:srgbClr val="FFFFFF"/>
                </a:solidFill>
                <a:latin typeface="Times New Roman"/>
              </a:rPr>
              <a:t>控制環境</a:t>
            </a:r>
          </a:p>
          <a:p>
            <a:pPr marL="0" marR="0" lvl="0" indent="0" defTabSz="914400" eaLnBrk="1" fontAlgn="auto" latinLnBrk="0" hangingPunct="1">
              <a:lnSpc>
                <a:spcPts val="2704"/>
              </a:lnSpc>
              <a:buClrTx/>
              <a:buSzTx/>
              <a:buNone/>
              <a:tabLst>
                <a:tab pos="609600" algn="l"/>
              </a:tabLst>
              <a:defRPr/>
            </a:pPr>
            <a:r>
              <a:rPr lang="zh-CN" altLang="en-US" sz="1002" dirty="0">
                <a:solidFill>
                  <a:srgbClr val="FFFFFF"/>
                </a:solidFill>
                <a:latin typeface="Times New Roman"/>
              </a:rPr>
              <a:t>	</a:t>
            </a:r>
            <a:r>
              <a:rPr lang="en-US" altLang="zh-CN" dirty="0" err="1">
                <a:solidFill>
                  <a:srgbClr val="000000"/>
                </a:solidFill>
                <a:latin typeface="Times New Roman"/>
              </a:rPr>
              <a:t>Pwc</a:t>
            </a:r>
            <a:endParaRPr lang="en-US" altLang="zh-CN" dirty="0">
              <a:solidFill>
                <a:srgbClr val="000000"/>
              </a:solidFill>
              <a:latin typeface="Times New Roman"/>
            </a:endParaRPr>
          </a:p>
          <a:p>
            <a:pPr marL="0" marR="0" lvl="0" indent="0" defTabSz="914400" eaLnBrk="1" fontAlgn="auto" latinLnBrk="0" hangingPunct="1">
              <a:lnSpc>
                <a:spcPts val="1779"/>
              </a:lnSpc>
              <a:buClrTx/>
              <a:buSzTx/>
              <a:buNone/>
              <a:tabLst>
                <a:tab pos="609600" algn="l"/>
              </a:tabLst>
              <a:defRPr/>
            </a:pPr>
            <a:r>
              <a:rPr lang="en-US" altLang="zh-CN" dirty="0">
                <a:solidFill>
                  <a:srgbClr val="000000"/>
                </a:solidFill>
                <a:latin typeface="Times New Roman"/>
              </a:rPr>
              <a:t>	</a:t>
            </a:r>
            <a:r>
              <a:rPr lang="zh-CN" altLang="en-US" sz="1478" dirty="0">
                <a:solidFill>
                  <a:srgbClr val="000000"/>
                </a:solidFill>
                <a:latin typeface="Times New Roman"/>
              </a:rPr>
              <a:t>普     華     永     道</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myslide32">
    <p:spTree>
      <p:nvGrpSpPr>
        <p:cNvPr id="1" name=""/>
        <p:cNvGrpSpPr/>
        <p:nvPr/>
      </p:nvGrpSpPr>
      <p:grpSpPr>
        <a:xfrm>
          <a:off x="0" y="0"/>
          <a:ext cx="0" cy="0"/>
          <a:chOff x="0" y="0"/>
          <a:chExt cx="0" cy="0"/>
        </a:xfrm>
      </p:grpSpPr>
      <p:pic>
        <p:nvPicPr>
          <p:cNvPr id="2" name="图片 1" descr="ws_1C1.tmp"/>
          <p:cNvPicPr>
            <a:picLocks/>
          </p:cNvPicPr>
          <p:nvPr/>
        </p:nvPicPr>
        <p:blipFill>
          <a:blip r:embed="rId2"/>
          <a:stretch>
            <a:fillRect/>
          </a:stretch>
        </p:blipFill>
        <p:spPr>
          <a:xfrm>
            <a:off x="0" y="0"/>
            <a:ext cx="9880600" cy="6819900"/>
          </a:xfrm>
          <a:prstGeom prst="rect">
            <a:avLst/>
          </a:prstGeom>
        </p:spPr>
      </p:pic>
      <p:sp>
        <p:nvSpPr>
          <p:cNvPr id="3" name="TextBox 2"/>
          <p:cNvSpPr txBox="1"/>
          <p:nvPr/>
        </p:nvSpPr>
        <p:spPr>
          <a:xfrm>
            <a:off x="7873026" y="4394860"/>
            <a:ext cx="128240" cy="98745"/>
          </a:xfrm>
          <a:prstGeom prst="rect">
            <a:avLst/>
          </a:prstGeom>
          <a:noFill/>
        </p:spPr>
        <p:txBody>
          <a:bodyPr vert="horz" wrap="none" lIns="0" tIns="0" rIns="0" bIns="0" rtlCol="0">
            <a:spAutoFit/>
          </a:bodyPr>
          <a:lstStyle/>
          <a:p>
            <a:pPr>
              <a:lnSpc>
                <a:spcPts val="709"/>
              </a:lnSpc>
            </a:pPr>
            <a:r>
              <a:rPr lang="zh-CN" altLang="en-US" sz="1002" dirty="0">
                <a:solidFill>
                  <a:srgbClr val="FFFFFF"/>
                </a:solidFill>
                <a:latin typeface="Times New Roman"/>
              </a:rPr>
              <a:t>財</a:t>
            </a:r>
          </a:p>
        </p:txBody>
      </p:sp>
      <p:sp>
        <p:nvSpPr>
          <p:cNvPr id="4" name="TextBox 3"/>
          <p:cNvSpPr txBox="1"/>
          <p:nvPr/>
        </p:nvSpPr>
        <p:spPr>
          <a:xfrm>
            <a:off x="7962944" y="4304941"/>
            <a:ext cx="128240" cy="98745"/>
          </a:xfrm>
          <a:prstGeom prst="rect">
            <a:avLst/>
          </a:prstGeom>
          <a:noFill/>
        </p:spPr>
        <p:txBody>
          <a:bodyPr vert="horz" wrap="none" lIns="0" tIns="0" rIns="0" bIns="0" rtlCol="0">
            <a:spAutoFit/>
          </a:bodyPr>
          <a:lstStyle/>
          <a:p>
            <a:pPr>
              <a:lnSpc>
                <a:spcPts val="709"/>
              </a:lnSpc>
            </a:pPr>
            <a:r>
              <a:rPr lang="zh-CN" altLang="en-US" sz="1002" dirty="0">
                <a:solidFill>
                  <a:srgbClr val="FFFFFF"/>
                </a:solidFill>
                <a:latin typeface="Times New Roman"/>
              </a:rPr>
              <a:t>務</a:t>
            </a:r>
          </a:p>
        </p:txBody>
      </p:sp>
      <p:sp>
        <p:nvSpPr>
          <p:cNvPr id="5" name="TextBox 4"/>
          <p:cNvSpPr txBox="1"/>
          <p:nvPr/>
        </p:nvSpPr>
        <p:spPr>
          <a:xfrm>
            <a:off x="8052863" y="4215023"/>
            <a:ext cx="128240" cy="98745"/>
          </a:xfrm>
          <a:prstGeom prst="rect">
            <a:avLst/>
          </a:prstGeom>
          <a:noFill/>
        </p:spPr>
        <p:txBody>
          <a:bodyPr vert="horz" wrap="none" lIns="0" tIns="0" rIns="0" bIns="0" rtlCol="0">
            <a:spAutoFit/>
          </a:bodyPr>
          <a:lstStyle/>
          <a:p>
            <a:pPr>
              <a:lnSpc>
                <a:spcPts val="709"/>
              </a:lnSpc>
            </a:pPr>
            <a:r>
              <a:rPr lang="zh-CN" altLang="en-US" sz="1002" dirty="0">
                <a:solidFill>
                  <a:srgbClr val="FFFFFF"/>
                </a:solidFill>
                <a:latin typeface="Times New Roman"/>
              </a:rPr>
              <a:t>報</a:t>
            </a:r>
          </a:p>
        </p:txBody>
      </p:sp>
      <p:sp>
        <p:nvSpPr>
          <p:cNvPr id="6" name="TextBox 5"/>
          <p:cNvSpPr txBox="1"/>
          <p:nvPr/>
        </p:nvSpPr>
        <p:spPr>
          <a:xfrm>
            <a:off x="8142782" y="4125104"/>
            <a:ext cx="128240" cy="98745"/>
          </a:xfrm>
          <a:prstGeom prst="rect">
            <a:avLst/>
          </a:prstGeom>
          <a:noFill/>
        </p:spPr>
        <p:txBody>
          <a:bodyPr vert="horz" wrap="none" lIns="0" tIns="0" rIns="0" bIns="0" rtlCol="0">
            <a:spAutoFit/>
          </a:bodyPr>
          <a:lstStyle/>
          <a:p>
            <a:pPr>
              <a:lnSpc>
                <a:spcPts val="709"/>
              </a:lnSpc>
            </a:pPr>
            <a:r>
              <a:rPr lang="zh-CN" altLang="en-US" sz="1002" dirty="0">
                <a:solidFill>
                  <a:srgbClr val="FFFFFF"/>
                </a:solidFill>
                <a:latin typeface="Times New Roman"/>
              </a:rPr>
              <a:t>告</a:t>
            </a:r>
          </a:p>
        </p:txBody>
      </p:sp>
      <p:sp>
        <p:nvSpPr>
          <p:cNvPr id="7" name="TextBox 6"/>
          <p:cNvSpPr txBox="1"/>
          <p:nvPr/>
        </p:nvSpPr>
        <p:spPr>
          <a:xfrm>
            <a:off x="8540536" y="4349899"/>
            <a:ext cx="128240" cy="98745"/>
          </a:xfrm>
          <a:prstGeom prst="rect">
            <a:avLst/>
          </a:prstGeom>
          <a:noFill/>
        </p:spPr>
        <p:txBody>
          <a:bodyPr vert="horz" wrap="none" lIns="0" tIns="0" rIns="0" bIns="0" rtlCol="0">
            <a:spAutoFit/>
          </a:bodyPr>
          <a:lstStyle/>
          <a:p>
            <a:pPr>
              <a:lnSpc>
                <a:spcPts val="709"/>
              </a:lnSpc>
            </a:pPr>
            <a:r>
              <a:rPr lang="zh-CN" altLang="en-US" sz="1002" dirty="0">
                <a:solidFill>
                  <a:srgbClr val="FFFFFF"/>
                </a:solidFill>
                <a:latin typeface="Times New Roman"/>
              </a:rPr>
              <a:t>合</a:t>
            </a:r>
          </a:p>
        </p:txBody>
      </p:sp>
      <p:sp>
        <p:nvSpPr>
          <p:cNvPr id="8" name="TextBox 7"/>
          <p:cNvSpPr txBox="1"/>
          <p:nvPr/>
        </p:nvSpPr>
        <p:spPr>
          <a:xfrm>
            <a:off x="8630455" y="4259981"/>
            <a:ext cx="128240" cy="98745"/>
          </a:xfrm>
          <a:prstGeom prst="rect">
            <a:avLst/>
          </a:prstGeom>
          <a:noFill/>
        </p:spPr>
        <p:txBody>
          <a:bodyPr vert="horz" wrap="none" lIns="0" tIns="0" rIns="0" bIns="0" rtlCol="0">
            <a:spAutoFit/>
          </a:bodyPr>
          <a:lstStyle/>
          <a:p>
            <a:pPr>
              <a:lnSpc>
                <a:spcPts val="709"/>
              </a:lnSpc>
            </a:pPr>
            <a:r>
              <a:rPr lang="zh-CN" altLang="en-US" sz="1002" dirty="0">
                <a:solidFill>
                  <a:srgbClr val="FFFFFF"/>
                </a:solidFill>
                <a:latin typeface="Times New Roman"/>
              </a:rPr>
              <a:t>規</a:t>
            </a:r>
          </a:p>
        </p:txBody>
      </p:sp>
      <p:sp>
        <p:nvSpPr>
          <p:cNvPr id="9" name="TextBox 8"/>
          <p:cNvSpPr txBox="1"/>
          <p:nvPr/>
        </p:nvSpPr>
        <p:spPr>
          <a:xfrm>
            <a:off x="8720373" y="4170062"/>
            <a:ext cx="128240" cy="98745"/>
          </a:xfrm>
          <a:prstGeom prst="rect">
            <a:avLst/>
          </a:prstGeom>
          <a:noFill/>
        </p:spPr>
        <p:txBody>
          <a:bodyPr vert="horz" wrap="none" lIns="0" tIns="0" rIns="0" bIns="0" rtlCol="0">
            <a:spAutoFit/>
          </a:bodyPr>
          <a:lstStyle/>
          <a:p>
            <a:pPr>
              <a:lnSpc>
                <a:spcPts val="709"/>
              </a:lnSpc>
            </a:pPr>
            <a:r>
              <a:rPr lang="zh-CN" altLang="en-US" sz="1002" dirty="0">
                <a:solidFill>
                  <a:srgbClr val="FFFFFF"/>
                </a:solidFill>
                <a:latin typeface="Times New Roman"/>
              </a:rPr>
              <a:t>性</a:t>
            </a:r>
          </a:p>
        </p:txBody>
      </p:sp>
      <p:sp>
        <p:nvSpPr>
          <p:cNvPr id="10" name="TextBox 9"/>
          <p:cNvSpPr txBox="1"/>
          <p:nvPr/>
        </p:nvSpPr>
        <p:spPr>
          <a:xfrm>
            <a:off x="639710" y="2591757"/>
            <a:ext cx="174728" cy="224420"/>
          </a:xfrm>
          <a:prstGeom prst="rect">
            <a:avLst/>
          </a:prstGeom>
          <a:noFill/>
        </p:spPr>
        <p:txBody>
          <a:bodyPr vert="horz" wrap="none" lIns="0" tIns="0" rIns="0" bIns="0" rtlCol="0">
            <a:spAutoFit/>
          </a:bodyPr>
          <a:lstStyle/>
          <a:p>
            <a:pPr>
              <a:lnSpc>
                <a:spcPts val="1665"/>
              </a:lnSpc>
            </a:pPr>
            <a:r>
              <a:rPr lang="en-US" altLang="zh-CN" dirty="0">
                <a:solidFill>
                  <a:srgbClr val="000000"/>
                </a:solidFill>
                <a:latin typeface="Times New Roman"/>
              </a:rPr>
              <a:t>1.</a:t>
            </a:r>
            <a:endParaRPr lang="zh-CN" altLang="en-US" dirty="0">
              <a:solidFill>
                <a:srgbClr val="000000"/>
              </a:solidFill>
              <a:latin typeface="Times New Roman"/>
            </a:endParaRPr>
          </a:p>
        </p:txBody>
      </p:sp>
      <p:sp>
        <p:nvSpPr>
          <p:cNvPr id="11" name="TextBox 10"/>
          <p:cNvSpPr txBox="1"/>
          <p:nvPr/>
        </p:nvSpPr>
        <p:spPr>
          <a:xfrm>
            <a:off x="639710" y="3141151"/>
            <a:ext cx="174728" cy="224420"/>
          </a:xfrm>
          <a:prstGeom prst="rect">
            <a:avLst/>
          </a:prstGeom>
          <a:noFill/>
        </p:spPr>
        <p:txBody>
          <a:bodyPr vert="horz" wrap="none" lIns="0" tIns="0" rIns="0" bIns="0" rtlCol="0">
            <a:spAutoFit/>
          </a:bodyPr>
          <a:lstStyle/>
          <a:p>
            <a:pPr>
              <a:lnSpc>
                <a:spcPts val="1665"/>
              </a:lnSpc>
            </a:pPr>
            <a:r>
              <a:rPr lang="en-US" altLang="zh-CN" dirty="0">
                <a:solidFill>
                  <a:srgbClr val="000000"/>
                </a:solidFill>
                <a:latin typeface="Times New Roman"/>
              </a:rPr>
              <a:t>2.</a:t>
            </a:r>
            <a:endParaRPr lang="zh-CN" altLang="en-US" dirty="0">
              <a:solidFill>
                <a:srgbClr val="000000"/>
              </a:solidFill>
              <a:latin typeface="Times New Roman"/>
            </a:endParaRPr>
          </a:p>
        </p:txBody>
      </p:sp>
      <p:sp>
        <p:nvSpPr>
          <p:cNvPr id="12" name="TextBox 11"/>
          <p:cNvSpPr txBox="1"/>
          <p:nvPr/>
        </p:nvSpPr>
        <p:spPr>
          <a:xfrm>
            <a:off x="639710" y="3689791"/>
            <a:ext cx="174728" cy="224420"/>
          </a:xfrm>
          <a:prstGeom prst="rect">
            <a:avLst/>
          </a:prstGeom>
          <a:noFill/>
        </p:spPr>
        <p:txBody>
          <a:bodyPr vert="horz" wrap="none" lIns="0" tIns="0" rIns="0" bIns="0" rtlCol="0">
            <a:spAutoFit/>
          </a:bodyPr>
          <a:lstStyle/>
          <a:p>
            <a:pPr>
              <a:lnSpc>
                <a:spcPts val="1665"/>
              </a:lnSpc>
            </a:pPr>
            <a:r>
              <a:rPr lang="en-US" altLang="zh-CN" dirty="0">
                <a:solidFill>
                  <a:srgbClr val="000000"/>
                </a:solidFill>
                <a:latin typeface="Times New Roman"/>
              </a:rPr>
              <a:t>3.</a:t>
            </a:r>
            <a:endParaRPr lang="zh-CN" altLang="en-US" dirty="0">
              <a:solidFill>
                <a:srgbClr val="000000"/>
              </a:solidFill>
              <a:latin typeface="Times New Roman"/>
            </a:endParaRPr>
          </a:p>
        </p:txBody>
      </p:sp>
      <p:sp>
        <p:nvSpPr>
          <p:cNvPr id="13" name="TextBox 12"/>
          <p:cNvSpPr txBox="1"/>
          <p:nvPr/>
        </p:nvSpPr>
        <p:spPr>
          <a:xfrm>
            <a:off x="509403" y="6341571"/>
            <a:ext cx="144270" cy="133370"/>
          </a:xfrm>
          <a:prstGeom prst="rect">
            <a:avLst/>
          </a:prstGeom>
          <a:noFill/>
        </p:spPr>
        <p:txBody>
          <a:bodyPr vert="horz" wrap="none" lIns="0" tIns="0" rIns="0" bIns="0" rtlCol="0">
            <a:spAutoFit/>
          </a:bodyPr>
          <a:lstStyle/>
          <a:p>
            <a:pPr>
              <a:lnSpc>
                <a:spcPts val="1016"/>
              </a:lnSpc>
            </a:pPr>
            <a:r>
              <a:rPr lang="en-US" altLang="zh-CN" sz="1098" dirty="0">
                <a:solidFill>
                  <a:srgbClr val="761437"/>
                </a:solidFill>
                <a:latin typeface="Times New Roman"/>
              </a:rPr>
              <a:t>32</a:t>
            </a:r>
            <a:endParaRPr lang="zh-CN" altLang="en-US" sz="1098" dirty="0">
              <a:solidFill>
                <a:srgbClr val="761437"/>
              </a:solidFill>
              <a:latin typeface="Times New Roman"/>
            </a:endParaRPr>
          </a:p>
        </p:txBody>
      </p:sp>
      <p:sp>
        <p:nvSpPr>
          <p:cNvPr id="14" name="TextBox 13"/>
          <p:cNvSpPr txBox="1"/>
          <p:nvPr/>
        </p:nvSpPr>
        <p:spPr>
          <a:xfrm>
            <a:off x="509403" y="390082"/>
            <a:ext cx="8540800" cy="3834383"/>
          </a:xfrm>
          <a:prstGeom prst="rect">
            <a:avLst/>
          </a:prstGeom>
          <a:noFill/>
        </p:spPr>
        <p:txBody>
          <a:bodyPr vert="horz" wrap="none" lIns="0" tIns="0" rIns="0" bIns="0" rtlCol="0">
            <a:spAutoFit/>
          </a:bodyPr>
          <a:lstStyle/>
          <a:p>
            <a:pPr marL="0" marR="0" lvl="0" indent="0" defTabSz="914400" eaLnBrk="1" fontAlgn="auto" latinLnBrk="0" hangingPunct="1">
              <a:lnSpc>
                <a:spcPts val="4087"/>
              </a:lnSpc>
              <a:buClrTx/>
              <a:buSzTx/>
              <a:buNone/>
              <a:tabLst>
                <a:tab pos="317500" algn="l"/>
                <a:tab pos="584200" algn="l"/>
              </a:tabLst>
              <a:defRPr/>
            </a:pPr>
            <a:r>
              <a:rPr lang="zh-CN" altLang="en-US" dirty="0"/>
              <a:t>	</a:t>
            </a:r>
            <a:r>
              <a:rPr lang="zh-CN" altLang="en-US" sz="3798" dirty="0">
                <a:solidFill>
                  <a:srgbClr val="FFFFFF"/>
                </a:solidFill>
                <a:latin typeface="Times New Roman"/>
              </a:rPr>
              <a:t>控制環境  </a:t>
            </a:r>
            <a:r>
              <a:rPr lang="en-US" altLang="zh-CN" sz="3798" b="1" dirty="0">
                <a:solidFill>
                  <a:srgbClr val="FFFFFF"/>
                </a:solidFill>
                <a:latin typeface="Times New Roman"/>
              </a:rPr>
              <a:t>–  </a:t>
            </a:r>
            <a:r>
              <a:rPr lang="zh-CN" altLang="en-US" sz="3798" dirty="0">
                <a:solidFill>
                  <a:srgbClr val="FFFFFF"/>
                </a:solidFill>
                <a:latin typeface="Times New Roman"/>
              </a:rPr>
              <a:t>權利和責任的分配</a:t>
            </a:r>
          </a:p>
          <a:p>
            <a:pPr marL="0" marR="0" lvl="0" indent="0" defTabSz="914400" eaLnBrk="1" fontAlgn="auto" latinLnBrk="0" hangingPunct="1">
              <a:lnSpc>
                <a:spcPts val="1000"/>
              </a:lnSpc>
              <a:buClrTx/>
              <a:buSzTx/>
              <a:buNone/>
              <a:tabLst>
                <a:tab pos="317500" algn="l"/>
                <a:tab pos="584200" algn="l"/>
              </a:tabLst>
              <a:defRPr/>
            </a:pPr>
            <a:endParaRPr lang="zh-CN" altLang="en-US" sz="3798" dirty="0">
              <a:solidFill>
                <a:srgbClr val="FFFFFF"/>
              </a:solidFill>
              <a:latin typeface="Times New Roman"/>
            </a:endParaRPr>
          </a:p>
          <a:p>
            <a:pPr marL="0" marR="0" lvl="0" indent="0" defTabSz="914400" eaLnBrk="1" fontAlgn="auto" latinLnBrk="0" hangingPunct="1">
              <a:lnSpc>
                <a:spcPts val="1000"/>
              </a:lnSpc>
              <a:buClrTx/>
              <a:buSzTx/>
              <a:buNone/>
              <a:tabLst>
                <a:tab pos="317500" algn="l"/>
                <a:tab pos="584200" algn="l"/>
              </a:tabLst>
              <a:defRPr/>
            </a:pPr>
            <a:endParaRPr lang="zh-CN" altLang="en-US" sz="3798" dirty="0">
              <a:solidFill>
                <a:srgbClr val="FFFFFF"/>
              </a:solidFill>
              <a:latin typeface="Times New Roman"/>
            </a:endParaRPr>
          </a:p>
          <a:p>
            <a:pPr marL="0" marR="0" lvl="0" indent="0" defTabSz="914400" eaLnBrk="1" fontAlgn="auto" latinLnBrk="0" hangingPunct="1">
              <a:lnSpc>
                <a:spcPts val="1000"/>
              </a:lnSpc>
              <a:buClrTx/>
              <a:buSzTx/>
              <a:buNone/>
              <a:tabLst>
                <a:tab pos="317500" algn="l"/>
                <a:tab pos="584200" algn="l"/>
              </a:tabLst>
              <a:defRPr/>
            </a:pPr>
            <a:endParaRPr lang="zh-CN" altLang="en-US" sz="3798" dirty="0">
              <a:solidFill>
                <a:srgbClr val="FFFFFF"/>
              </a:solidFill>
              <a:latin typeface="Times New Roman"/>
            </a:endParaRPr>
          </a:p>
          <a:p>
            <a:pPr marL="0" marR="0" lvl="0" indent="0" defTabSz="914400" eaLnBrk="1" fontAlgn="auto" latinLnBrk="0" hangingPunct="1">
              <a:lnSpc>
                <a:spcPts val="1000"/>
              </a:lnSpc>
              <a:buClrTx/>
              <a:buSzTx/>
              <a:buNone/>
              <a:tabLst>
                <a:tab pos="317500" algn="l"/>
                <a:tab pos="584200" algn="l"/>
              </a:tabLst>
              <a:defRPr/>
            </a:pPr>
            <a:endParaRPr lang="zh-CN" altLang="en-US" sz="3798" dirty="0">
              <a:solidFill>
                <a:srgbClr val="FFFFFF"/>
              </a:solidFill>
              <a:latin typeface="Times New Roman"/>
            </a:endParaRPr>
          </a:p>
          <a:p>
            <a:pPr marL="0" marR="0" lvl="0" indent="0" defTabSz="914400" eaLnBrk="1" fontAlgn="auto" latinLnBrk="0" hangingPunct="1">
              <a:lnSpc>
                <a:spcPts val="1000"/>
              </a:lnSpc>
              <a:buClrTx/>
              <a:buSzTx/>
              <a:buNone/>
              <a:tabLst>
                <a:tab pos="317500" algn="l"/>
                <a:tab pos="584200" algn="l"/>
              </a:tabLst>
              <a:defRPr/>
            </a:pPr>
            <a:endParaRPr lang="zh-CN" altLang="en-US" sz="3798" dirty="0">
              <a:solidFill>
                <a:srgbClr val="FFFFFF"/>
              </a:solidFill>
              <a:latin typeface="Times New Roman"/>
            </a:endParaRPr>
          </a:p>
          <a:p>
            <a:pPr marL="0" marR="0" lvl="0" indent="0" defTabSz="914400" eaLnBrk="1" fontAlgn="auto" latinLnBrk="0" hangingPunct="1">
              <a:lnSpc>
                <a:spcPts val="1000"/>
              </a:lnSpc>
              <a:buClrTx/>
              <a:buSzTx/>
              <a:buNone/>
              <a:tabLst>
                <a:tab pos="317500" algn="l"/>
                <a:tab pos="584200" algn="l"/>
              </a:tabLst>
              <a:defRPr/>
            </a:pPr>
            <a:endParaRPr lang="zh-CN" altLang="en-US" sz="3798" dirty="0">
              <a:solidFill>
                <a:srgbClr val="FFFFFF"/>
              </a:solidFill>
              <a:latin typeface="Times New Roman"/>
            </a:endParaRPr>
          </a:p>
          <a:p>
            <a:pPr marL="0" marR="0" lvl="0" indent="0" defTabSz="914400" eaLnBrk="1" fontAlgn="auto" latinLnBrk="0" hangingPunct="1">
              <a:lnSpc>
                <a:spcPts val="1000"/>
              </a:lnSpc>
              <a:buClrTx/>
              <a:buSzTx/>
              <a:buNone/>
              <a:tabLst>
                <a:tab pos="317500" algn="l"/>
                <a:tab pos="584200" algn="l"/>
              </a:tabLst>
              <a:defRPr/>
            </a:pPr>
            <a:endParaRPr lang="zh-CN" altLang="en-US" sz="3798" dirty="0">
              <a:solidFill>
                <a:srgbClr val="FFFFFF"/>
              </a:solidFill>
              <a:latin typeface="Times New Roman"/>
            </a:endParaRPr>
          </a:p>
          <a:p>
            <a:pPr marL="0" marR="0" lvl="0" indent="0" defTabSz="914400" eaLnBrk="1" fontAlgn="auto" latinLnBrk="0" hangingPunct="1">
              <a:lnSpc>
                <a:spcPts val="1956"/>
              </a:lnSpc>
              <a:buClrTx/>
              <a:buSzTx/>
              <a:buNone/>
              <a:tabLst>
                <a:tab pos="317500" algn="l"/>
                <a:tab pos="584200" algn="l"/>
              </a:tabLst>
              <a:defRPr/>
            </a:pPr>
            <a:r>
              <a:rPr lang="zh-CN" altLang="en-US" dirty="0">
                <a:solidFill>
                  <a:srgbClr val="000000"/>
                </a:solidFill>
                <a:latin typeface="Times New Roman"/>
              </a:rPr>
              <a:t>責任的分配、授權和相關的政策提供了責任和控制的基礎，明確了員工各自的角色。</a:t>
            </a:r>
          </a:p>
          <a:p>
            <a:pPr marL="0" marR="0" lvl="0" indent="0" defTabSz="914400" eaLnBrk="1" fontAlgn="auto" latinLnBrk="0" hangingPunct="1">
              <a:lnSpc>
                <a:spcPts val="1000"/>
              </a:lnSpc>
              <a:buClrTx/>
              <a:buSzTx/>
              <a:buNone/>
              <a:tabLst>
                <a:tab pos="317500" algn="l"/>
                <a:tab pos="584200" algn="l"/>
              </a:tabLst>
              <a:defRPr/>
            </a:pPr>
            <a:endParaRPr lang="zh-CN" altLang="en-US" dirty="0">
              <a:solidFill>
                <a:srgbClr val="000000"/>
              </a:solidFill>
              <a:latin typeface="Times New Roman"/>
            </a:endParaRPr>
          </a:p>
          <a:p>
            <a:pPr marL="0" marR="0" lvl="0" indent="0" defTabSz="914400" eaLnBrk="1" fontAlgn="auto" latinLnBrk="0" hangingPunct="1">
              <a:lnSpc>
                <a:spcPts val="1000"/>
              </a:lnSpc>
              <a:buClrTx/>
              <a:buSzTx/>
              <a:buNone/>
              <a:tabLst>
                <a:tab pos="317500" algn="l"/>
                <a:tab pos="584200" algn="l"/>
              </a:tabLst>
              <a:defRPr/>
            </a:pPr>
            <a:endParaRPr lang="zh-CN" altLang="en-US" dirty="0">
              <a:solidFill>
                <a:srgbClr val="000000"/>
              </a:solidFill>
              <a:latin typeface="Times New Roman"/>
            </a:endParaRPr>
          </a:p>
          <a:p>
            <a:pPr marL="0" marR="0" lvl="0" indent="0" defTabSz="914400" eaLnBrk="1" fontAlgn="auto" latinLnBrk="0" hangingPunct="1">
              <a:lnSpc>
                <a:spcPts val="1000"/>
              </a:lnSpc>
              <a:buClrTx/>
              <a:buSzTx/>
              <a:buNone/>
              <a:tabLst>
                <a:tab pos="317500" algn="l"/>
                <a:tab pos="584200" algn="l"/>
              </a:tabLst>
              <a:defRPr/>
            </a:pPr>
            <a:endParaRPr lang="zh-CN" altLang="en-US" dirty="0">
              <a:solidFill>
                <a:srgbClr val="000000"/>
              </a:solidFill>
              <a:latin typeface="Times New Roman"/>
            </a:endParaRPr>
          </a:p>
          <a:p>
            <a:pPr marL="0" marR="0" lvl="0" indent="0" defTabSz="914400" eaLnBrk="1" fontAlgn="auto" latinLnBrk="0" hangingPunct="1">
              <a:lnSpc>
                <a:spcPts val="1000"/>
              </a:lnSpc>
              <a:buClrTx/>
              <a:buSzTx/>
              <a:buNone/>
              <a:tabLst>
                <a:tab pos="317500" algn="l"/>
                <a:tab pos="584200" algn="l"/>
              </a:tabLst>
              <a:defRPr/>
            </a:pPr>
            <a:endParaRPr lang="zh-CN" altLang="en-US" dirty="0">
              <a:solidFill>
                <a:srgbClr val="000000"/>
              </a:solidFill>
              <a:latin typeface="Times New Roman"/>
            </a:endParaRPr>
          </a:p>
          <a:p>
            <a:pPr marL="0" marR="0" lvl="0" indent="0" defTabSz="914400" eaLnBrk="1" fontAlgn="auto" latinLnBrk="0" hangingPunct="1">
              <a:lnSpc>
                <a:spcPts val="1838"/>
              </a:lnSpc>
              <a:buClrTx/>
              <a:buSzTx/>
              <a:buNone/>
              <a:tabLst>
                <a:tab pos="317500" algn="l"/>
                <a:tab pos="584200" algn="l"/>
              </a:tabLst>
              <a:defRPr/>
            </a:pPr>
            <a:r>
              <a:rPr lang="zh-CN" altLang="en-US" dirty="0">
                <a:solidFill>
                  <a:srgbClr val="000000"/>
                </a:solidFill>
                <a:latin typeface="Times New Roman"/>
              </a:rPr>
              <a:t>		根據公司的目標、經營職能和監管要求，分配責任和授</a:t>
            </a:r>
          </a:p>
          <a:p>
            <a:pPr marL="0" marR="0" lvl="0" indent="0" defTabSz="914400" eaLnBrk="1" fontAlgn="auto" latinLnBrk="0" hangingPunct="1">
              <a:lnSpc>
                <a:spcPts val="2160"/>
              </a:lnSpc>
              <a:buClrTx/>
              <a:buSzTx/>
              <a:buNone/>
              <a:tabLst>
                <a:tab pos="317500" algn="l"/>
                <a:tab pos="584200" algn="l"/>
              </a:tabLst>
              <a:defRPr/>
            </a:pPr>
            <a:r>
              <a:rPr lang="zh-CN" altLang="en-US" dirty="0">
                <a:solidFill>
                  <a:srgbClr val="000000"/>
                </a:solidFill>
                <a:latin typeface="Times New Roman"/>
              </a:rPr>
              <a:t>		權，包括資訊系統的責任和變化的授權。</a:t>
            </a:r>
          </a:p>
          <a:p>
            <a:pPr marL="0" marR="0" lvl="0" indent="0" defTabSz="914400" eaLnBrk="1" fontAlgn="auto" latinLnBrk="0" hangingPunct="1">
              <a:lnSpc>
                <a:spcPts val="2166"/>
              </a:lnSpc>
              <a:buClrTx/>
              <a:buSzTx/>
              <a:buNone/>
              <a:tabLst>
                <a:tab pos="317500" algn="l"/>
                <a:tab pos="584200" algn="l"/>
              </a:tabLst>
              <a:defRPr/>
            </a:pPr>
            <a:r>
              <a:rPr lang="zh-CN" altLang="en-US" dirty="0">
                <a:solidFill>
                  <a:srgbClr val="000000"/>
                </a:solidFill>
                <a:latin typeface="Times New Roman"/>
              </a:rPr>
              <a:t>		與控制相關的標準、程式的適當性，包括員工職責描</a:t>
            </a:r>
          </a:p>
          <a:p>
            <a:pPr marL="0" marR="0" lvl="0" indent="0" defTabSz="914400" eaLnBrk="1" fontAlgn="auto" latinLnBrk="0" hangingPunct="1">
              <a:lnSpc>
                <a:spcPts val="2160"/>
              </a:lnSpc>
              <a:buClrTx/>
              <a:buSzTx/>
              <a:buNone/>
              <a:tabLst>
                <a:tab pos="317500" algn="l"/>
                <a:tab pos="584200" algn="l"/>
              </a:tabLst>
              <a:defRPr/>
            </a:pPr>
            <a:r>
              <a:rPr lang="zh-CN" altLang="en-US" dirty="0">
                <a:solidFill>
                  <a:srgbClr val="000000"/>
                </a:solidFill>
                <a:latin typeface="Times New Roman"/>
              </a:rPr>
              <a:t>		述。</a:t>
            </a:r>
          </a:p>
          <a:p>
            <a:pPr marL="0" marR="0" lvl="0" indent="0" defTabSz="914400" eaLnBrk="1" fontAlgn="auto" latinLnBrk="0" hangingPunct="1">
              <a:lnSpc>
                <a:spcPts val="2160"/>
              </a:lnSpc>
              <a:buClrTx/>
              <a:buSzTx/>
              <a:buNone/>
              <a:tabLst>
                <a:tab pos="317500" algn="l"/>
                <a:tab pos="584200" algn="l"/>
              </a:tabLst>
              <a:defRPr/>
            </a:pPr>
            <a:r>
              <a:rPr lang="zh-CN" altLang="en-US" dirty="0">
                <a:solidFill>
                  <a:srgbClr val="000000"/>
                </a:solidFill>
                <a:latin typeface="Times New Roman"/>
              </a:rPr>
              <a:t>		職員數量的適當性，特別是資料處理和會計職能。這些</a:t>
            </a:r>
          </a:p>
          <a:p>
            <a:pPr marL="0" marR="0" lvl="0" indent="0" defTabSz="914400" eaLnBrk="1" fontAlgn="auto" latinLnBrk="0" hangingPunct="1">
              <a:lnSpc>
                <a:spcPts val="2166"/>
              </a:lnSpc>
              <a:buClrTx/>
              <a:buSzTx/>
              <a:buNone/>
              <a:tabLst>
                <a:tab pos="317500" algn="l"/>
                <a:tab pos="584200" algn="l"/>
              </a:tabLst>
              <a:defRPr/>
            </a:pPr>
            <a:r>
              <a:rPr lang="zh-CN" altLang="en-US" dirty="0">
                <a:solidFill>
                  <a:srgbClr val="000000"/>
                </a:solidFill>
                <a:latin typeface="Times New Roman"/>
              </a:rPr>
              <a:t>		職員應具備與企業規模、業務活動和系統相適應的技能</a:t>
            </a:r>
          </a:p>
        </p:txBody>
      </p:sp>
      <p:sp>
        <p:nvSpPr>
          <p:cNvPr id="15" name="TextBox 14"/>
          <p:cNvSpPr txBox="1"/>
          <p:nvPr/>
        </p:nvSpPr>
        <p:spPr>
          <a:xfrm>
            <a:off x="1096905" y="4206953"/>
            <a:ext cx="692497" cy="230832"/>
          </a:xfrm>
          <a:prstGeom prst="rect">
            <a:avLst/>
          </a:prstGeom>
          <a:noFill/>
        </p:spPr>
        <p:txBody>
          <a:bodyPr vert="horz" wrap="none" lIns="0" tIns="0" rIns="0" bIns="0" rtlCol="0">
            <a:spAutoFit/>
          </a:bodyPr>
          <a:lstStyle/>
          <a:p>
            <a:pPr>
              <a:lnSpc>
                <a:spcPts val="1798"/>
              </a:lnSpc>
            </a:pPr>
            <a:r>
              <a:rPr lang="zh-CN" altLang="en-US" dirty="0">
                <a:solidFill>
                  <a:srgbClr val="000000"/>
                </a:solidFill>
                <a:latin typeface="Times New Roman"/>
              </a:rPr>
              <a:t>水準。</a:t>
            </a:r>
          </a:p>
        </p:txBody>
      </p:sp>
      <p:sp>
        <p:nvSpPr>
          <p:cNvPr id="16" name="TextBox 15"/>
          <p:cNvSpPr txBox="1"/>
          <p:nvPr/>
        </p:nvSpPr>
        <p:spPr>
          <a:xfrm>
            <a:off x="7387977" y="4312336"/>
            <a:ext cx="128240" cy="128240"/>
          </a:xfrm>
          <a:prstGeom prst="rect">
            <a:avLst/>
          </a:prstGeom>
          <a:noFill/>
        </p:spPr>
        <p:txBody>
          <a:bodyPr vert="horz" wrap="none" lIns="0" tIns="0" rIns="0" bIns="0" rtlCol="0">
            <a:spAutoFit/>
          </a:bodyPr>
          <a:lstStyle/>
          <a:p>
            <a:pPr>
              <a:lnSpc>
                <a:spcPts val="1001"/>
              </a:lnSpc>
            </a:pPr>
            <a:r>
              <a:rPr lang="zh-CN" altLang="en-US" sz="1002" dirty="0">
                <a:solidFill>
                  <a:srgbClr val="FFFFFF"/>
                </a:solidFill>
                <a:latin typeface="Times New Roman"/>
              </a:rPr>
              <a:t>營</a:t>
            </a:r>
          </a:p>
        </p:txBody>
      </p:sp>
      <p:sp>
        <p:nvSpPr>
          <p:cNvPr id="17" name="TextBox 16"/>
          <p:cNvSpPr txBox="1"/>
          <p:nvPr/>
        </p:nvSpPr>
        <p:spPr>
          <a:xfrm>
            <a:off x="7478660" y="4223182"/>
            <a:ext cx="128240" cy="128240"/>
          </a:xfrm>
          <a:prstGeom prst="rect">
            <a:avLst/>
          </a:prstGeom>
          <a:noFill/>
        </p:spPr>
        <p:txBody>
          <a:bodyPr vert="horz" wrap="none" lIns="0" tIns="0" rIns="0" bIns="0" rtlCol="0">
            <a:spAutoFit/>
          </a:bodyPr>
          <a:lstStyle/>
          <a:p>
            <a:pPr>
              <a:lnSpc>
                <a:spcPts val="1001"/>
              </a:lnSpc>
            </a:pPr>
            <a:r>
              <a:rPr lang="zh-CN" altLang="en-US" sz="1002" dirty="0">
                <a:solidFill>
                  <a:srgbClr val="FFFFFF"/>
                </a:solidFill>
                <a:latin typeface="Times New Roman"/>
              </a:rPr>
              <a:t>運</a:t>
            </a:r>
          </a:p>
        </p:txBody>
      </p:sp>
      <p:sp>
        <p:nvSpPr>
          <p:cNvPr id="18" name="TextBox 17"/>
          <p:cNvSpPr txBox="1"/>
          <p:nvPr/>
        </p:nvSpPr>
        <p:spPr>
          <a:xfrm>
            <a:off x="639710" y="4514260"/>
            <a:ext cx="174728" cy="224420"/>
          </a:xfrm>
          <a:prstGeom prst="rect">
            <a:avLst/>
          </a:prstGeom>
          <a:noFill/>
        </p:spPr>
        <p:txBody>
          <a:bodyPr vert="horz" wrap="none" lIns="0" tIns="0" rIns="0" bIns="0" rtlCol="0">
            <a:spAutoFit/>
          </a:bodyPr>
          <a:lstStyle/>
          <a:p>
            <a:pPr>
              <a:lnSpc>
                <a:spcPts val="1665"/>
              </a:lnSpc>
            </a:pPr>
            <a:r>
              <a:rPr lang="en-US" altLang="zh-CN" dirty="0">
                <a:solidFill>
                  <a:srgbClr val="000000"/>
                </a:solidFill>
                <a:latin typeface="Times New Roman"/>
              </a:rPr>
              <a:t>4.</a:t>
            </a:r>
            <a:endParaRPr lang="zh-CN" altLang="en-US" dirty="0">
              <a:solidFill>
                <a:srgbClr val="000000"/>
              </a:solidFill>
              <a:latin typeface="Times New Roman"/>
            </a:endParaRPr>
          </a:p>
        </p:txBody>
      </p:sp>
      <p:sp>
        <p:nvSpPr>
          <p:cNvPr id="19" name="TextBox 18"/>
          <p:cNvSpPr txBox="1"/>
          <p:nvPr/>
        </p:nvSpPr>
        <p:spPr>
          <a:xfrm>
            <a:off x="1096905" y="4482027"/>
            <a:ext cx="3000821" cy="230832"/>
          </a:xfrm>
          <a:prstGeom prst="rect">
            <a:avLst/>
          </a:prstGeom>
          <a:noFill/>
        </p:spPr>
        <p:txBody>
          <a:bodyPr vert="horz" wrap="none" lIns="0" tIns="0" rIns="0" bIns="0" rtlCol="0">
            <a:spAutoFit/>
          </a:bodyPr>
          <a:lstStyle/>
          <a:p>
            <a:pPr>
              <a:lnSpc>
                <a:spcPts val="1798"/>
              </a:lnSpc>
            </a:pPr>
            <a:r>
              <a:rPr lang="zh-CN" altLang="en-US" dirty="0">
                <a:solidFill>
                  <a:srgbClr val="000000"/>
                </a:solidFill>
                <a:latin typeface="Times New Roman"/>
              </a:rPr>
              <a:t>授權和所分配的責任相吻合。</a:t>
            </a:r>
          </a:p>
        </p:txBody>
      </p:sp>
      <p:sp>
        <p:nvSpPr>
          <p:cNvPr id="20" name="TextBox 19"/>
          <p:cNvSpPr txBox="1"/>
          <p:nvPr/>
        </p:nvSpPr>
        <p:spPr>
          <a:xfrm>
            <a:off x="7392550" y="4732182"/>
            <a:ext cx="641201" cy="1115690"/>
          </a:xfrm>
          <a:prstGeom prst="rect">
            <a:avLst/>
          </a:prstGeom>
          <a:noFill/>
        </p:spPr>
        <p:txBody>
          <a:bodyPr vert="horz" wrap="none" lIns="0" tIns="0" rIns="0" bIns="0" rtlCol="0">
            <a:spAutoFit/>
          </a:bodyPr>
          <a:lstStyle/>
          <a:p>
            <a:pPr marL="0" marR="0" lvl="0" indent="0" defTabSz="914400" eaLnBrk="1" fontAlgn="auto" latinLnBrk="0" hangingPunct="1">
              <a:lnSpc>
                <a:spcPts val="1001"/>
              </a:lnSpc>
              <a:buClrTx/>
              <a:buSzTx/>
              <a:buNone/>
              <a:tabLst>
                <a:tab pos="63500" algn="l"/>
                <a:tab pos="190500" algn="l"/>
              </a:tabLst>
              <a:defRPr/>
            </a:pPr>
            <a:r>
              <a:rPr lang="zh-CN" altLang="en-US" dirty="0"/>
              <a:t>		</a:t>
            </a:r>
            <a:r>
              <a:rPr lang="zh-CN" altLang="en-US" sz="1002" dirty="0">
                <a:solidFill>
                  <a:srgbClr val="FFFFFF"/>
                </a:solidFill>
                <a:latin typeface="Times New Roman"/>
              </a:rPr>
              <a:t>監控</a:t>
            </a:r>
          </a:p>
          <a:p>
            <a:pPr marL="0" marR="0" lvl="0" indent="0" defTabSz="914400" eaLnBrk="1" fontAlgn="auto" latinLnBrk="0" hangingPunct="1">
              <a:lnSpc>
                <a:spcPts val="1000"/>
              </a:lnSpc>
              <a:buClrTx/>
              <a:buSzTx/>
              <a:buNone/>
              <a:tabLst>
                <a:tab pos="63500" algn="l"/>
                <a:tab pos="190500" algn="l"/>
              </a:tabLst>
              <a:defRPr/>
            </a:pPr>
            <a:endParaRPr lang="zh-CN" altLang="en-US" sz="1002" dirty="0">
              <a:solidFill>
                <a:srgbClr val="FFFFFF"/>
              </a:solidFill>
              <a:latin typeface="Times New Roman"/>
            </a:endParaRPr>
          </a:p>
          <a:p>
            <a:pPr marL="0" marR="0" lvl="0" indent="0" defTabSz="914400" eaLnBrk="1" fontAlgn="auto" latinLnBrk="0" hangingPunct="1">
              <a:lnSpc>
                <a:spcPts val="1550"/>
              </a:lnSpc>
              <a:buClrTx/>
              <a:buSzTx/>
              <a:buNone/>
              <a:tabLst>
                <a:tab pos="63500" algn="l"/>
                <a:tab pos="190500" algn="l"/>
              </a:tabLst>
              <a:defRPr/>
            </a:pPr>
            <a:r>
              <a:rPr lang="zh-CN" altLang="en-US" sz="1002" dirty="0">
                <a:solidFill>
                  <a:srgbClr val="FFFFFF"/>
                </a:solidFill>
                <a:latin typeface="Times New Roman"/>
              </a:rPr>
              <a:t>資訊和溝通</a:t>
            </a:r>
          </a:p>
          <a:p>
            <a:pPr marL="0" marR="0" lvl="0" indent="0" defTabSz="914400" eaLnBrk="1" fontAlgn="auto" latinLnBrk="0" hangingPunct="1">
              <a:lnSpc>
                <a:spcPts val="1000"/>
              </a:lnSpc>
              <a:buClrTx/>
              <a:buSzTx/>
              <a:buNone/>
              <a:tabLst>
                <a:tab pos="63500" algn="l"/>
                <a:tab pos="190500" algn="l"/>
              </a:tabLst>
              <a:defRPr/>
            </a:pPr>
            <a:endParaRPr lang="zh-CN" altLang="en-US" sz="1002" dirty="0">
              <a:solidFill>
                <a:srgbClr val="FFFFFF"/>
              </a:solidFill>
              <a:latin typeface="Times New Roman"/>
            </a:endParaRPr>
          </a:p>
          <a:p>
            <a:pPr marL="0" marR="0" lvl="0" indent="0" defTabSz="914400" eaLnBrk="1" fontAlgn="auto" latinLnBrk="0" hangingPunct="1">
              <a:lnSpc>
                <a:spcPts val="1466"/>
              </a:lnSpc>
              <a:buClrTx/>
              <a:buSzTx/>
              <a:buNone/>
              <a:tabLst>
                <a:tab pos="63500" algn="l"/>
                <a:tab pos="190500" algn="l"/>
              </a:tabLst>
              <a:defRPr/>
            </a:pPr>
            <a:r>
              <a:rPr lang="zh-CN" altLang="en-US" sz="1002" dirty="0">
                <a:solidFill>
                  <a:srgbClr val="FFFFFF"/>
                </a:solidFill>
                <a:latin typeface="Times New Roman"/>
              </a:rPr>
              <a:t>	控制活動</a:t>
            </a:r>
          </a:p>
          <a:p>
            <a:pPr marL="0" marR="0" lvl="0" indent="0" defTabSz="914400" eaLnBrk="1" fontAlgn="auto" latinLnBrk="0" hangingPunct="1">
              <a:lnSpc>
                <a:spcPts val="1000"/>
              </a:lnSpc>
              <a:buClrTx/>
              <a:buSzTx/>
              <a:buNone/>
              <a:tabLst>
                <a:tab pos="63500" algn="l"/>
                <a:tab pos="190500" algn="l"/>
              </a:tabLst>
              <a:defRPr/>
            </a:pPr>
            <a:endParaRPr lang="zh-CN" altLang="en-US" sz="1002" dirty="0">
              <a:solidFill>
                <a:srgbClr val="FFFFFF"/>
              </a:solidFill>
              <a:latin typeface="Times New Roman"/>
            </a:endParaRPr>
          </a:p>
          <a:p>
            <a:pPr marL="0" marR="0" lvl="0" indent="0" defTabSz="914400" eaLnBrk="1" fontAlgn="auto" latinLnBrk="0" hangingPunct="1">
              <a:lnSpc>
                <a:spcPts val="1646"/>
              </a:lnSpc>
              <a:buClrTx/>
              <a:buSzTx/>
              <a:buNone/>
              <a:tabLst>
                <a:tab pos="63500" algn="l"/>
                <a:tab pos="190500" algn="l"/>
              </a:tabLst>
              <a:defRPr/>
            </a:pPr>
            <a:r>
              <a:rPr lang="zh-CN" altLang="en-US" sz="1002" dirty="0">
                <a:solidFill>
                  <a:srgbClr val="FFFFFF"/>
                </a:solidFill>
                <a:latin typeface="Times New Roman"/>
              </a:rPr>
              <a:t>	風險評估</a:t>
            </a:r>
          </a:p>
        </p:txBody>
      </p:sp>
      <p:sp>
        <p:nvSpPr>
          <p:cNvPr id="21" name="TextBox 20"/>
          <p:cNvSpPr txBox="1"/>
          <p:nvPr/>
        </p:nvSpPr>
        <p:spPr>
          <a:xfrm>
            <a:off x="8750433" y="5104819"/>
            <a:ext cx="128240" cy="743793"/>
          </a:xfrm>
          <a:prstGeom prst="rect">
            <a:avLst/>
          </a:prstGeom>
          <a:noFill/>
        </p:spPr>
        <p:txBody>
          <a:bodyPr vert="horz" wrap="none" lIns="0" tIns="0" rIns="0" bIns="0" rtlCol="0">
            <a:spAutoFit/>
          </a:bodyPr>
          <a:lstStyle/>
          <a:p>
            <a:pPr>
              <a:lnSpc>
                <a:spcPts val="1001"/>
              </a:lnSpc>
            </a:pPr>
            <a:r>
              <a:rPr lang="zh-CN" altLang="en-US" sz="1002" dirty="0">
                <a:solidFill>
                  <a:srgbClr val="FFFFFF"/>
                </a:solidFill>
                <a:latin typeface="Times New Roman"/>
              </a:rPr>
              <a:t>業</a:t>
            </a:r>
          </a:p>
          <a:p>
            <a:pPr>
              <a:lnSpc>
                <a:spcPts val="1200"/>
              </a:lnSpc>
            </a:pPr>
            <a:r>
              <a:rPr lang="zh-CN" altLang="en-US" sz="1002" dirty="0">
                <a:solidFill>
                  <a:srgbClr val="FFFFFF"/>
                </a:solidFill>
                <a:latin typeface="Times New Roman"/>
              </a:rPr>
              <a:t>務</a:t>
            </a:r>
          </a:p>
          <a:p>
            <a:pPr>
              <a:lnSpc>
                <a:spcPts val="1200"/>
              </a:lnSpc>
            </a:pPr>
            <a:r>
              <a:rPr lang="zh-CN" altLang="en-US" sz="1002" dirty="0">
                <a:solidFill>
                  <a:srgbClr val="FFFFFF"/>
                </a:solidFill>
                <a:latin typeface="Times New Roman"/>
              </a:rPr>
              <a:t>單</a:t>
            </a:r>
          </a:p>
          <a:p>
            <a:pPr>
              <a:lnSpc>
                <a:spcPts val="1200"/>
              </a:lnSpc>
            </a:pPr>
            <a:r>
              <a:rPr lang="zh-CN" altLang="en-US" sz="1002" dirty="0">
                <a:solidFill>
                  <a:srgbClr val="FFFFFF"/>
                </a:solidFill>
                <a:latin typeface="Times New Roman"/>
              </a:rPr>
              <a:t>位</a:t>
            </a:r>
          </a:p>
          <a:p>
            <a:pPr>
              <a:lnSpc>
                <a:spcPts val="1193"/>
              </a:lnSpc>
            </a:pPr>
            <a:r>
              <a:rPr lang="en-US" altLang="zh-CN" sz="1002" b="1" dirty="0">
                <a:solidFill>
                  <a:srgbClr val="FFFFFF"/>
                </a:solidFill>
                <a:latin typeface="Times New Roman"/>
              </a:rPr>
              <a:t>A</a:t>
            </a:r>
            <a:endParaRPr lang="zh-CN" altLang="en-US" sz="1002" b="1" dirty="0">
              <a:solidFill>
                <a:srgbClr val="FFFFFF"/>
              </a:solidFill>
              <a:latin typeface="Times New Roman"/>
            </a:endParaRPr>
          </a:p>
        </p:txBody>
      </p:sp>
      <p:sp>
        <p:nvSpPr>
          <p:cNvPr id="22" name="TextBox 21"/>
          <p:cNvSpPr txBox="1"/>
          <p:nvPr/>
        </p:nvSpPr>
        <p:spPr>
          <a:xfrm>
            <a:off x="8921868" y="4643033"/>
            <a:ext cx="474489" cy="1064394"/>
          </a:xfrm>
          <a:prstGeom prst="rect">
            <a:avLst/>
          </a:prstGeom>
          <a:noFill/>
        </p:spPr>
        <p:txBody>
          <a:bodyPr vert="horz" wrap="none" lIns="0" tIns="0" rIns="0" bIns="0" rtlCol="0">
            <a:spAutoFit/>
          </a:bodyPr>
          <a:lstStyle/>
          <a:p>
            <a:pPr marL="0" marR="0" lvl="0" indent="0" defTabSz="914400" eaLnBrk="1" fontAlgn="auto" latinLnBrk="0" hangingPunct="1">
              <a:lnSpc>
                <a:spcPts val="1001"/>
              </a:lnSpc>
              <a:buClrTx/>
              <a:buSzTx/>
              <a:buNone/>
              <a:tabLst>
                <a:tab pos="25400" algn="l"/>
                <a:tab pos="165100" algn="l"/>
                <a:tab pos="342900" algn="l"/>
              </a:tabLst>
              <a:defRPr/>
            </a:pPr>
            <a:r>
              <a:rPr lang="zh-CN" altLang="en-US" dirty="0"/>
              <a:t>			</a:t>
            </a:r>
            <a:r>
              <a:rPr lang="zh-CN" altLang="en-US" sz="1002" dirty="0">
                <a:solidFill>
                  <a:srgbClr val="FFFFFF"/>
                </a:solidFill>
                <a:latin typeface="Times New Roman"/>
              </a:rPr>
              <a:t>活</a:t>
            </a:r>
          </a:p>
          <a:p>
            <a:pPr marL="0" marR="0" lvl="0" indent="0" defTabSz="914400" eaLnBrk="1" fontAlgn="auto" latinLnBrk="0" hangingPunct="1">
              <a:lnSpc>
                <a:spcPts val="1284"/>
              </a:lnSpc>
              <a:buClrTx/>
              <a:buSzTx/>
              <a:buNone/>
              <a:tabLst>
                <a:tab pos="25400" algn="l"/>
                <a:tab pos="165100" algn="l"/>
                <a:tab pos="342900" algn="l"/>
              </a:tabLst>
              <a:defRPr/>
            </a:pPr>
            <a:r>
              <a:rPr lang="zh-CN" altLang="en-US" sz="1002" dirty="0">
                <a:solidFill>
                  <a:srgbClr val="FFFFFF"/>
                </a:solidFill>
                <a:latin typeface="Times New Roman"/>
              </a:rPr>
              <a:t>		活 動</a:t>
            </a:r>
          </a:p>
          <a:p>
            <a:pPr marL="0" marR="0" lvl="0" indent="0" defTabSz="914400" eaLnBrk="1" fontAlgn="auto" latinLnBrk="0" hangingPunct="1">
              <a:lnSpc>
                <a:spcPts val="1200"/>
              </a:lnSpc>
              <a:buClrTx/>
              <a:buSzTx/>
              <a:buNone/>
              <a:tabLst>
                <a:tab pos="25400" algn="l"/>
                <a:tab pos="165100" algn="l"/>
                <a:tab pos="342900" algn="l"/>
              </a:tabLst>
              <a:defRPr/>
            </a:pPr>
            <a:r>
              <a:rPr lang="zh-CN" altLang="en-US" sz="1002" dirty="0">
                <a:solidFill>
                  <a:srgbClr val="FFFFFF"/>
                </a:solidFill>
                <a:latin typeface="Times New Roman"/>
              </a:rPr>
              <a:t>業 動 </a:t>
            </a:r>
            <a:r>
              <a:rPr lang="en-US" altLang="zh-CN" sz="1002" b="1" dirty="0">
                <a:solidFill>
                  <a:srgbClr val="FFFFFF"/>
                </a:solidFill>
                <a:latin typeface="Times New Roman"/>
              </a:rPr>
              <a:t>2</a:t>
            </a:r>
          </a:p>
          <a:p>
            <a:pPr marL="0" marR="0" lvl="0" indent="0" defTabSz="914400" eaLnBrk="1" fontAlgn="auto" latinLnBrk="0" hangingPunct="1">
              <a:lnSpc>
                <a:spcPts val="1193"/>
              </a:lnSpc>
              <a:buClrTx/>
              <a:buSzTx/>
              <a:buNone/>
              <a:tabLst>
                <a:tab pos="25400" algn="l"/>
                <a:tab pos="165100" algn="l"/>
                <a:tab pos="342900" algn="l"/>
              </a:tabLst>
              <a:defRPr/>
            </a:pPr>
            <a:r>
              <a:rPr lang="zh-CN" altLang="en-US" sz="1002" dirty="0">
                <a:solidFill>
                  <a:srgbClr val="FFFFFF"/>
                </a:solidFill>
                <a:latin typeface="Times New Roman"/>
              </a:rPr>
              <a:t>務 </a:t>
            </a:r>
            <a:r>
              <a:rPr lang="en-US" altLang="zh-CN" sz="1002" b="1" dirty="0">
                <a:solidFill>
                  <a:srgbClr val="FFFFFF"/>
                </a:solidFill>
                <a:latin typeface="Times New Roman"/>
              </a:rPr>
              <a:t>1</a:t>
            </a:r>
          </a:p>
          <a:p>
            <a:pPr marL="0" marR="0" lvl="0" indent="0" defTabSz="914400" eaLnBrk="1" fontAlgn="auto" latinLnBrk="0" hangingPunct="1">
              <a:lnSpc>
                <a:spcPts val="1171"/>
              </a:lnSpc>
              <a:buClrTx/>
              <a:buSzTx/>
              <a:buNone/>
              <a:tabLst>
                <a:tab pos="25400" algn="l"/>
                <a:tab pos="165100" algn="l"/>
                <a:tab pos="342900" algn="l"/>
              </a:tabLst>
              <a:defRPr/>
            </a:pPr>
            <a:r>
              <a:rPr lang="zh-CN" altLang="en-US" sz="1002" dirty="0">
                <a:solidFill>
                  <a:srgbClr val="FFFFFF"/>
                </a:solidFill>
                <a:latin typeface="Times New Roman"/>
              </a:rPr>
              <a:t>單</a:t>
            </a:r>
          </a:p>
          <a:p>
            <a:pPr marL="0" marR="0" lvl="0" indent="0" defTabSz="914400" eaLnBrk="1" fontAlgn="auto" latinLnBrk="0" hangingPunct="1">
              <a:lnSpc>
                <a:spcPts val="1200"/>
              </a:lnSpc>
              <a:buClrTx/>
              <a:buSzTx/>
              <a:buNone/>
              <a:tabLst>
                <a:tab pos="25400" algn="l"/>
                <a:tab pos="165100" algn="l"/>
                <a:tab pos="342900" algn="l"/>
              </a:tabLst>
              <a:defRPr/>
            </a:pPr>
            <a:r>
              <a:rPr lang="zh-CN" altLang="en-US" sz="1002" dirty="0">
                <a:solidFill>
                  <a:srgbClr val="FFFFFF"/>
                </a:solidFill>
                <a:latin typeface="Times New Roman"/>
              </a:rPr>
              <a:t>位</a:t>
            </a:r>
          </a:p>
          <a:p>
            <a:pPr marL="0" marR="0" lvl="0" indent="0" defTabSz="914400" eaLnBrk="1" fontAlgn="auto" latinLnBrk="0" hangingPunct="1">
              <a:lnSpc>
                <a:spcPts val="1193"/>
              </a:lnSpc>
              <a:buClrTx/>
              <a:buSzTx/>
              <a:buNone/>
              <a:tabLst>
                <a:tab pos="25400" algn="l"/>
                <a:tab pos="165100" algn="l"/>
                <a:tab pos="342900" algn="l"/>
              </a:tabLst>
              <a:defRPr/>
            </a:pPr>
            <a:r>
              <a:rPr lang="zh-CN" altLang="en-US" sz="1002" dirty="0">
                <a:solidFill>
                  <a:srgbClr val="FFFFFF"/>
                </a:solidFill>
                <a:latin typeface="Times New Roman"/>
              </a:rPr>
              <a:t>	</a:t>
            </a:r>
            <a:r>
              <a:rPr lang="en-US" altLang="zh-CN" sz="1002" b="1" dirty="0">
                <a:solidFill>
                  <a:srgbClr val="FFFFFF"/>
                </a:solidFill>
                <a:latin typeface="Times New Roman"/>
              </a:rPr>
              <a:t>B</a:t>
            </a:r>
            <a:endParaRPr lang="zh-CN" altLang="en-US" sz="1002" b="1" dirty="0">
              <a:solidFill>
                <a:srgbClr val="FFFFFF"/>
              </a:solidFill>
              <a:latin typeface="Times New Roman"/>
            </a:endParaRPr>
          </a:p>
        </p:txBody>
      </p:sp>
      <p:sp>
        <p:nvSpPr>
          <p:cNvPr id="23" name="TextBox 22"/>
          <p:cNvSpPr txBox="1"/>
          <p:nvPr/>
        </p:nvSpPr>
        <p:spPr>
          <a:xfrm>
            <a:off x="7455794" y="6043586"/>
            <a:ext cx="2093522" cy="705321"/>
          </a:xfrm>
          <a:prstGeom prst="rect">
            <a:avLst/>
          </a:prstGeom>
          <a:noFill/>
        </p:spPr>
        <p:txBody>
          <a:bodyPr vert="horz" wrap="none" lIns="0" tIns="0" rIns="0" bIns="0" rtlCol="0">
            <a:spAutoFit/>
          </a:bodyPr>
          <a:lstStyle/>
          <a:p>
            <a:pPr marL="0" marR="0" lvl="0" indent="0" defTabSz="914400" eaLnBrk="1" fontAlgn="auto" latinLnBrk="0" hangingPunct="1">
              <a:lnSpc>
                <a:spcPts val="1001"/>
              </a:lnSpc>
              <a:buClrTx/>
              <a:buSzTx/>
              <a:buNone/>
              <a:tabLst>
                <a:tab pos="609600" algn="l"/>
              </a:tabLst>
              <a:defRPr/>
            </a:pPr>
            <a:r>
              <a:rPr lang="zh-CN" altLang="en-US" sz="1002" dirty="0">
                <a:solidFill>
                  <a:srgbClr val="FFFFFF"/>
                </a:solidFill>
                <a:latin typeface="Times New Roman"/>
              </a:rPr>
              <a:t>控制環境</a:t>
            </a:r>
          </a:p>
          <a:p>
            <a:pPr marL="0" marR="0" lvl="0" indent="0" defTabSz="914400" eaLnBrk="1" fontAlgn="auto" latinLnBrk="0" hangingPunct="1">
              <a:lnSpc>
                <a:spcPts val="2704"/>
              </a:lnSpc>
              <a:buClrTx/>
              <a:buSzTx/>
              <a:buNone/>
              <a:tabLst>
                <a:tab pos="609600" algn="l"/>
              </a:tabLst>
              <a:defRPr/>
            </a:pPr>
            <a:r>
              <a:rPr lang="zh-CN" altLang="en-US" sz="1002" dirty="0">
                <a:solidFill>
                  <a:srgbClr val="FFFFFF"/>
                </a:solidFill>
                <a:latin typeface="Times New Roman"/>
              </a:rPr>
              <a:t>	</a:t>
            </a:r>
            <a:r>
              <a:rPr lang="en-US" altLang="zh-CN" dirty="0" err="1">
                <a:solidFill>
                  <a:srgbClr val="000000"/>
                </a:solidFill>
                <a:latin typeface="Times New Roman"/>
              </a:rPr>
              <a:t>Pwc</a:t>
            </a:r>
            <a:endParaRPr lang="en-US" altLang="zh-CN" dirty="0">
              <a:solidFill>
                <a:srgbClr val="000000"/>
              </a:solidFill>
              <a:latin typeface="Times New Roman"/>
            </a:endParaRPr>
          </a:p>
          <a:p>
            <a:pPr marL="0" marR="0" lvl="0" indent="0" defTabSz="914400" eaLnBrk="1" fontAlgn="auto" latinLnBrk="0" hangingPunct="1">
              <a:lnSpc>
                <a:spcPts val="1779"/>
              </a:lnSpc>
              <a:buClrTx/>
              <a:buSzTx/>
              <a:buNone/>
              <a:tabLst>
                <a:tab pos="609600" algn="l"/>
              </a:tabLst>
              <a:defRPr/>
            </a:pPr>
            <a:r>
              <a:rPr lang="en-US" altLang="zh-CN" dirty="0">
                <a:solidFill>
                  <a:srgbClr val="000000"/>
                </a:solidFill>
                <a:latin typeface="Times New Roman"/>
              </a:rPr>
              <a:t>	</a:t>
            </a:r>
            <a:r>
              <a:rPr lang="zh-CN" altLang="en-US" sz="1478" dirty="0">
                <a:solidFill>
                  <a:srgbClr val="000000"/>
                </a:solidFill>
                <a:latin typeface="Times New Roman"/>
              </a:rPr>
              <a:t>普     華     永     道</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myslide33">
    <p:spTree>
      <p:nvGrpSpPr>
        <p:cNvPr id="1" name=""/>
        <p:cNvGrpSpPr/>
        <p:nvPr/>
      </p:nvGrpSpPr>
      <p:grpSpPr>
        <a:xfrm>
          <a:off x="0" y="0"/>
          <a:ext cx="0" cy="0"/>
          <a:chOff x="0" y="0"/>
          <a:chExt cx="0" cy="0"/>
        </a:xfrm>
      </p:grpSpPr>
      <p:pic>
        <p:nvPicPr>
          <p:cNvPr id="2" name="图片 1" descr="ws_1C3.tmp"/>
          <p:cNvPicPr>
            <a:picLocks/>
          </p:cNvPicPr>
          <p:nvPr/>
        </p:nvPicPr>
        <p:blipFill>
          <a:blip r:embed="rId2"/>
          <a:stretch>
            <a:fillRect/>
          </a:stretch>
        </p:blipFill>
        <p:spPr>
          <a:xfrm>
            <a:off x="0" y="0"/>
            <a:ext cx="9880600" cy="6819900"/>
          </a:xfrm>
          <a:prstGeom prst="rect">
            <a:avLst/>
          </a:prstGeom>
        </p:spPr>
      </p:pic>
      <p:sp>
        <p:nvSpPr>
          <p:cNvPr id="3" name="TextBox 2"/>
          <p:cNvSpPr txBox="1"/>
          <p:nvPr/>
        </p:nvSpPr>
        <p:spPr>
          <a:xfrm>
            <a:off x="7873026" y="4394860"/>
            <a:ext cx="128240" cy="98745"/>
          </a:xfrm>
          <a:prstGeom prst="rect">
            <a:avLst/>
          </a:prstGeom>
          <a:noFill/>
        </p:spPr>
        <p:txBody>
          <a:bodyPr vert="horz" wrap="none" lIns="0" tIns="0" rIns="0" bIns="0" rtlCol="0">
            <a:spAutoFit/>
          </a:bodyPr>
          <a:lstStyle/>
          <a:p>
            <a:pPr>
              <a:lnSpc>
                <a:spcPts val="709"/>
              </a:lnSpc>
            </a:pPr>
            <a:r>
              <a:rPr lang="zh-CN" altLang="en-US" sz="1002" dirty="0">
                <a:solidFill>
                  <a:srgbClr val="FFFFFF"/>
                </a:solidFill>
                <a:latin typeface="Times New Roman"/>
              </a:rPr>
              <a:t>財</a:t>
            </a:r>
          </a:p>
        </p:txBody>
      </p:sp>
      <p:sp>
        <p:nvSpPr>
          <p:cNvPr id="4" name="TextBox 3"/>
          <p:cNvSpPr txBox="1"/>
          <p:nvPr/>
        </p:nvSpPr>
        <p:spPr>
          <a:xfrm>
            <a:off x="7962944" y="4304941"/>
            <a:ext cx="128240" cy="98745"/>
          </a:xfrm>
          <a:prstGeom prst="rect">
            <a:avLst/>
          </a:prstGeom>
          <a:noFill/>
        </p:spPr>
        <p:txBody>
          <a:bodyPr vert="horz" wrap="none" lIns="0" tIns="0" rIns="0" bIns="0" rtlCol="0">
            <a:spAutoFit/>
          </a:bodyPr>
          <a:lstStyle/>
          <a:p>
            <a:pPr>
              <a:lnSpc>
                <a:spcPts val="709"/>
              </a:lnSpc>
            </a:pPr>
            <a:r>
              <a:rPr lang="zh-CN" altLang="en-US" sz="1002" dirty="0">
                <a:solidFill>
                  <a:srgbClr val="FFFFFF"/>
                </a:solidFill>
                <a:latin typeface="Times New Roman"/>
              </a:rPr>
              <a:t>務</a:t>
            </a:r>
          </a:p>
        </p:txBody>
      </p:sp>
      <p:sp>
        <p:nvSpPr>
          <p:cNvPr id="5" name="TextBox 4"/>
          <p:cNvSpPr txBox="1"/>
          <p:nvPr/>
        </p:nvSpPr>
        <p:spPr>
          <a:xfrm>
            <a:off x="8052863" y="4215023"/>
            <a:ext cx="128240" cy="98745"/>
          </a:xfrm>
          <a:prstGeom prst="rect">
            <a:avLst/>
          </a:prstGeom>
          <a:noFill/>
        </p:spPr>
        <p:txBody>
          <a:bodyPr vert="horz" wrap="none" lIns="0" tIns="0" rIns="0" bIns="0" rtlCol="0">
            <a:spAutoFit/>
          </a:bodyPr>
          <a:lstStyle/>
          <a:p>
            <a:pPr>
              <a:lnSpc>
                <a:spcPts val="709"/>
              </a:lnSpc>
            </a:pPr>
            <a:r>
              <a:rPr lang="zh-CN" altLang="en-US" sz="1002" dirty="0">
                <a:solidFill>
                  <a:srgbClr val="FFFFFF"/>
                </a:solidFill>
                <a:latin typeface="Times New Roman"/>
              </a:rPr>
              <a:t>報</a:t>
            </a:r>
          </a:p>
        </p:txBody>
      </p:sp>
      <p:sp>
        <p:nvSpPr>
          <p:cNvPr id="6" name="TextBox 5"/>
          <p:cNvSpPr txBox="1"/>
          <p:nvPr/>
        </p:nvSpPr>
        <p:spPr>
          <a:xfrm>
            <a:off x="8142782" y="4125104"/>
            <a:ext cx="128240" cy="98745"/>
          </a:xfrm>
          <a:prstGeom prst="rect">
            <a:avLst/>
          </a:prstGeom>
          <a:noFill/>
        </p:spPr>
        <p:txBody>
          <a:bodyPr vert="horz" wrap="none" lIns="0" tIns="0" rIns="0" bIns="0" rtlCol="0">
            <a:spAutoFit/>
          </a:bodyPr>
          <a:lstStyle/>
          <a:p>
            <a:pPr>
              <a:lnSpc>
                <a:spcPts val="709"/>
              </a:lnSpc>
            </a:pPr>
            <a:r>
              <a:rPr lang="zh-CN" altLang="en-US" sz="1002" dirty="0">
                <a:solidFill>
                  <a:srgbClr val="FFFFFF"/>
                </a:solidFill>
                <a:latin typeface="Times New Roman"/>
              </a:rPr>
              <a:t>告</a:t>
            </a:r>
          </a:p>
        </p:txBody>
      </p:sp>
      <p:sp>
        <p:nvSpPr>
          <p:cNvPr id="7" name="TextBox 6"/>
          <p:cNvSpPr txBox="1"/>
          <p:nvPr/>
        </p:nvSpPr>
        <p:spPr>
          <a:xfrm>
            <a:off x="8540536" y="4349899"/>
            <a:ext cx="128240" cy="98745"/>
          </a:xfrm>
          <a:prstGeom prst="rect">
            <a:avLst/>
          </a:prstGeom>
          <a:noFill/>
        </p:spPr>
        <p:txBody>
          <a:bodyPr vert="horz" wrap="none" lIns="0" tIns="0" rIns="0" bIns="0" rtlCol="0">
            <a:spAutoFit/>
          </a:bodyPr>
          <a:lstStyle/>
          <a:p>
            <a:pPr>
              <a:lnSpc>
                <a:spcPts val="709"/>
              </a:lnSpc>
            </a:pPr>
            <a:r>
              <a:rPr lang="zh-CN" altLang="en-US" sz="1002" dirty="0">
                <a:solidFill>
                  <a:srgbClr val="FFFFFF"/>
                </a:solidFill>
                <a:latin typeface="Times New Roman"/>
              </a:rPr>
              <a:t>合</a:t>
            </a:r>
          </a:p>
        </p:txBody>
      </p:sp>
      <p:sp>
        <p:nvSpPr>
          <p:cNvPr id="8" name="TextBox 7"/>
          <p:cNvSpPr txBox="1"/>
          <p:nvPr/>
        </p:nvSpPr>
        <p:spPr>
          <a:xfrm>
            <a:off x="8630455" y="4259981"/>
            <a:ext cx="128240" cy="98745"/>
          </a:xfrm>
          <a:prstGeom prst="rect">
            <a:avLst/>
          </a:prstGeom>
          <a:noFill/>
        </p:spPr>
        <p:txBody>
          <a:bodyPr vert="horz" wrap="none" lIns="0" tIns="0" rIns="0" bIns="0" rtlCol="0">
            <a:spAutoFit/>
          </a:bodyPr>
          <a:lstStyle/>
          <a:p>
            <a:pPr>
              <a:lnSpc>
                <a:spcPts val="709"/>
              </a:lnSpc>
            </a:pPr>
            <a:r>
              <a:rPr lang="zh-CN" altLang="en-US" sz="1002" dirty="0">
                <a:solidFill>
                  <a:srgbClr val="FFFFFF"/>
                </a:solidFill>
                <a:latin typeface="Times New Roman"/>
              </a:rPr>
              <a:t>規</a:t>
            </a:r>
          </a:p>
        </p:txBody>
      </p:sp>
      <p:sp>
        <p:nvSpPr>
          <p:cNvPr id="9" name="TextBox 8"/>
          <p:cNvSpPr txBox="1"/>
          <p:nvPr/>
        </p:nvSpPr>
        <p:spPr>
          <a:xfrm>
            <a:off x="8720373" y="4170062"/>
            <a:ext cx="128240" cy="98745"/>
          </a:xfrm>
          <a:prstGeom prst="rect">
            <a:avLst/>
          </a:prstGeom>
          <a:noFill/>
        </p:spPr>
        <p:txBody>
          <a:bodyPr vert="horz" wrap="none" lIns="0" tIns="0" rIns="0" bIns="0" rtlCol="0">
            <a:spAutoFit/>
          </a:bodyPr>
          <a:lstStyle/>
          <a:p>
            <a:pPr>
              <a:lnSpc>
                <a:spcPts val="709"/>
              </a:lnSpc>
            </a:pPr>
            <a:r>
              <a:rPr lang="zh-CN" altLang="en-US" sz="1002" dirty="0">
                <a:solidFill>
                  <a:srgbClr val="FFFFFF"/>
                </a:solidFill>
                <a:latin typeface="Times New Roman"/>
              </a:rPr>
              <a:t>性</a:t>
            </a:r>
          </a:p>
        </p:txBody>
      </p:sp>
      <p:sp>
        <p:nvSpPr>
          <p:cNvPr id="10" name="TextBox 9"/>
          <p:cNvSpPr txBox="1"/>
          <p:nvPr/>
        </p:nvSpPr>
        <p:spPr>
          <a:xfrm>
            <a:off x="587134" y="2836359"/>
            <a:ext cx="174728" cy="224420"/>
          </a:xfrm>
          <a:prstGeom prst="rect">
            <a:avLst/>
          </a:prstGeom>
          <a:noFill/>
        </p:spPr>
        <p:txBody>
          <a:bodyPr vert="horz" wrap="none" lIns="0" tIns="0" rIns="0" bIns="0" rtlCol="0">
            <a:spAutoFit/>
          </a:bodyPr>
          <a:lstStyle/>
          <a:p>
            <a:pPr>
              <a:lnSpc>
                <a:spcPts val="1665"/>
              </a:lnSpc>
            </a:pPr>
            <a:r>
              <a:rPr lang="en-US" altLang="zh-CN" dirty="0">
                <a:solidFill>
                  <a:srgbClr val="000000"/>
                </a:solidFill>
                <a:latin typeface="Times New Roman"/>
              </a:rPr>
              <a:t>1.</a:t>
            </a:r>
            <a:endParaRPr lang="zh-CN" altLang="en-US" dirty="0">
              <a:solidFill>
                <a:srgbClr val="000000"/>
              </a:solidFill>
              <a:latin typeface="Times New Roman"/>
            </a:endParaRPr>
          </a:p>
        </p:txBody>
      </p:sp>
      <p:sp>
        <p:nvSpPr>
          <p:cNvPr id="11" name="TextBox 10"/>
          <p:cNvSpPr txBox="1"/>
          <p:nvPr/>
        </p:nvSpPr>
        <p:spPr>
          <a:xfrm>
            <a:off x="587134" y="3096209"/>
            <a:ext cx="174728" cy="224420"/>
          </a:xfrm>
          <a:prstGeom prst="rect">
            <a:avLst/>
          </a:prstGeom>
          <a:noFill/>
        </p:spPr>
        <p:txBody>
          <a:bodyPr vert="horz" wrap="none" lIns="0" tIns="0" rIns="0" bIns="0" rtlCol="0">
            <a:spAutoFit/>
          </a:bodyPr>
          <a:lstStyle/>
          <a:p>
            <a:pPr>
              <a:lnSpc>
                <a:spcPts val="1665"/>
              </a:lnSpc>
            </a:pPr>
            <a:r>
              <a:rPr lang="en-US" altLang="zh-CN" dirty="0">
                <a:solidFill>
                  <a:srgbClr val="000000"/>
                </a:solidFill>
                <a:latin typeface="Times New Roman"/>
              </a:rPr>
              <a:t>2.</a:t>
            </a:r>
            <a:endParaRPr lang="zh-CN" altLang="en-US" dirty="0">
              <a:solidFill>
                <a:srgbClr val="000000"/>
              </a:solidFill>
              <a:latin typeface="Times New Roman"/>
            </a:endParaRPr>
          </a:p>
        </p:txBody>
      </p:sp>
      <p:sp>
        <p:nvSpPr>
          <p:cNvPr id="12" name="TextBox 11"/>
          <p:cNvSpPr txBox="1"/>
          <p:nvPr/>
        </p:nvSpPr>
        <p:spPr>
          <a:xfrm>
            <a:off x="587134" y="3370529"/>
            <a:ext cx="174728" cy="224420"/>
          </a:xfrm>
          <a:prstGeom prst="rect">
            <a:avLst/>
          </a:prstGeom>
          <a:noFill/>
        </p:spPr>
        <p:txBody>
          <a:bodyPr vert="horz" wrap="none" lIns="0" tIns="0" rIns="0" bIns="0" rtlCol="0">
            <a:spAutoFit/>
          </a:bodyPr>
          <a:lstStyle/>
          <a:p>
            <a:pPr>
              <a:lnSpc>
                <a:spcPts val="1665"/>
              </a:lnSpc>
            </a:pPr>
            <a:r>
              <a:rPr lang="en-US" altLang="zh-CN" dirty="0">
                <a:solidFill>
                  <a:srgbClr val="000000"/>
                </a:solidFill>
                <a:latin typeface="Times New Roman"/>
              </a:rPr>
              <a:t>3.</a:t>
            </a:r>
            <a:endParaRPr lang="zh-CN" altLang="en-US" dirty="0">
              <a:solidFill>
                <a:srgbClr val="000000"/>
              </a:solidFill>
              <a:latin typeface="Times New Roman"/>
            </a:endParaRPr>
          </a:p>
        </p:txBody>
      </p:sp>
      <p:sp>
        <p:nvSpPr>
          <p:cNvPr id="13" name="TextBox 12"/>
          <p:cNvSpPr txBox="1"/>
          <p:nvPr/>
        </p:nvSpPr>
        <p:spPr>
          <a:xfrm>
            <a:off x="587134" y="3645603"/>
            <a:ext cx="174728" cy="224420"/>
          </a:xfrm>
          <a:prstGeom prst="rect">
            <a:avLst/>
          </a:prstGeom>
          <a:noFill/>
        </p:spPr>
        <p:txBody>
          <a:bodyPr vert="horz" wrap="none" lIns="0" tIns="0" rIns="0" bIns="0" rtlCol="0">
            <a:spAutoFit/>
          </a:bodyPr>
          <a:lstStyle/>
          <a:p>
            <a:pPr>
              <a:lnSpc>
                <a:spcPts val="1665"/>
              </a:lnSpc>
            </a:pPr>
            <a:r>
              <a:rPr lang="en-US" altLang="zh-CN" dirty="0">
                <a:solidFill>
                  <a:srgbClr val="000000"/>
                </a:solidFill>
                <a:latin typeface="Times New Roman"/>
              </a:rPr>
              <a:t>4.</a:t>
            </a:r>
            <a:endParaRPr lang="zh-CN" altLang="en-US" dirty="0">
              <a:solidFill>
                <a:srgbClr val="000000"/>
              </a:solidFill>
              <a:latin typeface="Times New Roman"/>
            </a:endParaRPr>
          </a:p>
        </p:txBody>
      </p:sp>
      <p:sp>
        <p:nvSpPr>
          <p:cNvPr id="14" name="TextBox 13"/>
          <p:cNvSpPr txBox="1"/>
          <p:nvPr/>
        </p:nvSpPr>
        <p:spPr>
          <a:xfrm>
            <a:off x="587134" y="3934393"/>
            <a:ext cx="174728" cy="224420"/>
          </a:xfrm>
          <a:prstGeom prst="rect">
            <a:avLst/>
          </a:prstGeom>
          <a:noFill/>
        </p:spPr>
        <p:txBody>
          <a:bodyPr vert="horz" wrap="none" lIns="0" tIns="0" rIns="0" bIns="0" rtlCol="0">
            <a:spAutoFit/>
          </a:bodyPr>
          <a:lstStyle/>
          <a:p>
            <a:pPr>
              <a:lnSpc>
                <a:spcPts val="1665"/>
              </a:lnSpc>
            </a:pPr>
            <a:r>
              <a:rPr lang="en-US" altLang="zh-CN" dirty="0">
                <a:solidFill>
                  <a:srgbClr val="000000"/>
                </a:solidFill>
                <a:latin typeface="Times New Roman"/>
              </a:rPr>
              <a:t>5.</a:t>
            </a:r>
            <a:endParaRPr lang="zh-CN" altLang="en-US" dirty="0">
              <a:solidFill>
                <a:srgbClr val="000000"/>
              </a:solidFill>
              <a:latin typeface="Times New Roman"/>
            </a:endParaRPr>
          </a:p>
        </p:txBody>
      </p:sp>
      <p:sp>
        <p:nvSpPr>
          <p:cNvPr id="15" name="TextBox 14"/>
          <p:cNvSpPr txBox="1"/>
          <p:nvPr/>
        </p:nvSpPr>
        <p:spPr>
          <a:xfrm>
            <a:off x="509403" y="6341571"/>
            <a:ext cx="144270" cy="133370"/>
          </a:xfrm>
          <a:prstGeom prst="rect">
            <a:avLst/>
          </a:prstGeom>
          <a:noFill/>
        </p:spPr>
        <p:txBody>
          <a:bodyPr vert="horz" wrap="none" lIns="0" tIns="0" rIns="0" bIns="0" rtlCol="0">
            <a:spAutoFit/>
          </a:bodyPr>
          <a:lstStyle/>
          <a:p>
            <a:pPr>
              <a:lnSpc>
                <a:spcPts val="1016"/>
              </a:lnSpc>
            </a:pPr>
            <a:r>
              <a:rPr lang="en-US" altLang="zh-CN" sz="1098" dirty="0">
                <a:solidFill>
                  <a:srgbClr val="761437"/>
                </a:solidFill>
                <a:latin typeface="Times New Roman"/>
              </a:rPr>
              <a:t>33</a:t>
            </a:r>
            <a:endParaRPr lang="zh-CN" altLang="en-US" sz="1098" dirty="0">
              <a:solidFill>
                <a:srgbClr val="761437"/>
              </a:solidFill>
              <a:latin typeface="Times New Roman"/>
            </a:endParaRPr>
          </a:p>
        </p:txBody>
      </p:sp>
      <p:sp>
        <p:nvSpPr>
          <p:cNvPr id="16" name="TextBox 15"/>
          <p:cNvSpPr txBox="1"/>
          <p:nvPr/>
        </p:nvSpPr>
        <p:spPr>
          <a:xfrm>
            <a:off x="509403" y="390082"/>
            <a:ext cx="8540800" cy="3795911"/>
          </a:xfrm>
          <a:prstGeom prst="rect">
            <a:avLst/>
          </a:prstGeom>
          <a:noFill/>
        </p:spPr>
        <p:txBody>
          <a:bodyPr vert="horz" wrap="none" lIns="0" tIns="0" rIns="0" bIns="0" rtlCol="0">
            <a:spAutoFit/>
          </a:bodyPr>
          <a:lstStyle/>
          <a:p>
            <a:pPr marL="0" marR="0" lvl="0" indent="0" defTabSz="914400" eaLnBrk="1" fontAlgn="auto" latinLnBrk="0" hangingPunct="1">
              <a:lnSpc>
                <a:spcPts val="4087"/>
              </a:lnSpc>
              <a:buClrTx/>
              <a:buSzTx/>
              <a:buNone/>
              <a:tabLst>
                <a:tab pos="317500" algn="l"/>
                <a:tab pos="533400" algn="l"/>
              </a:tabLst>
              <a:defRPr/>
            </a:pPr>
            <a:r>
              <a:rPr lang="zh-CN" altLang="en-US" dirty="0"/>
              <a:t>	</a:t>
            </a:r>
            <a:r>
              <a:rPr lang="zh-CN" altLang="en-US" sz="3798" dirty="0">
                <a:solidFill>
                  <a:srgbClr val="FFFFFF"/>
                </a:solidFill>
                <a:latin typeface="Times New Roman"/>
              </a:rPr>
              <a:t>控制環境  </a:t>
            </a:r>
            <a:r>
              <a:rPr lang="en-US" altLang="zh-CN" sz="3798" b="1" dirty="0">
                <a:solidFill>
                  <a:srgbClr val="FFFFFF"/>
                </a:solidFill>
                <a:latin typeface="Times New Roman"/>
              </a:rPr>
              <a:t>–  </a:t>
            </a:r>
            <a:r>
              <a:rPr lang="zh-CN" altLang="en-US" sz="3798" dirty="0">
                <a:solidFill>
                  <a:srgbClr val="FFFFFF"/>
                </a:solidFill>
                <a:latin typeface="Times New Roman"/>
              </a:rPr>
              <a:t>人力資源政策及實施</a:t>
            </a:r>
          </a:p>
          <a:p>
            <a:pPr marL="0" marR="0" lvl="0" indent="0" defTabSz="914400" eaLnBrk="1" fontAlgn="auto" latinLnBrk="0" hangingPunct="1">
              <a:lnSpc>
                <a:spcPts val="1000"/>
              </a:lnSpc>
              <a:buClrTx/>
              <a:buSzTx/>
              <a:buNone/>
              <a:tabLst>
                <a:tab pos="317500" algn="l"/>
                <a:tab pos="533400" algn="l"/>
              </a:tabLst>
              <a:defRPr/>
            </a:pPr>
            <a:endParaRPr lang="zh-CN" altLang="en-US" sz="3798" dirty="0">
              <a:solidFill>
                <a:srgbClr val="FFFFFF"/>
              </a:solidFill>
              <a:latin typeface="Times New Roman"/>
            </a:endParaRPr>
          </a:p>
          <a:p>
            <a:pPr marL="0" marR="0" lvl="0" indent="0" defTabSz="914400" eaLnBrk="1" fontAlgn="auto" latinLnBrk="0" hangingPunct="1">
              <a:lnSpc>
                <a:spcPts val="1000"/>
              </a:lnSpc>
              <a:buClrTx/>
              <a:buSzTx/>
              <a:buNone/>
              <a:tabLst>
                <a:tab pos="317500" algn="l"/>
                <a:tab pos="533400" algn="l"/>
              </a:tabLst>
              <a:defRPr/>
            </a:pPr>
            <a:endParaRPr lang="zh-CN" altLang="en-US" sz="3798" dirty="0">
              <a:solidFill>
                <a:srgbClr val="FFFFFF"/>
              </a:solidFill>
              <a:latin typeface="Times New Roman"/>
            </a:endParaRPr>
          </a:p>
          <a:p>
            <a:pPr marL="0" marR="0" lvl="0" indent="0" defTabSz="914400" eaLnBrk="1" fontAlgn="auto" latinLnBrk="0" hangingPunct="1">
              <a:lnSpc>
                <a:spcPts val="1000"/>
              </a:lnSpc>
              <a:buClrTx/>
              <a:buSzTx/>
              <a:buNone/>
              <a:tabLst>
                <a:tab pos="317500" algn="l"/>
                <a:tab pos="533400" algn="l"/>
              </a:tabLst>
              <a:defRPr/>
            </a:pPr>
            <a:endParaRPr lang="zh-CN" altLang="en-US" sz="3798" dirty="0">
              <a:solidFill>
                <a:srgbClr val="FFFFFF"/>
              </a:solidFill>
              <a:latin typeface="Times New Roman"/>
            </a:endParaRPr>
          </a:p>
          <a:p>
            <a:pPr marL="0" marR="0" lvl="0" indent="0" defTabSz="914400" eaLnBrk="1" fontAlgn="auto" latinLnBrk="0" hangingPunct="1">
              <a:lnSpc>
                <a:spcPts val="1000"/>
              </a:lnSpc>
              <a:buClrTx/>
              <a:buSzTx/>
              <a:buNone/>
              <a:tabLst>
                <a:tab pos="317500" algn="l"/>
                <a:tab pos="533400" algn="l"/>
              </a:tabLst>
              <a:defRPr/>
            </a:pPr>
            <a:endParaRPr lang="zh-CN" altLang="en-US" sz="3798" dirty="0">
              <a:solidFill>
                <a:srgbClr val="FFFFFF"/>
              </a:solidFill>
              <a:latin typeface="Times New Roman"/>
            </a:endParaRPr>
          </a:p>
          <a:p>
            <a:pPr marL="0" marR="0" lvl="0" indent="0" defTabSz="914400" eaLnBrk="1" fontAlgn="auto" latinLnBrk="0" hangingPunct="1">
              <a:lnSpc>
                <a:spcPts val="1000"/>
              </a:lnSpc>
              <a:buClrTx/>
              <a:buSzTx/>
              <a:buNone/>
              <a:tabLst>
                <a:tab pos="317500" algn="l"/>
                <a:tab pos="533400" algn="l"/>
              </a:tabLst>
              <a:defRPr/>
            </a:pPr>
            <a:endParaRPr lang="zh-CN" altLang="en-US" sz="3798" dirty="0">
              <a:solidFill>
                <a:srgbClr val="FFFFFF"/>
              </a:solidFill>
              <a:latin typeface="Times New Roman"/>
            </a:endParaRPr>
          </a:p>
          <a:p>
            <a:pPr marL="0" marR="0" lvl="0" indent="0" defTabSz="914400" eaLnBrk="1" fontAlgn="auto" latinLnBrk="0" hangingPunct="1">
              <a:lnSpc>
                <a:spcPts val="1000"/>
              </a:lnSpc>
              <a:buClrTx/>
              <a:buSzTx/>
              <a:buNone/>
              <a:tabLst>
                <a:tab pos="317500" algn="l"/>
                <a:tab pos="533400" algn="l"/>
              </a:tabLst>
              <a:defRPr/>
            </a:pPr>
            <a:endParaRPr lang="zh-CN" altLang="en-US" sz="3798" dirty="0">
              <a:solidFill>
                <a:srgbClr val="FFFFFF"/>
              </a:solidFill>
              <a:latin typeface="Times New Roman"/>
            </a:endParaRPr>
          </a:p>
          <a:p>
            <a:pPr marL="0" marR="0" lvl="0" indent="0" defTabSz="914400" eaLnBrk="1" fontAlgn="auto" latinLnBrk="0" hangingPunct="1">
              <a:lnSpc>
                <a:spcPts val="1000"/>
              </a:lnSpc>
              <a:buClrTx/>
              <a:buSzTx/>
              <a:buNone/>
              <a:tabLst>
                <a:tab pos="317500" algn="l"/>
                <a:tab pos="533400" algn="l"/>
              </a:tabLst>
              <a:defRPr/>
            </a:pPr>
            <a:endParaRPr lang="zh-CN" altLang="en-US" sz="3798" dirty="0">
              <a:solidFill>
                <a:srgbClr val="FFFFFF"/>
              </a:solidFill>
              <a:latin typeface="Times New Roman"/>
            </a:endParaRPr>
          </a:p>
          <a:p>
            <a:pPr marL="0" marR="0" lvl="0" indent="0" defTabSz="914400" eaLnBrk="1" fontAlgn="auto" latinLnBrk="0" hangingPunct="1">
              <a:lnSpc>
                <a:spcPts val="1956"/>
              </a:lnSpc>
              <a:buClrTx/>
              <a:buSzTx/>
              <a:buNone/>
              <a:tabLst>
                <a:tab pos="317500" algn="l"/>
                <a:tab pos="533400" algn="l"/>
              </a:tabLst>
              <a:defRPr/>
            </a:pPr>
            <a:r>
              <a:rPr lang="zh-CN" altLang="en-US" dirty="0">
                <a:solidFill>
                  <a:srgbClr val="000000"/>
                </a:solidFill>
                <a:latin typeface="Times New Roman"/>
              </a:rPr>
              <a:t>人力資源政策是招聘和保持有能力的人員，以使公司計畫得以執行，目標得以實現。</a:t>
            </a:r>
          </a:p>
          <a:p>
            <a:pPr marL="0" marR="0" lvl="0" indent="0" defTabSz="914400" eaLnBrk="1" fontAlgn="auto" latinLnBrk="0" hangingPunct="1">
              <a:lnSpc>
                <a:spcPts val="1000"/>
              </a:lnSpc>
              <a:buClrTx/>
              <a:buSzTx/>
              <a:buNone/>
              <a:tabLst>
                <a:tab pos="317500" algn="l"/>
                <a:tab pos="533400" algn="l"/>
              </a:tabLst>
              <a:defRPr/>
            </a:pPr>
            <a:endParaRPr lang="zh-CN" altLang="en-US" dirty="0">
              <a:solidFill>
                <a:srgbClr val="000000"/>
              </a:solidFill>
              <a:latin typeface="Times New Roman"/>
            </a:endParaRPr>
          </a:p>
          <a:p>
            <a:pPr marL="0" marR="0" lvl="0" indent="0" defTabSz="914400" eaLnBrk="1" fontAlgn="auto" latinLnBrk="0" hangingPunct="1">
              <a:lnSpc>
                <a:spcPts val="1000"/>
              </a:lnSpc>
              <a:buClrTx/>
              <a:buSzTx/>
              <a:buNone/>
              <a:tabLst>
                <a:tab pos="317500" algn="l"/>
                <a:tab pos="533400" algn="l"/>
              </a:tabLst>
              <a:defRPr/>
            </a:pPr>
            <a:endParaRPr lang="zh-CN" altLang="en-US" dirty="0">
              <a:solidFill>
                <a:srgbClr val="000000"/>
              </a:solidFill>
              <a:latin typeface="Times New Roman"/>
            </a:endParaRPr>
          </a:p>
          <a:p>
            <a:pPr marL="0" marR="0" lvl="0" indent="0" defTabSz="914400" eaLnBrk="1" fontAlgn="auto" latinLnBrk="0" hangingPunct="1">
              <a:lnSpc>
                <a:spcPts val="1000"/>
              </a:lnSpc>
              <a:buClrTx/>
              <a:buSzTx/>
              <a:buNone/>
              <a:tabLst>
                <a:tab pos="317500" algn="l"/>
                <a:tab pos="533400" algn="l"/>
              </a:tabLst>
              <a:defRPr/>
            </a:pPr>
            <a:endParaRPr lang="zh-CN" altLang="en-US" dirty="0">
              <a:solidFill>
                <a:srgbClr val="000000"/>
              </a:solidFill>
              <a:latin typeface="Times New Roman"/>
            </a:endParaRPr>
          </a:p>
          <a:p>
            <a:pPr marL="0" marR="0" lvl="0" indent="0" defTabSz="914400" eaLnBrk="1" fontAlgn="auto" latinLnBrk="0" hangingPunct="1">
              <a:lnSpc>
                <a:spcPts val="1000"/>
              </a:lnSpc>
              <a:buClrTx/>
              <a:buSzTx/>
              <a:buNone/>
              <a:tabLst>
                <a:tab pos="317500" algn="l"/>
                <a:tab pos="533400" algn="l"/>
              </a:tabLst>
              <a:defRPr/>
            </a:pPr>
            <a:endParaRPr lang="zh-CN" altLang="en-US" dirty="0">
              <a:solidFill>
                <a:srgbClr val="000000"/>
              </a:solidFill>
              <a:latin typeface="Times New Roman"/>
            </a:endParaRPr>
          </a:p>
          <a:p>
            <a:pPr marL="0" marR="0" lvl="0" indent="0" defTabSz="914400" eaLnBrk="1" fontAlgn="auto" latinLnBrk="0" hangingPunct="1">
              <a:lnSpc>
                <a:spcPts val="1000"/>
              </a:lnSpc>
              <a:buClrTx/>
              <a:buSzTx/>
              <a:buNone/>
              <a:tabLst>
                <a:tab pos="317500" algn="l"/>
                <a:tab pos="533400" algn="l"/>
              </a:tabLst>
              <a:defRPr/>
            </a:pPr>
            <a:endParaRPr lang="zh-CN" altLang="en-US" dirty="0">
              <a:solidFill>
                <a:srgbClr val="000000"/>
              </a:solidFill>
              <a:latin typeface="Times New Roman"/>
            </a:endParaRPr>
          </a:p>
          <a:p>
            <a:pPr marL="0" marR="0" lvl="0" indent="0" defTabSz="914400" eaLnBrk="1" fontAlgn="auto" latinLnBrk="0" hangingPunct="1">
              <a:lnSpc>
                <a:spcPts val="2764"/>
              </a:lnSpc>
              <a:buClrTx/>
              <a:buSzTx/>
              <a:buNone/>
              <a:tabLst>
                <a:tab pos="317500" algn="l"/>
                <a:tab pos="533400" algn="l"/>
              </a:tabLst>
              <a:defRPr/>
            </a:pPr>
            <a:r>
              <a:rPr lang="zh-CN" altLang="en-US" dirty="0">
                <a:solidFill>
                  <a:srgbClr val="000000"/>
                </a:solidFill>
                <a:latin typeface="Times New Roman"/>
              </a:rPr>
              <a:t>		雇傭、培訓、晉升和員工薪酬的政策及程式</a:t>
            </a:r>
          </a:p>
          <a:p>
            <a:pPr marL="0" marR="0" lvl="0" indent="0" defTabSz="914400" eaLnBrk="1" fontAlgn="auto" latinLnBrk="0" hangingPunct="1">
              <a:lnSpc>
                <a:spcPts val="2046"/>
              </a:lnSpc>
              <a:buClrTx/>
              <a:buSzTx/>
              <a:buNone/>
              <a:tabLst>
                <a:tab pos="317500" algn="l"/>
                <a:tab pos="533400" algn="l"/>
              </a:tabLst>
              <a:defRPr/>
            </a:pPr>
            <a:r>
              <a:rPr lang="zh-CN" altLang="en-US" dirty="0">
                <a:solidFill>
                  <a:srgbClr val="000000"/>
                </a:solidFill>
                <a:latin typeface="Times New Roman"/>
              </a:rPr>
              <a:t>		員工應意識到他們的工作職責和公司對他們的期望。</a:t>
            </a:r>
          </a:p>
          <a:p>
            <a:pPr marL="0" marR="0" lvl="0" indent="0" defTabSz="914400" eaLnBrk="1" fontAlgn="auto" latinLnBrk="0" hangingPunct="1">
              <a:lnSpc>
                <a:spcPts val="2160"/>
              </a:lnSpc>
              <a:buClrTx/>
              <a:buSzTx/>
              <a:buNone/>
              <a:tabLst>
                <a:tab pos="317500" algn="l"/>
                <a:tab pos="533400" algn="l"/>
              </a:tabLst>
              <a:defRPr/>
            </a:pPr>
            <a:r>
              <a:rPr lang="zh-CN" altLang="en-US" dirty="0">
                <a:solidFill>
                  <a:srgbClr val="000000"/>
                </a:solidFill>
                <a:latin typeface="Times New Roman"/>
              </a:rPr>
              <a:t>		對違背政策和程式的行為的校正。</a:t>
            </a:r>
          </a:p>
          <a:p>
            <a:pPr marL="0" marR="0" lvl="0" indent="0" defTabSz="914400" eaLnBrk="1" fontAlgn="auto" latinLnBrk="0" hangingPunct="1">
              <a:lnSpc>
                <a:spcPts val="2166"/>
              </a:lnSpc>
              <a:buClrTx/>
              <a:buSzTx/>
              <a:buNone/>
              <a:tabLst>
                <a:tab pos="317500" algn="l"/>
                <a:tab pos="533400" algn="l"/>
              </a:tabLst>
              <a:defRPr/>
            </a:pPr>
            <a:r>
              <a:rPr lang="zh-CN" altLang="en-US" dirty="0">
                <a:solidFill>
                  <a:srgbClr val="000000"/>
                </a:solidFill>
                <a:latin typeface="Times New Roman"/>
              </a:rPr>
              <a:t>		人力政策與相應的道德標準一致。</a:t>
            </a:r>
          </a:p>
          <a:p>
            <a:pPr marL="0" marR="0" lvl="0" indent="0" defTabSz="914400" eaLnBrk="1" fontAlgn="auto" latinLnBrk="0" hangingPunct="1">
              <a:lnSpc>
                <a:spcPts val="2274"/>
              </a:lnSpc>
              <a:buClrTx/>
              <a:buSzTx/>
              <a:buNone/>
              <a:tabLst>
                <a:tab pos="317500" algn="l"/>
                <a:tab pos="533400" algn="l"/>
              </a:tabLst>
              <a:defRPr/>
            </a:pPr>
            <a:r>
              <a:rPr lang="zh-CN" altLang="en-US" dirty="0">
                <a:solidFill>
                  <a:srgbClr val="000000"/>
                </a:solidFill>
                <a:latin typeface="Times New Roman"/>
              </a:rPr>
              <a:t>		核查候選人的背景，特別要考慮公司不能接受的行為或</a:t>
            </a:r>
          </a:p>
        </p:txBody>
      </p:sp>
      <p:sp>
        <p:nvSpPr>
          <p:cNvPr id="17" name="TextBox 16"/>
          <p:cNvSpPr txBox="1"/>
          <p:nvPr/>
        </p:nvSpPr>
        <p:spPr>
          <a:xfrm>
            <a:off x="1044329" y="4162765"/>
            <a:ext cx="692497" cy="230832"/>
          </a:xfrm>
          <a:prstGeom prst="rect">
            <a:avLst/>
          </a:prstGeom>
          <a:noFill/>
        </p:spPr>
        <p:txBody>
          <a:bodyPr vert="horz" wrap="none" lIns="0" tIns="0" rIns="0" bIns="0" rtlCol="0">
            <a:spAutoFit/>
          </a:bodyPr>
          <a:lstStyle/>
          <a:p>
            <a:pPr>
              <a:lnSpc>
                <a:spcPts val="1798"/>
              </a:lnSpc>
            </a:pPr>
            <a:r>
              <a:rPr lang="zh-CN" altLang="en-US" dirty="0">
                <a:solidFill>
                  <a:srgbClr val="000000"/>
                </a:solidFill>
                <a:latin typeface="Times New Roman"/>
              </a:rPr>
              <a:t>活動。</a:t>
            </a:r>
          </a:p>
        </p:txBody>
      </p:sp>
      <p:sp>
        <p:nvSpPr>
          <p:cNvPr id="18" name="TextBox 17"/>
          <p:cNvSpPr txBox="1"/>
          <p:nvPr/>
        </p:nvSpPr>
        <p:spPr>
          <a:xfrm>
            <a:off x="7387977" y="4312336"/>
            <a:ext cx="128240" cy="128240"/>
          </a:xfrm>
          <a:prstGeom prst="rect">
            <a:avLst/>
          </a:prstGeom>
          <a:noFill/>
        </p:spPr>
        <p:txBody>
          <a:bodyPr vert="horz" wrap="none" lIns="0" tIns="0" rIns="0" bIns="0" rtlCol="0">
            <a:spAutoFit/>
          </a:bodyPr>
          <a:lstStyle/>
          <a:p>
            <a:pPr>
              <a:lnSpc>
                <a:spcPts val="1001"/>
              </a:lnSpc>
            </a:pPr>
            <a:r>
              <a:rPr lang="zh-CN" altLang="en-US" sz="1002" dirty="0">
                <a:solidFill>
                  <a:srgbClr val="FFFFFF"/>
                </a:solidFill>
                <a:latin typeface="Times New Roman"/>
              </a:rPr>
              <a:t>營</a:t>
            </a:r>
          </a:p>
        </p:txBody>
      </p:sp>
      <p:sp>
        <p:nvSpPr>
          <p:cNvPr id="19" name="TextBox 18"/>
          <p:cNvSpPr txBox="1"/>
          <p:nvPr/>
        </p:nvSpPr>
        <p:spPr>
          <a:xfrm>
            <a:off x="7478660" y="4223182"/>
            <a:ext cx="128240" cy="128240"/>
          </a:xfrm>
          <a:prstGeom prst="rect">
            <a:avLst/>
          </a:prstGeom>
          <a:noFill/>
        </p:spPr>
        <p:txBody>
          <a:bodyPr vert="horz" wrap="none" lIns="0" tIns="0" rIns="0" bIns="0" rtlCol="0">
            <a:spAutoFit/>
          </a:bodyPr>
          <a:lstStyle/>
          <a:p>
            <a:pPr>
              <a:lnSpc>
                <a:spcPts val="1001"/>
              </a:lnSpc>
            </a:pPr>
            <a:r>
              <a:rPr lang="zh-CN" altLang="en-US" sz="1002" dirty="0">
                <a:solidFill>
                  <a:srgbClr val="FFFFFF"/>
                </a:solidFill>
                <a:latin typeface="Times New Roman"/>
              </a:rPr>
              <a:t>運</a:t>
            </a:r>
          </a:p>
        </p:txBody>
      </p:sp>
      <p:sp>
        <p:nvSpPr>
          <p:cNvPr id="20" name="TextBox 19"/>
          <p:cNvSpPr txBox="1"/>
          <p:nvPr/>
        </p:nvSpPr>
        <p:spPr>
          <a:xfrm>
            <a:off x="587134" y="4483788"/>
            <a:ext cx="174728" cy="224420"/>
          </a:xfrm>
          <a:prstGeom prst="rect">
            <a:avLst/>
          </a:prstGeom>
          <a:noFill/>
        </p:spPr>
        <p:txBody>
          <a:bodyPr vert="horz" wrap="none" lIns="0" tIns="0" rIns="0" bIns="0" rtlCol="0">
            <a:spAutoFit/>
          </a:bodyPr>
          <a:lstStyle/>
          <a:p>
            <a:pPr>
              <a:lnSpc>
                <a:spcPts val="1665"/>
              </a:lnSpc>
            </a:pPr>
            <a:r>
              <a:rPr lang="en-US" altLang="zh-CN" dirty="0">
                <a:solidFill>
                  <a:srgbClr val="000000"/>
                </a:solidFill>
                <a:latin typeface="Times New Roman"/>
              </a:rPr>
              <a:t>6.</a:t>
            </a:r>
            <a:endParaRPr lang="zh-CN" altLang="en-US" dirty="0">
              <a:solidFill>
                <a:srgbClr val="000000"/>
              </a:solidFill>
              <a:latin typeface="Times New Roman"/>
            </a:endParaRPr>
          </a:p>
        </p:txBody>
      </p:sp>
      <p:sp>
        <p:nvSpPr>
          <p:cNvPr id="21" name="TextBox 20"/>
          <p:cNvSpPr txBox="1"/>
          <p:nvPr/>
        </p:nvSpPr>
        <p:spPr>
          <a:xfrm>
            <a:off x="1044329" y="4451555"/>
            <a:ext cx="5539978" cy="487313"/>
          </a:xfrm>
          <a:prstGeom prst="rect">
            <a:avLst/>
          </a:prstGeom>
          <a:noFill/>
        </p:spPr>
        <p:txBody>
          <a:bodyPr vert="horz" wrap="none" lIns="0" tIns="0" rIns="0" bIns="0" rtlCol="0">
            <a:spAutoFit/>
          </a:bodyPr>
          <a:lstStyle/>
          <a:p>
            <a:pPr>
              <a:lnSpc>
                <a:spcPts val="1798"/>
              </a:lnSpc>
            </a:pPr>
            <a:r>
              <a:rPr lang="zh-CN" altLang="en-US" dirty="0">
                <a:solidFill>
                  <a:srgbClr val="000000"/>
                </a:solidFill>
                <a:latin typeface="Times New Roman"/>
              </a:rPr>
              <a:t>適當的員工保留和晉升標準、資訊收集技術（如：工作</a:t>
            </a:r>
          </a:p>
          <a:p>
            <a:pPr>
              <a:lnSpc>
                <a:spcPts val="2046"/>
              </a:lnSpc>
            </a:pPr>
            <a:r>
              <a:rPr lang="zh-CN" altLang="en-US" dirty="0">
                <a:solidFill>
                  <a:srgbClr val="000000"/>
                </a:solidFill>
                <a:latin typeface="Times New Roman"/>
              </a:rPr>
              <a:t>評價等），與行為規範或其他行為準則的關係。</a:t>
            </a:r>
          </a:p>
        </p:txBody>
      </p:sp>
      <p:sp>
        <p:nvSpPr>
          <p:cNvPr id="22" name="TextBox 21"/>
          <p:cNvSpPr txBox="1"/>
          <p:nvPr/>
        </p:nvSpPr>
        <p:spPr>
          <a:xfrm>
            <a:off x="7392550" y="4732182"/>
            <a:ext cx="641201" cy="1115690"/>
          </a:xfrm>
          <a:prstGeom prst="rect">
            <a:avLst/>
          </a:prstGeom>
          <a:noFill/>
        </p:spPr>
        <p:txBody>
          <a:bodyPr vert="horz" wrap="none" lIns="0" tIns="0" rIns="0" bIns="0" rtlCol="0">
            <a:spAutoFit/>
          </a:bodyPr>
          <a:lstStyle/>
          <a:p>
            <a:pPr marL="0" marR="0" lvl="0" indent="0" defTabSz="914400" eaLnBrk="1" fontAlgn="auto" latinLnBrk="0" hangingPunct="1">
              <a:lnSpc>
                <a:spcPts val="1001"/>
              </a:lnSpc>
              <a:buClrTx/>
              <a:buSzTx/>
              <a:buNone/>
              <a:tabLst>
                <a:tab pos="63500" algn="l"/>
                <a:tab pos="190500" algn="l"/>
              </a:tabLst>
              <a:defRPr/>
            </a:pPr>
            <a:r>
              <a:rPr lang="zh-CN" altLang="en-US" dirty="0"/>
              <a:t>		</a:t>
            </a:r>
            <a:r>
              <a:rPr lang="zh-CN" altLang="en-US" sz="1002" dirty="0">
                <a:solidFill>
                  <a:srgbClr val="FFFFFF"/>
                </a:solidFill>
                <a:latin typeface="Times New Roman"/>
              </a:rPr>
              <a:t>監控</a:t>
            </a:r>
          </a:p>
          <a:p>
            <a:pPr marL="0" marR="0" lvl="0" indent="0" defTabSz="914400" eaLnBrk="1" fontAlgn="auto" latinLnBrk="0" hangingPunct="1">
              <a:lnSpc>
                <a:spcPts val="1000"/>
              </a:lnSpc>
              <a:buClrTx/>
              <a:buSzTx/>
              <a:buNone/>
              <a:tabLst>
                <a:tab pos="63500" algn="l"/>
                <a:tab pos="190500" algn="l"/>
              </a:tabLst>
              <a:defRPr/>
            </a:pPr>
            <a:endParaRPr lang="zh-CN" altLang="en-US" sz="1002" dirty="0">
              <a:solidFill>
                <a:srgbClr val="FFFFFF"/>
              </a:solidFill>
              <a:latin typeface="Times New Roman"/>
            </a:endParaRPr>
          </a:p>
          <a:p>
            <a:pPr marL="0" marR="0" lvl="0" indent="0" defTabSz="914400" eaLnBrk="1" fontAlgn="auto" latinLnBrk="0" hangingPunct="1">
              <a:lnSpc>
                <a:spcPts val="1550"/>
              </a:lnSpc>
              <a:buClrTx/>
              <a:buSzTx/>
              <a:buNone/>
              <a:tabLst>
                <a:tab pos="63500" algn="l"/>
                <a:tab pos="190500" algn="l"/>
              </a:tabLst>
              <a:defRPr/>
            </a:pPr>
            <a:r>
              <a:rPr lang="zh-CN" altLang="en-US" sz="1002" dirty="0">
                <a:solidFill>
                  <a:srgbClr val="FFFFFF"/>
                </a:solidFill>
                <a:latin typeface="Times New Roman"/>
              </a:rPr>
              <a:t>資訊和溝通</a:t>
            </a:r>
          </a:p>
          <a:p>
            <a:pPr marL="0" marR="0" lvl="0" indent="0" defTabSz="914400" eaLnBrk="1" fontAlgn="auto" latinLnBrk="0" hangingPunct="1">
              <a:lnSpc>
                <a:spcPts val="1000"/>
              </a:lnSpc>
              <a:buClrTx/>
              <a:buSzTx/>
              <a:buNone/>
              <a:tabLst>
                <a:tab pos="63500" algn="l"/>
                <a:tab pos="190500" algn="l"/>
              </a:tabLst>
              <a:defRPr/>
            </a:pPr>
            <a:endParaRPr lang="zh-CN" altLang="en-US" sz="1002" dirty="0">
              <a:solidFill>
                <a:srgbClr val="FFFFFF"/>
              </a:solidFill>
              <a:latin typeface="Times New Roman"/>
            </a:endParaRPr>
          </a:p>
          <a:p>
            <a:pPr marL="0" marR="0" lvl="0" indent="0" defTabSz="914400" eaLnBrk="1" fontAlgn="auto" latinLnBrk="0" hangingPunct="1">
              <a:lnSpc>
                <a:spcPts val="1466"/>
              </a:lnSpc>
              <a:buClrTx/>
              <a:buSzTx/>
              <a:buNone/>
              <a:tabLst>
                <a:tab pos="63500" algn="l"/>
                <a:tab pos="190500" algn="l"/>
              </a:tabLst>
              <a:defRPr/>
            </a:pPr>
            <a:r>
              <a:rPr lang="zh-CN" altLang="en-US" sz="1002" dirty="0">
                <a:solidFill>
                  <a:srgbClr val="FFFFFF"/>
                </a:solidFill>
                <a:latin typeface="Times New Roman"/>
              </a:rPr>
              <a:t>	控制活動</a:t>
            </a:r>
          </a:p>
          <a:p>
            <a:pPr marL="0" marR="0" lvl="0" indent="0" defTabSz="914400" eaLnBrk="1" fontAlgn="auto" latinLnBrk="0" hangingPunct="1">
              <a:lnSpc>
                <a:spcPts val="1000"/>
              </a:lnSpc>
              <a:buClrTx/>
              <a:buSzTx/>
              <a:buNone/>
              <a:tabLst>
                <a:tab pos="63500" algn="l"/>
                <a:tab pos="190500" algn="l"/>
              </a:tabLst>
              <a:defRPr/>
            </a:pPr>
            <a:endParaRPr lang="zh-CN" altLang="en-US" sz="1002" dirty="0">
              <a:solidFill>
                <a:srgbClr val="FFFFFF"/>
              </a:solidFill>
              <a:latin typeface="Times New Roman"/>
            </a:endParaRPr>
          </a:p>
          <a:p>
            <a:pPr marL="0" marR="0" lvl="0" indent="0" defTabSz="914400" eaLnBrk="1" fontAlgn="auto" latinLnBrk="0" hangingPunct="1">
              <a:lnSpc>
                <a:spcPts val="1646"/>
              </a:lnSpc>
              <a:buClrTx/>
              <a:buSzTx/>
              <a:buNone/>
              <a:tabLst>
                <a:tab pos="63500" algn="l"/>
                <a:tab pos="190500" algn="l"/>
              </a:tabLst>
              <a:defRPr/>
            </a:pPr>
            <a:r>
              <a:rPr lang="zh-CN" altLang="en-US" sz="1002" dirty="0">
                <a:solidFill>
                  <a:srgbClr val="FFFFFF"/>
                </a:solidFill>
                <a:latin typeface="Times New Roman"/>
              </a:rPr>
              <a:t>	風險評估</a:t>
            </a:r>
          </a:p>
        </p:txBody>
      </p:sp>
      <p:sp>
        <p:nvSpPr>
          <p:cNvPr id="23" name="TextBox 22"/>
          <p:cNvSpPr txBox="1"/>
          <p:nvPr/>
        </p:nvSpPr>
        <p:spPr>
          <a:xfrm>
            <a:off x="8750433" y="5104819"/>
            <a:ext cx="128240" cy="743793"/>
          </a:xfrm>
          <a:prstGeom prst="rect">
            <a:avLst/>
          </a:prstGeom>
          <a:noFill/>
        </p:spPr>
        <p:txBody>
          <a:bodyPr vert="horz" wrap="none" lIns="0" tIns="0" rIns="0" bIns="0" rtlCol="0">
            <a:spAutoFit/>
          </a:bodyPr>
          <a:lstStyle/>
          <a:p>
            <a:pPr>
              <a:lnSpc>
                <a:spcPts val="1001"/>
              </a:lnSpc>
            </a:pPr>
            <a:r>
              <a:rPr lang="zh-CN" altLang="en-US" sz="1002" dirty="0">
                <a:solidFill>
                  <a:srgbClr val="FFFFFF"/>
                </a:solidFill>
                <a:latin typeface="Times New Roman"/>
              </a:rPr>
              <a:t>業</a:t>
            </a:r>
          </a:p>
          <a:p>
            <a:pPr>
              <a:lnSpc>
                <a:spcPts val="1200"/>
              </a:lnSpc>
            </a:pPr>
            <a:r>
              <a:rPr lang="zh-CN" altLang="en-US" sz="1002" dirty="0">
                <a:solidFill>
                  <a:srgbClr val="FFFFFF"/>
                </a:solidFill>
                <a:latin typeface="Times New Roman"/>
              </a:rPr>
              <a:t>務</a:t>
            </a:r>
          </a:p>
          <a:p>
            <a:pPr>
              <a:lnSpc>
                <a:spcPts val="1200"/>
              </a:lnSpc>
            </a:pPr>
            <a:r>
              <a:rPr lang="zh-CN" altLang="en-US" sz="1002" dirty="0">
                <a:solidFill>
                  <a:srgbClr val="FFFFFF"/>
                </a:solidFill>
                <a:latin typeface="Times New Roman"/>
              </a:rPr>
              <a:t>單</a:t>
            </a:r>
          </a:p>
          <a:p>
            <a:pPr>
              <a:lnSpc>
                <a:spcPts val="1200"/>
              </a:lnSpc>
            </a:pPr>
            <a:r>
              <a:rPr lang="zh-CN" altLang="en-US" sz="1002" dirty="0">
                <a:solidFill>
                  <a:srgbClr val="FFFFFF"/>
                </a:solidFill>
                <a:latin typeface="Times New Roman"/>
              </a:rPr>
              <a:t>位</a:t>
            </a:r>
          </a:p>
          <a:p>
            <a:pPr>
              <a:lnSpc>
                <a:spcPts val="1193"/>
              </a:lnSpc>
            </a:pPr>
            <a:r>
              <a:rPr lang="en-US" altLang="zh-CN" sz="1002" b="1" dirty="0">
                <a:solidFill>
                  <a:srgbClr val="FFFFFF"/>
                </a:solidFill>
                <a:latin typeface="Times New Roman"/>
              </a:rPr>
              <a:t>A</a:t>
            </a:r>
            <a:endParaRPr lang="zh-CN" altLang="en-US" sz="1002" b="1" dirty="0">
              <a:solidFill>
                <a:srgbClr val="FFFFFF"/>
              </a:solidFill>
              <a:latin typeface="Times New Roman"/>
            </a:endParaRPr>
          </a:p>
        </p:txBody>
      </p:sp>
      <p:sp>
        <p:nvSpPr>
          <p:cNvPr id="24" name="TextBox 23"/>
          <p:cNvSpPr txBox="1"/>
          <p:nvPr/>
        </p:nvSpPr>
        <p:spPr>
          <a:xfrm>
            <a:off x="8921868" y="4643033"/>
            <a:ext cx="474489" cy="1064394"/>
          </a:xfrm>
          <a:prstGeom prst="rect">
            <a:avLst/>
          </a:prstGeom>
          <a:noFill/>
        </p:spPr>
        <p:txBody>
          <a:bodyPr vert="horz" wrap="none" lIns="0" tIns="0" rIns="0" bIns="0" rtlCol="0">
            <a:spAutoFit/>
          </a:bodyPr>
          <a:lstStyle/>
          <a:p>
            <a:pPr marL="0" marR="0" lvl="0" indent="0" defTabSz="914400" eaLnBrk="1" fontAlgn="auto" latinLnBrk="0" hangingPunct="1">
              <a:lnSpc>
                <a:spcPts val="1001"/>
              </a:lnSpc>
              <a:buClrTx/>
              <a:buSzTx/>
              <a:buNone/>
              <a:tabLst>
                <a:tab pos="25400" algn="l"/>
                <a:tab pos="165100" algn="l"/>
                <a:tab pos="342900" algn="l"/>
              </a:tabLst>
              <a:defRPr/>
            </a:pPr>
            <a:r>
              <a:rPr lang="zh-CN" altLang="en-US" dirty="0"/>
              <a:t>			</a:t>
            </a:r>
            <a:r>
              <a:rPr lang="zh-CN" altLang="en-US" sz="1002" dirty="0">
                <a:solidFill>
                  <a:srgbClr val="FFFFFF"/>
                </a:solidFill>
                <a:latin typeface="Times New Roman"/>
              </a:rPr>
              <a:t>活</a:t>
            </a:r>
          </a:p>
          <a:p>
            <a:pPr marL="0" marR="0" lvl="0" indent="0" defTabSz="914400" eaLnBrk="1" fontAlgn="auto" latinLnBrk="0" hangingPunct="1">
              <a:lnSpc>
                <a:spcPts val="1284"/>
              </a:lnSpc>
              <a:buClrTx/>
              <a:buSzTx/>
              <a:buNone/>
              <a:tabLst>
                <a:tab pos="25400" algn="l"/>
                <a:tab pos="165100" algn="l"/>
                <a:tab pos="342900" algn="l"/>
              </a:tabLst>
              <a:defRPr/>
            </a:pPr>
            <a:r>
              <a:rPr lang="zh-CN" altLang="en-US" sz="1002" dirty="0">
                <a:solidFill>
                  <a:srgbClr val="FFFFFF"/>
                </a:solidFill>
                <a:latin typeface="Times New Roman"/>
              </a:rPr>
              <a:t>		活 動</a:t>
            </a:r>
          </a:p>
          <a:p>
            <a:pPr marL="0" marR="0" lvl="0" indent="0" defTabSz="914400" eaLnBrk="1" fontAlgn="auto" latinLnBrk="0" hangingPunct="1">
              <a:lnSpc>
                <a:spcPts val="1200"/>
              </a:lnSpc>
              <a:buClrTx/>
              <a:buSzTx/>
              <a:buNone/>
              <a:tabLst>
                <a:tab pos="25400" algn="l"/>
                <a:tab pos="165100" algn="l"/>
                <a:tab pos="342900" algn="l"/>
              </a:tabLst>
              <a:defRPr/>
            </a:pPr>
            <a:r>
              <a:rPr lang="zh-CN" altLang="en-US" sz="1002" dirty="0">
                <a:solidFill>
                  <a:srgbClr val="FFFFFF"/>
                </a:solidFill>
                <a:latin typeface="Times New Roman"/>
              </a:rPr>
              <a:t>業 動 </a:t>
            </a:r>
            <a:r>
              <a:rPr lang="en-US" altLang="zh-CN" sz="1002" b="1" dirty="0">
                <a:solidFill>
                  <a:srgbClr val="FFFFFF"/>
                </a:solidFill>
                <a:latin typeface="Times New Roman"/>
              </a:rPr>
              <a:t>2</a:t>
            </a:r>
          </a:p>
          <a:p>
            <a:pPr marL="0" marR="0" lvl="0" indent="0" defTabSz="914400" eaLnBrk="1" fontAlgn="auto" latinLnBrk="0" hangingPunct="1">
              <a:lnSpc>
                <a:spcPts val="1193"/>
              </a:lnSpc>
              <a:buClrTx/>
              <a:buSzTx/>
              <a:buNone/>
              <a:tabLst>
                <a:tab pos="25400" algn="l"/>
                <a:tab pos="165100" algn="l"/>
                <a:tab pos="342900" algn="l"/>
              </a:tabLst>
              <a:defRPr/>
            </a:pPr>
            <a:r>
              <a:rPr lang="zh-CN" altLang="en-US" sz="1002" dirty="0">
                <a:solidFill>
                  <a:srgbClr val="FFFFFF"/>
                </a:solidFill>
                <a:latin typeface="Times New Roman"/>
              </a:rPr>
              <a:t>務 </a:t>
            </a:r>
            <a:r>
              <a:rPr lang="en-US" altLang="zh-CN" sz="1002" b="1" dirty="0">
                <a:solidFill>
                  <a:srgbClr val="FFFFFF"/>
                </a:solidFill>
                <a:latin typeface="Times New Roman"/>
              </a:rPr>
              <a:t>1</a:t>
            </a:r>
          </a:p>
          <a:p>
            <a:pPr marL="0" marR="0" lvl="0" indent="0" defTabSz="914400" eaLnBrk="1" fontAlgn="auto" latinLnBrk="0" hangingPunct="1">
              <a:lnSpc>
                <a:spcPts val="1171"/>
              </a:lnSpc>
              <a:buClrTx/>
              <a:buSzTx/>
              <a:buNone/>
              <a:tabLst>
                <a:tab pos="25400" algn="l"/>
                <a:tab pos="165100" algn="l"/>
                <a:tab pos="342900" algn="l"/>
              </a:tabLst>
              <a:defRPr/>
            </a:pPr>
            <a:r>
              <a:rPr lang="zh-CN" altLang="en-US" sz="1002" dirty="0">
                <a:solidFill>
                  <a:srgbClr val="FFFFFF"/>
                </a:solidFill>
                <a:latin typeface="Times New Roman"/>
              </a:rPr>
              <a:t>單</a:t>
            </a:r>
          </a:p>
          <a:p>
            <a:pPr marL="0" marR="0" lvl="0" indent="0" defTabSz="914400" eaLnBrk="1" fontAlgn="auto" latinLnBrk="0" hangingPunct="1">
              <a:lnSpc>
                <a:spcPts val="1200"/>
              </a:lnSpc>
              <a:buClrTx/>
              <a:buSzTx/>
              <a:buNone/>
              <a:tabLst>
                <a:tab pos="25400" algn="l"/>
                <a:tab pos="165100" algn="l"/>
                <a:tab pos="342900" algn="l"/>
              </a:tabLst>
              <a:defRPr/>
            </a:pPr>
            <a:r>
              <a:rPr lang="zh-CN" altLang="en-US" sz="1002" dirty="0">
                <a:solidFill>
                  <a:srgbClr val="FFFFFF"/>
                </a:solidFill>
                <a:latin typeface="Times New Roman"/>
              </a:rPr>
              <a:t>位</a:t>
            </a:r>
          </a:p>
          <a:p>
            <a:pPr marL="0" marR="0" lvl="0" indent="0" defTabSz="914400" eaLnBrk="1" fontAlgn="auto" latinLnBrk="0" hangingPunct="1">
              <a:lnSpc>
                <a:spcPts val="1193"/>
              </a:lnSpc>
              <a:buClrTx/>
              <a:buSzTx/>
              <a:buNone/>
              <a:tabLst>
                <a:tab pos="25400" algn="l"/>
                <a:tab pos="165100" algn="l"/>
                <a:tab pos="342900" algn="l"/>
              </a:tabLst>
              <a:defRPr/>
            </a:pPr>
            <a:r>
              <a:rPr lang="zh-CN" altLang="en-US" sz="1002" dirty="0">
                <a:solidFill>
                  <a:srgbClr val="FFFFFF"/>
                </a:solidFill>
                <a:latin typeface="Times New Roman"/>
              </a:rPr>
              <a:t>	</a:t>
            </a:r>
            <a:r>
              <a:rPr lang="en-US" altLang="zh-CN" sz="1002" b="1" dirty="0">
                <a:solidFill>
                  <a:srgbClr val="FFFFFF"/>
                </a:solidFill>
                <a:latin typeface="Times New Roman"/>
              </a:rPr>
              <a:t>B</a:t>
            </a:r>
            <a:endParaRPr lang="zh-CN" altLang="en-US" sz="1002" b="1" dirty="0">
              <a:solidFill>
                <a:srgbClr val="FFFFFF"/>
              </a:solidFill>
              <a:latin typeface="Times New Roman"/>
            </a:endParaRPr>
          </a:p>
        </p:txBody>
      </p:sp>
      <p:sp>
        <p:nvSpPr>
          <p:cNvPr id="25" name="TextBox 24"/>
          <p:cNvSpPr txBox="1"/>
          <p:nvPr/>
        </p:nvSpPr>
        <p:spPr>
          <a:xfrm>
            <a:off x="7455794" y="6043586"/>
            <a:ext cx="2093522" cy="705321"/>
          </a:xfrm>
          <a:prstGeom prst="rect">
            <a:avLst/>
          </a:prstGeom>
          <a:noFill/>
        </p:spPr>
        <p:txBody>
          <a:bodyPr vert="horz" wrap="none" lIns="0" tIns="0" rIns="0" bIns="0" rtlCol="0">
            <a:spAutoFit/>
          </a:bodyPr>
          <a:lstStyle/>
          <a:p>
            <a:pPr marL="0" marR="0" lvl="0" indent="0" defTabSz="914400" eaLnBrk="1" fontAlgn="auto" latinLnBrk="0" hangingPunct="1">
              <a:lnSpc>
                <a:spcPts val="1001"/>
              </a:lnSpc>
              <a:buClrTx/>
              <a:buSzTx/>
              <a:buNone/>
              <a:tabLst>
                <a:tab pos="609600" algn="l"/>
              </a:tabLst>
              <a:defRPr/>
            </a:pPr>
            <a:r>
              <a:rPr lang="zh-CN" altLang="en-US" sz="1002" dirty="0">
                <a:solidFill>
                  <a:srgbClr val="FFFFFF"/>
                </a:solidFill>
                <a:latin typeface="Times New Roman"/>
              </a:rPr>
              <a:t>控制環境</a:t>
            </a:r>
          </a:p>
          <a:p>
            <a:pPr marL="0" marR="0" lvl="0" indent="0" defTabSz="914400" eaLnBrk="1" fontAlgn="auto" latinLnBrk="0" hangingPunct="1">
              <a:lnSpc>
                <a:spcPts val="2704"/>
              </a:lnSpc>
              <a:buClrTx/>
              <a:buSzTx/>
              <a:buNone/>
              <a:tabLst>
                <a:tab pos="609600" algn="l"/>
              </a:tabLst>
              <a:defRPr/>
            </a:pPr>
            <a:r>
              <a:rPr lang="zh-CN" altLang="en-US" sz="1002" dirty="0">
                <a:solidFill>
                  <a:srgbClr val="FFFFFF"/>
                </a:solidFill>
                <a:latin typeface="Times New Roman"/>
              </a:rPr>
              <a:t>	</a:t>
            </a:r>
            <a:r>
              <a:rPr lang="en-US" altLang="zh-CN" dirty="0" err="1">
                <a:solidFill>
                  <a:srgbClr val="000000"/>
                </a:solidFill>
                <a:latin typeface="Times New Roman"/>
              </a:rPr>
              <a:t>Pwc</a:t>
            </a:r>
            <a:endParaRPr lang="en-US" altLang="zh-CN" dirty="0">
              <a:solidFill>
                <a:srgbClr val="000000"/>
              </a:solidFill>
              <a:latin typeface="Times New Roman"/>
            </a:endParaRPr>
          </a:p>
          <a:p>
            <a:pPr marL="0" marR="0" lvl="0" indent="0" defTabSz="914400" eaLnBrk="1" fontAlgn="auto" latinLnBrk="0" hangingPunct="1">
              <a:lnSpc>
                <a:spcPts val="1779"/>
              </a:lnSpc>
              <a:buClrTx/>
              <a:buSzTx/>
              <a:buNone/>
              <a:tabLst>
                <a:tab pos="609600" algn="l"/>
              </a:tabLst>
              <a:defRPr/>
            </a:pPr>
            <a:r>
              <a:rPr lang="en-US" altLang="zh-CN" dirty="0">
                <a:solidFill>
                  <a:srgbClr val="000000"/>
                </a:solidFill>
                <a:latin typeface="Times New Roman"/>
              </a:rPr>
              <a:t>	</a:t>
            </a:r>
            <a:r>
              <a:rPr lang="zh-CN" altLang="en-US" sz="1478" dirty="0">
                <a:solidFill>
                  <a:srgbClr val="000000"/>
                </a:solidFill>
                <a:latin typeface="Times New Roman"/>
              </a:rPr>
              <a:t>普     華     永     道</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myslide34">
    <p:spTree>
      <p:nvGrpSpPr>
        <p:cNvPr id="1" name=""/>
        <p:cNvGrpSpPr/>
        <p:nvPr/>
      </p:nvGrpSpPr>
      <p:grpSpPr>
        <a:xfrm>
          <a:off x="0" y="0"/>
          <a:ext cx="0" cy="0"/>
          <a:chOff x="0" y="0"/>
          <a:chExt cx="0" cy="0"/>
        </a:xfrm>
      </p:grpSpPr>
      <p:pic>
        <p:nvPicPr>
          <p:cNvPr id="2" name="图片 1" descr="ws_1C5.tmp"/>
          <p:cNvPicPr>
            <a:picLocks/>
          </p:cNvPicPr>
          <p:nvPr/>
        </p:nvPicPr>
        <p:blipFill>
          <a:blip r:embed="rId2"/>
          <a:stretch>
            <a:fillRect/>
          </a:stretch>
        </p:blipFill>
        <p:spPr>
          <a:xfrm>
            <a:off x="0" y="0"/>
            <a:ext cx="9880600" cy="6819900"/>
          </a:xfrm>
          <a:prstGeom prst="rect">
            <a:avLst/>
          </a:prstGeom>
        </p:spPr>
      </p:pic>
      <p:sp>
        <p:nvSpPr>
          <p:cNvPr id="3" name="TextBox 2"/>
          <p:cNvSpPr txBox="1"/>
          <p:nvPr/>
        </p:nvSpPr>
        <p:spPr>
          <a:xfrm>
            <a:off x="8025426" y="4051960"/>
            <a:ext cx="128240" cy="98745"/>
          </a:xfrm>
          <a:prstGeom prst="rect">
            <a:avLst/>
          </a:prstGeom>
          <a:noFill/>
        </p:spPr>
        <p:txBody>
          <a:bodyPr vert="horz" wrap="none" lIns="0" tIns="0" rIns="0" bIns="0" rtlCol="0">
            <a:spAutoFit/>
          </a:bodyPr>
          <a:lstStyle/>
          <a:p>
            <a:pPr>
              <a:lnSpc>
                <a:spcPts val="709"/>
              </a:lnSpc>
            </a:pPr>
            <a:r>
              <a:rPr lang="zh-CN" altLang="en-US" sz="1002" dirty="0">
                <a:solidFill>
                  <a:srgbClr val="FFFFFF"/>
                </a:solidFill>
                <a:latin typeface="Times New Roman"/>
              </a:rPr>
              <a:t>財</a:t>
            </a:r>
          </a:p>
        </p:txBody>
      </p:sp>
      <p:sp>
        <p:nvSpPr>
          <p:cNvPr id="4" name="TextBox 3"/>
          <p:cNvSpPr txBox="1"/>
          <p:nvPr/>
        </p:nvSpPr>
        <p:spPr>
          <a:xfrm>
            <a:off x="8115344" y="3962041"/>
            <a:ext cx="128240" cy="98745"/>
          </a:xfrm>
          <a:prstGeom prst="rect">
            <a:avLst/>
          </a:prstGeom>
          <a:noFill/>
        </p:spPr>
        <p:txBody>
          <a:bodyPr vert="horz" wrap="none" lIns="0" tIns="0" rIns="0" bIns="0" rtlCol="0">
            <a:spAutoFit/>
          </a:bodyPr>
          <a:lstStyle/>
          <a:p>
            <a:pPr>
              <a:lnSpc>
                <a:spcPts val="709"/>
              </a:lnSpc>
            </a:pPr>
            <a:r>
              <a:rPr lang="zh-CN" altLang="en-US" sz="1002" dirty="0">
                <a:solidFill>
                  <a:srgbClr val="FFFFFF"/>
                </a:solidFill>
                <a:latin typeface="Times New Roman"/>
              </a:rPr>
              <a:t>務</a:t>
            </a:r>
          </a:p>
        </p:txBody>
      </p:sp>
      <p:sp>
        <p:nvSpPr>
          <p:cNvPr id="5" name="TextBox 4"/>
          <p:cNvSpPr txBox="1"/>
          <p:nvPr/>
        </p:nvSpPr>
        <p:spPr>
          <a:xfrm>
            <a:off x="8205263" y="3872123"/>
            <a:ext cx="128240" cy="98745"/>
          </a:xfrm>
          <a:prstGeom prst="rect">
            <a:avLst/>
          </a:prstGeom>
          <a:noFill/>
        </p:spPr>
        <p:txBody>
          <a:bodyPr vert="horz" wrap="none" lIns="0" tIns="0" rIns="0" bIns="0" rtlCol="0">
            <a:spAutoFit/>
          </a:bodyPr>
          <a:lstStyle/>
          <a:p>
            <a:pPr>
              <a:lnSpc>
                <a:spcPts val="709"/>
              </a:lnSpc>
            </a:pPr>
            <a:r>
              <a:rPr lang="zh-CN" altLang="en-US" sz="1002" dirty="0">
                <a:solidFill>
                  <a:srgbClr val="FFFFFF"/>
                </a:solidFill>
                <a:latin typeface="Times New Roman"/>
              </a:rPr>
              <a:t>報</a:t>
            </a:r>
          </a:p>
        </p:txBody>
      </p:sp>
      <p:sp>
        <p:nvSpPr>
          <p:cNvPr id="6" name="TextBox 5"/>
          <p:cNvSpPr txBox="1"/>
          <p:nvPr/>
        </p:nvSpPr>
        <p:spPr>
          <a:xfrm>
            <a:off x="8295182" y="3782204"/>
            <a:ext cx="128240" cy="98745"/>
          </a:xfrm>
          <a:prstGeom prst="rect">
            <a:avLst/>
          </a:prstGeom>
          <a:noFill/>
        </p:spPr>
        <p:txBody>
          <a:bodyPr vert="horz" wrap="none" lIns="0" tIns="0" rIns="0" bIns="0" rtlCol="0">
            <a:spAutoFit/>
          </a:bodyPr>
          <a:lstStyle/>
          <a:p>
            <a:pPr>
              <a:lnSpc>
                <a:spcPts val="709"/>
              </a:lnSpc>
            </a:pPr>
            <a:r>
              <a:rPr lang="zh-CN" altLang="en-US" sz="1002" dirty="0">
                <a:solidFill>
                  <a:srgbClr val="FFFFFF"/>
                </a:solidFill>
                <a:latin typeface="Times New Roman"/>
              </a:rPr>
              <a:t>告</a:t>
            </a:r>
          </a:p>
        </p:txBody>
      </p:sp>
      <p:sp>
        <p:nvSpPr>
          <p:cNvPr id="7" name="TextBox 6"/>
          <p:cNvSpPr txBox="1"/>
          <p:nvPr/>
        </p:nvSpPr>
        <p:spPr>
          <a:xfrm>
            <a:off x="8692936" y="4006999"/>
            <a:ext cx="128240" cy="98745"/>
          </a:xfrm>
          <a:prstGeom prst="rect">
            <a:avLst/>
          </a:prstGeom>
          <a:noFill/>
        </p:spPr>
        <p:txBody>
          <a:bodyPr vert="horz" wrap="none" lIns="0" tIns="0" rIns="0" bIns="0" rtlCol="0">
            <a:spAutoFit/>
          </a:bodyPr>
          <a:lstStyle/>
          <a:p>
            <a:pPr>
              <a:lnSpc>
                <a:spcPts val="709"/>
              </a:lnSpc>
            </a:pPr>
            <a:r>
              <a:rPr lang="zh-CN" altLang="en-US" sz="1002" dirty="0">
                <a:solidFill>
                  <a:srgbClr val="FFFFFF"/>
                </a:solidFill>
                <a:latin typeface="Times New Roman"/>
              </a:rPr>
              <a:t>合</a:t>
            </a:r>
          </a:p>
        </p:txBody>
      </p:sp>
      <p:sp>
        <p:nvSpPr>
          <p:cNvPr id="8" name="TextBox 7"/>
          <p:cNvSpPr txBox="1"/>
          <p:nvPr/>
        </p:nvSpPr>
        <p:spPr>
          <a:xfrm>
            <a:off x="8782855" y="3917081"/>
            <a:ext cx="128240" cy="98745"/>
          </a:xfrm>
          <a:prstGeom prst="rect">
            <a:avLst/>
          </a:prstGeom>
          <a:noFill/>
        </p:spPr>
        <p:txBody>
          <a:bodyPr vert="horz" wrap="none" lIns="0" tIns="0" rIns="0" bIns="0" rtlCol="0">
            <a:spAutoFit/>
          </a:bodyPr>
          <a:lstStyle/>
          <a:p>
            <a:pPr>
              <a:lnSpc>
                <a:spcPts val="709"/>
              </a:lnSpc>
            </a:pPr>
            <a:r>
              <a:rPr lang="zh-CN" altLang="en-US" sz="1002" dirty="0">
                <a:solidFill>
                  <a:srgbClr val="FFFFFF"/>
                </a:solidFill>
                <a:latin typeface="Times New Roman"/>
              </a:rPr>
              <a:t>規</a:t>
            </a:r>
          </a:p>
        </p:txBody>
      </p:sp>
      <p:sp>
        <p:nvSpPr>
          <p:cNvPr id="9" name="TextBox 8"/>
          <p:cNvSpPr txBox="1"/>
          <p:nvPr/>
        </p:nvSpPr>
        <p:spPr>
          <a:xfrm>
            <a:off x="8872773" y="3827162"/>
            <a:ext cx="128240" cy="98745"/>
          </a:xfrm>
          <a:prstGeom prst="rect">
            <a:avLst/>
          </a:prstGeom>
          <a:noFill/>
        </p:spPr>
        <p:txBody>
          <a:bodyPr vert="horz" wrap="none" lIns="0" tIns="0" rIns="0" bIns="0" rtlCol="0">
            <a:spAutoFit/>
          </a:bodyPr>
          <a:lstStyle/>
          <a:p>
            <a:pPr>
              <a:lnSpc>
                <a:spcPts val="709"/>
              </a:lnSpc>
            </a:pPr>
            <a:r>
              <a:rPr lang="zh-CN" altLang="en-US" sz="1002" dirty="0">
                <a:solidFill>
                  <a:srgbClr val="FFFFFF"/>
                </a:solidFill>
                <a:latin typeface="Times New Roman"/>
              </a:rPr>
              <a:t>性</a:t>
            </a:r>
          </a:p>
        </p:txBody>
      </p:sp>
      <p:sp>
        <p:nvSpPr>
          <p:cNvPr id="10" name="TextBox 9"/>
          <p:cNvSpPr txBox="1"/>
          <p:nvPr/>
        </p:nvSpPr>
        <p:spPr>
          <a:xfrm>
            <a:off x="509403" y="6341571"/>
            <a:ext cx="144270" cy="133370"/>
          </a:xfrm>
          <a:prstGeom prst="rect">
            <a:avLst/>
          </a:prstGeom>
          <a:noFill/>
        </p:spPr>
        <p:txBody>
          <a:bodyPr vert="horz" wrap="none" lIns="0" tIns="0" rIns="0" bIns="0" rtlCol="0">
            <a:spAutoFit/>
          </a:bodyPr>
          <a:lstStyle/>
          <a:p>
            <a:pPr>
              <a:lnSpc>
                <a:spcPts val="1016"/>
              </a:lnSpc>
            </a:pPr>
            <a:r>
              <a:rPr lang="en-US" altLang="zh-CN" sz="1098" dirty="0">
                <a:solidFill>
                  <a:srgbClr val="761437"/>
                </a:solidFill>
                <a:latin typeface="Times New Roman"/>
              </a:rPr>
              <a:t>34</a:t>
            </a:r>
            <a:endParaRPr lang="zh-CN" altLang="en-US" sz="1098" dirty="0">
              <a:solidFill>
                <a:srgbClr val="761437"/>
              </a:solidFill>
              <a:latin typeface="Times New Roman"/>
            </a:endParaRPr>
          </a:p>
        </p:txBody>
      </p:sp>
      <p:sp>
        <p:nvSpPr>
          <p:cNvPr id="11" name="TextBox 10"/>
          <p:cNvSpPr txBox="1"/>
          <p:nvPr/>
        </p:nvSpPr>
        <p:spPr>
          <a:xfrm>
            <a:off x="509403" y="419038"/>
            <a:ext cx="8771632" cy="1936428"/>
          </a:xfrm>
          <a:prstGeom prst="rect">
            <a:avLst/>
          </a:prstGeom>
          <a:noFill/>
        </p:spPr>
        <p:txBody>
          <a:bodyPr vert="horz" wrap="none" lIns="0" tIns="0" rIns="0" bIns="0" rtlCol="0">
            <a:spAutoFit/>
          </a:bodyPr>
          <a:lstStyle/>
          <a:p>
            <a:pPr marL="0" marR="0" lvl="0" indent="0" defTabSz="914400" eaLnBrk="1" fontAlgn="auto" latinLnBrk="0" hangingPunct="1">
              <a:lnSpc>
                <a:spcPts val="3794"/>
              </a:lnSpc>
              <a:buClrTx/>
              <a:buSzTx/>
              <a:buNone/>
              <a:tabLst>
                <a:tab pos="317500" algn="l"/>
              </a:tabLst>
              <a:defRPr/>
            </a:pPr>
            <a:r>
              <a:rPr lang="zh-CN" altLang="en-US" dirty="0"/>
              <a:t>	</a:t>
            </a:r>
            <a:r>
              <a:rPr lang="zh-CN" altLang="en-US" sz="3798" dirty="0">
                <a:solidFill>
                  <a:srgbClr val="FFFFFF"/>
                </a:solidFill>
                <a:latin typeface="Times New Roman"/>
              </a:rPr>
              <a:t>風險評估</a:t>
            </a:r>
          </a:p>
          <a:p>
            <a:pPr marL="0" marR="0" lvl="0" indent="0" defTabSz="914400" eaLnBrk="1" fontAlgn="auto" latinLnBrk="0" hangingPunct="1">
              <a:lnSpc>
                <a:spcPts val="1000"/>
              </a:lnSpc>
              <a:buClrTx/>
              <a:buSzTx/>
              <a:buNone/>
              <a:tabLst>
                <a:tab pos="317500" algn="l"/>
              </a:tabLst>
              <a:defRPr/>
            </a:pPr>
            <a:endParaRPr lang="zh-CN" altLang="en-US" sz="3798" dirty="0">
              <a:solidFill>
                <a:srgbClr val="FFFFFF"/>
              </a:solidFill>
              <a:latin typeface="Times New Roman"/>
            </a:endParaRPr>
          </a:p>
          <a:p>
            <a:pPr marL="0" marR="0" lvl="0" indent="0" defTabSz="914400" eaLnBrk="1" fontAlgn="auto" latinLnBrk="0" hangingPunct="1">
              <a:lnSpc>
                <a:spcPts val="1000"/>
              </a:lnSpc>
              <a:buClrTx/>
              <a:buSzTx/>
              <a:buNone/>
              <a:tabLst>
                <a:tab pos="317500" algn="l"/>
              </a:tabLst>
              <a:defRPr/>
            </a:pPr>
            <a:endParaRPr lang="zh-CN" altLang="en-US" sz="3798" dirty="0">
              <a:solidFill>
                <a:srgbClr val="FFFFFF"/>
              </a:solidFill>
              <a:latin typeface="Times New Roman"/>
            </a:endParaRPr>
          </a:p>
          <a:p>
            <a:pPr marL="0" marR="0" lvl="0" indent="0" defTabSz="914400" eaLnBrk="1" fontAlgn="auto" latinLnBrk="0" hangingPunct="1">
              <a:lnSpc>
                <a:spcPts val="1000"/>
              </a:lnSpc>
              <a:buClrTx/>
              <a:buSzTx/>
              <a:buNone/>
              <a:tabLst>
                <a:tab pos="317500" algn="l"/>
              </a:tabLst>
              <a:defRPr/>
            </a:pPr>
            <a:endParaRPr lang="zh-CN" altLang="en-US" sz="3798" dirty="0">
              <a:solidFill>
                <a:srgbClr val="FFFFFF"/>
              </a:solidFill>
              <a:latin typeface="Times New Roman"/>
            </a:endParaRPr>
          </a:p>
          <a:p>
            <a:pPr marL="0" marR="0" lvl="0" indent="0" defTabSz="914400" eaLnBrk="1" fontAlgn="auto" latinLnBrk="0" hangingPunct="1">
              <a:lnSpc>
                <a:spcPts val="1000"/>
              </a:lnSpc>
              <a:buClrTx/>
              <a:buSzTx/>
              <a:buNone/>
              <a:tabLst>
                <a:tab pos="317500" algn="l"/>
              </a:tabLst>
              <a:defRPr/>
            </a:pPr>
            <a:endParaRPr lang="zh-CN" altLang="en-US" sz="3798" dirty="0">
              <a:solidFill>
                <a:srgbClr val="FFFFFF"/>
              </a:solidFill>
              <a:latin typeface="Times New Roman"/>
            </a:endParaRPr>
          </a:p>
          <a:p>
            <a:pPr marL="0" marR="0" lvl="0" indent="0" defTabSz="914400" eaLnBrk="1" fontAlgn="auto" latinLnBrk="0" hangingPunct="1">
              <a:lnSpc>
                <a:spcPts val="1000"/>
              </a:lnSpc>
              <a:buClrTx/>
              <a:buSzTx/>
              <a:buNone/>
              <a:tabLst>
                <a:tab pos="317500" algn="l"/>
              </a:tabLst>
              <a:defRPr/>
            </a:pPr>
            <a:endParaRPr lang="zh-CN" altLang="en-US" sz="3798" dirty="0">
              <a:solidFill>
                <a:srgbClr val="FFFFFF"/>
              </a:solidFill>
              <a:latin typeface="Times New Roman"/>
            </a:endParaRPr>
          </a:p>
          <a:p>
            <a:pPr marL="0" marR="0" lvl="0" indent="0" defTabSz="914400" eaLnBrk="1" fontAlgn="auto" latinLnBrk="0" hangingPunct="1">
              <a:lnSpc>
                <a:spcPts val="1980"/>
              </a:lnSpc>
              <a:buClrTx/>
              <a:buSzTx/>
              <a:buNone/>
              <a:tabLst>
                <a:tab pos="317500" algn="l"/>
              </a:tabLst>
              <a:defRPr/>
            </a:pPr>
            <a:r>
              <a:rPr lang="zh-CN" altLang="en-US" dirty="0">
                <a:solidFill>
                  <a:srgbClr val="000000"/>
                </a:solidFill>
                <a:latin typeface="Times New Roman"/>
              </a:rPr>
              <a:t>企業的風險評估程式應該從企業層次和業務活動層次兩個角度識別風險，並分析其相關</a:t>
            </a:r>
          </a:p>
          <a:p>
            <a:pPr marL="0" marR="0" lvl="0" indent="0" defTabSz="914400" eaLnBrk="1" fontAlgn="auto" latinLnBrk="0" hangingPunct="1">
              <a:lnSpc>
                <a:spcPts val="2052"/>
              </a:lnSpc>
              <a:buClrTx/>
              <a:buSzTx/>
              <a:buNone/>
              <a:tabLst>
                <a:tab pos="317500" algn="l"/>
              </a:tabLst>
              <a:defRPr/>
            </a:pPr>
            <a:r>
              <a:rPr lang="zh-CN" altLang="en-US" dirty="0">
                <a:solidFill>
                  <a:srgbClr val="000000"/>
                </a:solidFill>
                <a:latin typeface="Times New Roman"/>
              </a:rPr>
              <a:t>影響。 風險評估程式還應該考察會影響目標實現的內部因素和外部因素，對這些風險</a:t>
            </a:r>
          </a:p>
          <a:p>
            <a:pPr marL="0" marR="0" lvl="0" indent="0" defTabSz="914400" eaLnBrk="1" fontAlgn="auto" latinLnBrk="0" hangingPunct="1">
              <a:lnSpc>
                <a:spcPts val="2160"/>
              </a:lnSpc>
              <a:buClrTx/>
              <a:buSzTx/>
              <a:buNone/>
              <a:tabLst>
                <a:tab pos="317500" algn="l"/>
              </a:tabLst>
              <a:defRPr/>
            </a:pPr>
            <a:r>
              <a:rPr lang="zh-CN" altLang="en-US" dirty="0">
                <a:solidFill>
                  <a:srgbClr val="000000"/>
                </a:solidFill>
                <a:latin typeface="Times New Roman"/>
              </a:rPr>
              <a:t>因素進行分析，從而為風險管理提供依據。</a:t>
            </a:r>
          </a:p>
        </p:txBody>
      </p:sp>
      <p:sp>
        <p:nvSpPr>
          <p:cNvPr id="12" name="TextBox 11"/>
          <p:cNvSpPr txBox="1"/>
          <p:nvPr/>
        </p:nvSpPr>
        <p:spPr>
          <a:xfrm>
            <a:off x="7540377" y="3969436"/>
            <a:ext cx="128240" cy="128240"/>
          </a:xfrm>
          <a:prstGeom prst="rect">
            <a:avLst/>
          </a:prstGeom>
          <a:noFill/>
        </p:spPr>
        <p:txBody>
          <a:bodyPr vert="horz" wrap="none" lIns="0" tIns="0" rIns="0" bIns="0" rtlCol="0">
            <a:spAutoFit/>
          </a:bodyPr>
          <a:lstStyle/>
          <a:p>
            <a:pPr>
              <a:lnSpc>
                <a:spcPts val="1001"/>
              </a:lnSpc>
            </a:pPr>
            <a:r>
              <a:rPr lang="zh-CN" altLang="en-US" sz="1002" dirty="0">
                <a:solidFill>
                  <a:srgbClr val="FFFFFF"/>
                </a:solidFill>
                <a:latin typeface="Times New Roman"/>
              </a:rPr>
              <a:t>營</a:t>
            </a:r>
          </a:p>
        </p:txBody>
      </p:sp>
      <p:sp>
        <p:nvSpPr>
          <p:cNvPr id="13" name="TextBox 12"/>
          <p:cNvSpPr txBox="1"/>
          <p:nvPr/>
        </p:nvSpPr>
        <p:spPr>
          <a:xfrm>
            <a:off x="7631060" y="3880282"/>
            <a:ext cx="128240" cy="128240"/>
          </a:xfrm>
          <a:prstGeom prst="rect">
            <a:avLst/>
          </a:prstGeom>
          <a:noFill/>
        </p:spPr>
        <p:txBody>
          <a:bodyPr vert="horz" wrap="none" lIns="0" tIns="0" rIns="0" bIns="0" rtlCol="0">
            <a:spAutoFit/>
          </a:bodyPr>
          <a:lstStyle/>
          <a:p>
            <a:pPr>
              <a:lnSpc>
                <a:spcPts val="1001"/>
              </a:lnSpc>
            </a:pPr>
            <a:r>
              <a:rPr lang="zh-CN" altLang="en-US" sz="1002" dirty="0">
                <a:solidFill>
                  <a:srgbClr val="FFFFFF"/>
                </a:solidFill>
                <a:latin typeface="Times New Roman"/>
              </a:rPr>
              <a:t>運</a:t>
            </a:r>
          </a:p>
        </p:txBody>
      </p:sp>
      <p:sp>
        <p:nvSpPr>
          <p:cNvPr id="14" name="TextBox 13"/>
          <p:cNvSpPr txBox="1"/>
          <p:nvPr/>
        </p:nvSpPr>
        <p:spPr>
          <a:xfrm>
            <a:off x="7736973" y="4389282"/>
            <a:ext cx="256480" cy="128240"/>
          </a:xfrm>
          <a:prstGeom prst="rect">
            <a:avLst/>
          </a:prstGeom>
          <a:noFill/>
        </p:spPr>
        <p:txBody>
          <a:bodyPr vert="horz" wrap="none" lIns="0" tIns="0" rIns="0" bIns="0" rtlCol="0">
            <a:spAutoFit/>
          </a:bodyPr>
          <a:lstStyle/>
          <a:p>
            <a:pPr>
              <a:lnSpc>
                <a:spcPts val="1001"/>
              </a:lnSpc>
            </a:pPr>
            <a:r>
              <a:rPr lang="zh-CN" altLang="en-US" sz="1002" dirty="0">
                <a:solidFill>
                  <a:srgbClr val="FFFFFF"/>
                </a:solidFill>
                <a:latin typeface="Times New Roman"/>
              </a:rPr>
              <a:t>監控</a:t>
            </a:r>
          </a:p>
        </p:txBody>
      </p:sp>
      <p:sp>
        <p:nvSpPr>
          <p:cNvPr id="15" name="TextBox 14"/>
          <p:cNvSpPr txBox="1"/>
          <p:nvPr/>
        </p:nvSpPr>
        <p:spPr>
          <a:xfrm>
            <a:off x="9240378" y="4300146"/>
            <a:ext cx="307777" cy="294953"/>
          </a:xfrm>
          <a:prstGeom prst="rect">
            <a:avLst/>
          </a:prstGeom>
          <a:noFill/>
        </p:spPr>
        <p:txBody>
          <a:bodyPr vert="horz" wrap="none" lIns="0" tIns="0" rIns="0" bIns="0" rtlCol="0">
            <a:spAutoFit/>
          </a:bodyPr>
          <a:lstStyle/>
          <a:p>
            <a:pPr marL="0" marR="0" lvl="0" indent="0" defTabSz="914400" eaLnBrk="1" fontAlgn="auto" latinLnBrk="0" hangingPunct="1">
              <a:lnSpc>
                <a:spcPts val="1001"/>
              </a:lnSpc>
              <a:buClrTx/>
              <a:buSzTx/>
              <a:buNone/>
              <a:tabLst>
                <a:tab pos="177800" algn="l"/>
              </a:tabLst>
              <a:defRPr/>
            </a:pPr>
            <a:r>
              <a:rPr lang="zh-CN" altLang="en-US" dirty="0"/>
              <a:t>	</a:t>
            </a:r>
            <a:r>
              <a:rPr lang="zh-CN" altLang="en-US" sz="1002" dirty="0">
                <a:solidFill>
                  <a:srgbClr val="FFFFFF"/>
                </a:solidFill>
                <a:latin typeface="Times New Roman"/>
              </a:rPr>
              <a:t>活</a:t>
            </a:r>
          </a:p>
          <a:p>
            <a:pPr marL="0" marR="0" lvl="0" indent="0" defTabSz="914400" eaLnBrk="1" fontAlgn="auto" latinLnBrk="0" hangingPunct="1">
              <a:lnSpc>
                <a:spcPts val="1284"/>
              </a:lnSpc>
              <a:buClrTx/>
              <a:buSzTx/>
              <a:buNone/>
              <a:tabLst>
                <a:tab pos="177800" algn="l"/>
              </a:tabLst>
              <a:defRPr/>
            </a:pPr>
            <a:r>
              <a:rPr lang="zh-CN" altLang="en-US" sz="1002" dirty="0">
                <a:solidFill>
                  <a:srgbClr val="FFFFFF"/>
                </a:solidFill>
                <a:latin typeface="Times New Roman"/>
              </a:rPr>
              <a:t>活 動</a:t>
            </a:r>
          </a:p>
        </p:txBody>
      </p:sp>
      <p:sp>
        <p:nvSpPr>
          <p:cNvPr id="16" name="TextBox 15"/>
          <p:cNvSpPr txBox="1"/>
          <p:nvPr/>
        </p:nvSpPr>
        <p:spPr>
          <a:xfrm>
            <a:off x="7544950" y="4713131"/>
            <a:ext cx="641201" cy="782265"/>
          </a:xfrm>
          <a:prstGeom prst="rect">
            <a:avLst/>
          </a:prstGeom>
          <a:noFill/>
        </p:spPr>
        <p:txBody>
          <a:bodyPr vert="horz" wrap="none" lIns="0" tIns="0" rIns="0" bIns="0" rtlCol="0">
            <a:spAutoFit/>
          </a:bodyPr>
          <a:lstStyle/>
          <a:p>
            <a:pPr marL="0" marR="0" lvl="0" indent="0" defTabSz="914400" eaLnBrk="1" fontAlgn="auto" latinLnBrk="0" hangingPunct="1">
              <a:lnSpc>
                <a:spcPts val="1001"/>
              </a:lnSpc>
              <a:buClrTx/>
              <a:buSzTx/>
              <a:buNone/>
              <a:tabLst>
                <a:tab pos="63500" algn="l"/>
              </a:tabLst>
              <a:defRPr/>
            </a:pPr>
            <a:r>
              <a:rPr lang="zh-CN" altLang="en-US" sz="1002" dirty="0">
                <a:solidFill>
                  <a:srgbClr val="FFFFFF"/>
                </a:solidFill>
                <a:latin typeface="Times New Roman"/>
              </a:rPr>
              <a:t>資訊和溝通</a:t>
            </a:r>
          </a:p>
          <a:p>
            <a:pPr marL="0" marR="0" lvl="0" indent="0" defTabSz="914400" eaLnBrk="1" fontAlgn="auto" latinLnBrk="0" hangingPunct="1">
              <a:lnSpc>
                <a:spcPts val="1000"/>
              </a:lnSpc>
              <a:buClrTx/>
              <a:buSzTx/>
              <a:buNone/>
              <a:tabLst>
                <a:tab pos="63500" algn="l"/>
              </a:tabLst>
              <a:defRPr/>
            </a:pPr>
            <a:endParaRPr lang="zh-CN" altLang="en-US" sz="1002" dirty="0">
              <a:solidFill>
                <a:srgbClr val="FFFFFF"/>
              </a:solidFill>
              <a:latin typeface="Times New Roman"/>
            </a:endParaRPr>
          </a:p>
          <a:p>
            <a:pPr marL="0" marR="0" lvl="0" indent="0" defTabSz="914400" eaLnBrk="1" fontAlgn="auto" latinLnBrk="0" hangingPunct="1">
              <a:lnSpc>
                <a:spcPts val="1466"/>
              </a:lnSpc>
              <a:buClrTx/>
              <a:buSzTx/>
              <a:buNone/>
              <a:tabLst>
                <a:tab pos="63500" algn="l"/>
              </a:tabLst>
              <a:defRPr/>
            </a:pPr>
            <a:r>
              <a:rPr lang="zh-CN" altLang="en-US" sz="1002" dirty="0">
                <a:solidFill>
                  <a:srgbClr val="FFFFFF"/>
                </a:solidFill>
                <a:latin typeface="Times New Roman"/>
              </a:rPr>
              <a:t>	控制活動</a:t>
            </a:r>
          </a:p>
          <a:p>
            <a:pPr marL="0" marR="0" lvl="0" indent="0" defTabSz="914400" eaLnBrk="1" fontAlgn="auto" latinLnBrk="0" hangingPunct="1">
              <a:lnSpc>
                <a:spcPts val="1000"/>
              </a:lnSpc>
              <a:buClrTx/>
              <a:buSzTx/>
              <a:buNone/>
              <a:tabLst>
                <a:tab pos="63500" algn="l"/>
              </a:tabLst>
              <a:defRPr/>
            </a:pPr>
            <a:endParaRPr lang="zh-CN" altLang="en-US" sz="1002" dirty="0">
              <a:solidFill>
                <a:srgbClr val="FFFFFF"/>
              </a:solidFill>
              <a:latin typeface="Times New Roman"/>
            </a:endParaRPr>
          </a:p>
          <a:p>
            <a:pPr marL="0" marR="0" lvl="0" indent="0" defTabSz="914400" eaLnBrk="1" fontAlgn="auto" latinLnBrk="0" hangingPunct="1">
              <a:lnSpc>
                <a:spcPts val="1646"/>
              </a:lnSpc>
              <a:buClrTx/>
              <a:buSzTx/>
              <a:buNone/>
              <a:tabLst>
                <a:tab pos="63500" algn="l"/>
              </a:tabLst>
              <a:defRPr/>
            </a:pPr>
            <a:r>
              <a:rPr lang="zh-CN" altLang="en-US" sz="1002" dirty="0">
                <a:solidFill>
                  <a:srgbClr val="FFFFFF"/>
                </a:solidFill>
                <a:latin typeface="Times New Roman"/>
              </a:rPr>
              <a:t>	風險評估</a:t>
            </a:r>
          </a:p>
        </p:txBody>
      </p:sp>
      <p:sp>
        <p:nvSpPr>
          <p:cNvPr id="17" name="TextBox 16"/>
          <p:cNvSpPr txBox="1"/>
          <p:nvPr/>
        </p:nvSpPr>
        <p:spPr>
          <a:xfrm>
            <a:off x="8902833" y="4761919"/>
            <a:ext cx="128240" cy="743793"/>
          </a:xfrm>
          <a:prstGeom prst="rect">
            <a:avLst/>
          </a:prstGeom>
          <a:noFill/>
        </p:spPr>
        <p:txBody>
          <a:bodyPr vert="horz" wrap="none" lIns="0" tIns="0" rIns="0" bIns="0" rtlCol="0">
            <a:spAutoFit/>
          </a:bodyPr>
          <a:lstStyle/>
          <a:p>
            <a:pPr>
              <a:lnSpc>
                <a:spcPts val="1001"/>
              </a:lnSpc>
            </a:pPr>
            <a:r>
              <a:rPr lang="zh-CN" altLang="en-US" sz="1002" dirty="0">
                <a:solidFill>
                  <a:srgbClr val="FFFFFF"/>
                </a:solidFill>
                <a:latin typeface="Times New Roman"/>
              </a:rPr>
              <a:t>業</a:t>
            </a:r>
          </a:p>
          <a:p>
            <a:pPr>
              <a:lnSpc>
                <a:spcPts val="1200"/>
              </a:lnSpc>
            </a:pPr>
            <a:r>
              <a:rPr lang="zh-CN" altLang="en-US" sz="1002" dirty="0">
                <a:solidFill>
                  <a:srgbClr val="FFFFFF"/>
                </a:solidFill>
                <a:latin typeface="Times New Roman"/>
              </a:rPr>
              <a:t>務</a:t>
            </a:r>
          </a:p>
          <a:p>
            <a:pPr>
              <a:lnSpc>
                <a:spcPts val="1200"/>
              </a:lnSpc>
            </a:pPr>
            <a:r>
              <a:rPr lang="zh-CN" altLang="en-US" sz="1002" dirty="0">
                <a:solidFill>
                  <a:srgbClr val="FFFFFF"/>
                </a:solidFill>
                <a:latin typeface="Times New Roman"/>
              </a:rPr>
              <a:t>單</a:t>
            </a:r>
          </a:p>
          <a:p>
            <a:pPr>
              <a:lnSpc>
                <a:spcPts val="1200"/>
              </a:lnSpc>
            </a:pPr>
            <a:r>
              <a:rPr lang="zh-CN" altLang="en-US" sz="1002" dirty="0">
                <a:solidFill>
                  <a:srgbClr val="FFFFFF"/>
                </a:solidFill>
                <a:latin typeface="Times New Roman"/>
              </a:rPr>
              <a:t>位</a:t>
            </a:r>
          </a:p>
          <a:p>
            <a:pPr>
              <a:lnSpc>
                <a:spcPts val="1193"/>
              </a:lnSpc>
            </a:pPr>
            <a:r>
              <a:rPr lang="en-US" altLang="zh-CN" sz="1002" b="1" dirty="0">
                <a:solidFill>
                  <a:srgbClr val="FFFFFF"/>
                </a:solidFill>
                <a:latin typeface="Times New Roman"/>
              </a:rPr>
              <a:t>A</a:t>
            </a:r>
            <a:endParaRPr lang="zh-CN" altLang="en-US" sz="1002" b="1" dirty="0">
              <a:solidFill>
                <a:srgbClr val="FFFFFF"/>
              </a:solidFill>
              <a:latin typeface="Times New Roman"/>
            </a:endParaRPr>
          </a:p>
        </p:txBody>
      </p:sp>
      <p:sp>
        <p:nvSpPr>
          <p:cNvPr id="18" name="TextBox 17"/>
          <p:cNvSpPr txBox="1"/>
          <p:nvPr/>
        </p:nvSpPr>
        <p:spPr>
          <a:xfrm>
            <a:off x="9074268" y="4611044"/>
            <a:ext cx="384721" cy="743793"/>
          </a:xfrm>
          <a:prstGeom prst="rect">
            <a:avLst/>
          </a:prstGeom>
          <a:noFill/>
        </p:spPr>
        <p:txBody>
          <a:bodyPr vert="horz" wrap="none" lIns="0" tIns="0" rIns="0" bIns="0" rtlCol="0">
            <a:spAutoFit/>
          </a:bodyPr>
          <a:lstStyle/>
          <a:p>
            <a:pPr marL="0" marR="0" lvl="0" indent="0" defTabSz="914400" eaLnBrk="1" fontAlgn="auto" latinLnBrk="0" hangingPunct="1">
              <a:lnSpc>
                <a:spcPts val="1037"/>
              </a:lnSpc>
              <a:buClrTx/>
              <a:buSzTx/>
              <a:buNone/>
              <a:tabLst>
                <a:tab pos="25400" algn="l"/>
              </a:tabLst>
              <a:defRPr/>
            </a:pPr>
            <a:r>
              <a:rPr lang="zh-CN" altLang="en-US" sz="1002" dirty="0">
                <a:solidFill>
                  <a:srgbClr val="FFFFFF"/>
                </a:solidFill>
                <a:latin typeface="Times New Roman"/>
              </a:rPr>
              <a:t>業 動 </a:t>
            </a:r>
            <a:r>
              <a:rPr lang="en-US" altLang="zh-CN" sz="1002" b="1" dirty="0">
                <a:solidFill>
                  <a:srgbClr val="FFFFFF"/>
                </a:solidFill>
                <a:latin typeface="Times New Roman"/>
              </a:rPr>
              <a:t>2</a:t>
            </a:r>
          </a:p>
          <a:p>
            <a:pPr marL="0" marR="0" lvl="0" indent="0" defTabSz="914400" eaLnBrk="1" fontAlgn="auto" latinLnBrk="0" hangingPunct="1">
              <a:lnSpc>
                <a:spcPts val="1193"/>
              </a:lnSpc>
              <a:buClrTx/>
              <a:buSzTx/>
              <a:buNone/>
              <a:tabLst>
                <a:tab pos="25400" algn="l"/>
              </a:tabLst>
              <a:defRPr/>
            </a:pPr>
            <a:r>
              <a:rPr lang="zh-CN" altLang="en-US" sz="1002" dirty="0">
                <a:solidFill>
                  <a:srgbClr val="FFFFFF"/>
                </a:solidFill>
                <a:latin typeface="Times New Roman"/>
              </a:rPr>
              <a:t>務 </a:t>
            </a:r>
            <a:r>
              <a:rPr lang="en-US" altLang="zh-CN" sz="1002" b="1" dirty="0">
                <a:solidFill>
                  <a:srgbClr val="FFFFFF"/>
                </a:solidFill>
                <a:latin typeface="Times New Roman"/>
              </a:rPr>
              <a:t>1</a:t>
            </a:r>
          </a:p>
          <a:p>
            <a:pPr marL="0" marR="0" lvl="0" indent="0" defTabSz="914400" eaLnBrk="1" fontAlgn="auto" latinLnBrk="0" hangingPunct="1">
              <a:lnSpc>
                <a:spcPts val="1171"/>
              </a:lnSpc>
              <a:buClrTx/>
              <a:buSzTx/>
              <a:buNone/>
              <a:tabLst>
                <a:tab pos="25400" algn="l"/>
              </a:tabLst>
              <a:defRPr/>
            </a:pPr>
            <a:r>
              <a:rPr lang="zh-CN" altLang="en-US" sz="1002" dirty="0">
                <a:solidFill>
                  <a:srgbClr val="FFFFFF"/>
                </a:solidFill>
                <a:latin typeface="Times New Roman"/>
              </a:rPr>
              <a:t>單</a:t>
            </a:r>
          </a:p>
          <a:p>
            <a:pPr marL="0" marR="0" lvl="0" indent="0" defTabSz="914400" eaLnBrk="1" fontAlgn="auto" latinLnBrk="0" hangingPunct="1">
              <a:lnSpc>
                <a:spcPts val="1200"/>
              </a:lnSpc>
              <a:buClrTx/>
              <a:buSzTx/>
              <a:buNone/>
              <a:tabLst>
                <a:tab pos="25400" algn="l"/>
              </a:tabLst>
              <a:defRPr/>
            </a:pPr>
            <a:r>
              <a:rPr lang="zh-CN" altLang="en-US" sz="1002" dirty="0">
                <a:solidFill>
                  <a:srgbClr val="FFFFFF"/>
                </a:solidFill>
                <a:latin typeface="Times New Roman"/>
              </a:rPr>
              <a:t>位</a:t>
            </a:r>
          </a:p>
          <a:p>
            <a:pPr marL="0" marR="0" lvl="0" indent="0" defTabSz="914400" eaLnBrk="1" fontAlgn="auto" latinLnBrk="0" hangingPunct="1">
              <a:lnSpc>
                <a:spcPts val="1193"/>
              </a:lnSpc>
              <a:buClrTx/>
              <a:buSzTx/>
              <a:buNone/>
              <a:tabLst>
                <a:tab pos="25400" algn="l"/>
              </a:tabLst>
              <a:defRPr/>
            </a:pPr>
            <a:r>
              <a:rPr lang="zh-CN" altLang="en-US" sz="1002" dirty="0">
                <a:solidFill>
                  <a:srgbClr val="FFFFFF"/>
                </a:solidFill>
                <a:latin typeface="Times New Roman"/>
              </a:rPr>
              <a:t>	</a:t>
            </a:r>
            <a:r>
              <a:rPr lang="en-US" altLang="zh-CN" sz="1002" b="1" dirty="0">
                <a:solidFill>
                  <a:srgbClr val="FFFFFF"/>
                </a:solidFill>
                <a:latin typeface="Times New Roman"/>
              </a:rPr>
              <a:t>B</a:t>
            </a:r>
            <a:endParaRPr lang="zh-CN" altLang="en-US" sz="1002" b="1" dirty="0">
              <a:solidFill>
                <a:srgbClr val="FFFFFF"/>
              </a:solidFill>
              <a:latin typeface="Times New Roman"/>
            </a:endParaRPr>
          </a:p>
        </p:txBody>
      </p:sp>
      <p:sp>
        <p:nvSpPr>
          <p:cNvPr id="19" name="TextBox 18"/>
          <p:cNvSpPr txBox="1"/>
          <p:nvPr/>
        </p:nvSpPr>
        <p:spPr>
          <a:xfrm>
            <a:off x="7608194" y="5700686"/>
            <a:ext cx="1939634" cy="1051570"/>
          </a:xfrm>
          <a:prstGeom prst="rect">
            <a:avLst/>
          </a:prstGeom>
          <a:noFill/>
        </p:spPr>
        <p:txBody>
          <a:bodyPr vert="horz" wrap="none" lIns="0" tIns="0" rIns="0" bIns="0" rtlCol="0">
            <a:spAutoFit/>
          </a:bodyPr>
          <a:lstStyle/>
          <a:p>
            <a:pPr marL="0" marR="0" lvl="0" indent="0" defTabSz="914400" eaLnBrk="1" fontAlgn="auto" latinLnBrk="0" hangingPunct="1">
              <a:lnSpc>
                <a:spcPts val="1001"/>
              </a:lnSpc>
              <a:buClrTx/>
              <a:buSzTx/>
              <a:buNone/>
              <a:tabLst>
                <a:tab pos="457200" algn="l"/>
              </a:tabLst>
              <a:defRPr/>
            </a:pPr>
            <a:r>
              <a:rPr lang="zh-CN" altLang="en-US" sz="1002" dirty="0">
                <a:solidFill>
                  <a:srgbClr val="FFFFFF"/>
                </a:solidFill>
                <a:latin typeface="Times New Roman"/>
              </a:rPr>
              <a:t>控制環境</a:t>
            </a:r>
          </a:p>
          <a:p>
            <a:pPr marL="0" marR="0" lvl="0" indent="0" defTabSz="914400" eaLnBrk="1" fontAlgn="auto" latinLnBrk="0" hangingPunct="1">
              <a:lnSpc>
                <a:spcPts val="1000"/>
              </a:lnSpc>
              <a:buClrTx/>
              <a:buSzTx/>
              <a:buNone/>
              <a:tabLst>
                <a:tab pos="457200" algn="l"/>
              </a:tabLst>
              <a:defRPr/>
            </a:pPr>
            <a:endParaRPr lang="zh-CN" altLang="en-US" sz="1002" dirty="0">
              <a:solidFill>
                <a:srgbClr val="FFFFFF"/>
              </a:solidFill>
              <a:latin typeface="Times New Roman"/>
            </a:endParaRPr>
          </a:p>
          <a:p>
            <a:pPr marL="0" marR="0" lvl="0" indent="0" defTabSz="914400" eaLnBrk="1" fontAlgn="auto" latinLnBrk="0" hangingPunct="1">
              <a:lnSpc>
                <a:spcPts val="1000"/>
              </a:lnSpc>
              <a:buClrTx/>
              <a:buSzTx/>
              <a:buNone/>
              <a:tabLst>
                <a:tab pos="457200" algn="l"/>
              </a:tabLst>
              <a:defRPr/>
            </a:pPr>
            <a:endParaRPr lang="zh-CN" altLang="en-US" sz="1002" dirty="0">
              <a:solidFill>
                <a:srgbClr val="FFFFFF"/>
              </a:solidFill>
              <a:latin typeface="Times New Roman"/>
            </a:endParaRPr>
          </a:p>
          <a:p>
            <a:pPr marL="0" marR="0" lvl="0" indent="0" defTabSz="914400" eaLnBrk="1" fontAlgn="auto" latinLnBrk="0" hangingPunct="1">
              <a:lnSpc>
                <a:spcPts val="1000"/>
              </a:lnSpc>
              <a:buClrTx/>
              <a:buSzTx/>
              <a:buNone/>
              <a:tabLst>
                <a:tab pos="457200" algn="l"/>
              </a:tabLst>
              <a:defRPr/>
            </a:pPr>
            <a:endParaRPr lang="zh-CN" altLang="en-US" sz="1002" dirty="0">
              <a:solidFill>
                <a:srgbClr val="FFFFFF"/>
              </a:solidFill>
              <a:latin typeface="Times New Roman"/>
            </a:endParaRPr>
          </a:p>
          <a:p>
            <a:pPr marL="0" marR="0" lvl="0" indent="0" defTabSz="914400" eaLnBrk="1" fontAlgn="auto" latinLnBrk="0" hangingPunct="1">
              <a:lnSpc>
                <a:spcPts val="2404"/>
              </a:lnSpc>
              <a:buClrTx/>
              <a:buSzTx/>
              <a:buNone/>
              <a:tabLst>
                <a:tab pos="457200" algn="l"/>
              </a:tabLst>
              <a:defRPr/>
            </a:pPr>
            <a:r>
              <a:rPr lang="zh-CN" altLang="en-US" sz="1002" dirty="0">
                <a:solidFill>
                  <a:srgbClr val="FFFFFF"/>
                </a:solidFill>
                <a:latin typeface="Times New Roman"/>
              </a:rPr>
              <a:t>	</a:t>
            </a:r>
            <a:r>
              <a:rPr lang="en-US" altLang="zh-CN" dirty="0" err="1">
                <a:solidFill>
                  <a:srgbClr val="000000"/>
                </a:solidFill>
                <a:latin typeface="Times New Roman"/>
              </a:rPr>
              <a:t>Pwc</a:t>
            </a:r>
            <a:endParaRPr lang="en-US" altLang="zh-CN" dirty="0">
              <a:solidFill>
                <a:srgbClr val="000000"/>
              </a:solidFill>
              <a:latin typeface="Times New Roman"/>
            </a:endParaRPr>
          </a:p>
          <a:p>
            <a:pPr marL="0" marR="0" lvl="0" indent="0" defTabSz="914400" eaLnBrk="1" fontAlgn="auto" latinLnBrk="0" hangingPunct="1">
              <a:lnSpc>
                <a:spcPts val="1779"/>
              </a:lnSpc>
              <a:buClrTx/>
              <a:buSzTx/>
              <a:buNone/>
              <a:tabLst>
                <a:tab pos="457200" algn="l"/>
              </a:tabLst>
              <a:defRPr/>
            </a:pPr>
            <a:r>
              <a:rPr lang="en-US" altLang="zh-CN" dirty="0">
                <a:solidFill>
                  <a:srgbClr val="000000"/>
                </a:solidFill>
                <a:latin typeface="Times New Roman"/>
              </a:rPr>
              <a:t>	</a:t>
            </a:r>
            <a:r>
              <a:rPr lang="zh-CN" altLang="en-US" sz="1478" dirty="0">
                <a:solidFill>
                  <a:srgbClr val="000000"/>
                </a:solidFill>
                <a:latin typeface="Times New Roman"/>
              </a:rPr>
              <a:t>普     華     永     道</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myslide35">
    <p:spTree>
      <p:nvGrpSpPr>
        <p:cNvPr id="1" name=""/>
        <p:cNvGrpSpPr/>
        <p:nvPr/>
      </p:nvGrpSpPr>
      <p:grpSpPr>
        <a:xfrm>
          <a:off x="0" y="0"/>
          <a:ext cx="0" cy="0"/>
          <a:chOff x="0" y="0"/>
          <a:chExt cx="0" cy="0"/>
        </a:xfrm>
      </p:grpSpPr>
      <p:pic>
        <p:nvPicPr>
          <p:cNvPr id="2" name="图片 1" descr="ws_1C7.tmp"/>
          <p:cNvPicPr>
            <a:picLocks/>
          </p:cNvPicPr>
          <p:nvPr/>
        </p:nvPicPr>
        <p:blipFill>
          <a:blip r:embed="rId2"/>
          <a:stretch>
            <a:fillRect/>
          </a:stretch>
        </p:blipFill>
        <p:spPr>
          <a:xfrm>
            <a:off x="0" y="0"/>
            <a:ext cx="9880600" cy="6819900"/>
          </a:xfrm>
          <a:prstGeom prst="rect">
            <a:avLst/>
          </a:prstGeom>
        </p:spPr>
      </p:pic>
      <p:sp>
        <p:nvSpPr>
          <p:cNvPr id="3" name="TextBox 2"/>
          <p:cNvSpPr txBox="1"/>
          <p:nvPr/>
        </p:nvSpPr>
        <p:spPr>
          <a:xfrm>
            <a:off x="7873026" y="4394860"/>
            <a:ext cx="128240" cy="98745"/>
          </a:xfrm>
          <a:prstGeom prst="rect">
            <a:avLst/>
          </a:prstGeom>
          <a:noFill/>
        </p:spPr>
        <p:txBody>
          <a:bodyPr vert="horz" wrap="none" lIns="0" tIns="0" rIns="0" bIns="0" rtlCol="0">
            <a:spAutoFit/>
          </a:bodyPr>
          <a:lstStyle/>
          <a:p>
            <a:pPr>
              <a:lnSpc>
                <a:spcPts val="709"/>
              </a:lnSpc>
            </a:pPr>
            <a:r>
              <a:rPr lang="zh-CN" altLang="en-US" sz="1002" dirty="0">
                <a:solidFill>
                  <a:srgbClr val="FFFFFF"/>
                </a:solidFill>
                <a:latin typeface="Times New Roman"/>
              </a:rPr>
              <a:t>財</a:t>
            </a:r>
          </a:p>
        </p:txBody>
      </p:sp>
      <p:sp>
        <p:nvSpPr>
          <p:cNvPr id="4" name="TextBox 3"/>
          <p:cNvSpPr txBox="1"/>
          <p:nvPr/>
        </p:nvSpPr>
        <p:spPr>
          <a:xfrm>
            <a:off x="7962944" y="4304941"/>
            <a:ext cx="128240" cy="98745"/>
          </a:xfrm>
          <a:prstGeom prst="rect">
            <a:avLst/>
          </a:prstGeom>
          <a:noFill/>
        </p:spPr>
        <p:txBody>
          <a:bodyPr vert="horz" wrap="none" lIns="0" tIns="0" rIns="0" bIns="0" rtlCol="0">
            <a:spAutoFit/>
          </a:bodyPr>
          <a:lstStyle/>
          <a:p>
            <a:pPr>
              <a:lnSpc>
                <a:spcPts val="709"/>
              </a:lnSpc>
            </a:pPr>
            <a:r>
              <a:rPr lang="zh-CN" altLang="en-US" sz="1002" dirty="0">
                <a:solidFill>
                  <a:srgbClr val="FFFFFF"/>
                </a:solidFill>
                <a:latin typeface="Times New Roman"/>
              </a:rPr>
              <a:t>務</a:t>
            </a:r>
          </a:p>
        </p:txBody>
      </p:sp>
      <p:sp>
        <p:nvSpPr>
          <p:cNvPr id="5" name="TextBox 4"/>
          <p:cNvSpPr txBox="1"/>
          <p:nvPr/>
        </p:nvSpPr>
        <p:spPr>
          <a:xfrm>
            <a:off x="8052863" y="4215023"/>
            <a:ext cx="128240" cy="98745"/>
          </a:xfrm>
          <a:prstGeom prst="rect">
            <a:avLst/>
          </a:prstGeom>
          <a:noFill/>
        </p:spPr>
        <p:txBody>
          <a:bodyPr vert="horz" wrap="none" lIns="0" tIns="0" rIns="0" bIns="0" rtlCol="0">
            <a:spAutoFit/>
          </a:bodyPr>
          <a:lstStyle/>
          <a:p>
            <a:pPr>
              <a:lnSpc>
                <a:spcPts val="709"/>
              </a:lnSpc>
            </a:pPr>
            <a:r>
              <a:rPr lang="zh-CN" altLang="en-US" sz="1002" dirty="0">
                <a:solidFill>
                  <a:srgbClr val="FFFFFF"/>
                </a:solidFill>
                <a:latin typeface="Times New Roman"/>
              </a:rPr>
              <a:t>報</a:t>
            </a:r>
          </a:p>
        </p:txBody>
      </p:sp>
      <p:sp>
        <p:nvSpPr>
          <p:cNvPr id="6" name="TextBox 5"/>
          <p:cNvSpPr txBox="1"/>
          <p:nvPr/>
        </p:nvSpPr>
        <p:spPr>
          <a:xfrm>
            <a:off x="8142782" y="4125104"/>
            <a:ext cx="128240" cy="98745"/>
          </a:xfrm>
          <a:prstGeom prst="rect">
            <a:avLst/>
          </a:prstGeom>
          <a:noFill/>
        </p:spPr>
        <p:txBody>
          <a:bodyPr vert="horz" wrap="none" lIns="0" tIns="0" rIns="0" bIns="0" rtlCol="0">
            <a:spAutoFit/>
          </a:bodyPr>
          <a:lstStyle/>
          <a:p>
            <a:pPr>
              <a:lnSpc>
                <a:spcPts val="709"/>
              </a:lnSpc>
            </a:pPr>
            <a:r>
              <a:rPr lang="zh-CN" altLang="en-US" sz="1002" dirty="0">
                <a:solidFill>
                  <a:srgbClr val="FFFFFF"/>
                </a:solidFill>
                <a:latin typeface="Times New Roman"/>
              </a:rPr>
              <a:t>告</a:t>
            </a:r>
          </a:p>
        </p:txBody>
      </p:sp>
      <p:sp>
        <p:nvSpPr>
          <p:cNvPr id="7" name="TextBox 6"/>
          <p:cNvSpPr txBox="1"/>
          <p:nvPr/>
        </p:nvSpPr>
        <p:spPr>
          <a:xfrm>
            <a:off x="8540536" y="4349899"/>
            <a:ext cx="128240" cy="98745"/>
          </a:xfrm>
          <a:prstGeom prst="rect">
            <a:avLst/>
          </a:prstGeom>
          <a:noFill/>
        </p:spPr>
        <p:txBody>
          <a:bodyPr vert="horz" wrap="none" lIns="0" tIns="0" rIns="0" bIns="0" rtlCol="0">
            <a:spAutoFit/>
          </a:bodyPr>
          <a:lstStyle/>
          <a:p>
            <a:pPr>
              <a:lnSpc>
                <a:spcPts val="709"/>
              </a:lnSpc>
            </a:pPr>
            <a:r>
              <a:rPr lang="zh-CN" altLang="en-US" sz="1002" dirty="0">
                <a:solidFill>
                  <a:srgbClr val="FFFFFF"/>
                </a:solidFill>
                <a:latin typeface="Times New Roman"/>
              </a:rPr>
              <a:t>合</a:t>
            </a:r>
          </a:p>
        </p:txBody>
      </p:sp>
      <p:sp>
        <p:nvSpPr>
          <p:cNvPr id="8" name="TextBox 7"/>
          <p:cNvSpPr txBox="1"/>
          <p:nvPr/>
        </p:nvSpPr>
        <p:spPr>
          <a:xfrm>
            <a:off x="8630455" y="4259981"/>
            <a:ext cx="128240" cy="98745"/>
          </a:xfrm>
          <a:prstGeom prst="rect">
            <a:avLst/>
          </a:prstGeom>
          <a:noFill/>
        </p:spPr>
        <p:txBody>
          <a:bodyPr vert="horz" wrap="none" lIns="0" tIns="0" rIns="0" bIns="0" rtlCol="0">
            <a:spAutoFit/>
          </a:bodyPr>
          <a:lstStyle/>
          <a:p>
            <a:pPr>
              <a:lnSpc>
                <a:spcPts val="709"/>
              </a:lnSpc>
            </a:pPr>
            <a:r>
              <a:rPr lang="zh-CN" altLang="en-US" sz="1002" dirty="0">
                <a:solidFill>
                  <a:srgbClr val="FFFFFF"/>
                </a:solidFill>
                <a:latin typeface="Times New Roman"/>
              </a:rPr>
              <a:t>規</a:t>
            </a:r>
          </a:p>
        </p:txBody>
      </p:sp>
      <p:sp>
        <p:nvSpPr>
          <p:cNvPr id="9" name="TextBox 8"/>
          <p:cNvSpPr txBox="1"/>
          <p:nvPr/>
        </p:nvSpPr>
        <p:spPr>
          <a:xfrm>
            <a:off x="8720373" y="4170062"/>
            <a:ext cx="128240" cy="98745"/>
          </a:xfrm>
          <a:prstGeom prst="rect">
            <a:avLst/>
          </a:prstGeom>
          <a:noFill/>
        </p:spPr>
        <p:txBody>
          <a:bodyPr vert="horz" wrap="none" lIns="0" tIns="0" rIns="0" bIns="0" rtlCol="0">
            <a:spAutoFit/>
          </a:bodyPr>
          <a:lstStyle/>
          <a:p>
            <a:pPr>
              <a:lnSpc>
                <a:spcPts val="709"/>
              </a:lnSpc>
            </a:pPr>
            <a:r>
              <a:rPr lang="zh-CN" altLang="en-US" sz="1002" dirty="0">
                <a:solidFill>
                  <a:srgbClr val="FFFFFF"/>
                </a:solidFill>
                <a:latin typeface="Times New Roman"/>
              </a:rPr>
              <a:t>性</a:t>
            </a:r>
          </a:p>
        </p:txBody>
      </p:sp>
      <p:sp>
        <p:nvSpPr>
          <p:cNvPr id="10" name="TextBox 9"/>
          <p:cNvSpPr txBox="1"/>
          <p:nvPr/>
        </p:nvSpPr>
        <p:spPr>
          <a:xfrm>
            <a:off x="587134" y="2697667"/>
            <a:ext cx="174728" cy="224420"/>
          </a:xfrm>
          <a:prstGeom prst="rect">
            <a:avLst/>
          </a:prstGeom>
          <a:noFill/>
        </p:spPr>
        <p:txBody>
          <a:bodyPr vert="horz" wrap="none" lIns="0" tIns="0" rIns="0" bIns="0" rtlCol="0">
            <a:spAutoFit/>
          </a:bodyPr>
          <a:lstStyle/>
          <a:p>
            <a:pPr>
              <a:lnSpc>
                <a:spcPts val="1665"/>
              </a:lnSpc>
            </a:pPr>
            <a:r>
              <a:rPr lang="en-US" altLang="zh-CN" dirty="0">
                <a:solidFill>
                  <a:srgbClr val="000000"/>
                </a:solidFill>
                <a:latin typeface="Times New Roman"/>
              </a:rPr>
              <a:t>1.</a:t>
            </a:r>
            <a:endParaRPr lang="zh-CN" altLang="en-US" dirty="0">
              <a:solidFill>
                <a:srgbClr val="000000"/>
              </a:solidFill>
              <a:latin typeface="Times New Roman"/>
            </a:endParaRPr>
          </a:p>
        </p:txBody>
      </p:sp>
      <p:sp>
        <p:nvSpPr>
          <p:cNvPr id="11" name="TextBox 10"/>
          <p:cNvSpPr txBox="1"/>
          <p:nvPr/>
        </p:nvSpPr>
        <p:spPr>
          <a:xfrm>
            <a:off x="587134" y="3232592"/>
            <a:ext cx="174728" cy="224420"/>
          </a:xfrm>
          <a:prstGeom prst="rect">
            <a:avLst/>
          </a:prstGeom>
          <a:noFill/>
        </p:spPr>
        <p:txBody>
          <a:bodyPr vert="horz" wrap="none" lIns="0" tIns="0" rIns="0" bIns="0" rtlCol="0">
            <a:spAutoFit/>
          </a:bodyPr>
          <a:lstStyle/>
          <a:p>
            <a:pPr>
              <a:lnSpc>
                <a:spcPts val="1665"/>
              </a:lnSpc>
            </a:pPr>
            <a:r>
              <a:rPr lang="en-US" altLang="zh-CN" dirty="0">
                <a:solidFill>
                  <a:srgbClr val="000000"/>
                </a:solidFill>
                <a:latin typeface="Times New Roman"/>
              </a:rPr>
              <a:t>2.</a:t>
            </a:r>
            <a:endParaRPr lang="zh-CN" altLang="en-US" dirty="0">
              <a:solidFill>
                <a:srgbClr val="000000"/>
              </a:solidFill>
              <a:latin typeface="Times New Roman"/>
            </a:endParaRPr>
          </a:p>
        </p:txBody>
      </p:sp>
      <p:sp>
        <p:nvSpPr>
          <p:cNvPr id="12" name="TextBox 11"/>
          <p:cNvSpPr txBox="1"/>
          <p:nvPr/>
        </p:nvSpPr>
        <p:spPr>
          <a:xfrm>
            <a:off x="509403" y="6341571"/>
            <a:ext cx="144270" cy="133370"/>
          </a:xfrm>
          <a:prstGeom prst="rect">
            <a:avLst/>
          </a:prstGeom>
          <a:noFill/>
        </p:spPr>
        <p:txBody>
          <a:bodyPr vert="horz" wrap="none" lIns="0" tIns="0" rIns="0" bIns="0" rtlCol="0">
            <a:spAutoFit/>
          </a:bodyPr>
          <a:lstStyle/>
          <a:p>
            <a:pPr>
              <a:lnSpc>
                <a:spcPts val="1016"/>
              </a:lnSpc>
            </a:pPr>
            <a:r>
              <a:rPr lang="en-US" altLang="zh-CN" sz="1098" dirty="0">
                <a:solidFill>
                  <a:srgbClr val="761437"/>
                </a:solidFill>
                <a:latin typeface="Times New Roman"/>
              </a:rPr>
              <a:t>35</a:t>
            </a:r>
            <a:endParaRPr lang="zh-CN" altLang="en-US" sz="1098" dirty="0">
              <a:solidFill>
                <a:srgbClr val="761437"/>
              </a:solidFill>
              <a:latin typeface="Times New Roman"/>
            </a:endParaRPr>
          </a:p>
        </p:txBody>
      </p:sp>
      <p:sp>
        <p:nvSpPr>
          <p:cNvPr id="13" name="TextBox 12"/>
          <p:cNvSpPr txBox="1"/>
          <p:nvPr/>
        </p:nvSpPr>
        <p:spPr>
          <a:xfrm>
            <a:off x="509403" y="419038"/>
            <a:ext cx="8593699" cy="3052118"/>
          </a:xfrm>
          <a:prstGeom prst="rect">
            <a:avLst/>
          </a:prstGeom>
          <a:noFill/>
        </p:spPr>
        <p:txBody>
          <a:bodyPr vert="horz" wrap="none" lIns="0" tIns="0" rIns="0" bIns="0" rtlCol="0">
            <a:spAutoFit/>
          </a:bodyPr>
          <a:lstStyle/>
          <a:p>
            <a:pPr marL="0" marR="0" lvl="0" indent="0" defTabSz="914400" eaLnBrk="1" fontAlgn="auto" latinLnBrk="0" hangingPunct="1">
              <a:lnSpc>
                <a:spcPts val="3794"/>
              </a:lnSpc>
              <a:buClrTx/>
              <a:buSzTx/>
              <a:buNone/>
              <a:tabLst>
                <a:tab pos="317500" algn="l"/>
                <a:tab pos="533400" algn="l"/>
              </a:tabLst>
              <a:defRPr/>
            </a:pPr>
            <a:r>
              <a:rPr lang="zh-CN" altLang="en-US" dirty="0"/>
              <a:t>	</a:t>
            </a:r>
            <a:r>
              <a:rPr lang="zh-CN" altLang="en-US" sz="3798" dirty="0">
                <a:solidFill>
                  <a:srgbClr val="FFFFFF"/>
                </a:solidFill>
                <a:latin typeface="Times New Roman"/>
              </a:rPr>
              <a:t>控制活動</a:t>
            </a:r>
          </a:p>
          <a:p>
            <a:pPr marL="0" marR="0" lvl="0" indent="0" defTabSz="914400" eaLnBrk="1" fontAlgn="auto" latinLnBrk="0" hangingPunct="1">
              <a:lnSpc>
                <a:spcPts val="1000"/>
              </a:lnSpc>
              <a:buClrTx/>
              <a:buSzTx/>
              <a:buNone/>
              <a:tabLst>
                <a:tab pos="317500" algn="l"/>
                <a:tab pos="533400" algn="l"/>
              </a:tabLst>
              <a:defRPr/>
            </a:pPr>
            <a:endParaRPr lang="zh-CN" altLang="en-US" sz="3798" dirty="0">
              <a:solidFill>
                <a:srgbClr val="FFFFFF"/>
              </a:solidFill>
              <a:latin typeface="Times New Roman"/>
            </a:endParaRPr>
          </a:p>
          <a:p>
            <a:pPr marL="0" marR="0" lvl="0" indent="0" defTabSz="914400" eaLnBrk="1" fontAlgn="auto" latinLnBrk="0" hangingPunct="1">
              <a:lnSpc>
                <a:spcPts val="1000"/>
              </a:lnSpc>
              <a:buClrTx/>
              <a:buSzTx/>
              <a:buNone/>
              <a:tabLst>
                <a:tab pos="317500" algn="l"/>
                <a:tab pos="533400" algn="l"/>
              </a:tabLst>
              <a:defRPr/>
            </a:pPr>
            <a:endParaRPr lang="zh-CN" altLang="en-US" sz="3798" dirty="0">
              <a:solidFill>
                <a:srgbClr val="FFFFFF"/>
              </a:solidFill>
              <a:latin typeface="Times New Roman"/>
            </a:endParaRPr>
          </a:p>
          <a:p>
            <a:pPr marL="0" marR="0" lvl="0" indent="0" defTabSz="914400" eaLnBrk="1" fontAlgn="auto" latinLnBrk="0" hangingPunct="1">
              <a:lnSpc>
                <a:spcPts val="1000"/>
              </a:lnSpc>
              <a:buClrTx/>
              <a:buSzTx/>
              <a:buNone/>
              <a:tabLst>
                <a:tab pos="317500" algn="l"/>
                <a:tab pos="533400" algn="l"/>
              </a:tabLst>
              <a:defRPr/>
            </a:pPr>
            <a:endParaRPr lang="zh-CN" altLang="en-US" sz="3798" dirty="0">
              <a:solidFill>
                <a:srgbClr val="FFFFFF"/>
              </a:solidFill>
              <a:latin typeface="Times New Roman"/>
            </a:endParaRPr>
          </a:p>
          <a:p>
            <a:pPr marL="0" marR="0" lvl="0" indent="0" defTabSz="914400" eaLnBrk="1" fontAlgn="auto" latinLnBrk="0" hangingPunct="1">
              <a:lnSpc>
                <a:spcPts val="1000"/>
              </a:lnSpc>
              <a:buClrTx/>
              <a:buSzTx/>
              <a:buNone/>
              <a:tabLst>
                <a:tab pos="317500" algn="l"/>
                <a:tab pos="533400" algn="l"/>
              </a:tabLst>
              <a:defRPr/>
            </a:pPr>
            <a:endParaRPr lang="zh-CN" altLang="en-US" sz="3798" dirty="0">
              <a:solidFill>
                <a:srgbClr val="FFFFFF"/>
              </a:solidFill>
              <a:latin typeface="Times New Roman"/>
            </a:endParaRPr>
          </a:p>
          <a:p>
            <a:pPr marL="0" marR="0" lvl="0" indent="0" defTabSz="914400" eaLnBrk="1" fontAlgn="auto" latinLnBrk="0" hangingPunct="1">
              <a:lnSpc>
                <a:spcPts val="1000"/>
              </a:lnSpc>
              <a:buClrTx/>
              <a:buSzTx/>
              <a:buNone/>
              <a:tabLst>
                <a:tab pos="317500" algn="l"/>
                <a:tab pos="533400" algn="l"/>
              </a:tabLst>
              <a:defRPr/>
            </a:pPr>
            <a:endParaRPr lang="zh-CN" altLang="en-US" sz="3798" dirty="0">
              <a:solidFill>
                <a:srgbClr val="FFFFFF"/>
              </a:solidFill>
              <a:latin typeface="Times New Roman"/>
            </a:endParaRPr>
          </a:p>
          <a:p>
            <a:pPr marL="0" marR="0" lvl="0" indent="0" defTabSz="914400" eaLnBrk="1" fontAlgn="auto" latinLnBrk="0" hangingPunct="1">
              <a:lnSpc>
                <a:spcPts val="1000"/>
              </a:lnSpc>
              <a:buClrTx/>
              <a:buSzTx/>
              <a:buNone/>
              <a:tabLst>
                <a:tab pos="317500" algn="l"/>
                <a:tab pos="533400" algn="l"/>
              </a:tabLst>
              <a:defRPr/>
            </a:pPr>
            <a:endParaRPr lang="zh-CN" altLang="en-US" sz="3798" dirty="0">
              <a:solidFill>
                <a:srgbClr val="FFFFFF"/>
              </a:solidFill>
              <a:latin typeface="Times New Roman"/>
            </a:endParaRPr>
          </a:p>
          <a:p>
            <a:pPr marL="0" marR="0" lvl="0" indent="0" defTabSz="914400" eaLnBrk="1" fontAlgn="auto" latinLnBrk="0" hangingPunct="1">
              <a:lnSpc>
                <a:spcPts val="1940"/>
              </a:lnSpc>
              <a:buClrTx/>
              <a:buSzTx/>
              <a:buNone/>
              <a:tabLst>
                <a:tab pos="317500" algn="l"/>
                <a:tab pos="533400" algn="l"/>
              </a:tabLst>
              <a:defRPr/>
            </a:pPr>
            <a:r>
              <a:rPr lang="zh-CN" altLang="en-US" dirty="0">
                <a:solidFill>
                  <a:srgbClr val="000000"/>
                </a:solidFill>
                <a:latin typeface="Times New Roman"/>
              </a:rPr>
              <a:t>控制活動包括很多政策和相關的實施程式，以保證管理層的決策得到有效執行。 它們</a:t>
            </a:r>
          </a:p>
          <a:p>
            <a:pPr marL="0" marR="0" lvl="0" indent="0" defTabSz="914400" eaLnBrk="1" fontAlgn="auto" latinLnBrk="0" hangingPunct="1">
              <a:lnSpc>
                <a:spcPts val="2166"/>
              </a:lnSpc>
              <a:buClrTx/>
              <a:buSzTx/>
              <a:buNone/>
              <a:tabLst>
                <a:tab pos="317500" algn="l"/>
                <a:tab pos="533400" algn="l"/>
              </a:tabLst>
              <a:defRPr/>
            </a:pPr>
            <a:r>
              <a:rPr lang="zh-CN" altLang="en-US" dirty="0">
                <a:solidFill>
                  <a:srgbClr val="000000"/>
                </a:solidFill>
                <a:latin typeface="Times New Roman"/>
              </a:rPr>
              <a:t>可以協助保證那些與影響企業目標實現的風險相關的措施得到實施。</a:t>
            </a:r>
          </a:p>
          <a:p>
            <a:pPr marL="0" marR="0" lvl="0" indent="0" defTabSz="914400" eaLnBrk="1" fontAlgn="auto" latinLnBrk="0" hangingPunct="1">
              <a:lnSpc>
                <a:spcPts val="1000"/>
              </a:lnSpc>
              <a:buClrTx/>
              <a:buSzTx/>
              <a:buNone/>
              <a:tabLst>
                <a:tab pos="317500" algn="l"/>
                <a:tab pos="533400" algn="l"/>
              </a:tabLst>
              <a:defRPr/>
            </a:pPr>
            <a:endParaRPr lang="zh-CN" altLang="en-US" dirty="0">
              <a:solidFill>
                <a:srgbClr val="000000"/>
              </a:solidFill>
              <a:latin typeface="Times New Roman"/>
            </a:endParaRPr>
          </a:p>
          <a:p>
            <a:pPr marL="0" marR="0" lvl="0" indent="0" defTabSz="914400" eaLnBrk="1" fontAlgn="auto" latinLnBrk="0" hangingPunct="1">
              <a:lnSpc>
                <a:spcPts val="1000"/>
              </a:lnSpc>
              <a:buClrTx/>
              <a:buSzTx/>
              <a:buNone/>
              <a:tabLst>
                <a:tab pos="317500" algn="l"/>
                <a:tab pos="533400" algn="l"/>
              </a:tabLst>
              <a:defRPr/>
            </a:pPr>
            <a:endParaRPr lang="zh-CN" altLang="en-US" dirty="0">
              <a:solidFill>
                <a:srgbClr val="000000"/>
              </a:solidFill>
              <a:latin typeface="Times New Roman"/>
            </a:endParaRPr>
          </a:p>
          <a:p>
            <a:pPr marL="0" marR="0" lvl="0" indent="0" defTabSz="914400" eaLnBrk="1" fontAlgn="auto" latinLnBrk="0" hangingPunct="1">
              <a:lnSpc>
                <a:spcPts val="1000"/>
              </a:lnSpc>
              <a:buClrTx/>
              <a:buSzTx/>
              <a:buNone/>
              <a:tabLst>
                <a:tab pos="317500" algn="l"/>
                <a:tab pos="533400" algn="l"/>
              </a:tabLst>
              <a:defRPr/>
            </a:pPr>
            <a:endParaRPr lang="zh-CN" altLang="en-US" dirty="0">
              <a:solidFill>
                <a:srgbClr val="000000"/>
              </a:solidFill>
              <a:latin typeface="Times New Roman"/>
            </a:endParaRPr>
          </a:p>
          <a:p>
            <a:pPr marL="0" marR="0" lvl="0" indent="0" defTabSz="914400" eaLnBrk="1" fontAlgn="auto" latinLnBrk="0" hangingPunct="1">
              <a:lnSpc>
                <a:spcPts val="2586"/>
              </a:lnSpc>
              <a:buClrTx/>
              <a:buSzTx/>
              <a:buNone/>
              <a:tabLst>
                <a:tab pos="317500" algn="l"/>
                <a:tab pos="533400" algn="l"/>
              </a:tabLst>
              <a:defRPr/>
            </a:pPr>
            <a:r>
              <a:rPr lang="zh-CN" altLang="en-US" dirty="0">
                <a:solidFill>
                  <a:srgbClr val="000000"/>
                </a:solidFill>
                <a:latin typeface="Times New Roman"/>
              </a:rPr>
              <a:t>		針對企業的每一項業務活動都有必要和恰當的政策和程</a:t>
            </a:r>
          </a:p>
          <a:p>
            <a:pPr marL="0" marR="0" lvl="0" indent="0" defTabSz="914400" eaLnBrk="1" fontAlgn="auto" latinLnBrk="0" hangingPunct="1">
              <a:lnSpc>
                <a:spcPts val="2052"/>
              </a:lnSpc>
              <a:buClrTx/>
              <a:buSzTx/>
              <a:buNone/>
              <a:tabLst>
                <a:tab pos="317500" algn="l"/>
                <a:tab pos="533400" algn="l"/>
              </a:tabLst>
              <a:defRPr/>
            </a:pPr>
            <a:r>
              <a:rPr lang="zh-CN" altLang="en-US" dirty="0">
                <a:solidFill>
                  <a:srgbClr val="000000"/>
                </a:solidFill>
                <a:latin typeface="Times New Roman"/>
              </a:rPr>
              <a:t>		序。</a:t>
            </a:r>
          </a:p>
          <a:p>
            <a:pPr marL="0" marR="0" lvl="0" indent="0" defTabSz="914400" eaLnBrk="1" fontAlgn="auto" latinLnBrk="0" hangingPunct="1">
              <a:lnSpc>
                <a:spcPts val="2160"/>
              </a:lnSpc>
              <a:buClrTx/>
              <a:buSzTx/>
              <a:buNone/>
              <a:tabLst>
                <a:tab pos="317500" algn="l"/>
                <a:tab pos="533400" algn="l"/>
              </a:tabLst>
              <a:defRPr/>
            </a:pPr>
            <a:r>
              <a:rPr lang="zh-CN" altLang="en-US" dirty="0">
                <a:solidFill>
                  <a:srgbClr val="000000"/>
                </a:solidFill>
                <a:latin typeface="Times New Roman"/>
              </a:rPr>
              <a:t>		已確定的控制行為得到恰當的執行。</a:t>
            </a:r>
          </a:p>
        </p:txBody>
      </p:sp>
      <p:sp>
        <p:nvSpPr>
          <p:cNvPr id="14" name="TextBox 13"/>
          <p:cNvSpPr txBox="1"/>
          <p:nvPr/>
        </p:nvSpPr>
        <p:spPr>
          <a:xfrm>
            <a:off x="7387977" y="4312336"/>
            <a:ext cx="128240" cy="128240"/>
          </a:xfrm>
          <a:prstGeom prst="rect">
            <a:avLst/>
          </a:prstGeom>
          <a:noFill/>
        </p:spPr>
        <p:txBody>
          <a:bodyPr vert="horz" wrap="none" lIns="0" tIns="0" rIns="0" bIns="0" rtlCol="0">
            <a:spAutoFit/>
          </a:bodyPr>
          <a:lstStyle/>
          <a:p>
            <a:pPr>
              <a:lnSpc>
                <a:spcPts val="1001"/>
              </a:lnSpc>
            </a:pPr>
            <a:r>
              <a:rPr lang="zh-CN" altLang="en-US" sz="1002" dirty="0">
                <a:solidFill>
                  <a:srgbClr val="FFFFFF"/>
                </a:solidFill>
                <a:latin typeface="Times New Roman"/>
              </a:rPr>
              <a:t>營</a:t>
            </a:r>
          </a:p>
        </p:txBody>
      </p:sp>
      <p:sp>
        <p:nvSpPr>
          <p:cNvPr id="15" name="TextBox 14"/>
          <p:cNvSpPr txBox="1"/>
          <p:nvPr/>
        </p:nvSpPr>
        <p:spPr>
          <a:xfrm>
            <a:off x="7478660" y="4223182"/>
            <a:ext cx="128240" cy="128240"/>
          </a:xfrm>
          <a:prstGeom prst="rect">
            <a:avLst/>
          </a:prstGeom>
          <a:noFill/>
        </p:spPr>
        <p:txBody>
          <a:bodyPr vert="horz" wrap="none" lIns="0" tIns="0" rIns="0" bIns="0" rtlCol="0">
            <a:spAutoFit/>
          </a:bodyPr>
          <a:lstStyle/>
          <a:p>
            <a:pPr>
              <a:lnSpc>
                <a:spcPts val="1001"/>
              </a:lnSpc>
            </a:pPr>
            <a:r>
              <a:rPr lang="zh-CN" altLang="en-US" sz="1002" dirty="0">
                <a:solidFill>
                  <a:srgbClr val="FFFFFF"/>
                </a:solidFill>
                <a:latin typeface="Times New Roman"/>
              </a:rPr>
              <a:t>運</a:t>
            </a:r>
          </a:p>
        </p:txBody>
      </p:sp>
      <p:sp>
        <p:nvSpPr>
          <p:cNvPr id="16" name="TextBox 15"/>
          <p:cNvSpPr txBox="1"/>
          <p:nvPr/>
        </p:nvSpPr>
        <p:spPr>
          <a:xfrm>
            <a:off x="7584573" y="4732182"/>
            <a:ext cx="256480" cy="128240"/>
          </a:xfrm>
          <a:prstGeom prst="rect">
            <a:avLst/>
          </a:prstGeom>
          <a:noFill/>
        </p:spPr>
        <p:txBody>
          <a:bodyPr vert="horz" wrap="none" lIns="0" tIns="0" rIns="0" bIns="0" rtlCol="0">
            <a:spAutoFit/>
          </a:bodyPr>
          <a:lstStyle/>
          <a:p>
            <a:pPr>
              <a:lnSpc>
                <a:spcPts val="1001"/>
              </a:lnSpc>
            </a:pPr>
            <a:r>
              <a:rPr lang="zh-CN" altLang="en-US" sz="1002" dirty="0">
                <a:solidFill>
                  <a:srgbClr val="FFFFFF"/>
                </a:solidFill>
                <a:latin typeface="Times New Roman"/>
              </a:rPr>
              <a:t>監控</a:t>
            </a:r>
          </a:p>
        </p:txBody>
      </p:sp>
      <p:sp>
        <p:nvSpPr>
          <p:cNvPr id="17" name="TextBox 16"/>
          <p:cNvSpPr txBox="1"/>
          <p:nvPr/>
        </p:nvSpPr>
        <p:spPr>
          <a:xfrm>
            <a:off x="9087966" y="4643033"/>
            <a:ext cx="307777" cy="294953"/>
          </a:xfrm>
          <a:prstGeom prst="rect">
            <a:avLst/>
          </a:prstGeom>
          <a:noFill/>
        </p:spPr>
        <p:txBody>
          <a:bodyPr vert="horz" wrap="none" lIns="0" tIns="0" rIns="0" bIns="0" rtlCol="0">
            <a:spAutoFit/>
          </a:bodyPr>
          <a:lstStyle/>
          <a:p>
            <a:pPr marL="0" marR="0" lvl="0" indent="0" defTabSz="914400" eaLnBrk="1" fontAlgn="auto" latinLnBrk="0" hangingPunct="1">
              <a:lnSpc>
                <a:spcPts val="1001"/>
              </a:lnSpc>
              <a:buClrTx/>
              <a:buSzTx/>
              <a:buNone/>
              <a:tabLst>
                <a:tab pos="177800" algn="l"/>
              </a:tabLst>
              <a:defRPr/>
            </a:pPr>
            <a:r>
              <a:rPr lang="zh-CN" altLang="en-US" dirty="0"/>
              <a:t>	</a:t>
            </a:r>
            <a:r>
              <a:rPr lang="zh-CN" altLang="en-US" sz="1002" dirty="0">
                <a:solidFill>
                  <a:srgbClr val="FFFFFF"/>
                </a:solidFill>
                <a:latin typeface="Times New Roman"/>
              </a:rPr>
              <a:t>活</a:t>
            </a:r>
          </a:p>
          <a:p>
            <a:pPr marL="0" marR="0" lvl="0" indent="0" defTabSz="914400" eaLnBrk="1" fontAlgn="auto" latinLnBrk="0" hangingPunct="1">
              <a:lnSpc>
                <a:spcPts val="1284"/>
              </a:lnSpc>
              <a:buClrTx/>
              <a:buSzTx/>
              <a:buNone/>
              <a:tabLst>
                <a:tab pos="177800" algn="l"/>
              </a:tabLst>
              <a:defRPr/>
            </a:pPr>
            <a:r>
              <a:rPr lang="zh-CN" altLang="en-US" sz="1002" dirty="0">
                <a:solidFill>
                  <a:srgbClr val="FFFFFF"/>
                </a:solidFill>
                <a:latin typeface="Times New Roman"/>
              </a:rPr>
              <a:t>活 動</a:t>
            </a:r>
          </a:p>
        </p:txBody>
      </p:sp>
      <p:sp>
        <p:nvSpPr>
          <p:cNvPr id="18" name="TextBox 17"/>
          <p:cNvSpPr txBox="1"/>
          <p:nvPr/>
        </p:nvSpPr>
        <p:spPr>
          <a:xfrm>
            <a:off x="7392550" y="5056031"/>
            <a:ext cx="641201" cy="782265"/>
          </a:xfrm>
          <a:prstGeom prst="rect">
            <a:avLst/>
          </a:prstGeom>
          <a:noFill/>
        </p:spPr>
        <p:txBody>
          <a:bodyPr vert="horz" wrap="none" lIns="0" tIns="0" rIns="0" bIns="0" rtlCol="0">
            <a:spAutoFit/>
          </a:bodyPr>
          <a:lstStyle/>
          <a:p>
            <a:pPr marL="0" marR="0" lvl="0" indent="0" defTabSz="914400" eaLnBrk="1" fontAlgn="auto" latinLnBrk="0" hangingPunct="1">
              <a:lnSpc>
                <a:spcPts val="1001"/>
              </a:lnSpc>
              <a:buClrTx/>
              <a:buSzTx/>
              <a:buNone/>
              <a:tabLst>
                <a:tab pos="63500" algn="l"/>
              </a:tabLst>
              <a:defRPr/>
            </a:pPr>
            <a:r>
              <a:rPr lang="zh-CN" altLang="en-US" sz="1002" dirty="0">
                <a:solidFill>
                  <a:srgbClr val="FFFFFF"/>
                </a:solidFill>
                <a:latin typeface="Times New Roman"/>
              </a:rPr>
              <a:t>資訊和溝通</a:t>
            </a:r>
          </a:p>
          <a:p>
            <a:pPr marL="0" marR="0" lvl="0" indent="0" defTabSz="914400" eaLnBrk="1" fontAlgn="auto" latinLnBrk="0" hangingPunct="1">
              <a:lnSpc>
                <a:spcPts val="1000"/>
              </a:lnSpc>
              <a:buClrTx/>
              <a:buSzTx/>
              <a:buNone/>
              <a:tabLst>
                <a:tab pos="63500" algn="l"/>
              </a:tabLst>
              <a:defRPr/>
            </a:pPr>
            <a:endParaRPr lang="zh-CN" altLang="en-US" sz="1002" dirty="0">
              <a:solidFill>
                <a:srgbClr val="FFFFFF"/>
              </a:solidFill>
              <a:latin typeface="Times New Roman"/>
            </a:endParaRPr>
          </a:p>
          <a:p>
            <a:pPr marL="0" marR="0" lvl="0" indent="0" defTabSz="914400" eaLnBrk="1" fontAlgn="auto" latinLnBrk="0" hangingPunct="1">
              <a:lnSpc>
                <a:spcPts val="1466"/>
              </a:lnSpc>
              <a:buClrTx/>
              <a:buSzTx/>
              <a:buNone/>
              <a:tabLst>
                <a:tab pos="63500" algn="l"/>
              </a:tabLst>
              <a:defRPr/>
            </a:pPr>
            <a:r>
              <a:rPr lang="zh-CN" altLang="en-US" sz="1002" dirty="0">
                <a:solidFill>
                  <a:srgbClr val="FFFFFF"/>
                </a:solidFill>
                <a:latin typeface="Times New Roman"/>
              </a:rPr>
              <a:t>	控制活動</a:t>
            </a:r>
          </a:p>
          <a:p>
            <a:pPr marL="0" marR="0" lvl="0" indent="0" defTabSz="914400" eaLnBrk="1" fontAlgn="auto" latinLnBrk="0" hangingPunct="1">
              <a:lnSpc>
                <a:spcPts val="1000"/>
              </a:lnSpc>
              <a:buClrTx/>
              <a:buSzTx/>
              <a:buNone/>
              <a:tabLst>
                <a:tab pos="63500" algn="l"/>
              </a:tabLst>
              <a:defRPr/>
            </a:pPr>
            <a:endParaRPr lang="zh-CN" altLang="en-US" sz="1002" dirty="0">
              <a:solidFill>
                <a:srgbClr val="FFFFFF"/>
              </a:solidFill>
              <a:latin typeface="Times New Roman"/>
            </a:endParaRPr>
          </a:p>
          <a:p>
            <a:pPr marL="0" marR="0" lvl="0" indent="0" defTabSz="914400" eaLnBrk="1" fontAlgn="auto" latinLnBrk="0" hangingPunct="1">
              <a:lnSpc>
                <a:spcPts val="1646"/>
              </a:lnSpc>
              <a:buClrTx/>
              <a:buSzTx/>
              <a:buNone/>
              <a:tabLst>
                <a:tab pos="63500" algn="l"/>
              </a:tabLst>
              <a:defRPr/>
            </a:pPr>
            <a:r>
              <a:rPr lang="zh-CN" altLang="en-US" sz="1002" dirty="0">
                <a:solidFill>
                  <a:srgbClr val="FFFFFF"/>
                </a:solidFill>
                <a:latin typeface="Times New Roman"/>
              </a:rPr>
              <a:t>	風險評估</a:t>
            </a:r>
          </a:p>
        </p:txBody>
      </p:sp>
      <p:sp>
        <p:nvSpPr>
          <p:cNvPr id="19" name="TextBox 18"/>
          <p:cNvSpPr txBox="1"/>
          <p:nvPr/>
        </p:nvSpPr>
        <p:spPr>
          <a:xfrm>
            <a:off x="8750433" y="5104819"/>
            <a:ext cx="128240" cy="743793"/>
          </a:xfrm>
          <a:prstGeom prst="rect">
            <a:avLst/>
          </a:prstGeom>
          <a:noFill/>
        </p:spPr>
        <p:txBody>
          <a:bodyPr vert="horz" wrap="none" lIns="0" tIns="0" rIns="0" bIns="0" rtlCol="0">
            <a:spAutoFit/>
          </a:bodyPr>
          <a:lstStyle/>
          <a:p>
            <a:pPr>
              <a:lnSpc>
                <a:spcPts val="1001"/>
              </a:lnSpc>
            </a:pPr>
            <a:r>
              <a:rPr lang="zh-CN" altLang="en-US" sz="1002" dirty="0">
                <a:solidFill>
                  <a:srgbClr val="FFFFFF"/>
                </a:solidFill>
                <a:latin typeface="Times New Roman"/>
              </a:rPr>
              <a:t>業</a:t>
            </a:r>
          </a:p>
          <a:p>
            <a:pPr>
              <a:lnSpc>
                <a:spcPts val="1200"/>
              </a:lnSpc>
            </a:pPr>
            <a:r>
              <a:rPr lang="zh-CN" altLang="en-US" sz="1002" dirty="0">
                <a:solidFill>
                  <a:srgbClr val="FFFFFF"/>
                </a:solidFill>
                <a:latin typeface="Times New Roman"/>
              </a:rPr>
              <a:t>務</a:t>
            </a:r>
          </a:p>
          <a:p>
            <a:pPr>
              <a:lnSpc>
                <a:spcPts val="1200"/>
              </a:lnSpc>
            </a:pPr>
            <a:r>
              <a:rPr lang="zh-CN" altLang="en-US" sz="1002" dirty="0">
                <a:solidFill>
                  <a:srgbClr val="FFFFFF"/>
                </a:solidFill>
                <a:latin typeface="Times New Roman"/>
              </a:rPr>
              <a:t>單</a:t>
            </a:r>
          </a:p>
          <a:p>
            <a:pPr>
              <a:lnSpc>
                <a:spcPts val="1200"/>
              </a:lnSpc>
            </a:pPr>
            <a:r>
              <a:rPr lang="zh-CN" altLang="en-US" sz="1002" dirty="0">
                <a:solidFill>
                  <a:srgbClr val="FFFFFF"/>
                </a:solidFill>
                <a:latin typeface="Times New Roman"/>
              </a:rPr>
              <a:t>位</a:t>
            </a:r>
          </a:p>
          <a:p>
            <a:pPr>
              <a:lnSpc>
                <a:spcPts val="1193"/>
              </a:lnSpc>
            </a:pPr>
            <a:r>
              <a:rPr lang="en-US" altLang="zh-CN" sz="1002" b="1" dirty="0">
                <a:solidFill>
                  <a:srgbClr val="FFFFFF"/>
                </a:solidFill>
                <a:latin typeface="Times New Roman"/>
              </a:rPr>
              <a:t>A</a:t>
            </a:r>
            <a:endParaRPr lang="zh-CN" altLang="en-US" sz="1002" b="1" dirty="0">
              <a:solidFill>
                <a:srgbClr val="FFFFFF"/>
              </a:solidFill>
              <a:latin typeface="Times New Roman"/>
            </a:endParaRPr>
          </a:p>
        </p:txBody>
      </p:sp>
      <p:sp>
        <p:nvSpPr>
          <p:cNvPr id="20" name="TextBox 19"/>
          <p:cNvSpPr txBox="1"/>
          <p:nvPr/>
        </p:nvSpPr>
        <p:spPr>
          <a:xfrm>
            <a:off x="8921868" y="4953931"/>
            <a:ext cx="384721" cy="743793"/>
          </a:xfrm>
          <a:prstGeom prst="rect">
            <a:avLst/>
          </a:prstGeom>
          <a:noFill/>
        </p:spPr>
        <p:txBody>
          <a:bodyPr vert="horz" wrap="none" lIns="0" tIns="0" rIns="0" bIns="0" rtlCol="0">
            <a:spAutoFit/>
          </a:bodyPr>
          <a:lstStyle/>
          <a:p>
            <a:pPr marL="0" marR="0" lvl="0" indent="0" defTabSz="914400" eaLnBrk="1" fontAlgn="auto" latinLnBrk="0" hangingPunct="1">
              <a:lnSpc>
                <a:spcPts val="1037"/>
              </a:lnSpc>
              <a:buClrTx/>
              <a:buSzTx/>
              <a:buNone/>
              <a:tabLst>
                <a:tab pos="25400" algn="l"/>
              </a:tabLst>
              <a:defRPr/>
            </a:pPr>
            <a:r>
              <a:rPr lang="zh-CN" altLang="en-US" sz="1002" dirty="0">
                <a:solidFill>
                  <a:srgbClr val="FFFFFF"/>
                </a:solidFill>
                <a:latin typeface="Times New Roman"/>
              </a:rPr>
              <a:t>業 動 </a:t>
            </a:r>
            <a:r>
              <a:rPr lang="en-US" altLang="zh-CN" sz="1002" b="1" dirty="0">
                <a:solidFill>
                  <a:srgbClr val="FFFFFF"/>
                </a:solidFill>
                <a:latin typeface="Times New Roman"/>
              </a:rPr>
              <a:t>2</a:t>
            </a:r>
          </a:p>
          <a:p>
            <a:pPr marL="0" marR="0" lvl="0" indent="0" defTabSz="914400" eaLnBrk="1" fontAlgn="auto" latinLnBrk="0" hangingPunct="1">
              <a:lnSpc>
                <a:spcPts val="1193"/>
              </a:lnSpc>
              <a:buClrTx/>
              <a:buSzTx/>
              <a:buNone/>
              <a:tabLst>
                <a:tab pos="25400" algn="l"/>
              </a:tabLst>
              <a:defRPr/>
            </a:pPr>
            <a:r>
              <a:rPr lang="zh-CN" altLang="en-US" sz="1002" dirty="0">
                <a:solidFill>
                  <a:srgbClr val="FFFFFF"/>
                </a:solidFill>
                <a:latin typeface="Times New Roman"/>
              </a:rPr>
              <a:t>務 </a:t>
            </a:r>
            <a:r>
              <a:rPr lang="en-US" altLang="zh-CN" sz="1002" b="1" dirty="0">
                <a:solidFill>
                  <a:srgbClr val="FFFFFF"/>
                </a:solidFill>
                <a:latin typeface="Times New Roman"/>
              </a:rPr>
              <a:t>1</a:t>
            </a:r>
          </a:p>
          <a:p>
            <a:pPr marL="0" marR="0" lvl="0" indent="0" defTabSz="914400" eaLnBrk="1" fontAlgn="auto" latinLnBrk="0" hangingPunct="1">
              <a:lnSpc>
                <a:spcPts val="1171"/>
              </a:lnSpc>
              <a:buClrTx/>
              <a:buSzTx/>
              <a:buNone/>
              <a:tabLst>
                <a:tab pos="25400" algn="l"/>
              </a:tabLst>
              <a:defRPr/>
            </a:pPr>
            <a:r>
              <a:rPr lang="zh-CN" altLang="en-US" sz="1002" dirty="0">
                <a:solidFill>
                  <a:srgbClr val="FFFFFF"/>
                </a:solidFill>
                <a:latin typeface="Times New Roman"/>
              </a:rPr>
              <a:t>單</a:t>
            </a:r>
          </a:p>
          <a:p>
            <a:pPr marL="0" marR="0" lvl="0" indent="0" defTabSz="914400" eaLnBrk="1" fontAlgn="auto" latinLnBrk="0" hangingPunct="1">
              <a:lnSpc>
                <a:spcPts val="1200"/>
              </a:lnSpc>
              <a:buClrTx/>
              <a:buSzTx/>
              <a:buNone/>
              <a:tabLst>
                <a:tab pos="25400" algn="l"/>
              </a:tabLst>
              <a:defRPr/>
            </a:pPr>
            <a:r>
              <a:rPr lang="zh-CN" altLang="en-US" sz="1002" dirty="0">
                <a:solidFill>
                  <a:srgbClr val="FFFFFF"/>
                </a:solidFill>
                <a:latin typeface="Times New Roman"/>
              </a:rPr>
              <a:t>位</a:t>
            </a:r>
          </a:p>
          <a:p>
            <a:pPr marL="0" marR="0" lvl="0" indent="0" defTabSz="914400" eaLnBrk="1" fontAlgn="auto" latinLnBrk="0" hangingPunct="1">
              <a:lnSpc>
                <a:spcPts val="1193"/>
              </a:lnSpc>
              <a:buClrTx/>
              <a:buSzTx/>
              <a:buNone/>
              <a:tabLst>
                <a:tab pos="25400" algn="l"/>
              </a:tabLst>
              <a:defRPr/>
            </a:pPr>
            <a:r>
              <a:rPr lang="zh-CN" altLang="en-US" sz="1002" dirty="0">
                <a:solidFill>
                  <a:srgbClr val="FFFFFF"/>
                </a:solidFill>
                <a:latin typeface="Times New Roman"/>
              </a:rPr>
              <a:t>	</a:t>
            </a:r>
            <a:r>
              <a:rPr lang="en-US" altLang="zh-CN" sz="1002" b="1" dirty="0">
                <a:solidFill>
                  <a:srgbClr val="FFFFFF"/>
                </a:solidFill>
                <a:latin typeface="Times New Roman"/>
              </a:rPr>
              <a:t>B</a:t>
            </a:r>
            <a:endParaRPr lang="zh-CN" altLang="en-US" sz="1002" b="1" dirty="0">
              <a:solidFill>
                <a:srgbClr val="FFFFFF"/>
              </a:solidFill>
              <a:latin typeface="Times New Roman"/>
            </a:endParaRPr>
          </a:p>
        </p:txBody>
      </p:sp>
      <p:sp>
        <p:nvSpPr>
          <p:cNvPr id="21" name="TextBox 20"/>
          <p:cNvSpPr txBox="1"/>
          <p:nvPr/>
        </p:nvSpPr>
        <p:spPr>
          <a:xfrm>
            <a:off x="7455794" y="6043586"/>
            <a:ext cx="2093522" cy="705321"/>
          </a:xfrm>
          <a:prstGeom prst="rect">
            <a:avLst/>
          </a:prstGeom>
          <a:noFill/>
        </p:spPr>
        <p:txBody>
          <a:bodyPr vert="horz" wrap="none" lIns="0" tIns="0" rIns="0" bIns="0" rtlCol="0">
            <a:spAutoFit/>
          </a:bodyPr>
          <a:lstStyle/>
          <a:p>
            <a:pPr marL="0" marR="0" lvl="0" indent="0" defTabSz="914400" eaLnBrk="1" fontAlgn="auto" latinLnBrk="0" hangingPunct="1">
              <a:lnSpc>
                <a:spcPts val="1001"/>
              </a:lnSpc>
              <a:buClrTx/>
              <a:buSzTx/>
              <a:buNone/>
              <a:tabLst>
                <a:tab pos="609600" algn="l"/>
              </a:tabLst>
              <a:defRPr/>
            </a:pPr>
            <a:r>
              <a:rPr lang="zh-CN" altLang="en-US" sz="1002" dirty="0">
                <a:solidFill>
                  <a:srgbClr val="FFFFFF"/>
                </a:solidFill>
                <a:latin typeface="Times New Roman"/>
              </a:rPr>
              <a:t>控制環境</a:t>
            </a:r>
          </a:p>
          <a:p>
            <a:pPr marL="0" marR="0" lvl="0" indent="0" defTabSz="914400" eaLnBrk="1" fontAlgn="auto" latinLnBrk="0" hangingPunct="1">
              <a:lnSpc>
                <a:spcPts val="2704"/>
              </a:lnSpc>
              <a:buClrTx/>
              <a:buSzTx/>
              <a:buNone/>
              <a:tabLst>
                <a:tab pos="609600" algn="l"/>
              </a:tabLst>
              <a:defRPr/>
            </a:pPr>
            <a:r>
              <a:rPr lang="zh-CN" altLang="en-US" sz="1002" dirty="0">
                <a:solidFill>
                  <a:srgbClr val="FFFFFF"/>
                </a:solidFill>
                <a:latin typeface="Times New Roman"/>
              </a:rPr>
              <a:t>	</a:t>
            </a:r>
            <a:r>
              <a:rPr lang="en-US" altLang="zh-CN" dirty="0" err="1">
                <a:solidFill>
                  <a:srgbClr val="000000"/>
                </a:solidFill>
                <a:latin typeface="Times New Roman"/>
              </a:rPr>
              <a:t>Pwc</a:t>
            </a:r>
            <a:endParaRPr lang="en-US" altLang="zh-CN" dirty="0">
              <a:solidFill>
                <a:srgbClr val="000000"/>
              </a:solidFill>
              <a:latin typeface="Times New Roman"/>
            </a:endParaRPr>
          </a:p>
          <a:p>
            <a:pPr marL="0" marR="0" lvl="0" indent="0" defTabSz="914400" eaLnBrk="1" fontAlgn="auto" latinLnBrk="0" hangingPunct="1">
              <a:lnSpc>
                <a:spcPts val="1779"/>
              </a:lnSpc>
              <a:buClrTx/>
              <a:buSzTx/>
              <a:buNone/>
              <a:tabLst>
                <a:tab pos="609600" algn="l"/>
              </a:tabLst>
              <a:defRPr/>
            </a:pPr>
            <a:r>
              <a:rPr lang="en-US" altLang="zh-CN" dirty="0">
                <a:solidFill>
                  <a:srgbClr val="000000"/>
                </a:solidFill>
                <a:latin typeface="Times New Roman"/>
              </a:rPr>
              <a:t>	</a:t>
            </a:r>
            <a:r>
              <a:rPr lang="zh-CN" altLang="en-US" sz="1478" dirty="0">
                <a:solidFill>
                  <a:srgbClr val="000000"/>
                </a:solidFill>
                <a:latin typeface="Times New Roman"/>
              </a:rPr>
              <a:t>普     華     永     道</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myslide36">
    <p:spTree>
      <p:nvGrpSpPr>
        <p:cNvPr id="1" name=""/>
        <p:cNvGrpSpPr/>
        <p:nvPr/>
      </p:nvGrpSpPr>
      <p:grpSpPr>
        <a:xfrm>
          <a:off x="0" y="0"/>
          <a:ext cx="0" cy="0"/>
          <a:chOff x="0" y="0"/>
          <a:chExt cx="0" cy="0"/>
        </a:xfrm>
      </p:grpSpPr>
      <p:pic>
        <p:nvPicPr>
          <p:cNvPr id="2" name="图片 1" descr="ws_1C9.tmp"/>
          <p:cNvPicPr>
            <a:picLocks/>
          </p:cNvPicPr>
          <p:nvPr/>
        </p:nvPicPr>
        <p:blipFill>
          <a:blip r:embed="rId2"/>
          <a:stretch>
            <a:fillRect/>
          </a:stretch>
        </p:blipFill>
        <p:spPr>
          <a:xfrm>
            <a:off x="0" y="0"/>
            <a:ext cx="9880600" cy="6819900"/>
          </a:xfrm>
          <a:prstGeom prst="rect">
            <a:avLst/>
          </a:prstGeom>
        </p:spPr>
      </p:pic>
      <p:sp>
        <p:nvSpPr>
          <p:cNvPr id="3" name="TextBox 2"/>
          <p:cNvSpPr txBox="1"/>
          <p:nvPr/>
        </p:nvSpPr>
        <p:spPr>
          <a:xfrm>
            <a:off x="8107722" y="4610506"/>
            <a:ext cx="128240" cy="98745"/>
          </a:xfrm>
          <a:prstGeom prst="rect">
            <a:avLst/>
          </a:prstGeom>
          <a:noFill/>
        </p:spPr>
        <p:txBody>
          <a:bodyPr vert="horz" wrap="none" lIns="0" tIns="0" rIns="0" bIns="0" rtlCol="0">
            <a:spAutoFit/>
          </a:bodyPr>
          <a:lstStyle/>
          <a:p>
            <a:pPr>
              <a:lnSpc>
                <a:spcPts val="709"/>
              </a:lnSpc>
            </a:pPr>
            <a:r>
              <a:rPr lang="zh-CN" altLang="en-US" sz="1002" dirty="0">
                <a:solidFill>
                  <a:srgbClr val="FFFFFF"/>
                </a:solidFill>
                <a:latin typeface="Times New Roman"/>
              </a:rPr>
              <a:t>財</a:t>
            </a:r>
          </a:p>
        </p:txBody>
      </p:sp>
      <p:sp>
        <p:nvSpPr>
          <p:cNvPr id="4" name="TextBox 3"/>
          <p:cNvSpPr txBox="1"/>
          <p:nvPr/>
        </p:nvSpPr>
        <p:spPr>
          <a:xfrm>
            <a:off x="8197640" y="4520587"/>
            <a:ext cx="128240" cy="98745"/>
          </a:xfrm>
          <a:prstGeom prst="rect">
            <a:avLst/>
          </a:prstGeom>
          <a:noFill/>
        </p:spPr>
        <p:txBody>
          <a:bodyPr vert="horz" wrap="none" lIns="0" tIns="0" rIns="0" bIns="0" rtlCol="0">
            <a:spAutoFit/>
          </a:bodyPr>
          <a:lstStyle/>
          <a:p>
            <a:pPr>
              <a:lnSpc>
                <a:spcPts val="709"/>
              </a:lnSpc>
            </a:pPr>
            <a:r>
              <a:rPr lang="zh-CN" altLang="en-US" sz="1002" dirty="0">
                <a:solidFill>
                  <a:srgbClr val="FFFFFF"/>
                </a:solidFill>
                <a:latin typeface="Times New Roman"/>
              </a:rPr>
              <a:t>務</a:t>
            </a:r>
          </a:p>
        </p:txBody>
      </p:sp>
      <p:sp>
        <p:nvSpPr>
          <p:cNvPr id="5" name="TextBox 4"/>
          <p:cNvSpPr txBox="1"/>
          <p:nvPr/>
        </p:nvSpPr>
        <p:spPr>
          <a:xfrm>
            <a:off x="8287559" y="4430669"/>
            <a:ext cx="128240" cy="98745"/>
          </a:xfrm>
          <a:prstGeom prst="rect">
            <a:avLst/>
          </a:prstGeom>
          <a:noFill/>
        </p:spPr>
        <p:txBody>
          <a:bodyPr vert="horz" wrap="none" lIns="0" tIns="0" rIns="0" bIns="0" rtlCol="0">
            <a:spAutoFit/>
          </a:bodyPr>
          <a:lstStyle/>
          <a:p>
            <a:pPr>
              <a:lnSpc>
                <a:spcPts val="709"/>
              </a:lnSpc>
            </a:pPr>
            <a:r>
              <a:rPr lang="zh-CN" altLang="en-US" sz="1002" dirty="0">
                <a:solidFill>
                  <a:srgbClr val="FFFFFF"/>
                </a:solidFill>
                <a:latin typeface="Times New Roman"/>
              </a:rPr>
              <a:t>報</a:t>
            </a:r>
          </a:p>
        </p:txBody>
      </p:sp>
      <p:sp>
        <p:nvSpPr>
          <p:cNvPr id="6" name="TextBox 5"/>
          <p:cNvSpPr txBox="1"/>
          <p:nvPr/>
        </p:nvSpPr>
        <p:spPr>
          <a:xfrm>
            <a:off x="8377477" y="4340750"/>
            <a:ext cx="128240" cy="98745"/>
          </a:xfrm>
          <a:prstGeom prst="rect">
            <a:avLst/>
          </a:prstGeom>
          <a:noFill/>
        </p:spPr>
        <p:txBody>
          <a:bodyPr vert="horz" wrap="none" lIns="0" tIns="0" rIns="0" bIns="0" rtlCol="0">
            <a:spAutoFit/>
          </a:bodyPr>
          <a:lstStyle/>
          <a:p>
            <a:pPr>
              <a:lnSpc>
                <a:spcPts val="709"/>
              </a:lnSpc>
            </a:pPr>
            <a:r>
              <a:rPr lang="zh-CN" altLang="en-US" sz="1002" dirty="0">
                <a:solidFill>
                  <a:srgbClr val="FFFFFF"/>
                </a:solidFill>
                <a:latin typeface="Times New Roman"/>
              </a:rPr>
              <a:t>告</a:t>
            </a:r>
          </a:p>
        </p:txBody>
      </p:sp>
      <p:sp>
        <p:nvSpPr>
          <p:cNvPr id="7" name="TextBox 6"/>
          <p:cNvSpPr txBox="1"/>
          <p:nvPr/>
        </p:nvSpPr>
        <p:spPr>
          <a:xfrm>
            <a:off x="8775997" y="4564780"/>
            <a:ext cx="128240" cy="98745"/>
          </a:xfrm>
          <a:prstGeom prst="rect">
            <a:avLst/>
          </a:prstGeom>
          <a:noFill/>
        </p:spPr>
        <p:txBody>
          <a:bodyPr vert="horz" wrap="none" lIns="0" tIns="0" rIns="0" bIns="0" rtlCol="0">
            <a:spAutoFit/>
          </a:bodyPr>
          <a:lstStyle/>
          <a:p>
            <a:pPr>
              <a:lnSpc>
                <a:spcPts val="709"/>
              </a:lnSpc>
            </a:pPr>
            <a:r>
              <a:rPr lang="zh-CN" altLang="en-US" sz="1002" dirty="0">
                <a:solidFill>
                  <a:srgbClr val="FFFFFF"/>
                </a:solidFill>
                <a:latin typeface="Times New Roman"/>
              </a:rPr>
              <a:t>合</a:t>
            </a:r>
          </a:p>
        </p:txBody>
      </p:sp>
      <p:sp>
        <p:nvSpPr>
          <p:cNvPr id="8" name="TextBox 7"/>
          <p:cNvSpPr txBox="1"/>
          <p:nvPr/>
        </p:nvSpPr>
        <p:spPr>
          <a:xfrm>
            <a:off x="8865916" y="4474861"/>
            <a:ext cx="128240" cy="98745"/>
          </a:xfrm>
          <a:prstGeom prst="rect">
            <a:avLst/>
          </a:prstGeom>
          <a:noFill/>
        </p:spPr>
        <p:txBody>
          <a:bodyPr vert="horz" wrap="none" lIns="0" tIns="0" rIns="0" bIns="0" rtlCol="0">
            <a:spAutoFit/>
          </a:bodyPr>
          <a:lstStyle/>
          <a:p>
            <a:pPr>
              <a:lnSpc>
                <a:spcPts val="709"/>
              </a:lnSpc>
            </a:pPr>
            <a:r>
              <a:rPr lang="zh-CN" altLang="en-US" sz="1002" dirty="0">
                <a:solidFill>
                  <a:srgbClr val="FFFFFF"/>
                </a:solidFill>
                <a:latin typeface="Times New Roman"/>
              </a:rPr>
              <a:t>規</a:t>
            </a:r>
          </a:p>
        </p:txBody>
      </p:sp>
      <p:sp>
        <p:nvSpPr>
          <p:cNvPr id="9" name="TextBox 8"/>
          <p:cNvSpPr txBox="1"/>
          <p:nvPr/>
        </p:nvSpPr>
        <p:spPr>
          <a:xfrm>
            <a:off x="8955835" y="4384943"/>
            <a:ext cx="128240" cy="98745"/>
          </a:xfrm>
          <a:prstGeom prst="rect">
            <a:avLst/>
          </a:prstGeom>
          <a:noFill/>
        </p:spPr>
        <p:txBody>
          <a:bodyPr vert="horz" wrap="none" lIns="0" tIns="0" rIns="0" bIns="0" rtlCol="0">
            <a:spAutoFit/>
          </a:bodyPr>
          <a:lstStyle/>
          <a:p>
            <a:pPr>
              <a:lnSpc>
                <a:spcPts val="709"/>
              </a:lnSpc>
            </a:pPr>
            <a:r>
              <a:rPr lang="zh-CN" altLang="en-US" sz="1002" dirty="0">
                <a:solidFill>
                  <a:srgbClr val="FFFFFF"/>
                </a:solidFill>
                <a:latin typeface="Times New Roman"/>
              </a:rPr>
              <a:t>性</a:t>
            </a:r>
          </a:p>
        </p:txBody>
      </p:sp>
      <p:sp>
        <p:nvSpPr>
          <p:cNvPr id="10" name="TextBox 9"/>
          <p:cNvSpPr txBox="1"/>
          <p:nvPr/>
        </p:nvSpPr>
        <p:spPr>
          <a:xfrm>
            <a:off x="587134" y="2489649"/>
            <a:ext cx="174728" cy="224420"/>
          </a:xfrm>
          <a:prstGeom prst="rect">
            <a:avLst/>
          </a:prstGeom>
          <a:noFill/>
        </p:spPr>
        <p:txBody>
          <a:bodyPr vert="horz" wrap="none" lIns="0" tIns="0" rIns="0" bIns="0" rtlCol="0">
            <a:spAutoFit/>
          </a:bodyPr>
          <a:lstStyle/>
          <a:p>
            <a:pPr>
              <a:lnSpc>
                <a:spcPts val="1665"/>
              </a:lnSpc>
            </a:pPr>
            <a:r>
              <a:rPr lang="en-US" altLang="zh-CN" dirty="0">
                <a:solidFill>
                  <a:srgbClr val="000000"/>
                </a:solidFill>
                <a:latin typeface="Times New Roman"/>
              </a:rPr>
              <a:t>1.</a:t>
            </a:r>
            <a:endParaRPr lang="zh-CN" altLang="en-US" dirty="0">
              <a:solidFill>
                <a:srgbClr val="000000"/>
              </a:solidFill>
              <a:latin typeface="Times New Roman"/>
            </a:endParaRPr>
          </a:p>
        </p:txBody>
      </p:sp>
      <p:sp>
        <p:nvSpPr>
          <p:cNvPr id="11" name="TextBox 10"/>
          <p:cNvSpPr txBox="1"/>
          <p:nvPr/>
        </p:nvSpPr>
        <p:spPr>
          <a:xfrm>
            <a:off x="587134" y="3039043"/>
            <a:ext cx="174728" cy="224420"/>
          </a:xfrm>
          <a:prstGeom prst="rect">
            <a:avLst/>
          </a:prstGeom>
          <a:noFill/>
        </p:spPr>
        <p:txBody>
          <a:bodyPr vert="horz" wrap="none" lIns="0" tIns="0" rIns="0" bIns="0" rtlCol="0">
            <a:spAutoFit/>
          </a:bodyPr>
          <a:lstStyle/>
          <a:p>
            <a:pPr>
              <a:lnSpc>
                <a:spcPts val="1665"/>
              </a:lnSpc>
            </a:pPr>
            <a:r>
              <a:rPr lang="en-US" altLang="zh-CN" dirty="0">
                <a:solidFill>
                  <a:srgbClr val="000000"/>
                </a:solidFill>
                <a:latin typeface="Times New Roman"/>
              </a:rPr>
              <a:t>2.</a:t>
            </a:r>
            <a:endParaRPr lang="zh-CN" altLang="en-US" dirty="0">
              <a:solidFill>
                <a:srgbClr val="000000"/>
              </a:solidFill>
              <a:latin typeface="Times New Roman"/>
            </a:endParaRPr>
          </a:p>
        </p:txBody>
      </p:sp>
      <p:sp>
        <p:nvSpPr>
          <p:cNvPr id="12" name="TextBox 11"/>
          <p:cNvSpPr txBox="1"/>
          <p:nvPr/>
        </p:nvSpPr>
        <p:spPr>
          <a:xfrm>
            <a:off x="587134" y="3573967"/>
            <a:ext cx="174728" cy="224420"/>
          </a:xfrm>
          <a:prstGeom prst="rect">
            <a:avLst/>
          </a:prstGeom>
          <a:noFill/>
        </p:spPr>
        <p:txBody>
          <a:bodyPr vert="horz" wrap="none" lIns="0" tIns="0" rIns="0" bIns="0" rtlCol="0">
            <a:spAutoFit/>
          </a:bodyPr>
          <a:lstStyle/>
          <a:p>
            <a:pPr>
              <a:lnSpc>
                <a:spcPts val="1665"/>
              </a:lnSpc>
            </a:pPr>
            <a:r>
              <a:rPr lang="en-US" altLang="zh-CN" dirty="0">
                <a:solidFill>
                  <a:srgbClr val="000000"/>
                </a:solidFill>
                <a:latin typeface="Times New Roman"/>
              </a:rPr>
              <a:t>3.</a:t>
            </a:r>
            <a:endParaRPr lang="zh-CN" altLang="en-US" dirty="0">
              <a:solidFill>
                <a:srgbClr val="000000"/>
              </a:solidFill>
              <a:latin typeface="Times New Roman"/>
            </a:endParaRPr>
          </a:p>
        </p:txBody>
      </p:sp>
      <p:sp>
        <p:nvSpPr>
          <p:cNvPr id="13" name="TextBox 12"/>
          <p:cNvSpPr txBox="1"/>
          <p:nvPr/>
        </p:nvSpPr>
        <p:spPr>
          <a:xfrm>
            <a:off x="7689729" y="6259230"/>
            <a:ext cx="512961" cy="128240"/>
          </a:xfrm>
          <a:prstGeom prst="rect">
            <a:avLst/>
          </a:prstGeom>
          <a:noFill/>
        </p:spPr>
        <p:txBody>
          <a:bodyPr vert="horz" wrap="none" lIns="0" tIns="0" rIns="0" bIns="0" rtlCol="0">
            <a:spAutoFit/>
          </a:bodyPr>
          <a:lstStyle/>
          <a:p>
            <a:pPr>
              <a:lnSpc>
                <a:spcPts val="1001"/>
              </a:lnSpc>
            </a:pPr>
            <a:r>
              <a:rPr lang="zh-CN" altLang="en-US" sz="1002" dirty="0">
                <a:solidFill>
                  <a:srgbClr val="FFFFFF"/>
                </a:solidFill>
                <a:latin typeface="Times New Roman"/>
              </a:rPr>
              <a:t>控制環境</a:t>
            </a:r>
          </a:p>
        </p:txBody>
      </p:sp>
      <p:sp>
        <p:nvSpPr>
          <p:cNvPr id="14" name="TextBox 13"/>
          <p:cNvSpPr txBox="1"/>
          <p:nvPr/>
        </p:nvSpPr>
        <p:spPr>
          <a:xfrm>
            <a:off x="509403" y="6341571"/>
            <a:ext cx="144270" cy="133370"/>
          </a:xfrm>
          <a:prstGeom prst="rect">
            <a:avLst/>
          </a:prstGeom>
          <a:noFill/>
        </p:spPr>
        <p:txBody>
          <a:bodyPr vert="horz" wrap="none" lIns="0" tIns="0" rIns="0" bIns="0" rtlCol="0">
            <a:spAutoFit/>
          </a:bodyPr>
          <a:lstStyle/>
          <a:p>
            <a:pPr>
              <a:lnSpc>
                <a:spcPts val="1016"/>
              </a:lnSpc>
            </a:pPr>
            <a:r>
              <a:rPr lang="en-US" altLang="zh-CN" sz="1098" dirty="0">
                <a:solidFill>
                  <a:srgbClr val="761437"/>
                </a:solidFill>
                <a:latin typeface="Times New Roman"/>
              </a:rPr>
              <a:t>36</a:t>
            </a:r>
            <a:endParaRPr lang="zh-CN" altLang="en-US" sz="1098" dirty="0">
              <a:solidFill>
                <a:srgbClr val="761437"/>
              </a:solidFill>
              <a:latin typeface="Times New Roman"/>
            </a:endParaRPr>
          </a:p>
        </p:txBody>
      </p:sp>
      <p:sp>
        <p:nvSpPr>
          <p:cNvPr id="15" name="TextBox 14"/>
          <p:cNvSpPr txBox="1"/>
          <p:nvPr/>
        </p:nvSpPr>
        <p:spPr>
          <a:xfrm>
            <a:off x="509403" y="390082"/>
            <a:ext cx="8771632" cy="4001095"/>
          </a:xfrm>
          <a:prstGeom prst="rect">
            <a:avLst/>
          </a:prstGeom>
          <a:noFill/>
        </p:spPr>
        <p:txBody>
          <a:bodyPr vert="horz" wrap="none" lIns="0" tIns="0" rIns="0" bIns="0" rtlCol="0">
            <a:spAutoFit/>
          </a:bodyPr>
          <a:lstStyle/>
          <a:p>
            <a:pPr marL="0" marR="0" lvl="0" indent="0" defTabSz="914400" eaLnBrk="1" fontAlgn="auto" latinLnBrk="0" hangingPunct="1">
              <a:lnSpc>
                <a:spcPts val="3794"/>
              </a:lnSpc>
              <a:buClrTx/>
              <a:buSzTx/>
              <a:buNone/>
              <a:tabLst>
                <a:tab pos="317500" algn="l"/>
                <a:tab pos="533400" algn="l"/>
              </a:tabLst>
              <a:defRPr/>
            </a:pPr>
            <a:r>
              <a:rPr lang="zh-CN" altLang="en-US" dirty="0"/>
              <a:t>	</a:t>
            </a:r>
            <a:r>
              <a:rPr lang="zh-CN" altLang="en-US" sz="3798" dirty="0">
                <a:solidFill>
                  <a:srgbClr val="FFFFFF"/>
                </a:solidFill>
                <a:latin typeface="Times New Roman"/>
              </a:rPr>
              <a:t>資訊與溝通</a:t>
            </a:r>
            <a:r>
              <a:rPr lang="en-US" altLang="zh-CN" sz="3798" dirty="0">
                <a:solidFill>
                  <a:srgbClr val="FFFFFF"/>
                </a:solidFill>
                <a:latin typeface="Times New Roman"/>
              </a:rPr>
              <a:t>–  </a:t>
            </a:r>
            <a:r>
              <a:rPr lang="zh-CN" altLang="en-US" sz="3798" dirty="0">
                <a:solidFill>
                  <a:srgbClr val="FFFFFF"/>
                </a:solidFill>
                <a:latin typeface="Times New Roman"/>
              </a:rPr>
              <a:t>信息</a:t>
            </a:r>
          </a:p>
          <a:p>
            <a:pPr marL="0" marR="0" lvl="0" indent="0" defTabSz="914400" eaLnBrk="1" fontAlgn="auto" latinLnBrk="0" hangingPunct="1">
              <a:lnSpc>
                <a:spcPts val="1000"/>
              </a:lnSpc>
              <a:buClrTx/>
              <a:buSzTx/>
              <a:buNone/>
              <a:tabLst>
                <a:tab pos="317500" algn="l"/>
                <a:tab pos="533400" algn="l"/>
              </a:tabLst>
              <a:defRPr/>
            </a:pPr>
            <a:endParaRPr lang="zh-CN" altLang="en-US" sz="3798" dirty="0">
              <a:solidFill>
                <a:srgbClr val="FFFFFF"/>
              </a:solidFill>
              <a:latin typeface="Times New Roman"/>
            </a:endParaRPr>
          </a:p>
          <a:p>
            <a:pPr marL="0" marR="0" lvl="0" indent="0" defTabSz="914400" eaLnBrk="1" fontAlgn="auto" latinLnBrk="0" hangingPunct="1">
              <a:lnSpc>
                <a:spcPts val="1000"/>
              </a:lnSpc>
              <a:buClrTx/>
              <a:buSzTx/>
              <a:buNone/>
              <a:tabLst>
                <a:tab pos="317500" algn="l"/>
                <a:tab pos="533400" algn="l"/>
              </a:tabLst>
              <a:defRPr/>
            </a:pPr>
            <a:endParaRPr lang="zh-CN" altLang="en-US" sz="3798" dirty="0">
              <a:solidFill>
                <a:srgbClr val="FFFFFF"/>
              </a:solidFill>
              <a:latin typeface="Times New Roman"/>
            </a:endParaRPr>
          </a:p>
          <a:p>
            <a:pPr marL="0" marR="0" lvl="0" indent="0" defTabSz="914400" eaLnBrk="1" fontAlgn="auto" latinLnBrk="0" hangingPunct="1">
              <a:lnSpc>
                <a:spcPts val="1000"/>
              </a:lnSpc>
              <a:buClrTx/>
              <a:buSzTx/>
              <a:buNone/>
              <a:tabLst>
                <a:tab pos="317500" algn="l"/>
                <a:tab pos="533400" algn="l"/>
              </a:tabLst>
              <a:defRPr/>
            </a:pPr>
            <a:endParaRPr lang="zh-CN" altLang="en-US" sz="3798" dirty="0">
              <a:solidFill>
                <a:srgbClr val="FFFFFF"/>
              </a:solidFill>
              <a:latin typeface="Times New Roman"/>
            </a:endParaRPr>
          </a:p>
          <a:p>
            <a:pPr marL="0" marR="0" lvl="0" indent="0" defTabSz="914400" eaLnBrk="1" fontAlgn="auto" latinLnBrk="0" hangingPunct="1">
              <a:lnSpc>
                <a:spcPts val="1000"/>
              </a:lnSpc>
              <a:buClrTx/>
              <a:buSzTx/>
              <a:buNone/>
              <a:tabLst>
                <a:tab pos="317500" algn="l"/>
                <a:tab pos="533400" algn="l"/>
              </a:tabLst>
              <a:defRPr/>
            </a:pPr>
            <a:endParaRPr lang="zh-CN" altLang="en-US" sz="3798" dirty="0">
              <a:solidFill>
                <a:srgbClr val="FFFFFF"/>
              </a:solidFill>
              <a:latin typeface="Times New Roman"/>
            </a:endParaRPr>
          </a:p>
          <a:p>
            <a:pPr marL="0" marR="0" lvl="0" indent="0" defTabSz="914400" eaLnBrk="1" fontAlgn="auto" latinLnBrk="0" hangingPunct="1">
              <a:lnSpc>
                <a:spcPts val="1000"/>
              </a:lnSpc>
              <a:buClrTx/>
              <a:buSzTx/>
              <a:buNone/>
              <a:tabLst>
                <a:tab pos="317500" algn="l"/>
                <a:tab pos="533400" algn="l"/>
              </a:tabLst>
              <a:defRPr/>
            </a:pPr>
            <a:endParaRPr lang="zh-CN" altLang="en-US" sz="3798" dirty="0">
              <a:solidFill>
                <a:srgbClr val="FFFFFF"/>
              </a:solidFill>
              <a:latin typeface="Times New Roman"/>
            </a:endParaRPr>
          </a:p>
          <a:p>
            <a:pPr marL="0" marR="0" lvl="0" indent="0" defTabSz="914400" eaLnBrk="1" fontAlgn="auto" latinLnBrk="0" hangingPunct="1">
              <a:lnSpc>
                <a:spcPts val="1000"/>
              </a:lnSpc>
              <a:buClrTx/>
              <a:buSzTx/>
              <a:buNone/>
              <a:tabLst>
                <a:tab pos="317500" algn="l"/>
                <a:tab pos="533400" algn="l"/>
              </a:tabLst>
              <a:defRPr/>
            </a:pPr>
            <a:endParaRPr lang="zh-CN" altLang="en-US" sz="3798" dirty="0">
              <a:solidFill>
                <a:srgbClr val="FFFFFF"/>
              </a:solidFill>
              <a:latin typeface="Times New Roman"/>
            </a:endParaRPr>
          </a:p>
          <a:p>
            <a:pPr marL="0" marR="0" lvl="0" indent="0" defTabSz="914400" eaLnBrk="1" fontAlgn="auto" latinLnBrk="0" hangingPunct="1">
              <a:lnSpc>
                <a:spcPts val="2282"/>
              </a:lnSpc>
              <a:buClrTx/>
              <a:buSzTx/>
              <a:buNone/>
              <a:tabLst>
                <a:tab pos="317500" algn="l"/>
                <a:tab pos="533400" algn="l"/>
              </a:tabLst>
              <a:defRPr/>
            </a:pPr>
            <a:r>
              <a:rPr lang="zh-CN" altLang="en-US" dirty="0">
                <a:solidFill>
                  <a:srgbClr val="000000"/>
                </a:solidFill>
                <a:latin typeface="Times New Roman"/>
              </a:rPr>
              <a:t>資訊系統能夠識別、獲得、處理和報告各種資訊。相關的資訊包括從外部獲取的行業、</a:t>
            </a:r>
          </a:p>
          <a:p>
            <a:pPr marL="0" marR="0" lvl="0" indent="0" defTabSz="914400" eaLnBrk="1" fontAlgn="auto" latinLnBrk="0" hangingPunct="1">
              <a:lnSpc>
                <a:spcPts val="2052"/>
              </a:lnSpc>
              <a:buClrTx/>
              <a:buSzTx/>
              <a:buNone/>
              <a:tabLst>
                <a:tab pos="317500" algn="l"/>
                <a:tab pos="533400" algn="l"/>
              </a:tabLst>
              <a:defRPr/>
            </a:pPr>
            <a:r>
              <a:rPr lang="zh-CN" altLang="en-US" dirty="0">
                <a:solidFill>
                  <a:srgbClr val="000000"/>
                </a:solidFill>
                <a:latin typeface="Times New Roman"/>
              </a:rPr>
              <a:t>經濟、監管資訊，以及內部產生的資訊。</a:t>
            </a:r>
          </a:p>
          <a:p>
            <a:pPr marL="0" marR="0" lvl="0" indent="0" defTabSz="914400" eaLnBrk="1" fontAlgn="auto" latinLnBrk="0" hangingPunct="1">
              <a:lnSpc>
                <a:spcPts val="1000"/>
              </a:lnSpc>
              <a:buClrTx/>
              <a:buSzTx/>
              <a:buNone/>
              <a:tabLst>
                <a:tab pos="317500" algn="l"/>
                <a:tab pos="533400" algn="l"/>
              </a:tabLst>
              <a:defRPr/>
            </a:pPr>
            <a:endParaRPr lang="zh-CN" altLang="en-US" dirty="0">
              <a:solidFill>
                <a:srgbClr val="000000"/>
              </a:solidFill>
              <a:latin typeface="Times New Roman"/>
            </a:endParaRPr>
          </a:p>
          <a:p>
            <a:pPr marL="0" marR="0" lvl="0" indent="0" defTabSz="914400" eaLnBrk="1" fontAlgn="auto" latinLnBrk="0" hangingPunct="1">
              <a:lnSpc>
                <a:spcPts val="1000"/>
              </a:lnSpc>
              <a:buClrTx/>
              <a:buSzTx/>
              <a:buNone/>
              <a:tabLst>
                <a:tab pos="317500" algn="l"/>
                <a:tab pos="533400" algn="l"/>
              </a:tabLst>
              <a:defRPr/>
            </a:pPr>
            <a:endParaRPr lang="zh-CN" altLang="en-US" dirty="0">
              <a:solidFill>
                <a:srgbClr val="000000"/>
              </a:solidFill>
              <a:latin typeface="Times New Roman"/>
            </a:endParaRPr>
          </a:p>
          <a:p>
            <a:pPr marL="0" marR="0" lvl="0" indent="0" defTabSz="914400" eaLnBrk="1" fontAlgn="auto" latinLnBrk="0" hangingPunct="1">
              <a:lnSpc>
                <a:spcPts val="1948"/>
              </a:lnSpc>
              <a:buClrTx/>
              <a:buSzTx/>
              <a:buNone/>
              <a:tabLst>
                <a:tab pos="317500" algn="l"/>
                <a:tab pos="533400" algn="l"/>
              </a:tabLst>
              <a:defRPr/>
            </a:pPr>
            <a:r>
              <a:rPr lang="zh-CN" altLang="en-US" dirty="0">
                <a:solidFill>
                  <a:srgbClr val="000000"/>
                </a:solidFill>
                <a:latin typeface="Times New Roman"/>
              </a:rPr>
              <a:t>		獲取內部和外部資訊，向管理層報告企業既定目標的實</a:t>
            </a:r>
          </a:p>
          <a:p>
            <a:pPr marL="0" marR="0" lvl="0" indent="0" defTabSz="914400" eaLnBrk="1" fontAlgn="auto" latinLnBrk="0" hangingPunct="1">
              <a:lnSpc>
                <a:spcPts val="2052"/>
              </a:lnSpc>
              <a:buClrTx/>
              <a:buSzTx/>
              <a:buNone/>
              <a:tabLst>
                <a:tab pos="317500" algn="l"/>
                <a:tab pos="533400" algn="l"/>
              </a:tabLst>
              <a:defRPr/>
            </a:pPr>
            <a:r>
              <a:rPr lang="zh-CN" altLang="en-US" dirty="0">
                <a:solidFill>
                  <a:srgbClr val="000000"/>
                </a:solidFill>
                <a:latin typeface="Times New Roman"/>
              </a:rPr>
              <a:t>		現情況。</a:t>
            </a:r>
          </a:p>
          <a:p>
            <a:pPr marL="0" marR="0" lvl="0" indent="0" defTabSz="914400" eaLnBrk="1" fontAlgn="auto" latinLnBrk="0" hangingPunct="1">
              <a:lnSpc>
                <a:spcPts val="2274"/>
              </a:lnSpc>
              <a:buClrTx/>
              <a:buSzTx/>
              <a:buNone/>
              <a:tabLst>
                <a:tab pos="317500" algn="l"/>
                <a:tab pos="533400" algn="l"/>
              </a:tabLst>
              <a:defRPr/>
            </a:pPr>
            <a:r>
              <a:rPr lang="zh-CN" altLang="en-US" dirty="0">
                <a:solidFill>
                  <a:srgbClr val="000000"/>
                </a:solidFill>
                <a:latin typeface="Times New Roman"/>
              </a:rPr>
              <a:t>		及時向適當的人員彙報足夠的資訊以便他們有效地履行</a:t>
            </a:r>
          </a:p>
          <a:p>
            <a:pPr marL="0" marR="0" lvl="0" indent="0" defTabSz="914400" eaLnBrk="1" fontAlgn="auto" latinLnBrk="0" hangingPunct="1">
              <a:lnSpc>
                <a:spcPts val="2052"/>
              </a:lnSpc>
              <a:buClrTx/>
              <a:buSzTx/>
              <a:buNone/>
              <a:tabLst>
                <a:tab pos="317500" algn="l"/>
                <a:tab pos="533400" algn="l"/>
              </a:tabLst>
              <a:defRPr/>
            </a:pPr>
            <a:r>
              <a:rPr lang="zh-CN" altLang="en-US" dirty="0">
                <a:solidFill>
                  <a:srgbClr val="000000"/>
                </a:solidFill>
                <a:latin typeface="Times New Roman"/>
              </a:rPr>
              <a:t>		其職責。</a:t>
            </a:r>
          </a:p>
          <a:p>
            <a:pPr marL="0" marR="0" lvl="0" indent="0" defTabSz="914400" eaLnBrk="1" fontAlgn="auto" latinLnBrk="0" hangingPunct="1">
              <a:lnSpc>
                <a:spcPts val="2160"/>
              </a:lnSpc>
              <a:buClrTx/>
              <a:buSzTx/>
              <a:buNone/>
              <a:tabLst>
                <a:tab pos="317500" algn="l"/>
                <a:tab pos="533400" algn="l"/>
              </a:tabLst>
              <a:defRPr/>
            </a:pPr>
            <a:r>
              <a:rPr lang="zh-CN" altLang="en-US" dirty="0">
                <a:solidFill>
                  <a:srgbClr val="000000"/>
                </a:solidFill>
                <a:latin typeface="Times New Roman"/>
              </a:rPr>
              <a:t>		資訊系統的建立或修改基於對資訊系統的戰略規劃</a:t>
            </a:r>
            <a:r>
              <a:rPr lang="en-US" altLang="zh-CN" dirty="0">
                <a:solidFill>
                  <a:srgbClr val="000000"/>
                </a:solidFill>
                <a:latin typeface="Times New Roman"/>
              </a:rPr>
              <a:t>—</a:t>
            </a:r>
            <a:r>
              <a:rPr lang="zh-CN" altLang="en-US" dirty="0">
                <a:solidFill>
                  <a:srgbClr val="000000"/>
                </a:solidFill>
                <a:latin typeface="Times New Roman"/>
              </a:rPr>
              <a:t>與</a:t>
            </a:r>
          </a:p>
          <a:p>
            <a:pPr marL="0" marR="0" lvl="0" indent="0" defTabSz="914400" eaLnBrk="1" fontAlgn="auto" latinLnBrk="0" hangingPunct="1">
              <a:lnSpc>
                <a:spcPts val="2160"/>
              </a:lnSpc>
              <a:buClrTx/>
              <a:buSzTx/>
              <a:buNone/>
              <a:tabLst>
                <a:tab pos="317500" algn="l"/>
                <a:tab pos="533400" algn="l"/>
              </a:tabLst>
              <a:defRPr/>
            </a:pPr>
            <a:r>
              <a:rPr lang="zh-CN" altLang="en-US" dirty="0">
                <a:solidFill>
                  <a:srgbClr val="000000"/>
                </a:solidFill>
                <a:latin typeface="Times New Roman"/>
              </a:rPr>
              <a:t>		整個企業的戰略相連</a:t>
            </a:r>
            <a:r>
              <a:rPr lang="en-US" altLang="zh-CN" dirty="0">
                <a:solidFill>
                  <a:srgbClr val="000000"/>
                </a:solidFill>
                <a:latin typeface="Times New Roman"/>
              </a:rPr>
              <a:t>—</a:t>
            </a:r>
            <a:r>
              <a:rPr lang="zh-CN" altLang="en-US" dirty="0">
                <a:solidFill>
                  <a:srgbClr val="000000"/>
                </a:solidFill>
                <a:latin typeface="Times New Roman"/>
              </a:rPr>
              <a:t>並且著眼於實現企業的目標和業</a:t>
            </a:r>
          </a:p>
          <a:p>
            <a:pPr marL="0" marR="0" lvl="0" indent="0" defTabSz="914400" eaLnBrk="1" fontAlgn="auto" latinLnBrk="0" hangingPunct="1">
              <a:lnSpc>
                <a:spcPts val="2166"/>
              </a:lnSpc>
              <a:buClrTx/>
              <a:buSzTx/>
              <a:buNone/>
              <a:tabLst>
                <a:tab pos="317500" algn="l"/>
                <a:tab pos="533400" algn="l"/>
              </a:tabLst>
              <a:defRPr/>
            </a:pPr>
            <a:r>
              <a:rPr lang="zh-CN" altLang="en-US" dirty="0">
                <a:solidFill>
                  <a:srgbClr val="000000"/>
                </a:solidFill>
                <a:latin typeface="Times New Roman"/>
              </a:rPr>
              <a:t>		務活動層次的目標。</a:t>
            </a:r>
          </a:p>
        </p:txBody>
      </p:sp>
      <p:sp>
        <p:nvSpPr>
          <p:cNvPr id="16" name="TextBox 15"/>
          <p:cNvSpPr txBox="1"/>
          <p:nvPr/>
        </p:nvSpPr>
        <p:spPr>
          <a:xfrm>
            <a:off x="587134" y="4397682"/>
            <a:ext cx="174728" cy="224420"/>
          </a:xfrm>
          <a:prstGeom prst="rect">
            <a:avLst/>
          </a:prstGeom>
          <a:noFill/>
        </p:spPr>
        <p:txBody>
          <a:bodyPr vert="horz" wrap="none" lIns="0" tIns="0" rIns="0" bIns="0" rtlCol="0">
            <a:spAutoFit/>
          </a:bodyPr>
          <a:lstStyle/>
          <a:p>
            <a:pPr>
              <a:lnSpc>
                <a:spcPts val="1665"/>
              </a:lnSpc>
            </a:pPr>
            <a:r>
              <a:rPr lang="en-US" altLang="zh-CN" dirty="0">
                <a:solidFill>
                  <a:srgbClr val="000000"/>
                </a:solidFill>
                <a:latin typeface="Times New Roman"/>
              </a:rPr>
              <a:t>4.</a:t>
            </a:r>
            <a:endParaRPr lang="zh-CN" altLang="en-US" dirty="0">
              <a:solidFill>
                <a:srgbClr val="000000"/>
              </a:solidFill>
              <a:latin typeface="Times New Roman"/>
            </a:endParaRPr>
          </a:p>
        </p:txBody>
      </p:sp>
      <p:sp>
        <p:nvSpPr>
          <p:cNvPr id="17" name="TextBox 16"/>
          <p:cNvSpPr txBox="1"/>
          <p:nvPr/>
        </p:nvSpPr>
        <p:spPr>
          <a:xfrm>
            <a:off x="1044329" y="4365449"/>
            <a:ext cx="5495094" cy="512961"/>
          </a:xfrm>
          <a:prstGeom prst="rect">
            <a:avLst/>
          </a:prstGeom>
          <a:noFill/>
        </p:spPr>
        <p:txBody>
          <a:bodyPr vert="horz" wrap="none" lIns="0" tIns="0" rIns="0" bIns="0" rtlCol="0">
            <a:spAutoFit/>
          </a:bodyPr>
          <a:lstStyle/>
          <a:p>
            <a:pPr>
              <a:lnSpc>
                <a:spcPts val="1798"/>
              </a:lnSpc>
            </a:pPr>
            <a:r>
              <a:rPr lang="zh-CN" altLang="en-US" dirty="0">
                <a:solidFill>
                  <a:srgbClr val="000000"/>
                </a:solidFill>
                <a:latin typeface="Times New Roman"/>
              </a:rPr>
              <a:t>通過承諾適當的資源</a:t>
            </a:r>
            <a:r>
              <a:rPr lang="en-US" altLang="zh-CN" dirty="0">
                <a:solidFill>
                  <a:srgbClr val="000000"/>
                </a:solidFill>
                <a:latin typeface="Times New Roman"/>
              </a:rPr>
              <a:t>——</a:t>
            </a:r>
            <a:r>
              <a:rPr lang="zh-CN" altLang="en-US" dirty="0">
                <a:solidFill>
                  <a:srgbClr val="000000"/>
                </a:solidFill>
                <a:latin typeface="Times New Roman"/>
              </a:rPr>
              <a:t>人力資源和財力資源，管理層</a:t>
            </a:r>
          </a:p>
          <a:p>
            <a:pPr>
              <a:lnSpc>
                <a:spcPts val="2166"/>
              </a:lnSpc>
            </a:pPr>
            <a:r>
              <a:rPr lang="zh-CN" altLang="en-US" dirty="0">
                <a:solidFill>
                  <a:srgbClr val="000000"/>
                </a:solidFill>
                <a:latin typeface="Times New Roman"/>
              </a:rPr>
              <a:t>表現出對發展必要的資訊系統的支援態度。</a:t>
            </a:r>
          </a:p>
        </p:txBody>
      </p:sp>
      <p:sp>
        <p:nvSpPr>
          <p:cNvPr id="18" name="TextBox 17"/>
          <p:cNvSpPr txBox="1"/>
          <p:nvPr/>
        </p:nvSpPr>
        <p:spPr>
          <a:xfrm>
            <a:off x="7621149" y="4528744"/>
            <a:ext cx="128240" cy="128240"/>
          </a:xfrm>
          <a:prstGeom prst="rect">
            <a:avLst/>
          </a:prstGeom>
          <a:noFill/>
        </p:spPr>
        <p:txBody>
          <a:bodyPr vert="horz" wrap="none" lIns="0" tIns="0" rIns="0" bIns="0" rtlCol="0">
            <a:spAutoFit/>
          </a:bodyPr>
          <a:lstStyle/>
          <a:p>
            <a:pPr>
              <a:lnSpc>
                <a:spcPts val="1001"/>
              </a:lnSpc>
            </a:pPr>
            <a:r>
              <a:rPr lang="zh-CN" altLang="en-US" sz="1002" dirty="0">
                <a:solidFill>
                  <a:srgbClr val="FFFFFF"/>
                </a:solidFill>
                <a:latin typeface="Times New Roman"/>
              </a:rPr>
              <a:t>營</a:t>
            </a:r>
          </a:p>
        </p:txBody>
      </p:sp>
      <p:sp>
        <p:nvSpPr>
          <p:cNvPr id="19" name="TextBox 18"/>
          <p:cNvSpPr txBox="1"/>
          <p:nvPr/>
        </p:nvSpPr>
        <p:spPr>
          <a:xfrm>
            <a:off x="7711833" y="4439589"/>
            <a:ext cx="128240" cy="128240"/>
          </a:xfrm>
          <a:prstGeom prst="rect">
            <a:avLst/>
          </a:prstGeom>
          <a:noFill/>
        </p:spPr>
        <p:txBody>
          <a:bodyPr vert="horz" wrap="none" lIns="0" tIns="0" rIns="0" bIns="0" rtlCol="0">
            <a:spAutoFit/>
          </a:bodyPr>
          <a:lstStyle/>
          <a:p>
            <a:pPr>
              <a:lnSpc>
                <a:spcPts val="1001"/>
              </a:lnSpc>
            </a:pPr>
            <a:r>
              <a:rPr lang="zh-CN" altLang="en-US" sz="1002" dirty="0">
                <a:solidFill>
                  <a:srgbClr val="FFFFFF"/>
                </a:solidFill>
                <a:latin typeface="Times New Roman"/>
              </a:rPr>
              <a:t>運</a:t>
            </a:r>
          </a:p>
        </p:txBody>
      </p:sp>
      <p:sp>
        <p:nvSpPr>
          <p:cNvPr id="20" name="TextBox 19"/>
          <p:cNvSpPr txBox="1"/>
          <p:nvPr/>
        </p:nvSpPr>
        <p:spPr>
          <a:xfrm>
            <a:off x="7817745" y="4948590"/>
            <a:ext cx="256480" cy="128240"/>
          </a:xfrm>
          <a:prstGeom prst="rect">
            <a:avLst/>
          </a:prstGeom>
          <a:noFill/>
        </p:spPr>
        <p:txBody>
          <a:bodyPr vert="horz" wrap="none" lIns="0" tIns="0" rIns="0" bIns="0" rtlCol="0">
            <a:spAutoFit/>
          </a:bodyPr>
          <a:lstStyle/>
          <a:p>
            <a:pPr>
              <a:lnSpc>
                <a:spcPts val="1001"/>
              </a:lnSpc>
            </a:pPr>
            <a:r>
              <a:rPr lang="zh-CN" altLang="en-US" sz="1002" dirty="0">
                <a:solidFill>
                  <a:srgbClr val="FFFFFF"/>
                </a:solidFill>
                <a:latin typeface="Times New Roman"/>
              </a:rPr>
              <a:t>監控</a:t>
            </a:r>
          </a:p>
        </p:txBody>
      </p:sp>
      <p:sp>
        <p:nvSpPr>
          <p:cNvPr id="21" name="TextBox 20"/>
          <p:cNvSpPr txBox="1"/>
          <p:nvPr/>
        </p:nvSpPr>
        <p:spPr>
          <a:xfrm>
            <a:off x="9322675" y="4858704"/>
            <a:ext cx="294953" cy="294953"/>
          </a:xfrm>
          <a:prstGeom prst="rect">
            <a:avLst/>
          </a:prstGeom>
          <a:noFill/>
        </p:spPr>
        <p:txBody>
          <a:bodyPr vert="horz" wrap="none" lIns="0" tIns="0" rIns="0" bIns="0" rtlCol="0">
            <a:spAutoFit/>
          </a:bodyPr>
          <a:lstStyle/>
          <a:p>
            <a:pPr marL="0" marR="0" lvl="0" indent="0" defTabSz="914400" eaLnBrk="1" fontAlgn="auto" latinLnBrk="0" hangingPunct="1">
              <a:lnSpc>
                <a:spcPts val="1001"/>
              </a:lnSpc>
              <a:buClrTx/>
              <a:buSzTx/>
              <a:buNone/>
              <a:tabLst>
                <a:tab pos="165100" algn="l"/>
              </a:tabLst>
              <a:defRPr/>
            </a:pPr>
            <a:r>
              <a:rPr lang="zh-CN" altLang="en-US" dirty="0"/>
              <a:t>	</a:t>
            </a:r>
            <a:r>
              <a:rPr lang="zh-CN" altLang="en-US" sz="1002" dirty="0">
                <a:solidFill>
                  <a:srgbClr val="FFFFFF"/>
                </a:solidFill>
                <a:latin typeface="Times New Roman"/>
              </a:rPr>
              <a:t>活</a:t>
            </a:r>
          </a:p>
          <a:p>
            <a:pPr marL="0" marR="0" lvl="0" indent="0" defTabSz="914400" eaLnBrk="1" fontAlgn="auto" latinLnBrk="0" hangingPunct="1">
              <a:lnSpc>
                <a:spcPts val="1284"/>
              </a:lnSpc>
              <a:buClrTx/>
              <a:buSzTx/>
              <a:buNone/>
              <a:tabLst>
                <a:tab pos="165100" algn="l"/>
              </a:tabLst>
              <a:defRPr/>
            </a:pPr>
            <a:r>
              <a:rPr lang="zh-CN" altLang="en-US" sz="1002" dirty="0">
                <a:solidFill>
                  <a:srgbClr val="FFFFFF"/>
                </a:solidFill>
                <a:latin typeface="Times New Roman"/>
              </a:rPr>
              <a:t>活 動</a:t>
            </a:r>
          </a:p>
        </p:txBody>
      </p:sp>
      <p:sp>
        <p:nvSpPr>
          <p:cNvPr id="22" name="TextBox 21"/>
          <p:cNvSpPr txBox="1"/>
          <p:nvPr/>
        </p:nvSpPr>
        <p:spPr>
          <a:xfrm>
            <a:off x="7626486" y="5272439"/>
            <a:ext cx="641201" cy="795089"/>
          </a:xfrm>
          <a:prstGeom prst="rect">
            <a:avLst/>
          </a:prstGeom>
          <a:noFill/>
        </p:spPr>
        <p:txBody>
          <a:bodyPr vert="horz" wrap="none" lIns="0" tIns="0" rIns="0" bIns="0" rtlCol="0">
            <a:spAutoFit/>
          </a:bodyPr>
          <a:lstStyle/>
          <a:p>
            <a:pPr marL="0" marR="0" lvl="0" indent="0" defTabSz="914400" eaLnBrk="1" fontAlgn="auto" latinLnBrk="0" hangingPunct="1">
              <a:lnSpc>
                <a:spcPts val="1001"/>
              </a:lnSpc>
              <a:buClrTx/>
              <a:buSzTx/>
              <a:buNone/>
              <a:tabLst>
                <a:tab pos="63500" algn="l"/>
              </a:tabLst>
              <a:defRPr/>
            </a:pPr>
            <a:r>
              <a:rPr lang="zh-CN" altLang="en-US" sz="1002" dirty="0">
                <a:solidFill>
                  <a:srgbClr val="FFFFFF"/>
                </a:solidFill>
                <a:latin typeface="Times New Roman"/>
              </a:rPr>
              <a:t>資訊和溝通</a:t>
            </a:r>
          </a:p>
          <a:p>
            <a:pPr marL="0" marR="0" lvl="0" indent="0" defTabSz="914400" eaLnBrk="1" fontAlgn="auto" latinLnBrk="0" hangingPunct="1">
              <a:lnSpc>
                <a:spcPts val="1000"/>
              </a:lnSpc>
              <a:buClrTx/>
              <a:buSzTx/>
              <a:buNone/>
              <a:tabLst>
                <a:tab pos="63500" algn="l"/>
              </a:tabLst>
              <a:defRPr/>
            </a:pPr>
            <a:endParaRPr lang="zh-CN" altLang="en-US" sz="1002" dirty="0">
              <a:solidFill>
                <a:srgbClr val="FFFFFF"/>
              </a:solidFill>
              <a:latin typeface="Times New Roman"/>
            </a:endParaRPr>
          </a:p>
          <a:p>
            <a:pPr marL="0" marR="0" lvl="0" indent="0" defTabSz="914400" eaLnBrk="1" fontAlgn="auto" latinLnBrk="0" hangingPunct="1">
              <a:lnSpc>
                <a:spcPts val="1460"/>
              </a:lnSpc>
              <a:buClrTx/>
              <a:buSzTx/>
              <a:buNone/>
              <a:tabLst>
                <a:tab pos="63500" algn="l"/>
              </a:tabLst>
              <a:defRPr/>
            </a:pPr>
            <a:r>
              <a:rPr lang="zh-CN" altLang="en-US" sz="1002" dirty="0">
                <a:solidFill>
                  <a:srgbClr val="FFFFFF"/>
                </a:solidFill>
                <a:latin typeface="Times New Roman"/>
              </a:rPr>
              <a:t>	控制活動</a:t>
            </a:r>
          </a:p>
          <a:p>
            <a:pPr marL="0" marR="0" lvl="0" indent="0" defTabSz="914400" eaLnBrk="1" fontAlgn="auto" latinLnBrk="0" hangingPunct="1">
              <a:lnSpc>
                <a:spcPts val="1000"/>
              </a:lnSpc>
              <a:buClrTx/>
              <a:buSzTx/>
              <a:buNone/>
              <a:tabLst>
                <a:tab pos="63500" algn="l"/>
              </a:tabLst>
              <a:defRPr/>
            </a:pPr>
            <a:endParaRPr lang="zh-CN" altLang="en-US" sz="1002" dirty="0">
              <a:solidFill>
                <a:srgbClr val="FFFFFF"/>
              </a:solidFill>
              <a:latin typeface="Times New Roman"/>
            </a:endParaRPr>
          </a:p>
          <a:p>
            <a:pPr marL="0" marR="0" lvl="0" indent="0" defTabSz="914400" eaLnBrk="1" fontAlgn="auto" latinLnBrk="0" hangingPunct="1">
              <a:lnSpc>
                <a:spcPts val="1652"/>
              </a:lnSpc>
              <a:buClrTx/>
              <a:buSzTx/>
              <a:buNone/>
              <a:tabLst>
                <a:tab pos="63500" algn="l"/>
              </a:tabLst>
              <a:defRPr/>
            </a:pPr>
            <a:r>
              <a:rPr lang="zh-CN" altLang="en-US" sz="1002" dirty="0">
                <a:solidFill>
                  <a:srgbClr val="FFFFFF"/>
                </a:solidFill>
                <a:latin typeface="Times New Roman"/>
              </a:rPr>
              <a:t>	風險評估</a:t>
            </a:r>
          </a:p>
        </p:txBody>
      </p:sp>
      <p:sp>
        <p:nvSpPr>
          <p:cNvPr id="23" name="TextBox 22"/>
          <p:cNvSpPr txBox="1"/>
          <p:nvPr/>
        </p:nvSpPr>
        <p:spPr>
          <a:xfrm>
            <a:off x="8985129" y="5320464"/>
            <a:ext cx="128240" cy="743793"/>
          </a:xfrm>
          <a:prstGeom prst="rect">
            <a:avLst/>
          </a:prstGeom>
          <a:noFill/>
        </p:spPr>
        <p:txBody>
          <a:bodyPr vert="horz" wrap="none" lIns="0" tIns="0" rIns="0" bIns="0" rtlCol="0">
            <a:spAutoFit/>
          </a:bodyPr>
          <a:lstStyle/>
          <a:p>
            <a:pPr marL="0" marR="0" lvl="0" indent="0" defTabSz="914400" eaLnBrk="1" fontAlgn="auto" latinLnBrk="0" hangingPunct="1">
              <a:lnSpc>
                <a:spcPts val="1001"/>
              </a:lnSpc>
              <a:buClrTx/>
              <a:buSzTx/>
              <a:buNone/>
              <a:tabLst>
                <a:tab pos="25400" algn="l"/>
              </a:tabLst>
              <a:defRPr/>
            </a:pPr>
            <a:r>
              <a:rPr lang="zh-CN" altLang="en-US" sz="1002" dirty="0">
                <a:solidFill>
                  <a:srgbClr val="FFFFFF"/>
                </a:solidFill>
                <a:latin typeface="Times New Roman"/>
              </a:rPr>
              <a:t>業</a:t>
            </a:r>
          </a:p>
          <a:p>
            <a:pPr marL="0" marR="0" lvl="0" indent="0" defTabSz="914400" eaLnBrk="1" fontAlgn="auto" latinLnBrk="0" hangingPunct="1">
              <a:lnSpc>
                <a:spcPts val="1200"/>
              </a:lnSpc>
              <a:buClrTx/>
              <a:buSzTx/>
              <a:buNone/>
              <a:tabLst>
                <a:tab pos="25400" algn="l"/>
              </a:tabLst>
              <a:defRPr/>
            </a:pPr>
            <a:r>
              <a:rPr lang="zh-CN" altLang="en-US" sz="1002" dirty="0">
                <a:solidFill>
                  <a:srgbClr val="FFFFFF"/>
                </a:solidFill>
                <a:latin typeface="Times New Roman"/>
              </a:rPr>
              <a:t>務</a:t>
            </a:r>
          </a:p>
          <a:p>
            <a:pPr marL="0" marR="0" lvl="0" indent="0" defTabSz="914400" eaLnBrk="1" fontAlgn="auto" latinLnBrk="0" hangingPunct="1">
              <a:lnSpc>
                <a:spcPts val="1200"/>
              </a:lnSpc>
              <a:buClrTx/>
              <a:buSzTx/>
              <a:buNone/>
              <a:tabLst>
                <a:tab pos="25400" algn="l"/>
              </a:tabLst>
              <a:defRPr/>
            </a:pPr>
            <a:r>
              <a:rPr lang="zh-CN" altLang="en-US" sz="1002" dirty="0">
                <a:solidFill>
                  <a:srgbClr val="FFFFFF"/>
                </a:solidFill>
                <a:latin typeface="Times New Roman"/>
              </a:rPr>
              <a:t>單</a:t>
            </a:r>
          </a:p>
          <a:p>
            <a:pPr marL="0" marR="0" lvl="0" indent="0" defTabSz="914400" eaLnBrk="1" fontAlgn="auto" latinLnBrk="0" hangingPunct="1">
              <a:lnSpc>
                <a:spcPts val="1200"/>
              </a:lnSpc>
              <a:buClrTx/>
              <a:buSzTx/>
              <a:buNone/>
              <a:tabLst>
                <a:tab pos="25400" algn="l"/>
              </a:tabLst>
              <a:defRPr/>
            </a:pPr>
            <a:r>
              <a:rPr lang="zh-CN" altLang="en-US" sz="1002" dirty="0">
                <a:solidFill>
                  <a:srgbClr val="FFFFFF"/>
                </a:solidFill>
                <a:latin typeface="Times New Roman"/>
              </a:rPr>
              <a:t>位</a:t>
            </a:r>
          </a:p>
          <a:p>
            <a:pPr marL="0" marR="0" lvl="0" indent="0" defTabSz="914400" eaLnBrk="1" fontAlgn="auto" latinLnBrk="0" hangingPunct="1">
              <a:lnSpc>
                <a:spcPts val="1193"/>
              </a:lnSpc>
              <a:buClrTx/>
              <a:buSzTx/>
              <a:buNone/>
              <a:tabLst>
                <a:tab pos="25400" algn="l"/>
              </a:tabLst>
              <a:defRPr/>
            </a:pPr>
            <a:r>
              <a:rPr lang="zh-CN" altLang="en-US" sz="1002" dirty="0">
                <a:solidFill>
                  <a:srgbClr val="FFFFFF"/>
                </a:solidFill>
                <a:latin typeface="Times New Roman"/>
              </a:rPr>
              <a:t>	</a:t>
            </a:r>
            <a:r>
              <a:rPr lang="en-US" altLang="zh-CN" sz="1002" b="1" dirty="0">
                <a:solidFill>
                  <a:srgbClr val="FFFFFF"/>
                </a:solidFill>
                <a:latin typeface="Times New Roman"/>
              </a:rPr>
              <a:t>A</a:t>
            </a:r>
            <a:endParaRPr lang="zh-CN" altLang="en-US" sz="1002" b="1" dirty="0">
              <a:solidFill>
                <a:srgbClr val="FFFFFF"/>
              </a:solidFill>
              <a:latin typeface="Times New Roman"/>
            </a:endParaRPr>
          </a:p>
        </p:txBody>
      </p:sp>
      <p:sp>
        <p:nvSpPr>
          <p:cNvPr id="24" name="TextBox 23"/>
          <p:cNvSpPr txBox="1"/>
          <p:nvPr/>
        </p:nvSpPr>
        <p:spPr>
          <a:xfrm>
            <a:off x="9155037" y="5169588"/>
            <a:ext cx="384721" cy="743793"/>
          </a:xfrm>
          <a:prstGeom prst="rect">
            <a:avLst/>
          </a:prstGeom>
          <a:noFill/>
        </p:spPr>
        <p:txBody>
          <a:bodyPr vert="horz" wrap="none" lIns="0" tIns="0" rIns="0" bIns="0" rtlCol="0">
            <a:spAutoFit/>
          </a:bodyPr>
          <a:lstStyle/>
          <a:p>
            <a:pPr marL="0" marR="0" lvl="0" indent="0" defTabSz="914400" eaLnBrk="1" fontAlgn="auto" latinLnBrk="0" hangingPunct="1">
              <a:lnSpc>
                <a:spcPts val="1037"/>
              </a:lnSpc>
              <a:buClrTx/>
              <a:buSzTx/>
              <a:buNone/>
              <a:tabLst>
                <a:tab pos="25400" algn="l"/>
              </a:tabLst>
              <a:defRPr/>
            </a:pPr>
            <a:r>
              <a:rPr lang="zh-CN" altLang="en-US" sz="1002" dirty="0">
                <a:solidFill>
                  <a:srgbClr val="FFFFFF"/>
                </a:solidFill>
                <a:latin typeface="Times New Roman"/>
              </a:rPr>
              <a:t>業 動 </a:t>
            </a:r>
            <a:r>
              <a:rPr lang="en-US" altLang="zh-CN" sz="1002" b="1" dirty="0">
                <a:solidFill>
                  <a:srgbClr val="FFFFFF"/>
                </a:solidFill>
                <a:latin typeface="Times New Roman"/>
              </a:rPr>
              <a:t>2</a:t>
            </a:r>
          </a:p>
          <a:p>
            <a:pPr marL="0" marR="0" lvl="0" indent="0" defTabSz="914400" eaLnBrk="1" fontAlgn="auto" latinLnBrk="0" hangingPunct="1">
              <a:lnSpc>
                <a:spcPts val="1193"/>
              </a:lnSpc>
              <a:buClrTx/>
              <a:buSzTx/>
              <a:buNone/>
              <a:tabLst>
                <a:tab pos="25400" algn="l"/>
              </a:tabLst>
              <a:defRPr/>
            </a:pPr>
            <a:r>
              <a:rPr lang="zh-CN" altLang="en-US" sz="1002" dirty="0">
                <a:solidFill>
                  <a:srgbClr val="FFFFFF"/>
                </a:solidFill>
                <a:latin typeface="Times New Roman"/>
              </a:rPr>
              <a:t>務 </a:t>
            </a:r>
            <a:r>
              <a:rPr lang="en-US" altLang="zh-CN" sz="1002" b="1" dirty="0">
                <a:solidFill>
                  <a:srgbClr val="FFFFFF"/>
                </a:solidFill>
                <a:latin typeface="Times New Roman"/>
              </a:rPr>
              <a:t>1</a:t>
            </a:r>
          </a:p>
          <a:p>
            <a:pPr marL="0" marR="0" lvl="0" indent="0" defTabSz="914400" eaLnBrk="1" fontAlgn="auto" latinLnBrk="0" hangingPunct="1">
              <a:lnSpc>
                <a:spcPts val="1171"/>
              </a:lnSpc>
              <a:buClrTx/>
              <a:buSzTx/>
              <a:buNone/>
              <a:tabLst>
                <a:tab pos="25400" algn="l"/>
              </a:tabLst>
              <a:defRPr/>
            </a:pPr>
            <a:r>
              <a:rPr lang="zh-CN" altLang="en-US" sz="1002" dirty="0">
                <a:solidFill>
                  <a:srgbClr val="FFFFFF"/>
                </a:solidFill>
                <a:latin typeface="Times New Roman"/>
              </a:rPr>
              <a:t>單</a:t>
            </a:r>
          </a:p>
          <a:p>
            <a:pPr marL="0" marR="0" lvl="0" indent="0" defTabSz="914400" eaLnBrk="1" fontAlgn="auto" latinLnBrk="0" hangingPunct="1">
              <a:lnSpc>
                <a:spcPts val="1200"/>
              </a:lnSpc>
              <a:buClrTx/>
              <a:buSzTx/>
              <a:buNone/>
              <a:tabLst>
                <a:tab pos="25400" algn="l"/>
              </a:tabLst>
              <a:defRPr/>
            </a:pPr>
            <a:r>
              <a:rPr lang="zh-CN" altLang="en-US" sz="1002" dirty="0">
                <a:solidFill>
                  <a:srgbClr val="FFFFFF"/>
                </a:solidFill>
                <a:latin typeface="Times New Roman"/>
              </a:rPr>
              <a:t>位</a:t>
            </a:r>
          </a:p>
          <a:p>
            <a:pPr marL="0" marR="0" lvl="0" indent="0" defTabSz="914400" eaLnBrk="1" fontAlgn="auto" latinLnBrk="0" hangingPunct="1">
              <a:lnSpc>
                <a:spcPts val="1193"/>
              </a:lnSpc>
              <a:buClrTx/>
              <a:buSzTx/>
              <a:buNone/>
              <a:tabLst>
                <a:tab pos="25400" algn="l"/>
              </a:tabLst>
              <a:defRPr/>
            </a:pPr>
            <a:r>
              <a:rPr lang="zh-CN" altLang="en-US" sz="1002" dirty="0">
                <a:solidFill>
                  <a:srgbClr val="FFFFFF"/>
                </a:solidFill>
                <a:latin typeface="Times New Roman"/>
              </a:rPr>
              <a:t>	</a:t>
            </a:r>
            <a:r>
              <a:rPr lang="en-US" altLang="zh-CN" sz="1002" b="1" dirty="0">
                <a:solidFill>
                  <a:srgbClr val="FFFFFF"/>
                </a:solidFill>
                <a:latin typeface="Times New Roman"/>
              </a:rPr>
              <a:t>B</a:t>
            </a:r>
            <a:endParaRPr lang="zh-CN" altLang="en-US" sz="1002" b="1" dirty="0">
              <a:solidFill>
                <a:srgbClr val="FFFFFF"/>
              </a:solidFill>
              <a:latin typeface="Times New Roman"/>
            </a:endParaRPr>
          </a:p>
        </p:txBody>
      </p:sp>
      <p:sp>
        <p:nvSpPr>
          <p:cNvPr id="25" name="TextBox 24"/>
          <p:cNvSpPr txBox="1"/>
          <p:nvPr/>
        </p:nvSpPr>
        <p:spPr>
          <a:xfrm>
            <a:off x="8067681" y="6285482"/>
            <a:ext cx="1477969" cy="461665"/>
          </a:xfrm>
          <a:prstGeom prst="rect">
            <a:avLst/>
          </a:prstGeom>
          <a:noFill/>
        </p:spPr>
        <p:txBody>
          <a:bodyPr vert="horz" wrap="none" lIns="0" tIns="0" rIns="0" bIns="0" rtlCol="0">
            <a:spAutoFit/>
          </a:bodyPr>
          <a:lstStyle/>
          <a:p>
            <a:pPr>
              <a:lnSpc>
                <a:spcPts val="1800"/>
              </a:lnSpc>
            </a:pPr>
            <a:r>
              <a:rPr lang="en-US" altLang="zh-CN" dirty="0" err="1">
                <a:solidFill>
                  <a:srgbClr val="000000"/>
                </a:solidFill>
                <a:latin typeface="Times New Roman"/>
              </a:rPr>
              <a:t>Pwc</a:t>
            </a:r>
            <a:endParaRPr lang="en-US" altLang="zh-CN" dirty="0">
              <a:solidFill>
                <a:srgbClr val="000000"/>
              </a:solidFill>
              <a:latin typeface="Times New Roman"/>
            </a:endParaRPr>
          </a:p>
          <a:p>
            <a:pPr>
              <a:lnSpc>
                <a:spcPts val="1779"/>
              </a:lnSpc>
            </a:pPr>
            <a:r>
              <a:rPr lang="zh-CN" altLang="en-US" sz="1478" dirty="0">
                <a:solidFill>
                  <a:srgbClr val="000000"/>
                </a:solidFill>
                <a:latin typeface="Times New Roman"/>
              </a:rPr>
              <a:t>普     華     永     道</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myslide37">
    <p:spTree>
      <p:nvGrpSpPr>
        <p:cNvPr id="1" name=""/>
        <p:cNvGrpSpPr/>
        <p:nvPr/>
      </p:nvGrpSpPr>
      <p:grpSpPr>
        <a:xfrm>
          <a:off x="0" y="0"/>
          <a:ext cx="0" cy="0"/>
          <a:chOff x="0" y="0"/>
          <a:chExt cx="0" cy="0"/>
        </a:xfrm>
      </p:grpSpPr>
      <p:pic>
        <p:nvPicPr>
          <p:cNvPr id="2" name="图片 1" descr="ws_1CB.tmp"/>
          <p:cNvPicPr>
            <a:picLocks/>
          </p:cNvPicPr>
          <p:nvPr/>
        </p:nvPicPr>
        <p:blipFill>
          <a:blip r:embed="rId2"/>
          <a:stretch>
            <a:fillRect/>
          </a:stretch>
        </p:blipFill>
        <p:spPr>
          <a:xfrm>
            <a:off x="0" y="0"/>
            <a:ext cx="9880600" cy="6819900"/>
          </a:xfrm>
          <a:prstGeom prst="rect">
            <a:avLst/>
          </a:prstGeom>
        </p:spPr>
      </p:pic>
      <p:sp>
        <p:nvSpPr>
          <p:cNvPr id="3" name="TextBox 2"/>
          <p:cNvSpPr txBox="1"/>
          <p:nvPr/>
        </p:nvSpPr>
        <p:spPr>
          <a:xfrm>
            <a:off x="587134" y="2792940"/>
            <a:ext cx="174728" cy="224420"/>
          </a:xfrm>
          <a:prstGeom prst="rect">
            <a:avLst/>
          </a:prstGeom>
          <a:noFill/>
        </p:spPr>
        <p:txBody>
          <a:bodyPr vert="horz" wrap="none" lIns="0" tIns="0" rIns="0" bIns="0" rtlCol="0">
            <a:spAutoFit/>
          </a:bodyPr>
          <a:lstStyle/>
          <a:p>
            <a:pPr>
              <a:lnSpc>
                <a:spcPts val="1665"/>
              </a:lnSpc>
            </a:pPr>
            <a:r>
              <a:rPr lang="en-US" altLang="zh-CN" dirty="0">
                <a:solidFill>
                  <a:srgbClr val="000000"/>
                </a:solidFill>
                <a:latin typeface="Times New Roman"/>
              </a:rPr>
              <a:t>1.</a:t>
            </a:r>
            <a:endParaRPr lang="zh-CN" altLang="en-US" dirty="0">
              <a:solidFill>
                <a:srgbClr val="000000"/>
              </a:solidFill>
              <a:latin typeface="Times New Roman"/>
            </a:endParaRPr>
          </a:p>
        </p:txBody>
      </p:sp>
      <p:sp>
        <p:nvSpPr>
          <p:cNvPr id="4" name="TextBox 3"/>
          <p:cNvSpPr txBox="1"/>
          <p:nvPr/>
        </p:nvSpPr>
        <p:spPr>
          <a:xfrm>
            <a:off x="587134" y="3068015"/>
            <a:ext cx="174728" cy="224420"/>
          </a:xfrm>
          <a:prstGeom prst="rect">
            <a:avLst/>
          </a:prstGeom>
          <a:noFill/>
        </p:spPr>
        <p:txBody>
          <a:bodyPr vert="horz" wrap="none" lIns="0" tIns="0" rIns="0" bIns="0" rtlCol="0">
            <a:spAutoFit/>
          </a:bodyPr>
          <a:lstStyle/>
          <a:p>
            <a:pPr>
              <a:lnSpc>
                <a:spcPts val="1665"/>
              </a:lnSpc>
            </a:pPr>
            <a:r>
              <a:rPr lang="en-US" altLang="zh-CN" dirty="0">
                <a:solidFill>
                  <a:srgbClr val="000000"/>
                </a:solidFill>
                <a:latin typeface="Times New Roman"/>
              </a:rPr>
              <a:t>2.</a:t>
            </a:r>
            <a:endParaRPr lang="zh-CN" altLang="en-US" dirty="0">
              <a:solidFill>
                <a:srgbClr val="000000"/>
              </a:solidFill>
              <a:latin typeface="Times New Roman"/>
            </a:endParaRPr>
          </a:p>
        </p:txBody>
      </p:sp>
      <p:sp>
        <p:nvSpPr>
          <p:cNvPr id="5" name="TextBox 4"/>
          <p:cNvSpPr txBox="1"/>
          <p:nvPr/>
        </p:nvSpPr>
        <p:spPr>
          <a:xfrm>
            <a:off x="587134" y="3327864"/>
            <a:ext cx="174728" cy="224420"/>
          </a:xfrm>
          <a:prstGeom prst="rect">
            <a:avLst/>
          </a:prstGeom>
          <a:noFill/>
        </p:spPr>
        <p:txBody>
          <a:bodyPr vert="horz" wrap="none" lIns="0" tIns="0" rIns="0" bIns="0" rtlCol="0">
            <a:spAutoFit/>
          </a:bodyPr>
          <a:lstStyle/>
          <a:p>
            <a:pPr>
              <a:lnSpc>
                <a:spcPts val="1665"/>
              </a:lnSpc>
            </a:pPr>
            <a:r>
              <a:rPr lang="en-US" altLang="zh-CN" dirty="0">
                <a:solidFill>
                  <a:srgbClr val="000000"/>
                </a:solidFill>
                <a:latin typeface="Times New Roman"/>
              </a:rPr>
              <a:t>3.</a:t>
            </a:r>
            <a:endParaRPr lang="zh-CN" altLang="en-US" dirty="0">
              <a:solidFill>
                <a:srgbClr val="000000"/>
              </a:solidFill>
              <a:latin typeface="Times New Roman"/>
            </a:endParaRPr>
          </a:p>
        </p:txBody>
      </p:sp>
      <p:sp>
        <p:nvSpPr>
          <p:cNvPr id="6" name="TextBox 5"/>
          <p:cNvSpPr txBox="1"/>
          <p:nvPr/>
        </p:nvSpPr>
        <p:spPr>
          <a:xfrm>
            <a:off x="587134" y="3602939"/>
            <a:ext cx="174728" cy="224420"/>
          </a:xfrm>
          <a:prstGeom prst="rect">
            <a:avLst/>
          </a:prstGeom>
          <a:noFill/>
        </p:spPr>
        <p:txBody>
          <a:bodyPr vert="horz" wrap="none" lIns="0" tIns="0" rIns="0" bIns="0" rtlCol="0">
            <a:spAutoFit/>
          </a:bodyPr>
          <a:lstStyle/>
          <a:p>
            <a:pPr>
              <a:lnSpc>
                <a:spcPts val="1665"/>
              </a:lnSpc>
            </a:pPr>
            <a:r>
              <a:rPr lang="en-US" altLang="zh-CN" dirty="0">
                <a:solidFill>
                  <a:srgbClr val="000000"/>
                </a:solidFill>
                <a:latin typeface="Times New Roman"/>
              </a:rPr>
              <a:t>4.</a:t>
            </a:r>
            <a:endParaRPr lang="zh-CN" altLang="en-US" dirty="0">
              <a:solidFill>
                <a:srgbClr val="000000"/>
              </a:solidFill>
              <a:latin typeface="Times New Roman"/>
            </a:endParaRPr>
          </a:p>
        </p:txBody>
      </p:sp>
      <p:sp>
        <p:nvSpPr>
          <p:cNvPr id="7" name="TextBox 6"/>
          <p:cNvSpPr txBox="1"/>
          <p:nvPr/>
        </p:nvSpPr>
        <p:spPr>
          <a:xfrm>
            <a:off x="587134" y="4166049"/>
            <a:ext cx="174728" cy="224420"/>
          </a:xfrm>
          <a:prstGeom prst="rect">
            <a:avLst/>
          </a:prstGeom>
          <a:noFill/>
        </p:spPr>
        <p:txBody>
          <a:bodyPr vert="horz" wrap="none" lIns="0" tIns="0" rIns="0" bIns="0" rtlCol="0">
            <a:spAutoFit/>
          </a:bodyPr>
          <a:lstStyle/>
          <a:p>
            <a:pPr>
              <a:lnSpc>
                <a:spcPts val="1665"/>
              </a:lnSpc>
            </a:pPr>
            <a:r>
              <a:rPr lang="en-US" altLang="zh-CN" dirty="0">
                <a:solidFill>
                  <a:srgbClr val="000000"/>
                </a:solidFill>
                <a:latin typeface="Times New Roman"/>
              </a:rPr>
              <a:t>5.</a:t>
            </a:r>
            <a:endParaRPr lang="zh-CN" altLang="en-US" dirty="0">
              <a:solidFill>
                <a:srgbClr val="000000"/>
              </a:solidFill>
              <a:latin typeface="Times New Roman"/>
            </a:endParaRPr>
          </a:p>
        </p:txBody>
      </p:sp>
      <p:sp>
        <p:nvSpPr>
          <p:cNvPr id="8" name="TextBox 7"/>
          <p:cNvSpPr txBox="1"/>
          <p:nvPr/>
        </p:nvSpPr>
        <p:spPr>
          <a:xfrm>
            <a:off x="587134" y="4700973"/>
            <a:ext cx="174728" cy="224420"/>
          </a:xfrm>
          <a:prstGeom prst="rect">
            <a:avLst/>
          </a:prstGeom>
          <a:noFill/>
        </p:spPr>
        <p:txBody>
          <a:bodyPr vert="horz" wrap="none" lIns="0" tIns="0" rIns="0" bIns="0" rtlCol="0">
            <a:spAutoFit/>
          </a:bodyPr>
          <a:lstStyle/>
          <a:p>
            <a:pPr>
              <a:lnSpc>
                <a:spcPts val="1665"/>
              </a:lnSpc>
            </a:pPr>
            <a:r>
              <a:rPr lang="en-US" altLang="zh-CN" dirty="0">
                <a:solidFill>
                  <a:srgbClr val="000000"/>
                </a:solidFill>
                <a:latin typeface="Times New Roman"/>
              </a:rPr>
              <a:t>6.</a:t>
            </a:r>
            <a:endParaRPr lang="zh-CN" altLang="en-US" dirty="0">
              <a:solidFill>
                <a:srgbClr val="000000"/>
              </a:solidFill>
              <a:latin typeface="Times New Roman"/>
            </a:endParaRPr>
          </a:p>
        </p:txBody>
      </p:sp>
      <p:sp>
        <p:nvSpPr>
          <p:cNvPr id="9" name="TextBox 8"/>
          <p:cNvSpPr txBox="1"/>
          <p:nvPr/>
        </p:nvSpPr>
        <p:spPr>
          <a:xfrm>
            <a:off x="587134" y="4990541"/>
            <a:ext cx="174728" cy="224420"/>
          </a:xfrm>
          <a:prstGeom prst="rect">
            <a:avLst/>
          </a:prstGeom>
          <a:noFill/>
        </p:spPr>
        <p:txBody>
          <a:bodyPr vert="horz" wrap="none" lIns="0" tIns="0" rIns="0" bIns="0" rtlCol="0">
            <a:spAutoFit/>
          </a:bodyPr>
          <a:lstStyle/>
          <a:p>
            <a:pPr>
              <a:lnSpc>
                <a:spcPts val="1665"/>
              </a:lnSpc>
            </a:pPr>
            <a:r>
              <a:rPr lang="en-US" altLang="zh-CN" dirty="0">
                <a:solidFill>
                  <a:srgbClr val="000000"/>
                </a:solidFill>
                <a:latin typeface="Times New Roman"/>
              </a:rPr>
              <a:t>7.</a:t>
            </a:r>
            <a:endParaRPr lang="zh-CN" altLang="en-US" dirty="0">
              <a:solidFill>
                <a:srgbClr val="000000"/>
              </a:solidFill>
              <a:latin typeface="Times New Roman"/>
            </a:endParaRPr>
          </a:p>
        </p:txBody>
      </p:sp>
      <p:sp>
        <p:nvSpPr>
          <p:cNvPr id="10" name="TextBox 9"/>
          <p:cNvSpPr txBox="1"/>
          <p:nvPr/>
        </p:nvSpPr>
        <p:spPr>
          <a:xfrm>
            <a:off x="509403" y="6341571"/>
            <a:ext cx="144270" cy="133370"/>
          </a:xfrm>
          <a:prstGeom prst="rect">
            <a:avLst/>
          </a:prstGeom>
          <a:noFill/>
        </p:spPr>
        <p:txBody>
          <a:bodyPr vert="horz" wrap="none" lIns="0" tIns="0" rIns="0" bIns="0" rtlCol="0">
            <a:spAutoFit/>
          </a:bodyPr>
          <a:lstStyle/>
          <a:p>
            <a:pPr>
              <a:lnSpc>
                <a:spcPts val="1016"/>
              </a:lnSpc>
            </a:pPr>
            <a:r>
              <a:rPr lang="en-US" altLang="zh-CN" sz="1098" dirty="0">
                <a:solidFill>
                  <a:srgbClr val="761437"/>
                </a:solidFill>
                <a:latin typeface="Times New Roman"/>
              </a:rPr>
              <a:t>37</a:t>
            </a:r>
            <a:endParaRPr lang="zh-CN" altLang="en-US" sz="1098" dirty="0">
              <a:solidFill>
                <a:srgbClr val="761437"/>
              </a:solidFill>
              <a:latin typeface="Times New Roman"/>
            </a:endParaRPr>
          </a:p>
        </p:txBody>
      </p:sp>
      <p:sp>
        <p:nvSpPr>
          <p:cNvPr id="11" name="TextBox 10"/>
          <p:cNvSpPr txBox="1"/>
          <p:nvPr/>
        </p:nvSpPr>
        <p:spPr>
          <a:xfrm>
            <a:off x="830205" y="390082"/>
            <a:ext cx="4121321" cy="525785"/>
          </a:xfrm>
          <a:prstGeom prst="rect">
            <a:avLst/>
          </a:prstGeom>
          <a:noFill/>
        </p:spPr>
        <p:txBody>
          <a:bodyPr vert="horz" wrap="none" lIns="0" tIns="0" rIns="0" bIns="0" rtlCol="0">
            <a:spAutoFit/>
          </a:bodyPr>
          <a:lstStyle/>
          <a:p>
            <a:pPr>
              <a:lnSpc>
                <a:spcPts val="4087"/>
              </a:lnSpc>
            </a:pPr>
            <a:r>
              <a:rPr lang="zh-CN" altLang="en-US" sz="3798" dirty="0">
                <a:solidFill>
                  <a:srgbClr val="FFFFFF"/>
                </a:solidFill>
                <a:latin typeface="Times New Roman"/>
              </a:rPr>
              <a:t>資訊與溝通  </a:t>
            </a:r>
            <a:r>
              <a:rPr lang="en-US" altLang="zh-CN" sz="3798" b="1" dirty="0">
                <a:solidFill>
                  <a:srgbClr val="FFFFFF"/>
                </a:solidFill>
                <a:latin typeface="Times New Roman"/>
              </a:rPr>
              <a:t>–  </a:t>
            </a:r>
            <a:r>
              <a:rPr lang="zh-CN" altLang="en-US" sz="3798" dirty="0">
                <a:solidFill>
                  <a:srgbClr val="FFFFFF"/>
                </a:solidFill>
                <a:latin typeface="Times New Roman"/>
              </a:rPr>
              <a:t>溝通</a:t>
            </a:r>
          </a:p>
        </p:txBody>
      </p:sp>
      <p:sp>
        <p:nvSpPr>
          <p:cNvPr id="12" name="TextBox 11"/>
          <p:cNvSpPr txBox="1"/>
          <p:nvPr/>
        </p:nvSpPr>
        <p:spPr>
          <a:xfrm>
            <a:off x="509403" y="1693900"/>
            <a:ext cx="8771632" cy="500137"/>
          </a:xfrm>
          <a:prstGeom prst="rect">
            <a:avLst/>
          </a:prstGeom>
          <a:noFill/>
        </p:spPr>
        <p:txBody>
          <a:bodyPr vert="horz" wrap="none" lIns="0" tIns="0" rIns="0" bIns="0" rtlCol="0">
            <a:spAutoFit/>
          </a:bodyPr>
          <a:lstStyle/>
          <a:p>
            <a:pPr>
              <a:lnSpc>
                <a:spcPts val="1798"/>
              </a:lnSpc>
            </a:pPr>
            <a:r>
              <a:rPr lang="zh-CN" altLang="en-US" dirty="0">
                <a:solidFill>
                  <a:srgbClr val="000000"/>
                </a:solidFill>
                <a:latin typeface="Times New Roman"/>
              </a:rPr>
              <a:t>溝通貫穿於資訊處理的整個過程中。溝通還存在一種更廣泛的意義，如：處理個人和團</a:t>
            </a:r>
          </a:p>
          <a:p>
            <a:pPr>
              <a:lnSpc>
                <a:spcPts val="2052"/>
              </a:lnSpc>
            </a:pPr>
            <a:r>
              <a:rPr lang="zh-CN" altLang="en-US" dirty="0">
                <a:solidFill>
                  <a:srgbClr val="000000"/>
                </a:solidFill>
                <a:latin typeface="Times New Roman"/>
              </a:rPr>
              <a:t>體的期望、職責。有效的溝通必須在整個企業內進行；也包括在與外部進行溝通中。</a:t>
            </a:r>
          </a:p>
        </p:txBody>
      </p:sp>
      <p:sp>
        <p:nvSpPr>
          <p:cNvPr id="13" name="TextBox 12"/>
          <p:cNvSpPr txBox="1"/>
          <p:nvPr/>
        </p:nvSpPr>
        <p:spPr>
          <a:xfrm>
            <a:off x="1044329" y="2760708"/>
            <a:ext cx="4154984" cy="230832"/>
          </a:xfrm>
          <a:prstGeom prst="rect">
            <a:avLst/>
          </a:prstGeom>
          <a:noFill/>
        </p:spPr>
        <p:txBody>
          <a:bodyPr vert="horz" wrap="none" lIns="0" tIns="0" rIns="0" bIns="0" rtlCol="0">
            <a:spAutoFit/>
          </a:bodyPr>
          <a:lstStyle/>
          <a:p>
            <a:pPr>
              <a:lnSpc>
                <a:spcPts val="1798"/>
              </a:lnSpc>
            </a:pPr>
            <a:r>
              <a:rPr lang="zh-CN" altLang="en-US" dirty="0">
                <a:solidFill>
                  <a:srgbClr val="000000"/>
                </a:solidFill>
                <a:latin typeface="Times New Roman"/>
              </a:rPr>
              <a:t>向員工傳達其職責和控制責任的有效性。</a:t>
            </a:r>
          </a:p>
        </p:txBody>
      </p:sp>
      <p:sp>
        <p:nvSpPr>
          <p:cNvPr id="14" name="TextBox 13"/>
          <p:cNvSpPr txBox="1"/>
          <p:nvPr/>
        </p:nvSpPr>
        <p:spPr>
          <a:xfrm>
            <a:off x="1044329" y="3035782"/>
            <a:ext cx="5078313" cy="230832"/>
          </a:xfrm>
          <a:prstGeom prst="rect">
            <a:avLst/>
          </a:prstGeom>
          <a:noFill/>
        </p:spPr>
        <p:txBody>
          <a:bodyPr vert="horz" wrap="none" lIns="0" tIns="0" rIns="0" bIns="0" rtlCol="0">
            <a:spAutoFit/>
          </a:bodyPr>
          <a:lstStyle/>
          <a:p>
            <a:pPr>
              <a:lnSpc>
                <a:spcPts val="1798"/>
              </a:lnSpc>
            </a:pPr>
            <a:r>
              <a:rPr lang="zh-CN" altLang="en-US" dirty="0">
                <a:solidFill>
                  <a:srgbClr val="000000"/>
                </a:solidFill>
                <a:latin typeface="Times New Roman"/>
              </a:rPr>
              <a:t>建立溝通管道供員工反映他們注意到的可疑問題。</a:t>
            </a:r>
          </a:p>
        </p:txBody>
      </p:sp>
      <p:sp>
        <p:nvSpPr>
          <p:cNvPr id="15" name="TextBox 14"/>
          <p:cNvSpPr txBox="1"/>
          <p:nvPr/>
        </p:nvSpPr>
        <p:spPr>
          <a:xfrm>
            <a:off x="1044329" y="3295632"/>
            <a:ext cx="8042266" cy="782265"/>
          </a:xfrm>
          <a:prstGeom prst="rect">
            <a:avLst/>
          </a:prstGeom>
          <a:noFill/>
        </p:spPr>
        <p:txBody>
          <a:bodyPr vert="horz" wrap="none" lIns="0" tIns="0" rIns="0" bIns="0" rtlCol="0">
            <a:spAutoFit/>
          </a:bodyPr>
          <a:lstStyle/>
          <a:p>
            <a:pPr>
              <a:lnSpc>
                <a:spcPts val="1798"/>
              </a:lnSpc>
            </a:pPr>
            <a:r>
              <a:rPr lang="zh-CN" altLang="en-US" dirty="0">
                <a:solidFill>
                  <a:srgbClr val="000000"/>
                </a:solidFill>
                <a:latin typeface="Times New Roman"/>
              </a:rPr>
              <a:t>管理層對於員工提出的提高生產力、品質的建議或其他改進建議的接受能力。</a:t>
            </a:r>
          </a:p>
          <a:p>
            <a:pPr>
              <a:lnSpc>
                <a:spcPts val="2287"/>
              </a:lnSpc>
            </a:pPr>
            <a:r>
              <a:rPr lang="zh-CN" altLang="en-US" dirty="0">
                <a:solidFill>
                  <a:srgbClr val="000000"/>
                </a:solidFill>
                <a:latin typeface="Times New Roman"/>
              </a:rPr>
              <a:t>整個企業內部是否充分交流 </a:t>
            </a:r>
            <a:r>
              <a:rPr lang="en-US" altLang="zh-CN" dirty="0">
                <a:solidFill>
                  <a:srgbClr val="000000"/>
                </a:solidFill>
                <a:latin typeface="Times New Roman"/>
              </a:rPr>
              <a:t>(</a:t>
            </a:r>
            <a:r>
              <a:rPr lang="zh-CN" altLang="en-US" dirty="0">
                <a:solidFill>
                  <a:srgbClr val="000000"/>
                </a:solidFill>
                <a:latin typeface="Times New Roman"/>
              </a:rPr>
              <a:t>比如，採購和生產環節的交流</a:t>
            </a:r>
            <a:r>
              <a:rPr lang="en-US" altLang="zh-CN" dirty="0">
                <a:solidFill>
                  <a:srgbClr val="000000"/>
                </a:solidFill>
                <a:latin typeface="Times New Roman"/>
              </a:rPr>
              <a:t>)</a:t>
            </a:r>
            <a:r>
              <a:rPr lang="zh-CN" altLang="en-US" dirty="0">
                <a:solidFill>
                  <a:srgbClr val="000000"/>
                </a:solidFill>
                <a:latin typeface="Times New Roman"/>
              </a:rPr>
              <a:t>；資訊是否完整和及</a:t>
            </a:r>
          </a:p>
          <a:p>
            <a:pPr>
              <a:lnSpc>
                <a:spcPts val="2039"/>
              </a:lnSpc>
            </a:pPr>
            <a:r>
              <a:rPr lang="zh-CN" altLang="en-US" dirty="0">
                <a:solidFill>
                  <a:srgbClr val="000000"/>
                </a:solidFill>
                <a:latin typeface="Times New Roman"/>
              </a:rPr>
              <a:t>時；以及資訊是否足夠滿足相關人員有效地履行職責的需要。</a:t>
            </a:r>
          </a:p>
        </p:txBody>
      </p:sp>
      <p:sp>
        <p:nvSpPr>
          <p:cNvPr id="16" name="TextBox 15"/>
          <p:cNvSpPr txBox="1"/>
          <p:nvPr/>
        </p:nvSpPr>
        <p:spPr>
          <a:xfrm>
            <a:off x="1044329" y="4133817"/>
            <a:ext cx="8309967" cy="512961"/>
          </a:xfrm>
          <a:prstGeom prst="rect">
            <a:avLst/>
          </a:prstGeom>
          <a:noFill/>
        </p:spPr>
        <p:txBody>
          <a:bodyPr vert="horz" wrap="none" lIns="0" tIns="0" rIns="0" bIns="0" rtlCol="0">
            <a:spAutoFit/>
          </a:bodyPr>
          <a:lstStyle/>
          <a:p>
            <a:pPr>
              <a:lnSpc>
                <a:spcPts val="1798"/>
              </a:lnSpc>
            </a:pPr>
            <a:r>
              <a:rPr lang="zh-CN" altLang="en-US" dirty="0">
                <a:solidFill>
                  <a:srgbClr val="000000"/>
                </a:solidFill>
                <a:latin typeface="Times New Roman"/>
              </a:rPr>
              <a:t>是否有開放、有效的管道，與客戶、供應商和外部其他方面交流不斷變化的客戶需</a:t>
            </a:r>
          </a:p>
          <a:p>
            <a:pPr>
              <a:lnSpc>
                <a:spcPts val="2166"/>
              </a:lnSpc>
            </a:pPr>
            <a:r>
              <a:rPr lang="zh-CN" altLang="en-US" dirty="0">
                <a:solidFill>
                  <a:srgbClr val="000000"/>
                </a:solidFill>
                <a:latin typeface="Times New Roman"/>
              </a:rPr>
              <a:t>求。</a:t>
            </a:r>
          </a:p>
        </p:txBody>
      </p:sp>
      <p:sp>
        <p:nvSpPr>
          <p:cNvPr id="17" name="TextBox 16"/>
          <p:cNvSpPr txBox="1"/>
          <p:nvPr/>
        </p:nvSpPr>
        <p:spPr>
          <a:xfrm>
            <a:off x="1044329" y="4668740"/>
            <a:ext cx="3693319" cy="230832"/>
          </a:xfrm>
          <a:prstGeom prst="rect">
            <a:avLst/>
          </a:prstGeom>
          <a:noFill/>
        </p:spPr>
        <p:txBody>
          <a:bodyPr vert="horz" wrap="none" lIns="0" tIns="0" rIns="0" bIns="0" rtlCol="0">
            <a:spAutoFit/>
          </a:bodyPr>
          <a:lstStyle/>
          <a:p>
            <a:pPr>
              <a:lnSpc>
                <a:spcPts val="1798"/>
              </a:lnSpc>
            </a:pPr>
            <a:r>
              <a:rPr lang="zh-CN" altLang="en-US" dirty="0">
                <a:solidFill>
                  <a:srgbClr val="000000"/>
                </a:solidFill>
                <a:latin typeface="Times New Roman"/>
              </a:rPr>
              <a:t>外部相關方瞭解企業道德標準的程度</a:t>
            </a:r>
          </a:p>
        </p:txBody>
      </p:sp>
      <p:sp>
        <p:nvSpPr>
          <p:cNvPr id="18" name="TextBox 17"/>
          <p:cNvSpPr txBox="1"/>
          <p:nvPr/>
        </p:nvSpPr>
        <p:spPr>
          <a:xfrm>
            <a:off x="1044329" y="4958308"/>
            <a:ext cx="8309967" cy="487313"/>
          </a:xfrm>
          <a:prstGeom prst="rect">
            <a:avLst/>
          </a:prstGeom>
          <a:noFill/>
        </p:spPr>
        <p:txBody>
          <a:bodyPr vert="horz" wrap="none" lIns="0" tIns="0" rIns="0" bIns="0" rtlCol="0">
            <a:spAutoFit/>
          </a:bodyPr>
          <a:lstStyle/>
          <a:p>
            <a:pPr>
              <a:lnSpc>
                <a:spcPts val="1798"/>
              </a:lnSpc>
            </a:pPr>
            <a:r>
              <a:rPr lang="zh-CN" altLang="en-US" dirty="0">
                <a:solidFill>
                  <a:srgbClr val="000000"/>
                </a:solidFill>
                <a:latin typeface="Times New Roman"/>
              </a:rPr>
              <a:t>在收到客戶、供應商、監管者和其他外部人員反映的情況後，管理層採取的及時和</a:t>
            </a:r>
          </a:p>
          <a:p>
            <a:pPr>
              <a:lnSpc>
                <a:spcPts val="2046"/>
              </a:lnSpc>
            </a:pPr>
            <a:r>
              <a:rPr lang="zh-CN" altLang="en-US" dirty="0">
                <a:solidFill>
                  <a:srgbClr val="000000"/>
                </a:solidFill>
                <a:latin typeface="Times New Roman"/>
              </a:rPr>
              <a:t>適當的應對措施。</a:t>
            </a:r>
          </a:p>
        </p:txBody>
      </p:sp>
      <p:sp>
        <p:nvSpPr>
          <p:cNvPr id="19" name="TextBox 18"/>
          <p:cNvSpPr txBox="1"/>
          <p:nvPr/>
        </p:nvSpPr>
        <p:spPr>
          <a:xfrm>
            <a:off x="8067681" y="6285482"/>
            <a:ext cx="1477969" cy="461665"/>
          </a:xfrm>
          <a:prstGeom prst="rect">
            <a:avLst/>
          </a:prstGeom>
          <a:noFill/>
        </p:spPr>
        <p:txBody>
          <a:bodyPr vert="horz" wrap="none" lIns="0" tIns="0" rIns="0" bIns="0" rtlCol="0">
            <a:spAutoFit/>
          </a:bodyPr>
          <a:lstStyle/>
          <a:p>
            <a:pPr>
              <a:lnSpc>
                <a:spcPts val="1800"/>
              </a:lnSpc>
            </a:pPr>
            <a:r>
              <a:rPr lang="en-US" altLang="zh-CN" dirty="0" err="1">
                <a:solidFill>
                  <a:srgbClr val="000000"/>
                </a:solidFill>
                <a:latin typeface="Times New Roman"/>
              </a:rPr>
              <a:t>Pwc</a:t>
            </a:r>
            <a:endParaRPr lang="en-US" altLang="zh-CN" dirty="0">
              <a:solidFill>
                <a:srgbClr val="000000"/>
              </a:solidFill>
              <a:latin typeface="Times New Roman"/>
            </a:endParaRPr>
          </a:p>
          <a:p>
            <a:pPr>
              <a:lnSpc>
                <a:spcPts val="1779"/>
              </a:lnSpc>
            </a:pPr>
            <a:r>
              <a:rPr lang="zh-CN" altLang="en-US" sz="1478" dirty="0">
                <a:solidFill>
                  <a:srgbClr val="000000"/>
                </a:solidFill>
                <a:latin typeface="Times New Roman"/>
              </a:rPr>
              <a:t>普     華     永     道</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myslide38">
    <p:spTree>
      <p:nvGrpSpPr>
        <p:cNvPr id="1" name=""/>
        <p:cNvGrpSpPr/>
        <p:nvPr/>
      </p:nvGrpSpPr>
      <p:grpSpPr>
        <a:xfrm>
          <a:off x="0" y="0"/>
          <a:ext cx="0" cy="0"/>
          <a:chOff x="0" y="0"/>
          <a:chExt cx="0" cy="0"/>
        </a:xfrm>
      </p:grpSpPr>
      <p:pic>
        <p:nvPicPr>
          <p:cNvPr id="2" name="图片 1" descr="ws_1CD.tmp"/>
          <p:cNvPicPr>
            <a:picLocks/>
          </p:cNvPicPr>
          <p:nvPr/>
        </p:nvPicPr>
        <p:blipFill>
          <a:blip r:embed="rId2"/>
          <a:stretch>
            <a:fillRect/>
          </a:stretch>
        </p:blipFill>
        <p:spPr>
          <a:xfrm>
            <a:off x="0" y="0"/>
            <a:ext cx="9880600" cy="6819900"/>
          </a:xfrm>
          <a:prstGeom prst="rect">
            <a:avLst/>
          </a:prstGeom>
        </p:spPr>
      </p:pic>
      <p:sp>
        <p:nvSpPr>
          <p:cNvPr id="3" name="TextBox 2"/>
          <p:cNvSpPr txBox="1"/>
          <p:nvPr/>
        </p:nvSpPr>
        <p:spPr>
          <a:xfrm>
            <a:off x="587134" y="2520144"/>
            <a:ext cx="174728" cy="224420"/>
          </a:xfrm>
          <a:prstGeom prst="rect">
            <a:avLst/>
          </a:prstGeom>
          <a:noFill/>
        </p:spPr>
        <p:txBody>
          <a:bodyPr vert="horz" wrap="none" lIns="0" tIns="0" rIns="0" bIns="0" rtlCol="0">
            <a:spAutoFit/>
          </a:bodyPr>
          <a:lstStyle/>
          <a:p>
            <a:pPr>
              <a:lnSpc>
                <a:spcPts val="1665"/>
              </a:lnSpc>
            </a:pPr>
            <a:r>
              <a:rPr lang="en-US" altLang="zh-CN" dirty="0">
                <a:solidFill>
                  <a:srgbClr val="000000"/>
                </a:solidFill>
                <a:latin typeface="Times New Roman"/>
              </a:rPr>
              <a:t>1.</a:t>
            </a:r>
            <a:endParaRPr lang="zh-CN" altLang="en-US" dirty="0">
              <a:solidFill>
                <a:srgbClr val="000000"/>
              </a:solidFill>
              <a:latin typeface="Times New Roman"/>
            </a:endParaRPr>
          </a:p>
        </p:txBody>
      </p:sp>
      <p:sp>
        <p:nvSpPr>
          <p:cNvPr id="4" name="TextBox 3"/>
          <p:cNvSpPr txBox="1"/>
          <p:nvPr/>
        </p:nvSpPr>
        <p:spPr>
          <a:xfrm>
            <a:off x="587134" y="3055068"/>
            <a:ext cx="174728" cy="224420"/>
          </a:xfrm>
          <a:prstGeom prst="rect">
            <a:avLst/>
          </a:prstGeom>
          <a:noFill/>
        </p:spPr>
        <p:txBody>
          <a:bodyPr vert="horz" wrap="none" lIns="0" tIns="0" rIns="0" bIns="0" rtlCol="0">
            <a:spAutoFit/>
          </a:bodyPr>
          <a:lstStyle/>
          <a:p>
            <a:pPr>
              <a:lnSpc>
                <a:spcPts val="1665"/>
              </a:lnSpc>
            </a:pPr>
            <a:r>
              <a:rPr lang="en-US" altLang="zh-CN" dirty="0">
                <a:solidFill>
                  <a:srgbClr val="000000"/>
                </a:solidFill>
                <a:latin typeface="Times New Roman"/>
              </a:rPr>
              <a:t>2.</a:t>
            </a:r>
            <a:endParaRPr lang="zh-CN" altLang="en-US" dirty="0">
              <a:solidFill>
                <a:srgbClr val="000000"/>
              </a:solidFill>
              <a:latin typeface="Times New Roman"/>
            </a:endParaRPr>
          </a:p>
        </p:txBody>
      </p:sp>
      <p:sp>
        <p:nvSpPr>
          <p:cNvPr id="5" name="TextBox 4"/>
          <p:cNvSpPr txBox="1"/>
          <p:nvPr/>
        </p:nvSpPr>
        <p:spPr>
          <a:xfrm>
            <a:off x="587134" y="3329388"/>
            <a:ext cx="174728" cy="224420"/>
          </a:xfrm>
          <a:prstGeom prst="rect">
            <a:avLst/>
          </a:prstGeom>
          <a:noFill/>
        </p:spPr>
        <p:txBody>
          <a:bodyPr vert="horz" wrap="none" lIns="0" tIns="0" rIns="0" bIns="0" rtlCol="0">
            <a:spAutoFit/>
          </a:bodyPr>
          <a:lstStyle/>
          <a:p>
            <a:pPr>
              <a:lnSpc>
                <a:spcPts val="1665"/>
              </a:lnSpc>
            </a:pPr>
            <a:r>
              <a:rPr lang="en-US" altLang="zh-CN" dirty="0">
                <a:solidFill>
                  <a:srgbClr val="000000"/>
                </a:solidFill>
                <a:latin typeface="Times New Roman"/>
              </a:rPr>
              <a:t>3.</a:t>
            </a:r>
            <a:endParaRPr lang="zh-CN" altLang="en-US" dirty="0">
              <a:solidFill>
                <a:srgbClr val="000000"/>
              </a:solidFill>
              <a:latin typeface="Times New Roman"/>
            </a:endParaRPr>
          </a:p>
        </p:txBody>
      </p:sp>
      <p:sp>
        <p:nvSpPr>
          <p:cNvPr id="6" name="TextBox 5"/>
          <p:cNvSpPr txBox="1"/>
          <p:nvPr/>
        </p:nvSpPr>
        <p:spPr>
          <a:xfrm>
            <a:off x="587134" y="3604463"/>
            <a:ext cx="174728" cy="224420"/>
          </a:xfrm>
          <a:prstGeom prst="rect">
            <a:avLst/>
          </a:prstGeom>
          <a:noFill/>
        </p:spPr>
        <p:txBody>
          <a:bodyPr vert="horz" wrap="none" lIns="0" tIns="0" rIns="0" bIns="0" rtlCol="0">
            <a:spAutoFit/>
          </a:bodyPr>
          <a:lstStyle/>
          <a:p>
            <a:pPr>
              <a:lnSpc>
                <a:spcPts val="1665"/>
              </a:lnSpc>
            </a:pPr>
            <a:r>
              <a:rPr lang="en-US" altLang="zh-CN" dirty="0">
                <a:solidFill>
                  <a:srgbClr val="000000"/>
                </a:solidFill>
                <a:latin typeface="Times New Roman"/>
              </a:rPr>
              <a:t>4.</a:t>
            </a:r>
            <a:endParaRPr lang="zh-CN" altLang="en-US" dirty="0">
              <a:solidFill>
                <a:srgbClr val="000000"/>
              </a:solidFill>
              <a:latin typeface="Times New Roman"/>
            </a:endParaRPr>
          </a:p>
        </p:txBody>
      </p:sp>
      <p:sp>
        <p:nvSpPr>
          <p:cNvPr id="7" name="TextBox 6"/>
          <p:cNvSpPr txBox="1"/>
          <p:nvPr/>
        </p:nvSpPr>
        <p:spPr>
          <a:xfrm>
            <a:off x="587134" y="3878783"/>
            <a:ext cx="174728" cy="224420"/>
          </a:xfrm>
          <a:prstGeom prst="rect">
            <a:avLst/>
          </a:prstGeom>
          <a:noFill/>
        </p:spPr>
        <p:txBody>
          <a:bodyPr vert="horz" wrap="none" lIns="0" tIns="0" rIns="0" bIns="0" rtlCol="0">
            <a:spAutoFit/>
          </a:bodyPr>
          <a:lstStyle/>
          <a:p>
            <a:pPr>
              <a:lnSpc>
                <a:spcPts val="1665"/>
              </a:lnSpc>
            </a:pPr>
            <a:r>
              <a:rPr lang="en-US" altLang="zh-CN" dirty="0">
                <a:solidFill>
                  <a:srgbClr val="000000"/>
                </a:solidFill>
                <a:latin typeface="Times New Roman"/>
              </a:rPr>
              <a:t>5.</a:t>
            </a:r>
            <a:endParaRPr lang="zh-CN" altLang="en-US" dirty="0">
              <a:solidFill>
                <a:srgbClr val="000000"/>
              </a:solidFill>
              <a:latin typeface="Times New Roman"/>
            </a:endParaRPr>
          </a:p>
        </p:txBody>
      </p:sp>
      <p:sp>
        <p:nvSpPr>
          <p:cNvPr id="8" name="TextBox 7"/>
          <p:cNvSpPr txBox="1"/>
          <p:nvPr/>
        </p:nvSpPr>
        <p:spPr>
          <a:xfrm>
            <a:off x="587134" y="4167573"/>
            <a:ext cx="174728" cy="224420"/>
          </a:xfrm>
          <a:prstGeom prst="rect">
            <a:avLst/>
          </a:prstGeom>
          <a:noFill/>
        </p:spPr>
        <p:txBody>
          <a:bodyPr vert="horz" wrap="none" lIns="0" tIns="0" rIns="0" bIns="0" rtlCol="0">
            <a:spAutoFit/>
          </a:bodyPr>
          <a:lstStyle/>
          <a:p>
            <a:pPr>
              <a:lnSpc>
                <a:spcPts val="1665"/>
              </a:lnSpc>
            </a:pPr>
            <a:r>
              <a:rPr lang="en-US" altLang="zh-CN" dirty="0">
                <a:solidFill>
                  <a:srgbClr val="000000"/>
                </a:solidFill>
                <a:latin typeface="Times New Roman"/>
              </a:rPr>
              <a:t>6.</a:t>
            </a:r>
            <a:endParaRPr lang="zh-CN" altLang="en-US" dirty="0">
              <a:solidFill>
                <a:srgbClr val="000000"/>
              </a:solidFill>
              <a:latin typeface="Times New Roman"/>
            </a:endParaRPr>
          </a:p>
        </p:txBody>
      </p:sp>
      <p:sp>
        <p:nvSpPr>
          <p:cNvPr id="9" name="TextBox 8"/>
          <p:cNvSpPr txBox="1"/>
          <p:nvPr/>
        </p:nvSpPr>
        <p:spPr>
          <a:xfrm>
            <a:off x="587134" y="4702497"/>
            <a:ext cx="174728" cy="224420"/>
          </a:xfrm>
          <a:prstGeom prst="rect">
            <a:avLst/>
          </a:prstGeom>
          <a:noFill/>
        </p:spPr>
        <p:txBody>
          <a:bodyPr vert="horz" wrap="none" lIns="0" tIns="0" rIns="0" bIns="0" rtlCol="0">
            <a:spAutoFit/>
          </a:bodyPr>
          <a:lstStyle/>
          <a:p>
            <a:pPr>
              <a:lnSpc>
                <a:spcPts val="1665"/>
              </a:lnSpc>
            </a:pPr>
            <a:r>
              <a:rPr lang="en-US" altLang="zh-CN" dirty="0">
                <a:solidFill>
                  <a:srgbClr val="000000"/>
                </a:solidFill>
                <a:latin typeface="Times New Roman"/>
              </a:rPr>
              <a:t>7.</a:t>
            </a:r>
            <a:endParaRPr lang="zh-CN" altLang="en-US" dirty="0">
              <a:solidFill>
                <a:srgbClr val="000000"/>
              </a:solidFill>
              <a:latin typeface="Times New Roman"/>
            </a:endParaRPr>
          </a:p>
        </p:txBody>
      </p:sp>
      <p:sp>
        <p:nvSpPr>
          <p:cNvPr id="10" name="TextBox 9"/>
          <p:cNvSpPr txBox="1"/>
          <p:nvPr/>
        </p:nvSpPr>
        <p:spPr>
          <a:xfrm>
            <a:off x="509403" y="6341571"/>
            <a:ext cx="144270" cy="133370"/>
          </a:xfrm>
          <a:prstGeom prst="rect">
            <a:avLst/>
          </a:prstGeom>
          <a:noFill/>
        </p:spPr>
        <p:txBody>
          <a:bodyPr vert="horz" wrap="none" lIns="0" tIns="0" rIns="0" bIns="0" rtlCol="0">
            <a:spAutoFit/>
          </a:bodyPr>
          <a:lstStyle/>
          <a:p>
            <a:pPr>
              <a:lnSpc>
                <a:spcPts val="1016"/>
              </a:lnSpc>
            </a:pPr>
            <a:r>
              <a:rPr lang="en-US" altLang="zh-CN" sz="1098" dirty="0">
                <a:solidFill>
                  <a:srgbClr val="761437"/>
                </a:solidFill>
                <a:latin typeface="Times New Roman"/>
              </a:rPr>
              <a:t>38</a:t>
            </a:r>
            <a:endParaRPr lang="zh-CN" altLang="en-US" sz="1098" dirty="0">
              <a:solidFill>
                <a:srgbClr val="761437"/>
              </a:solidFill>
              <a:latin typeface="Times New Roman"/>
            </a:endParaRPr>
          </a:p>
        </p:txBody>
      </p:sp>
      <p:sp>
        <p:nvSpPr>
          <p:cNvPr id="11" name="TextBox 10"/>
          <p:cNvSpPr txBox="1"/>
          <p:nvPr/>
        </p:nvSpPr>
        <p:spPr>
          <a:xfrm>
            <a:off x="830205" y="390082"/>
            <a:ext cx="3637214" cy="525785"/>
          </a:xfrm>
          <a:prstGeom prst="rect">
            <a:avLst/>
          </a:prstGeom>
          <a:noFill/>
        </p:spPr>
        <p:txBody>
          <a:bodyPr vert="horz" wrap="none" lIns="0" tIns="0" rIns="0" bIns="0" rtlCol="0">
            <a:spAutoFit/>
          </a:bodyPr>
          <a:lstStyle/>
          <a:p>
            <a:pPr>
              <a:lnSpc>
                <a:spcPts val="4087"/>
              </a:lnSpc>
            </a:pPr>
            <a:r>
              <a:rPr lang="zh-CN" altLang="en-US" sz="3798" dirty="0">
                <a:solidFill>
                  <a:srgbClr val="FFFFFF"/>
                </a:solidFill>
                <a:latin typeface="Times New Roman"/>
              </a:rPr>
              <a:t>監控  </a:t>
            </a:r>
            <a:r>
              <a:rPr lang="en-US" altLang="zh-CN" sz="3798" b="1" dirty="0">
                <a:solidFill>
                  <a:srgbClr val="FFFFFF"/>
                </a:solidFill>
                <a:latin typeface="Times New Roman"/>
              </a:rPr>
              <a:t>–  </a:t>
            </a:r>
            <a:r>
              <a:rPr lang="zh-CN" altLang="en-US" sz="3798" dirty="0">
                <a:solidFill>
                  <a:srgbClr val="FFFFFF"/>
                </a:solidFill>
                <a:latin typeface="Times New Roman"/>
              </a:rPr>
              <a:t>日常監控</a:t>
            </a:r>
          </a:p>
        </p:txBody>
      </p:sp>
      <p:sp>
        <p:nvSpPr>
          <p:cNvPr id="12" name="TextBox 11"/>
          <p:cNvSpPr txBox="1"/>
          <p:nvPr/>
        </p:nvSpPr>
        <p:spPr>
          <a:xfrm>
            <a:off x="509403" y="1695424"/>
            <a:ext cx="8771632" cy="500137"/>
          </a:xfrm>
          <a:prstGeom prst="rect">
            <a:avLst/>
          </a:prstGeom>
          <a:noFill/>
        </p:spPr>
        <p:txBody>
          <a:bodyPr vert="horz" wrap="none" lIns="0" tIns="0" rIns="0" bIns="0" rtlCol="0">
            <a:spAutoFit/>
          </a:bodyPr>
          <a:lstStyle/>
          <a:p>
            <a:pPr>
              <a:lnSpc>
                <a:spcPts val="1798"/>
              </a:lnSpc>
            </a:pPr>
            <a:r>
              <a:rPr lang="zh-CN" altLang="en-US" dirty="0">
                <a:solidFill>
                  <a:srgbClr val="000000"/>
                </a:solidFill>
                <a:latin typeface="Times New Roman"/>
              </a:rPr>
              <a:t>日常監控發生在日常運作過程中，包括常規的管理、監管行為，和其他一些人員在履行</a:t>
            </a:r>
          </a:p>
          <a:p>
            <a:pPr>
              <a:lnSpc>
                <a:spcPts val="2052"/>
              </a:lnSpc>
            </a:pPr>
            <a:r>
              <a:rPr lang="zh-CN" altLang="en-US" dirty="0">
                <a:solidFill>
                  <a:srgbClr val="000000"/>
                </a:solidFill>
                <a:latin typeface="Times New Roman"/>
              </a:rPr>
              <a:t>他們評估內控系統表現的職責時所採取的活動。</a:t>
            </a:r>
          </a:p>
        </p:txBody>
      </p:sp>
      <p:sp>
        <p:nvSpPr>
          <p:cNvPr id="13" name="TextBox 12"/>
          <p:cNvSpPr txBox="1"/>
          <p:nvPr/>
        </p:nvSpPr>
        <p:spPr>
          <a:xfrm>
            <a:off x="1044329" y="2487912"/>
            <a:ext cx="8079135" cy="487313"/>
          </a:xfrm>
          <a:prstGeom prst="rect">
            <a:avLst/>
          </a:prstGeom>
          <a:noFill/>
        </p:spPr>
        <p:txBody>
          <a:bodyPr vert="horz" wrap="none" lIns="0" tIns="0" rIns="0" bIns="0" rtlCol="0">
            <a:spAutoFit/>
          </a:bodyPr>
          <a:lstStyle/>
          <a:p>
            <a:pPr>
              <a:lnSpc>
                <a:spcPts val="1798"/>
              </a:lnSpc>
            </a:pPr>
            <a:r>
              <a:rPr lang="zh-CN" altLang="en-US" dirty="0">
                <a:solidFill>
                  <a:srgbClr val="000000"/>
                </a:solidFill>
                <a:latin typeface="Times New Roman"/>
              </a:rPr>
              <a:t>員工在從事其日常活動時，在多大程度上能獲知有關內控系統是否正常運作的信</a:t>
            </a:r>
          </a:p>
          <a:p>
            <a:pPr>
              <a:lnSpc>
                <a:spcPts val="2046"/>
              </a:lnSpc>
            </a:pPr>
            <a:r>
              <a:rPr lang="zh-CN" altLang="en-US" dirty="0">
                <a:solidFill>
                  <a:srgbClr val="000000"/>
                </a:solidFill>
                <a:latin typeface="Times New Roman"/>
              </a:rPr>
              <a:t>息。</a:t>
            </a:r>
          </a:p>
        </p:txBody>
      </p:sp>
      <p:sp>
        <p:nvSpPr>
          <p:cNvPr id="14" name="TextBox 13"/>
          <p:cNvSpPr txBox="1"/>
          <p:nvPr/>
        </p:nvSpPr>
        <p:spPr>
          <a:xfrm>
            <a:off x="1044329" y="3022836"/>
            <a:ext cx="5078313" cy="512961"/>
          </a:xfrm>
          <a:prstGeom prst="rect">
            <a:avLst/>
          </a:prstGeom>
          <a:noFill/>
        </p:spPr>
        <p:txBody>
          <a:bodyPr vert="horz" wrap="none" lIns="0" tIns="0" rIns="0" bIns="0" rtlCol="0">
            <a:spAutoFit/>
          </a:bodyPr>
          <a:lstStyle/>
          <a:p>
            <a:pPr>
              <a:lnSpc>
                <a:spcPts val="1798"/>
              </a:lnSpc>
            </a:pPr>
            <a:r>
              <a:rPr lang="zh-CN" altLang="en-US" dirty="0">
                <a:solidFill>
                  <a:srgbClr val="000000"/>
                </a:solidFill>
                <a:latin typeface="Times New Roman"/>
              </a:rPr>
              <a:t>外部反映的情況證實內部資訊或揭露問題的程度。</a:t>
            </a:r>
          </a:p>
          <a:p>
            <a:pPr>
              <a:lnSpc>
                <a:spcPts val="2160"/>
              </a:lnSpc>
            </a:pPr>
            <a:r>
              <a:rPr lang="zh-CN" altLang="en-US" dirty="0">
                <a:solidFill>
                  <a:srgbClr val="000000"/>
                </a:solidFill>
                <a:latin typeface="Times New Roman"/>
              </a:rPr>
              <a:t>定期將會計系統記錄的結果與實物進行核對</a:t>
            </a:r>
          </a:p>
        </p:txBody>
      </p:sp>
      <p:sp>
        <p:nvSpPr>
          <p:cNvPr id="15" name="TextBox 14"/>
          <p:cNvSpPr txBox="1"/>
          <p:nvPr/>
        </p:nvSpPr>
        <p:spPr>
          <a:xfrm>
            <a:off x="1044329" y="3572230"/>
            <a:ext cx="5539978" cy="230832"/>
          </a:xfrm>
          <a:prstGeom prst="rect">
            <a:avLst/>
          </a:prstGeom>
          <a:noFill/>
        </p:spPr>
        <p:txBody>
          <a:bodyPr vert="horz" wrap="none" lIns="0" tIns="0" rIns="0" bIns="0" rtlCol="0">
            <a:spAutoFit/>
          </a:bodyPr>
          <a:lstStyle/>
          <a:p>
            <a:pPr>
              <a:lnSpc>
                <a:spcPts val="1798"/>
              </a:lnSpc>
            </a:pPr>
            <a:r>
              <a:rPr lang="zh-CN" altLang="en-US" dirty="0">
                <a:solidFill>
                  <a:srgbClr val="000000"/>
                </a:solidFill>
                <a:latin typeface="Times New Roman"/>
              </a:rPr>
              <a:t>對內部和外部審計師提出的加強內控的措施做出回應。</a:t>
            </a:r>
          </a:p>
        </p:txBody>
      </p:sp>
      <p:sp>
        <p:nvSpPr>
          <p:cNvPr id="16" name="TextBox 15"/>
          <p:cNvSpPr txBox="1"/>
          <p:nvPr/>
        </p:nvSpPr>
        <p:spPr>
          <a:xfrm>
            <a:off x="1044329" y="3846550"/>
            <a:ext cx="6924973" cy="230832"/>
          </a:xfrm>
          <a:prstGeom prst="rect">
            <a:avLst/>
          </a:prstGeom>
          <a:noFill/>
        </p:spPr>
        <p:txBody>
          <a:bodyPr vert="horz" wrap="none" lIns="0" tIns="0" rIns="0" bIns="0" rtlCol="0">
            <a:spAutoFit/>
          </a:bodyPr>
          <a:lstStyle/>
          <a:p>
            <a:pPr>
              <a:lnSpc>
                <a:spcPts val="1798"/>
              </a:lnSpc>
            </a:pPr>
            <a:r>
              <a:rPr lang="zh-CN" altLang="en-US" dirty="0">
                <a:solidFill>
                  <a:srgbClr val="000000"/>
                </a:solidFill>
                <a:latin typeface="Times New Roman"/>
              </a:rPr>
              <a:t>培訓、籌備會議和其他會議向管理層就內控有效性進行回饋的程度。</a:t>
            </a:r>
          </a:p>
        </p:txBody>
      </p:sp>
      <p:sp>
        <p:nvSpPr>
          <p:cNvPr id="17" name="TextBox 16"/>
          <p:cNvSpPr txBox="1"/>
          <p:nvPr/>
        </p:nvSpPr>
        <p:spPr>
          <a:xfrm>
            <a:off x="1044329" y="4135340"/>
            <a:ext cx="8309967" cy="500137"/>
          </a:xfrm>
          <a:prstGeom prst="rect">
            <a:avLst/>
          </a:prstGeom>
          <a:noFill/>
        </p:spPr>
        <p:txBody>
          <a:bodyPr vert="horz" wrap="none" lIns="0" tIns="0" rIns="0" bIns="0" rtlCol="0">
            <a:spAutoFit/>
          </a:bodyPr>
          <a:lstStyle/>
          <a:p>
            <a:pPr>
              <a:lnSpc>
                <a:spcPts val="1798"/>
              </a:lnSpc>
            </a:pPr>
            <a:r>
              <a:rPr lang="zh-CN" altLang="en-US" dirty="0">
                <a:solidFill>
                  <a:srgbClr val="000000"/>
                </a:solidFill>
                <a:latin typeface="Times New Roman"/>
              </a:rPr>
              <a:t>是否要求員工定期聲明他們是否理解並遵守了企業的行為準則，並且定期執行了重</a:t>
            </a:r>
          </a:p>
          <a:p>
            <a:pPr>
              <a:lnSpc>
                <a:spcPts val="2052"/>
              </a:lnSpc>
            </a:pPr>
            <a:r>
              <a:rPr lang="zh-CN" altLang="en-US" dirty="0">
                <a:solidFill>
                  <a:srgbClr val="000000"/>
                </a:solidFill>
                <a:latin typeface="Times New Roman"/>
              </a:rPr>
              <a:t>要的控制活動。</a:t>
            </a:r>
          </a:p>
        </p:txBody>
      </p:sp>
      <p:sp>
        <p:nvSpPr>
          <p:cNvPr id="18" name="TextBox 17"/>
          <p:cNvSpPr txBox="1"/>
          <p:nvPr/>
        </p:nvSpPr>
        <p:spPr>
          <a:xfrm>
            <a:off x="1044329" y="4670264"/>
            <a:ext cx="2077492" cy="230832"/>
          </a:xfrm>
          <a:prstGeom prst="rect">
            <a:avLst/>
          </a:prstGeom>
          <a:noFill/>
        </p:spPr>
        <p:txBody>
          <a:bodyPr vert="horz" wrap="none" lIns="0" tIns="0" rIns="0" bIns="0" rtlCol="0">
            <a:spAutoFit/>
          </a:bodyPr>
          <a:lstStyle/>
          <a:p>
            <a:pPr>
              <a:lnSpc>
                <a:spcPts val="1798"/>
              </a:lnSpc>
            </a:pPr>
            <a:r>
              <a:rPr lang="zh-CN" altLang="en-US" dirty="0">
                <a:solidFill>
                  <a:srgbClr val="000000"/>
                </a:solidFill>
                <a:latin typeface="Times New Roman"/>
              </a:rPr>
              <a:t>內審活動的有效性。</a:t>
            </a:r>
          </a:p>
        </p:txBody>
      </p:sp>
      <p:sp>
        <p:nvSpPr>
          <p:cNvPr id="19" name="TextBox 18"/>
          <p:cNvSpPr txBox="1"/>
          <p:nvPr/>
        </p:nvSpPr>
        <p:spPr>
          <a:xfrm>
            <a:off x="8067681" y="6285482"/>
            <a:ext cx="1477969" cy="461665"/>
          </a:xfrm>
          <a:prstGeom prst="rect">
            <a:avLst/>
          </a:prstGeom>
          <a:noFill/>
        </p:spPr>
        <p:txBody>
          <a:bodyPr vert="horz" wrap="none" lIns="0" tIns="0" rIns="0" bIns="0" rtlCol="0">
            <a:spAutoFit/>
          </a:bodyPr>
          <a:lstStyle/>
          <a:p>
            <a:pPr>
              <a:lnSpc>
                <a:spcPts val="1800"/>
              </a:lnSpc>
            </a:pPr>
            <a:r>
              <a:rPr lang="en-US" altLang="zh-CN" dirty="0" err="1">
                <a:solidFill>
                  <a:srgbClr val="000000"/>
                </a:solidFill>
                <a:latin typeface="Times New Roman"/>
              </a:rPr>
              <a:t>Pwc</a:t>
            </a:r>
            <a:endParaRPr lang="en-US" altLang="zh-CN" dirty="0">
              <a:solidFill>
                <a:srgbClr val="000000"/>
              </a:solidFill>
              <a:latin typeface="Times New Roman"/>
            </a:endParaRPr>
          </a:p>
          <a:p>
            <a:pPr>
              <a:lnSpc>
                <a:spcPts val="1779"/>
              </a:lnSpc>
            </a:pPr>
            <a:r>
              <a:rPr lang="zh-CN" altLang="en-US" sz="1478" dirty="0">
                <a:solidFill>
                  <a:srgbClr val="000000"/>
                </a:solidFill>
                <a:latin typeface="Times New Roman"/>
              </a:rPr>
              <a:t>普     華     永     道</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myslide39">
    <p:spTree>
      <p:nvGrpSpPr>
        <p:cNvPr id="1" name=""/>
        <p:cNvGrpSpPr/>
        <p:nvPr/>
      </p:nvGrpSpPr>
      <p:grpSpPr>
        <a:xfrm>
          <a:off x="0" y="0"/>
          <a:ext cx="0" cy="0"/>
          <a:chOff x="0" y="0"/>
          <a:chExt cx="0" cy="0"/>
        </a:xfrm>
      </p:grpSpPr>
      <p:pic>
        <p:nvPicPr>
          <p:cNvPr id="2" name="图片 1" descr="ws_1CF.tmp"/>
          <p:cNvPicPr>
            <a:picLocks/>
          </p:cNvPicPr>
          <p:nvPr/>
        </p:nvPicPr>
        <p:blipFill>
          <a:blip r:embed="rId2"/>
          <a:stretch>
            <a:fillRect/>
          </a:stretch>
        </p:blipFill>
        <p:spPr>
          <a:xfrm>
            <a:off x="0" y="0"/>
            <a:ext cx="9880600" cy="6819900"/>
          </a:xfrm>
          <a:prstGeom prst="rect">
            <a:avLst/>
          </a:prstGeom>
        </p:spPr>
      </p:pic>
      <p:sp>
        <p:nvSpPr>
          <p:cNvPr id="3" name="TextBox 2"/>
          <p:cNvSpPr txBox="1"/>
          <p:nvPr/>
        </p:nvSpPr>
        <p:spPr>
          <a:xfrm>
            <a:off x="7853976" y="3904132"/>
            <a:ext cx="128240" cy="98745"/>
          </a:xfrm>
          <a:prstGeom prst="rect">
            <a:avLst/>
          </a:prstGeom>
          <a:noFill/>
        </p:spPr>
        <p:txBody>
          <a:bodyPr vert="horz" wrap="none" lIns="0" tIns="0" rIns="0" bIns="0" rtlCol="0">
            <a:spAutoFit/>
          </a:bodyPr>
          <a:lstStyle/>
          <a:p>
            <a:pPr>
              <a:lnSpc>
                <a:spcPts val="709"/>
              </a:lnSpc>
            </a:pPr>
            <a:r>
              <a:rPr lang="zh-CN" altLang="en-US" sz="1002" dirty="0">
                <a:solidFill>
                  <a:srgbClr val="FFFFFF"/>
                </a:solidFill>
                <a:latin typeface="Times New Roman"/>
              </a:rPr>
              <a:t>財</a:t>
            </a:r>
          </a:p>
        </p:txBody>
      </p:sp>
      <p:sp>
        <p:nvSpPr>
          <p:cNvPr id="4" name="TextBox 3"/>
          <p:cNvSpPr txBox="1"/>
          <p:nvPr/>
        </p:nvSpPr>
        <p:spPr>
          <a:xfrm>
            <a:off x="7943894" y="3814213"/>
            <a:ext cx="128240" cy="98745"/>
          </a:xfrm>
          <a:prstGeom prst="rect">
            <a:avLst/>
          </a:prstGeom>
          <a:noFill/>
        </p:spPr>
        <p:txBody>
          <a:bodyPr vert="horz" wrap="none" lIns="0" tIns="0" rIns="0" bIns="0" rtlCol="0">
            <a:spAutoFit/>
          </a:bodyPr>
          <a:lstStyle/>
          <a:p>
            <a:pPr>
              <a:lnSpc>
                <a:spcPts val="709"/>
              </a:lnSpc>
            </a:pPr>
            <a:r>
              <a:rPr lang="zh-CN" altLang="en-US" sz="1002" dirty="0">
                <a:solidFill>
                  <a:srgbClr val="FFFFFF"/>
                </a:solidFill>
                <a:latin typeface="Times New Roman"/>
              </a:rPr>
              <a:t>務</a:t>
            </a:r>
          </a:p>
        </p:txBody>
      </p:sp>
      <p:sp>
        <p:nvSpPr>
          <p:cNvPr id="5" name="TextBox 4"/>
          <p:cNvSpPr txBox="1"/>
          <p:nvPr/>
        </p:nvSpPr>
        <p:spPr>
          <a:xfrm>
            <a:off x="8033813" y="3724295"/>
            <a:ext cx="128240" cy="98745"/>
          </a:xfrm>
          <a:prstGeom prst="rect">
            <a:avLst/>
          </a:prstGeom>
          <a:noFill/>
        </p:spPr>
        <p:txBody>
          <a:bodyPr vert="horz" wrap="none" lIns="0" tIns="0" rIns="0" bIns="0" rtlCol="0">
            <a:spAutoFit/>
          </a:bodyPr>
          <a:lstStyle/>
          <a:p>
            <a:pPr>
              <a:lnSpc>
                <a:spcPts val="709"/>
              </a:lnSpc>
            </a:pPr>
            <a:r>
              <a:rPr lang="zh-CN" altLang="en-US" sz="1002" dirty="0">
                <a:solidFill>
                  <a:srgbClr val="FFFFFF"/>
                </a:solidFill>
                <a:latin typeface="Times New Roman"/>
              </a:rPr>
              <a:t>報</a:t>
            </a:r>
          </a:p>
        </p:txBody>
      </p:sp>
      <p:sp>
        <p:nvSpPr>
          <p:cNvPr id="6" name="TextBox 5"/>
          <p:cNvSpPr txBox="1"/>
          <p:nvPr/>
        </p:nvSpPr>
        <p:spPr>
          <a:xfrm>
            <a:off x="8123732" y="3634376"/>
            <a:ext cx="128240" cy="98745"/>
          </a:xfrm>
          <a:prstGeom prst="rect">
            <a:avLst/>
          </a:prstGeom>
          <a:noFill/>
        </p:spPr>
        <p:txBody>
          <a:bodyPr vert="horz" wrap="none" lIns="0" tIns="0" rIns="0" bIns="0" rtlCol="0">
            <a:spAutoFit/>
          </a:bodyPr>
          <a:lstStyle/>
          <a:p>
            <a:pPr>
              <a:lnSpc>
                <a:spcPts val="709"/>
              </a:lnSpc>
            </a:pPr>
            <a:r>
              <a:rPr lang="zh-CN" altLang="en-US" sz="1002" dirty="0">
                <a:solidFill>
                  <a:srgbClr val="FFFFFF"/>
                </a:solidFill>
                <a:latin typeface="Times New Roman"/>
              </a:rPr>
              <a:t>告</a:t>
            </a:r>
          </a:p>
        </p:txBody>
      </p:sp>
      <p:sp>
        <p:nvSpPr>
          <p:cNvPr id="7" name="TextBox 6"/>
          <p:cNvSpPr txBox="1"/>
          <p:nvPr/>
        </p:nvSpPr>
        <p:spPr>
          <a:xfrm>
            <a:off x="8521496" y="3859180"/>
            <a:ext cx="128240" cy="98745"/>
          </a:xfrm>
          <a:prstGeom prst="rect">
            <a:avLst/>
          </a:prstGeom>
          <a:noFill/>
        </p:spPr>
        <p:txBody>
          <a:bodyPr vert="horz" wrap="none" lIns="0" tIns="0" rIns="0" bIns="0" rtlCol="0">
            <a:spAutoFit/>
          </a:bodyPr>
          <a:lstStyle/>
          <a:p>
            <a:pPr>
              <a:lnSpc>
                <a:spcPts val="709"/>
              </a:lnSpc>
            </a:pPr>
            <a:r>
              <a:rPr lang="zh-CN" altLang="en-US" sz="1002" dirty="0">
                <a:solidFill>
                  <a:srgbClr val="FFFFFF"/>
                </a:solidFill>
                <a:latin typeface="Times New Roman"/>
              </a:rPr>
              <a:t>合</a:t>
            </a:r>
          </a:p>
        </p:txBody>
      </p:sp>
      <p:sp>
        <p:nvSpPr>
          <p:cNvPr id="8" name="TextBox 7"/>
          <p:cNvSpPr txBox="1"/>
          <p:nvPr/>
        </p:nvSpPr>
        <p:spPr>
          <a:xfrm>
            <a:off x="8611414" y="3769262"/>
            <a:ext cx="128240" cy="98745"/>
          </a:xfrm>
          <a:prstGeom prst="rect">
            <a:avLst/>
          </a:prstGeom>
          <a:noFill/>
        </p:spPr>
        <p:txBody>
          <a:bodyPr vert="horz" wrap="none" lIns="0" tIns="0" rIns="0" bIns="0" rtlCol="0">
            <a:spAutoFit/>
          </a:bodyPr>
          <a:lstStyle/>
          <a:p>
            <a:pPr>
              <a:lnSpc>
                <a:spcPts val="709"/>
              </a:lnSpc>
            </a:pPr>
            <a:r>
              <a:rPr lang="zh-CN" altLang="en-US" sz="1002" dirty="0">
                <a:solidFill>
                  <a:srgbClr val="FFFFFF"/>
                </a:solidFill>
                <a:latin typeface="Times New Roman"/>
              </a:rPr>
              <a:t>規</a:t>
            </a:r>
          </a:p>
        </p:txBody>
      </p:sp>
      <p:sp>
        <p:nvSpPr>
          <p:cNvPr id="9" name="TextBox 8"/>
          <p:cNvSpPr txBox="1"/>
          <p:nvPr/>
        </p:nvSpPr>
        <p:spPr>
          <a:xfrm>
            <a:off x="8701333" y="3679343"/>
            <a:ext cx="128240" cy="98745"/>
          </a:xfrm>
          <a:prstGeom prst="rect">
            <a:avLst/>
          </a:prstGeom>
          <a:noFill/>
        </p:spPr>
        <p:txBody>
          <a:bodyPr vert="horz" wrap="none" lIns="0" tIns="0" rIns="0" bIns="0" rtlCol="0">
            <a:spAutoFit/>
          </a:bodyPr>
          <a:lstStyle/>
          <a:p>
            <a:pPr>
              <a:lnSpc>
                <a:spcPts val="709"/>
              </a:lnSpc>
            </a:pPr>
            <a:r>
              <a:rPr lang="zh-CN" altLang="en-US" sz="1002" dirty="0">
                <a:solidFill>
                  <a:srgbClr val="FFFFFF"/>
                </a:solidFill>
                <a:latin typeface="Times New Roman"/>
              </a:rPr>
              <a:t>性</a:t>
            </a:r>
          </a:p>
        </p:txBody>
      </p:sp>
      <p:sp>
        <p:nvSpPr>
          <p:cNvPr id="10" name="TextBox 9"/>
          <p:cNvSpPr txBox="1"/>
          <p:nvPr/>
        </p:nvSpPr>
        <p:spPr>
          <a:xfrm>
            <a:off x="587134" y="2505651"/>
            <a:ext cx="174728" cy="224420"/>
          </a:xfrm>
          <a:prstGeom prst="rect">
            <a:avLst/>
          </a:prstGeom>
          <a:noFill/>
        </p:spPr>
        <p:txBody>
          <a:bodyPr vert="horz" wrap="none" lIns="0" tIns="0" rIns="0" bIns="0" rtlCol="0">
            <a:spAutoFit/>
          </a:bodyPr>
          <a:lstStyle/>
          <a:p>
            <a:pPr>
              <a:lnSpc>
                <a:spcPts val="1665"/>
              </a:lnSpc>
            </a:pPr>
            <a:r>
              <a:rPr lang="en-US" altLang="zh-CN" dirty="0">
                <a:solidFill>
                  <a:srgbClr val="000000"/>
                </a:solidFill>
                <a:latin typeface="Times New Roman"/>
              </a:rPr>
              <a:t>1.</a:t>
            </a:r>
            <a:endParaRPr lang="zh-CN" altLang="en-US" dirty="0">
              <a:solidFill>
                <a:srgbClr val="000000"/>
              </a:solidFill>
              <a:latin typeface="Times New Roman"/>
            </a:endParaRPr>
          </a:p>
        </p:txBody>
      </p:sp>
      <p:sp>
        <p:nvSpPr>
          <p:cNvPr id="11" name="TextBox 10"/>
          <p:cNvSpPr txBox="1"/>
          <p:nvPr/>
        </p:nvSpPr>
        <p:spPr>
          <a:xfrm>
            <a:off x="587134" y="2794442"/>
            <a:ext cx="174728" cy="224420"/>
          </a:xfrm>
          <a:prstGeom prst="rect">
            <a:avLst/>
          </a:prstGeom>
          <a:noFill/>
        </p:spPr>
        <p:txBody>
          <a:bodyPr vert="horz" wrap="none" lIns="0" tIns="0" rIns="0" bIns="0" rtlCol="0">
            <a:spAutoFit/>
          </a:bodyPr>
          <a:lstStyle/>
          <a:p>
            <a:pPr>
              <a:lnSpc>
                <a:spcPts val="1665"/>
              </a:lnSpc>
            </a:pPr>
            <a:r>
              <a:rPr lang="en-US" altLang="zh-CN" dirty="0">
                <a:solidFill>
                  <a:srgbClr val="000000"/>
                </a:solidFill>
                <a:latin typeface="Times New Roman"/>
              </a:rPr>
              <a:t>2.</a:t>
            </a:r>
            <a:endParaRPr lang="zh-CN" altLang="en-US" dirty="0">
              <a:solidFill>
                <a:srgbClr val="000000"/>
              </a:solidFill>
              <a:latin typeface="Times New Roman"/>
            </a:endParaRPr>
          </a:p>
        </p:txBody>
      </p:sp>
      <p:sp>
        <p:nvSpPr>
          <p:cNvPr id="12" name="TextBox 11"/>
          <p:cNvSpPr txBox="1"/>
          <p:nvPr/>
        </p:nvSpPr>
        <p:spPr>
          <a:xfrm>
            <a:off x="587134" y="3055045"/>
            <a:ext cx="174728" cy="224420"/>
          </a:xfrm>
          <a:prstGeom prst="rect">
            <a:avLst/>
          </a:prstGeom>
          <a:noFill/>
        </p:spPr>
        <p:txBody>
          <a:bodyPr vert="horz" wrap="none" lIns="0" tIns="0" rIns="0" bIns="0" rtlCol="0">
            <a:spAutoFit/>
          </a:bodyPr>
          <a:lstStyle/>
          <a:p>
            <a:pPr>
              <a:lnSpc>
                <a:spcPts val="1665"/>
              </a:lnSpc>
            </a:pPr>
            <a:r>
              <a:rPr lang="en-US" altLang="zh-CN" dirty="0">
                <a:solidFill>
                  <a:srgbClr val="000000"/>
                </a:solidFill>
                <a:latin typeface="Times New Roman"/>
              </a:rPr>
              <a:t>3.</a:t>
            </a:r>
            <a:endParaRPr lang="zh-CN" altLang="en-US" dirty="0">
              <a:solidFill>
                <a:srgbClr val="000000"/>
              </a:solidFill>
              <a:latin typeface="Times New Roman"/>
            </a:endParaRPr>
          </a:p>
        </p:txBody>
      </p:sp>
      <p:sp>
        <p:nvSpPr>
          <p:cNvPr id="13" name="TextBox 12"/>
          <p:cNvSpPr txBox="1"/>
          <p:nvPr/>
        </p:nvSpPr>
        <p:spPr>
          <a:xfrm>
            <a:off x="587134" y="3329365"/>
            <a:ext cx="174728" cy="224420"/>
          </a:xfrm>
          <a:prstGeom prst="rect">
            <a:avLst/>
          </a:prstGeom>
          <a:noFill/>
        </p:spPr>
        <p:txBody>
          <a:bodyPr vert="horz" wrap="none" lIns="0" tIns="0" rIns="0" bIns="0" rtlCol="0">
            <a:spAutoFit/>
          </a:bodyPr>
          <a:lstStyle/>
          <a:p>
            <a:pPr>
              <a:lnSpc>
                <a:spcPts val="1665"/>
              </a:lnSpc>
            </a:pPr>
            <a:r>
              <a:rPr lang="en-US" altLang="zh-CN" dirty="0">
                <a:solidFill>
                  <a:srgbClr val="000000"/>
                </a:solidFill>
                <a:latin typeface="Times New Roman"/>
              </a:rPr>
              <a:t>4.</a:t>
            </a:r>
            <a:endParaRPr lang="zh-CN" altLang="en-US" dirty="0">
              <a:solidFill>
                <a:srgbClr val="000000"/>
              </a:solidFill>
              <a:latin typeface="Times New Roman"/>
            </a:endParaRPr>
          </a:p>
        </p:txBody>
      </p:sp>
      <p:sp>
        <p:nvSpPr>
          <p:cNvPr id="14" name="TextBox 13"/>
          <p:cNvSpPr txBox="1"/>
          <p:nvPr/>
        </p:nvSpPr>
        <p:spPr>
          <a:xfrm>
            <a:off x="509403" y="6341571"/>
            <a:ext cx="144270" cy="133370"/>
          </a:xfrm>
          <a:prstGeom prst="rect">
            <a:avLst/>
          </a:prstGeom>
          <a:noFill/>
        </p:spPr>
        <p:txBody>
          <a:bodyPr vert="horz" wrap="none" lIns="0" tIns="0" rIns="0" bIns="0" rtlCol="0">
            <a:spAutoFit/>
          </a:bodyPr>
          <a:lstStyle/>
          <a:p>
            <a:pPr>
              <a:lnSpc>
                <a:spcPts val="1016"/>
              </a:lnSpc>
            </a:pPr>
            <a:r>
              <a:rPr lang="en-US" altLang="zh-CN" sz="1098" dirty="0">
                <a:solidFill>
                  <a:srgbClr val="761437"/>
                </a:solidFill>
                <a:latin typeface="Times New Roman"/>
              </a:rPr>
              <a:t>39</a:t>
            </a:r>
            <a:endParaRPr lang="zh-CN" altLang="en-US" sz="1098" dirty="0">
              <a:solidFill>
                <a:srgbClr val="761437"/>
              </a:solidFill>
              <a:latin typeface="Times New Roman"/>
            </a:endParaRPr>
          </a:p>
        </p:txBody>
      </p:sp>
      <p:sp>
        <p:nvSpPr>
          <p:cNvPr id="15" name="TextBox 14"/>
          <p:cNvSpPr txBox="1"/>
          <p:nvPr/>
        </p:nvSpPr>
        <p:spPr>
          <a:xfrm>
            <a:off x="509403" y="390082"/>
            <a:ext cx="8771632" cy="3193182"/>
          </a:xfrm>
          <a:prstGeom prst="rect">
            <a:avLst/>
          </a:prstGeom>
          <a:noFill/>
        </p:spPr>
        <p:txBody>
          <a:bodyPr vert="horz" wrap="none" lIns="0" tIns="0" rIns="0" bIns="0" rtlCol="0">
            <a:spAutoFit/>
          </a:bodyPr>
          <a:lstStyle/>
          <a:p>
            <a:pPr marL="0" marR="0" lvl="0" indent="0" defTabSz="914400" eaLnBrk="1" fontAlgn="auto" latinLnBrk="0" hangingPunct="1">
              <a:lnSpc>
                <a:spcPts val="4087"/>
              </a:lnSpc>
              <a:buClrTx/>
              <a:buSzTx/>
              <a:buNone/>
              <a:tabLst>
                <a:tab pos="317500" algn="l"/>
                <a:tab pos="533400" algn="l"/>
              </a:tabLst>
              <a:defRPr/>
            </a:pPr>
            <a:r>
              <a:rPr lang="zh-CN" altLang="en-US" dirty="0"/>
              <a:t>	</a:t>
            </a:r>
            <a:r>
              <a:rPr lang="zh-CN" altLang="en-US" sz="3798" dirty="0">
                <a:solidFill>
                  <a:srgbClr val="FFFFFF"/>
                </a:solidFill>
                <a:latin typeface="Times New Roman"/>
              </a:rPr>
              <a:t>監控  </a:t>
            </a:r>
            <a:r>
              <a:rPr lang="en-US" altLang="zh-CN" sz="3798" b="1" dirty="0">
                <a:solidFill>
                  <a:srgbClr val="FFFFFF"/>
                </a:solidFill>
                <a:latin typeface="Times New Roman"/>
              </a:rPr>
              <a:t>–  </a:t>
            </a:r>
            <a:r>
              <a:rPr lang="zh-CN" altLang="en-US" sz="3798" dirty="0">
                <a:solidFill>
                  <a:srgbClr val="FFFFFF"/>
                </a:solidFill>
                <a:latin typeface="Times New Roman"/>
              </a:rPr>
              <a:t>獨立評估</a:t>
            </a:r>
          </a:p>
          <a:p>
            <a:pPr marL="0" marR="0" lvl="0" indent="0" defTabSz="914400" eaLnBrk="1" fontAlgn="auto" latinLnBrk="0" hangingPunct="1">
              <a:lnSpc>
                <a:spcPts val="1000"/>
              </a:lnSpc>
              <a:buClrTx/>
              <a:buSzTx/>
              <a:buNone/>
              <a:tabLst>
                <a:tab pos="317500" algn="l"/>
                <a:tab pos="533400" algn="l"/>
              </a:tabLst>
              <a:defRPr/>
            </a:pPr>
            <a:endParaRPr lang="zh-CN" altLang="en-US" sz="3798" dirty="0">
              <a:solidFill>
                <a:srgbClr val="FFFFFF"/>
              </a:solidFill>
              <a:latin typeface="Times New Roman"/>
            </a:endParaRPr>
          </a:p>
          <a:p>
            <a:pPr marL="0" marR="0" lvl="0" indent="0" defTabSz="914400" eaLnBrk="1" fontAlgn="auto" latinLnBrk="0" hangingPunct="1">
              <a:lnSpc>
                <a:spcPts val="1000"/>
              </a:lnSpc>
              <a:buClrTx/>
              <a:buSzTx/>
              <a:buNone/>
              <a:tabLst>
                <a:tab pos="317500" algn="l"/>
                <a:tab pos="533400" algn="l"/>
              </a:tabLst>
              <a:defRPr/>
            </a:pPr>
            <a:endParaRPr lang="zh-CN" altLang="en-US" sz="3798" dirty="0">
              <a:solidFill>
                <a:srgbClr val="FFFFFF"/>
              </a:solidFill>
              <a:latin typeface="Times New Roman"/>
            </a:endParaRPr>
          </a:p>
          <a:p>
            <a:pPr marL="0" marR="0" lvl="0" indent="0" defTabSz="914400" eaLnBrk="1" fontAlgn="auto" latinLnBrk="0" hangingPunct="1">
              <a:lnSpc>
                <a:spcPts val="1000"/>
              </a:lnSpc>
              <a:buClrTx/>
              <a:buSzTx/>
              <a:buNone/>
              <a:tabLst>
                <a:tab pos="317500" algn="l"/>
                <a:tab pos="533400" algn="l"/>
              </a:tabLst>
              <a:defRPr/>
            </a:pPr>
            <a:endParaRPr lang="zh-CN" altLang="en-US" sz="3798" dirty="0">
              <a:solidFill>
                <a:srgbClr val="FFFFFF"/>
              </a:solidFill>
              <a:latin typeface="Times New Roman"/>
            </a:endParaRPr>
          </a:p>
          <a:p>
            <a:pPr marL="0" marR="0" lvl="0" indent="0" defTabSz="914400" eaLnBrk="1" fontAlgn="auto" latinLnBrk="0" hangingPunct="1">
              <a:lnSpc>
                <a:spcPts val="1000"/>
              </a:lnSpc>
              <a:buClrTx/>
              <a:buSzTx/>
              <a:buNone/>
              <a:tabLst>
                <a:tab pos="317500" algn="l"/>
                <a:tab pos="533400" algn="l"/>
              </a:tabLst>
              <a:defRPr/>
            </a:pPr>
            <a:endParaRPr lang="zh-CN" altLang="en-US" sz="3798" dirty="0">
              <a:solidFill>
                <a:srgbClr val="FFFFFF"/>
              </a:solidFill>
              <a:latin typeface="Times New Roman"/>
            </a:endParaRPr>
          </a:p>
          <a:p>
            <a:pPr marL="0" marR="0" lvl="0" indent="0" defTabSz="914400" eaLnBrk="1" fontAlgn="auto" latinLnBrk="0" hangingPunct="1">
              <a:lnSpc>
                <a:spcPts val="1000"/>
              </a:lnSpc>
              <a:buClrTx/>
              <a:buSzTx/>
              <a:buNone/>
              <a:tabLst>
                <a:tab pos="317500" algn="l"/>
                <a:tab pos="533400" algn="l"/>
              </a:tabLst>
              <a:defRPr/>
            </a:pPr>
            <a:endParaRPr lang="zh-CN" altLang="en-US" sz="3798" dirty="0">
              <a:solidFill>
                <a:srgbClr val="FFFFFF"/>
              </a:solidFill>
              <a:latin typeface="Times New Roman"/>
            </a:endParaRPr>
          </a:p>
          <a:p>
            <a:pPr marL="0" marR="0" lvl="0" indent="0" defTabSz="914400" eaLnBrk="1" fontAlgn="auto" latinLnBrk="0" hangingPunct="1">
              <a:lnSpc>
                <a:spcPts val="1000"/>
              </a:lnSpc>
              <a:buClrTx/>
              <a:buSzTx/>
              <a:buNone/>
              <a:tabLst>
                <a:tab pos="317500" algn="l"/>
                <a:tab pos="533400" algn="l"/>
              </a:tabLst>
              <a:defRPr/>
            </a:pPr>
            <a:endParaRPr lang="zh-CN" altLang="en-US" sz="3798" dirty="0">
              <a:solidFill>
                <a:srgbClr val="FFFFFF"/>
              </a:solidFill>
              <a:latin typeface="Times New Roman"/>
            </a:endParaRPr>
          </a:p>
          <a:p>
            <a:pPr marL="0" marR="0" lvl="0" indent="0" defTabSz="914400" eaLnBrk="1" fontAlgn="auto" latinLnBrk="0" hangingPunct="1">
              <a:lnSpc>
                <a:spcPts val="1990"/>
              </a:lnSpc>
              <a:buClrTx/>
              <a:buSzTx/>
              <a:buNone/>
              <a:tabLst>
                <a:tab pos="317500" algn="l"/>
                <a:tab pos="533400" algn="l"/>
              </a:tabLst>
              <a:defRPr/>
            </a:pPr>
            <a:r>
              <a:rPr lang="zh-CN" altLang="en-US" dirty="0">
                <a:solidFill>
                  <a:srgbClr val="000000"/>
                </a:solidFill>
                <a:latin typeface="Times New Roman"/>
              </a:rPr>
              <a:t>不時審視內控系統，直接關注系統有效性是非常有用的。獨立評估的範圍和頻率主要取</a:t>
            </a:r>
          </a:p>
          <a:p>
            <a:pPr marL="0" marR="0" lvl="0" indent="0" defTabSz="914400" eaLnBrk="1" fontAlgn="auto" latinLnBrk="0" hangingPunct="1">
              <a:lnSpc>
                <a:spcPts val="2052"/>
              </a:lnSpc>
              <a:buClrTx/>
              <a:buSzTx/>
              <a:buNone/>
              <a:tabLst>
                <a:tab pos="317500" algn="l"/>
                <a:tab pos="533400" algn="l"/>
              </a:tabLst>
              <a:defRPr/>
            </a:pPr>
            <a:r>
              <a:rPr lang="zh-CN" altLang="en-US" dirty="0">
                <a:solidFill>
                  <a:srgbClr val="000000"/>
                </a:solidFill>
                <a:latin typeface="Times New Roman"/>
              </a:rPr>
              <a:t>決於對風險的評估和日常監督的程式。</a:t>
            </a:r>
          </a:p>
          <a:p>
            <a:pPr marL="0" marR="0" lvl="0" indent="0" defTabSz="914400" eaLnBrk="1" fontAlgn="auto" latinLnBrk="0" hangingPunct="1">
              <a:lnSpc>
                <a:spcPts val="1000"/>
              </a:lnSpc>
              <a:buClrTx/>
              <a:buSzTx/>
              <a:buNone/>
              <a:tabLst>
                <a:tab pos="317500" algn="l"/>
                <a:tab pos="533400" algn="l"/>
              </a:tabLst>
              <a:defRPr/>
            </a:pPr>
            <a:endParaRPr lang="zh-CN" altLang="en-US" dirty="0">
              <a:solidFill>
                <a:srgbClr val="000000"/>
              </a:solidFill>
              <a:latin typeface="Times New Roman"/>
            </a:endParaRPr>
          </a:p>
          <a:p>
            <a:pPr marL="0" marR="0" lvl="0" indent="0" defTabSz="914400" eaLnBrk="1" fontAlgn="auto" latinLnBrk="0" hangingPunct="1">
              <a:lnSpc>
                <a:spcPts val="1000"/>
              </a:lnSpc>
              <a:buClrTx/>
              <a:buSzTx/>
              <a:buNone/>
              <a:tabLst>
                <a:tab pos="317500" algn="l"/>
                <a:tab pos="533400" algn="l"/>
              </a:tabLst>
              <a:defRPr/>
            </a:pPr>
            <a:endParaRPr lang="zh-CN" altLang="en-US" dirty="0">
              <a:solidFill>
                <a:srgbClr val="000000"/>
              </a:solidFill>
              <a:latin typeface="Times New Roman"/>
            </a:endParaRPr>
          </a:p>
          <a:p>
            <a:pPr marL="0" marR="0" lvl="0" indent="0" defTabSz="914400" eaLnBrk="1" fontAlgn="auto" latinLnBrk="0" hangingPunct="1">
              <a:lnSpc>
                <a:spcPts val="2074"/>
              </a:lnSpc>
              <a:buClrTx/>
              <a:buSzTx/>
              <a:buNone/>
              <a:tabLst>
                <a:tab pos="317500" algn="l"/>
                <a:tab pos="533400" algn="l"/>
              </a:tabLst>
              <a:defRPr/>
            </a:pPr>
            <a:r>
              <a:rPr lang="zh-CN" altLang="en-US" dirty="0">
                <a:solidFill>
                  <a:srgbClr val="000000"/>
                </a:solidFill>
                <a:latin typeface="Times New Roman"/>
              </a:rPr>
              <a:t>		內控系統獨立評估的範圍和頻率。</a:t>
            </a:r>
          </a:p>
          <a:p>
            <a:pPr marL="0" marR="0" lvl="0" indent="0" defTabSz="914400" eaLnBrk="1" fontAlgn="auto" latinLnBrk="0" hangingPunct="1">
              <a:lnSpc>
                <a:spcPts val="2274"/>
              </a:lnSpc>
              <a:buClrTx/>
              <a:buSzTx/>
              <a:buNone/>
              <a:tabLst>
                <a:tab pos="317500" algn="l"/>
                <a:tab pos="533400" algn="l"/>
              </a:tabLst>
              <a:defRPr/>
            </a:pPr>
            <a:r>
              <a:rPr lang="zh-CN" altLang="en-US" dirty="0">
                <a:solidFill>
                  <a:srgbClr val="000000"/>
                </a:solidFill>
                <a:latin typeface="Times New Roman"/>
              </a:rPr>
              <a:t>		評估程式的適當性。</a:t>
            </a:r>
          </a:p>
          <a:p>
            <a:pPr marL="0" marR="0" lvl="0" indent="0" defTabSz="914400" eaLnBrk="1" fontAlgn="auto" latinLnBrk="0" hangingPunct="1">
              <a:lnSpc>
                <a:spcPts val="2052"/>
              </a:lnSpc>
              <a:buClrTx/>
              <a:buSzTx/>
              <a:buNone/>
              <a:tabLst>
                <a:tab pos="317500" algn="l"/>
                <a:tab pos="533400" algn="l"/>
              </a:tabLst>
              <a:defRPr/>
            </a:pPr>
            <a:r>
              <a:rPr lang="zh-CN" altLang="en-US" dirty="0">
                <a:solidFill>
                  <a:srgbClr val="000000"/>
                </a:solidFill>
                <a:latin typeface="Times New Roman"/>
              </a:rPr>
              <a:t>		用於評估系統的方法是否合理、恰當。</a:t>
            </a:r>
          </a:p>
          <a:p>
            <a:pPr marL="0" marR="0" lvl="0" indent="0" defTabSz="914400" eaLnBrk="1" fontAlgn="auto" latinLnBrk="0" hangingPunct="1">
              <a:lnSpc>
                <a:spcPts val="2160"/>
              </a:lnSpc>
              <a:buClrTx/>
              <a:buSzTx/>
              <a:buNone/>
              <a:tabLst>
                <a:tab pos="317500" algn="l"/>
                <a:tab pos="533400" algn="l"/>
              </a:tabLst>
              <a:defRPr/>
            </a:pPr>
            <a:r>
              <a:rPr lang="zh-CN" altLang="en-US" dirty="0">
                <a:solidFill>
                  <a:srgbClr val="000000"/>
                </a:solidFill>
                <a:latin typeface="Times New Roman"/>
              </a:rPr>
              <a:t>		文檔記錄的水準是否恰當。</a:t>
            </a:r>
          </a:p>
        </p:txBody>
      </p:sp>
      <p:sp>
        <p:nvSpPr>
          <p:cNvPr id="16" name="TextBox 15"/>
          <p:cNvSpPr txBox="1"/>
          <p:nvPr/>
        </p:nvSpPr>
        <p:spPr>
          <a:xfrm>
            <a:off x="7368927" y="3822370"/>
            <a:ext cx="128240" cy="128240"/>
          </a:xfrm>
          <a:prstGeom prst="rect">
            <a:avLst/>
          </a:prstGeom>
          <a:noFill/>
        </p:spPr>
        <p:txBody>
          <a:bodyPr vert="horz" wrap="none" lIns="0" tIns="0" rIns="0" bIns="0" rtlCol="0">
            <a:spAutoFit/>
          </a:bodyPr>
          <a:lstStyle/>
          <a:p>
            <a:pPr>
              <a:lnSpc>
                <a:spcPts val="1001"/>
              </a:lnSpc>
            </a:pPr>
            <a:r>
              <a:rPr lang="zh-CN" altLang="en-US" sz="1002" dirty="0">
                <a:solidFill>
                  <a:srgbClr val="FFFFFF"/>
                </a:solidFill>
                <a:latin typeface="Times New Roman"/>
              </a:rPr>
              <a:t>營</a:t>
            </a:r>
          </a:p>
        </p:txBody>
      </p:sp>
      <p:sp>
        <p:nvSpPr>
          <p:cNvPr id="17" name="TextBox 16"/>
          <p:cNvSpPr txBox="1"/>
          <p:nvPr/>
        </p:nvSpPr>
        <p:spPr>
          <a:xfrm>
            <a:off x="7459610" y="3733215"/>
            <a:ext cx="128240" cy="128240"/>
          </a:xfrm>
          <a:prstGeom prst="rect">
            <a:avLst/>
          </a:prstGeom>
          <a:noFill/>
        </p:spPr>
        <p:txBody>
          <a:bodyPr vert="horz" wrap="none" lIns="0" tIns="0" rIns="0" bIns="0" rtlCol="0">
            <a:spAutoFit/>
          </a:bodyPr>
          <a:lstStyle/>
          <a:p>
            <a:pPr>
              <a:lnSpc>
                <a:spcPts val="1001"/>
              </a:lnSpc>
            </a:pPr>
            <a:r>
              <a:rPr lang="zh-CN" altLang="en-US" sz="1002" dirty="0">
                <a:solidFill>
                  <a:srgbClr val="FFFFFF"/>
                </a:solidFill>
                <a:latin typeface="Times New Roman"/>
              </a:rPr>
              <a:t>運</a:t>
            </a:r>
          </a:p>
        </p:txBody>
      </p:sp>
      <p:sp>
        <p:nvSpPr>
          <p:cNvPr id="18" name="TextBox 17"/>
          <p:cNvSpPr txBox="1"/>
          <p:nvPr/>
        </p:nvSpPr>
        <p:spPr>
          <a:xfrm>
            <a:off x="7565523" y="4242216"/>
            <a:ext cx="256480" cy="128240"/>
          </a:xfrm>
          <a:prstGeom prst="rect">
            <a:avLst/>
          </a:prstGeom>
          <a:noFill/>
        </p:spPr>
        <p:txBody>
          <a:bodyPr vert="horz" wrap="none" lIns="0" tIns="0" rIns="0" bIns="0" rtlCol="0">
            <a:spAutoFit/>
          </a:bodyPr>
          <a:lstStyle/>
          <a:p>
            <a:pPr>
              <a:lnSpc>
                <a:spcPts val="1001"/>
              </a:lnSpc>
            </a:pPr>
            <a:r>
              <a:rPr lang="zh-CN" altLang="en-US" sz="1002" dirty="0">
                <a:solidFill>
                  <a:srgbClr val="FFFFFF"/>
                </a:solidFill>
                <a:latin typeface="Times New Roman"/>
              </a:rPr>
              <a:t>監控</a:t>
            </a:r>
          </a:p>
        </p:txBody>
      </p:sp>
      <p:sp>
        <p:nvSpPr>
          <p:cNvPr id="19" name="TextBox 18"/>
          <p:cNvSpPr txBox="1"/>
          <p:nvPr/>
        </p:nvSpPr>
        <p:spPr>
          <a:xfrm>
            <a:off x="9068916" y="4152318"/>
            <a:ext cx="294953" cy="294953"/>
          </a:xfrm>
          <a:prstGeom prst="rect">
            <a:avLst/>
          </a:prstGeom>
          <a:noFill/>
        </p:spPr>
        <p:txBody>
          <a:bodyPr vert="horz" wrap="none" lIns="0" tIns="0" rIns="0" bIns="0" rtlCol="0">
            <a:spAutoFit/>
          </a:bodyPr>
          <a:lstStyle/>
          <a:p>
            <a:pPr marL="0" marR="0" lvl="0" indent="0" defTabSz="914400" eaLnBrk="1" fontAlgn="auto" latinLnBrk="0" hangingPunct="1">
              <a:lnSpc>
                <a:spcPts val="1001"/>
              </a:lnSpc>
              <a:buClrTx/>
              <a:buSzTx/>
              <a:buNone/>
              <a:tabLst>
                <a:tab pos="165100" algn="l"/>
              </a:tabLst>
              <a:defRPr/>
            </a:pPr>
            <a:r>
              <a:rPr lang="zh-CN" altLang="en-US" dirty="0"/>
              <a:t>	</a:t>
            </a:r>
            <a:r>
              <a:rPr lang="zh-CN" altLang="en-US" sz="1002" dirty="0">
                <a:solidFill>
                  <a:srgbClr val="FFFFFF"/>
                </a:solidFill>
                <a:latin typeface="Times New Roman"/>
              </a:rPr>
              <a:t>活</a:t>
            </a:r>
          </a:p>
          <a:p>
            <a:pPr marL="0" marR="0" lvl="0" indent="0" defTabSz="914400" eaLnBrk="1" fontAlgn="auto" latinLnBrk="0" hangingPunct="1">
              <a:lnSpc>
                <a:spcPts val="1284"/>
              </a:lnSpc>
              <a:buClrTx/>
              <a:buSzTx/>
              <a:buNone/>
              <a:tabLst>
                <a:tab pos="165100" algn="l"/>
              </a:tabLst>
              <a:defRPr/>
            </a:pPr>
            <a:r>
              <a:rPr lang="zh-CN" altLang="en-US" sz="1002" dirty="0">
                <a:solidFill>
                  <a:srgbClr val="FFFFFF"/>
                </a:solidFill>
                <a:latin typeface="Times New Roman"/>
              </a:rPr>
              <a:t>活 動</a:t>
            </a:r>
          </a:p>
        </p:txBody>
      </p:sp>
      <p:sp>
        <p:nvSpPr>
          <p:cNvPr id="20" name="TextBox 19"/>
          <p:cNvSpPr txBox="1"/>
          <p:nvPr/>
        </p:nvSpPr>
        <p:spPr>
          <a:xfrm>
            <a:off x="7373500" y="4566065"/>
            <a:ext cx="641201" cy="795089"/>
          </a:xfrm>
          <a:prstGeom prst="rect">
            <a:avLst/>
          </a:prstGeom>
          <a:noFill/>
        </p:spPr>
        <p:txBody>
          <a:bodyPr vert="horz" wrap="none" lIns="0" tIns="0" rIns="0" bIns="0" rtlCol="0">
            <a:spAutoFit/>
          </a:bodyPr>
          <a:lstStyle/>
          <a:p>
            <a:pPr marL="0" marR="0" lvl="0" indent="0" defTabSz="914400" eaLnBrk="1" fontAlgn="auto" latinLnBrk="0" hangingPunct="1">
              <a:lnSpc>
                <a:spcPts val="1001"/>
              </a:lnSpc>
              <a:buClrTx/>
              <a:buSzTx/>
              <a:buNone/>
              <a:tabLst>
                <a:tab pos="63500" algn="l"/>
              </a:tabLst>
              <a:defRPr/>
            </a:pPr>
            <a:r>
              <a:rPr lang="zh-CN" altLang="en-US" sz="1002" dirty="0">
                <a:solidFill>
                  <a:srgbClr val="FFFFFF"/>
                </a:solidFill>
                <a:latin typeface="Times New Roman"/>
              </a:rPr>
              <a:t>資訊和溝通</a:t>
            </a:r>
          </a:p>
          <a:p>
            <a:pPr marL="0" marR="0" lvl="0" indent="0" defTabSz="914400" eaLnBrk="1" fontAlgn="auto" latinLnBrk="0" hangingPunct="1">
              <a:lnSpc>
                <a:spcPts val="1000"/>
              </a:lnSpc>
              <a:buClrTx/>
              <a:buSzTx/>
              <a:buNone/>
              <a:tabLst>
                <a:tab pos="63500" algn="l"/>
              </a:tabLst>
              <a:defRPr/>
            </a:pPr>
            <a:endParaRPr lang="zh-CN" altLang="en-US" sz="1002" dirty="0">
              <a:solidFill>
                <a:srgbClr val="FFFFFF"/>
              </a:solidFill>
              <a:latin typeface="Times New Roman"/>
            </a:endParaRPr>
          </a:p>
          <a:p>
            <a:pPr marL="0" marR="0" lvl="0" indent="0" defTabSz="914400" eaLnBrk="1" fontAlgn="auto" latinLnBrk="0" hangingPunct="1">
              <a:lnSpc>
                <a:spcPts val="1460"/>
              </a:lnSpc>
              <a:buClrTx/>
              <a:buSzTx/>
              <a:buNone/>
              <a:tabLst>
                <a:tab pos="63500" algn="l"/>
              </a:tabLst>
              <a:defRPr/>
            </a:pPr>
            <a:r>
              <a:rPr lang="zh-CN" altLang="en-US" sz="1002" dirty="0">
                <a:solidFill>
                  <a:srgbClr val="FFFFFF"/>
                </a:solidFill>
                <a:latin typeface="Times New Roman"/>
              </a:rPr>
              <a:t>	控制活動</a:t>
            </a:r>
          </a:p>
          <a:p>
            <a:pPr marL="0" marR="0" lvl="0" indent="0" defTabSz="914400" eaLnBrk="1" fontAlgn="auto" latinLnBrk="0" hangingPunct="1">
              <a:lnSpc>
                <a:spcPts val="1000"/>
              </a:lnSpc>
              <a:buClrTx/>
              <a:buSzTx/>
              <a:buNone/>
              <a:tabLst>
                <a:tab pos="63500" algn="l"/>
              </a:tabLst>
              <a:defRPr/>
            </a:pPr>
            <a:endParaRPr lang="zh-CN" altLang="en-US" sz="1002" dirty="0">
              <a:solidFill>
                <a:srgbClr val="FFFFFF"/>
              </a:solidFill>
              <a:latin typeface="Times New Roman"/>
            </a:endParaRPr>
          </a:p>
          <a:p>
            <a:pPr marL="0" marR="0" lvl="0" indent="0" defTabSz="914400" eaLnBrk="1" fontAlgn="auto" latinLnBrk="0" hangingPunct="1">
              <a:lnSpc>
                <a:spcPts val="1652"/>
              </a:lnSpc>
              <a:buClrTx/>
              <a:buSzTx/>
              <a:buNone/>
              <a:tabLst>
                <a:tab pos="63500" algn="l"/>
              </a:tabLst>
              <a:defRPr/>
            </a:pPr>
            <a:r>
              <a:rPr lang="zh-CN" altLang="en-US" sz="1002" dirty="0">
                <a:solidFill>
                  <a:srgbClr val="FFFFFF"/>
                </a:solidFill>
                <a:latin typeface="Times New Roman"/>
              </a:rPr>
              <a:t>	風險評估</a:t>
            </a:r>
          </a:p>
        </p:txBody>
      </p:sp>
      <p:sp>
        <p:nvSpPr>
          <p:cNvPr id="21" name="TextBox 20"/>
          <p:cNvSpPr txBox="1"/>
          <p:nvPr/>
        </p:nvSpPr>
        <p:spPr>
          <a:xfrm>
            <a:off x="8731383" y="4614090"/>
            <a:ext cx="128240" cy="743793"/>
          </a:xfrm>
          <a:prstGeom prst="rect">
            <a:avLst/>
          </a:prstGeom>
          <a:noFill/>
        </p:spPr>
        <p:txBody>
          <a:bodyPr vert="horz" wrap="none" lIns="0" tIns="0" rIns="0" bIns="0" rtlCol="0">
            <a:spAutoFit/>
          </a:bodyPr>
          <a:lstStyle/>
          <a:p>
            <a:pPr marL="0" marR="0" lvl="0" indent="0" defTabSz="914400" eaLnBrk="1" fontAlgn="auto" latinLnBrk="0" hangingPunct="1">
              <a:lnSpc>
                <a:spcPts val="1001"/>
              </a:lnSpc>
              <a:buClrTx/>
              <a:buSzTx/>
              <a:buNone/>
              <a:tabLst>
                <a:tab pos="25400" algn="l"/>
              </a:tabLst>
              <a:defRPr/>
            </a:pPr>
            <a:r>
              <a:rPr lang="zh-CN" altLang="en-US" sz="1002" dirty="0">
                <a:solidFill>
                  <a:srgbClr val="FFFFFF"/>
                </a:solidFill>
                <a:latin typeface="Times New Roman"/>
              </a:rPr>
              <a:t>業</a:t>
            </a:r>
          </a:p>
          <a:p>
            <a:pPr marL="0" marR="0" lvl="0" indent="0" defTabSz="914400" eaLnBrk="1" fontAlgn="auto" latinLnBrk="0" hangingPunct="1">
              <a:lnSpc>
                <a:spcPts val="1200"/>
              </a:lnSpc>
              <a:buClrTx/>
              <a:buSzTx/>
              <a:buNone/>
              <a:tabLst>
                <a:tab pos="25400" algn="l"/>
              </a:tabLst>
              <a:defRPr/>
            </a:pPr>
            <a:r>
              <a:rPr lang="zh-CN" altLang="en-US" sz="1002" dirty="0">
                <a:solidFill>
                  <a:srgbClr val="FFFFFF"/>
                </a:solidFill>
                <a:latin typeface="Times New Roman"/>
              </a:rPr>
              <a:t>務</a:t>
            </a:r>
          </a:p>
          <a:p>
            <a:pPr marL="0" marR="0" lvl="0" indent="0" defTabSz="914400" eaLnBrk="1" fontAlgn="auto" latinLnBrk="0" hangingPunct="1">
              <a:lnSpc>
                <a:spcPts val="1200"/>
              </a:lnSpc>
              <a:buClrTx/>
              <a:buSzTx/>
              <a:buNone/>
              <a:tabLst>
                <a:tab pos="25400" algn="l"/>
              </a:tabLst>
              <a:defRPr/>
            </a:pPr>
            <a:r>
              <a:rPr lang="zh-CN" altLang="en-US" sz="1002" dirty="0">
                <a:solidFill>
                  <a:srgbClr val="FFFFFF"/>
                </a:solidFill>
                <a:latin typeface="Times New Roman"/>
              </a:rPr>
              <a:t>單</a:t>
            </a:r>
          </a:p>
          <a:p>
            <a:pPr marL="0" marR="0" lvl="0" indent="0" defTabSz="914400" eaLnBrk="1" fontAlgn="auto" latinLnBrk="0" hangingPunct="1">
              <a:lnSpc>
                <a:spcPts val="1200"/>
              </a:lnSpc>
              <a:buClrTx/>
              <a:buSzTx/>
              <a:buNone/>
              <a:tabLst>
                <a:tab pos="25400" algn="l"/>
              </a:tabLst>
              <a:defRPr/>
            </a:pPr>
            <a:r>
              <a:rPr lang="zh-CN" altLang="en-US" sz="1002" dirty="0">
                <a:solidFill>
                  <a:srgbClr val="FFFFFF"/>
                </a:solidFill>
                <a:latin typeface="Times New Roman"/>
              </a:rPr>
              <a:t>位</a:t>
            </a:r>
          </a:p>
          <a:p>
            <a:pPr marL="0" marR="0" lvl="0" indent="0" defTabSz="914400" eaLnBrk="1" fontAlgn="auto" latinLnBrk="0" hangingPunct="1">
              <a:lnSpc>
                <a:spcPts val="1193"/>
              </a:lnSpc>
              <a:buClrTx/>
              <a:buSzTx/>
              <a:buNone/>
              <a:tabLst>
                <a:tab pos="25400" algn="l"/>
              </a:tabLst>
              <a:defRPr/>
            </a:pPr>
            <a:r>
              <a:rPr lang="zh-CN" altLang="en-US" sz="1002" dirty="0">
                <a:solidFill>
                  <a:srgbClr val="FFFFFF"/>
                </a:solidFill>
                <a:latin typeface="Times New Roman"/>
              </a:rPr>
              <a:t>	</a:t>
            </a:r>
            <a:r>
              <a:rPr lang="en-US" altLang="zh-CN" sz="1002" b="1" dirty="0">
                <a:solidFill>
                  <a:srgbClr val="FFFFFF"/>
                </a:solidFill>
                <a:latin typeface="Times New Roman"/>
              </a:rPr>
              <a:t>A</a:t>
            </a:r>
            <a:endParaRPr lang="zh-CN" altLang="en-US" sz="1002" b="1" dirty="0">
              <a:solidFill>
                <a:srgbClr val="FFFFFF"/>
              </a:solidFill>
              <a:latin typeface="Times New Roman"/>
            </a:endParaRPr>
          </a:p>
        </p:txBody>
      </p:sp>
      <p:sp>
        <p:nvSpPr>
          <p:cNvPr id="22" name="TextBox 21"/>
          <p:cNvSpPr txBox="1"/>
          <p:nvPr/>
        </p:nvSpPr>
        <p:spPr>
          <a:xfrm>
            <a:off x="8902818" y="4463216"/>
            <a:ext cx="384721" cy="743793"/>
          </a:xfrm>
          <a:prstGeom prst="rect">
            <a:avLst/>
          </a:prstGeom>
          <a:noFill/>
        </p:spPr>
        <p:txBody>
          <a:bodyPr vert="horz" wrap="none" lIns="0" tIns="0" rIns="0" bIns="0" rtlCol="0">
            <a:spAutoFit/>
          </a:bodyPr>
          <a:lstStyle/>
          <a:p>
            <a:pPr>
              <a:lnSpc>
                <a:spcPts val="1037"/>
              </a:lnSpc>
            </a:pPr>
            <a:r>
              <a:rPr lang="zh-CN" altLang="en-US" sz="1002" dirty="0">
                <a:solidFill>
                  <a:srgbClr val="FFFFFF"/>
                </a:solidFill>
                <a:latin typeface="Times New Roman"/>
              </a:rPr>
              <a:t>業 動 </a:t>
            </a:r>
            <a:r>
              <a:rPr lang="en-US" altLang="zh-CN" sz="1002" b="1" dirty="0">
                <a:solidFill>
                  <a:srgbClr val="FFFFFF"/>
                </a:solidFill>
                <a:latin typeface="Times New Roman"/>
              </a:rPr>
              <a:t>2</a:t>
            </a:r>
          </a:p>
          <a:p>
            <a:pPr>
              <a:lnSpc>
                <a:spcPts val="1193"/>
              </a:lnSpc>
            </a:pPr>
            <a:r>
              <a:rPr lang="zh-CN" altLang="en-US" sz="1002" dirty="0">
                <a:solidFill>
                  <a:srgbClr val="FFFFFF"/>
                </a:solidFill>
                <a:latin typeface="Times New Roman"/>
              </a:rPr>
              <a:t>務 </a:t>
            </a:r>
            <a:r>
              <a:rPr lang="en-US" altLang="zh-CN" sz="1002" b="1" dirty="0">
                <a:solidFill>
                  <a:srgbClr val="FFFFFF"/>
                </a:solidFill>
                <a:latin typeface="Times New Roman"/>
              </a:rPr>
              <a:t>1</a:t>
            </a:r>
          </a:p>
          <a:p>
            <a:pPr>
              <a:lnSpc>
                <a:spcPts val="1171"/>
              </a:lnSpc>
            </a:pPr>
            <a:r>
              <a:rPr lang="zh-CN" altLang="en-US" sz="1002" dirty="0">
                <a:solidFill>
                  <a:srgbClr val="FFFFFF"/>
                </a:solidFill>
                <a:latin typeface="Times New Roman"/>
              </a:rPr>
              <a:t>單</a:t>
            </a:r>
          </a:p>
          <a:p>
            <a:pPr>
              <a:lnSpc>
                <a:spcPts val="1200"/>
              </a:lnSpc>
            </a:pPr>
            <a:r>
              <a:rPr lang="zh-CN" altLang="en-US" sz="1002" dirty="0">
                <a:solidFill>
                  <a:srgbClr val="FFFFFF"/>
                </a:solidFill>
                <a:latin typeface="Times New Roman"/>
              </a:rPr>
              <a:t>位</a:t>
            </a:r>
          </a:p>
          <a:p>
            <a:pPr>
              <a:lnSpc>
                <a:spcPts val="1193"/>
              </a:lnSpc>
            </a:pPr>
            <a:r>
              <a:rPr lang="en-US" altLang="zh-CN" sz="1002" b="1" dirty="0">
                <a:solidFill>
                  <a:srgbClr val="FFFFFF"/>
                </a:solidFill>
                <a:latin typeface="Times New Roman"/>
              </a:rPr>
              <a:t>B</a:t>
            </a:r>
            <a:endParaRPr lang="zh-CN" altLang="en-US" sz="1002" b="1" dirty="0">
              <a:solidFill>
                <a:srgbClr val="FFFFFF"/>
              </a:solidFill>
              <a:latin typeface="Times New Roman"/>
            </a:endParaRPr>
          </a:p>
        </p:txBody>
      </p:sp>
      <p:sp>
        <p:nvSpPr>
          <p:cNvPr id="23" name="TextBox 22"/>
          <p:cNvSpPr txBox="1"/>
          <p:nvPr/>
        </p:nvSpPr>
        <p:spPr>
          <a:xfrm>
            <a:off x="7436744" y="5552856"/>
            <a:ext cx="2119170" cy="1205458"/>
          </a:xfrm>
          <a:prstGeom prst="rect">
            <a:avLst/>
          </a:prstGeom>
          <a:noFill/>
        </p:spPr>
        <p:txBody>
          <a:bodyPr vert="horz" wrap="none" lIns="0" tIns="0" rIns="0" bIns="0" rtlCol="0">
            <a:spAutoFit/>
          </a:bodyPr>
          <a:lstStyle/>
          <a:p>
            <a:pPr marL="0" marR="0" lvl="0" indent="0" defTabSz="914400" eaLnBrk="1" fontAlgn="auto" latinLnBrk="0" hangingPunct="1">
              <a:lnSpc>
                <a:spcPts val="1001"/>
              </a:lnSpc>
              <a:buClrTx/>
              <a:buSzTx/>
              <a:buNone/>
              <a:tabLst>
                <a:tab pos="635000" algn="l"/>
              </a:tabLst>
              <a:defRPr/>
            </a:pPr>
            <a:r>
              <a:rPr lang="zh-CN" altLang="en-US" sz="1002" dirty="0">
                <a:solidFill>
                  <a:srgbClr val="FFFFFF"/>
                </a:solidFill>
                <a:latin typeface="Times New Roman"/>
              </a:rPr>
              <a:t>控制環境</a:t>
            </a:r>
          </a:p>
          <a:p>
            <a:pPr marL="0" marR="0" lvl="0" indent="0" defTabSz="914400" eaLnBrk="1" fontAlgn="auto" latinLnBrk="0" hangingPunct="1">
              <a:lnSpc>
                <a:spcPts val="1000"/>
              </a:lnSpc>
              <a:buClrTx/>
              <a:buSzTx/>
              <a:buNone/>
              <a:tabLst>
                <a:tab pos="635000" algn="l"/>
              </a:tabLst>
              <a:defRPr/>
            </a:pPr>
            <a:endParaRPr lang="zh-CN" altLang="en-US" sz="1002" dirty="0">
              <a:solidFill>
                <a:srgbClr val="FFFFFF"/>
              </a:solidFill>
              <a:latin typeface="Times New Roman"/>
            </a:endParaRPr>
          </a:p>
          <a:p>
            <a:pPr marL="0" marR="0" lvl="0" indent="0" defTabSz="914400" eaLnBrk="1" fontAlgn="auto" latinLnBrk="0" hangingPunct="1">
              <a:lnSpc>
                <a:spcPts val="1000"/>
              </a:lnSpc>
              <a:buClrTx/>
              <a:buSzTx/>
              <a:buNone/>
              <a:tabLst>
                <a:tab pos="635000" algn="l"/>
              </a:tabLst>
              <a:defRPr/>
            </a:pPr>
            <a:endParaRPr lang="zh-CN" altLang="en-US" sz="1002" dirty="0">
              <a:solidFill>
                <a:srgbClr val="FFFFFF"/>
              </a:solidFill>
              <a:latin typeface="Times New Roman"/>
            </a:endParaRPr>
          </a:p>
          <a:p>
            <a:pPr marL="0" marR="0" lvl="0" indent="0" defTabSz="914400" eaLnBrk="1" fontAlgn="auto" latinLnBrk="0" hangingPunct="1">
              <a:lnSpc>
                <a:spcPts val="1000"/>
              </a:lnSpc>
              <a:buClrTx/>
              <a:buSzTx/>
              <a:buNone/>
              <a:tabLst>
                <a:tab pos="635000" algn="l"/>
              </a:tabLst>
              <a:defRPr/>
            </a:pPr>
            <a:endParaRPr lang="zh-CN" altLang="en-US" sz="1002" dirty="0">
              <a:solidFill>
                <a:srgbClr val="FFFFFF"/>
              </a:solidFill>
              <a:latin typeface="Times New Roman"/>
            </a:endParaRPr>
          </a:p>
          <a:p>
            <a:pPr marL="0" marR="0" lvl="0" indent="0" defTabSz="914400" eaLnBrk="1" fontAlgn="auto" latinLnBrk="0" hangingPunct="1">
              <a:lnSpc>
                <a:spcPts val="1000"/>
              </a:lnSpc>
              <a:buClrTx/>
              <a:buSzTx/>
              <a:buNone/>
              <a:tabLst>
                <a:tab pos="635000" algn="l"/>
              </a:tabLst>
              <a:defRPr/>
            </a:pPr>
            <a:endParaRPr lang="zh-CN" altLang="en-US" sz="1002" dirty="0">
              <a:solidFill>
                <a:srgbClr val="FFFFFF"/>
              </a:solidFill>
              <a:latin typeface="Times New Roman"/>
            </a:endParaRPr>
          </a:p>
          <a:p>
            <a:pPr marL="0" marR="0" lvl="0" indent="0" defTabSz="914400" eaLnBrk="1" fontAlgn="auto" latinLnBrk="0" hangingPunct="1">
              <a:lnSpc>
                <a:spcPts val="2568"/>
              </a:lnSpc>
              <a:buClrTx/>
              <a:buSzTx/>
              <a:buNone/>
              <a:tabLst>
                <a:tab pos="635000" algn="l"/>
              </a:tabLst>
              <a:defRPr/>
            </a:pPr>
            <a:r>
              <a:rPr lang="zh-CN" altLang="en-US" sz="1002" dirty="0">
                <a:solidFill>
                  <a:srgbClr val="FFFFFF"/>
                </a:solidFill>
                <a:latin typeface="Times New Roman"/>
              </a:rPr>
              <a:t>	</a:t>
            </a:r>
            <a:r>
              <a:rPr lang="en-US" altLang="zh-CN" dirty="0" err="1">
                <a:solidFill>
                  <a:srgbClr val="000000"/>
                </a:solidFill>
                <a:latin typeface="Times New Roman"/>
              </a:rPr>
              <a:t>Pwc</a:t>
            </a:r>
            <a:endParaRPr lang="en-US" altLang="zh-CN" dirty="0">
              <a:solidFill>
                <a:srgbClr val="000000"/>
              </a:solidFill>
              <a:latin typeface="Times New Roman"/>
            </a:endParaRPr>
          </a:p>
          <a:p>
            <a:pPr marL="0" marR="0" lvl="0" indent="0" defTabSz="914400" eaLnBrk="1" fontAlgn="auto" latinLnBrk="0" hangingPunct="1">
              <a:lnSpc>
                <a:spcPts val="1779"/>
              </a:lnSpc>
              <a:buClrTx/>
              <a:buSzTx/>
              <a:buNone/>
              <a:tabLst>
                <a:tab pos="635000" algn="l"/>
              </a:tabLst>
              <a:defRPr/>
            </a:pPr>
            <a:r>
              <a:rPr lang="en-US" altLang="zh-CN" dirty="0">
                <a:solidFill>
                  <a:srgbClr val="000000"/>
                </a:solidFill>
                <a:latin typeface="Times New Roman"/>
              </a:rPr>
              <a:t>	</a:t>
            </a:r>
            <a:r>
              <a:rPr lang="zh-CN" altLang="en-US" sz="1478" dirty="0">
                <a:solidFill>
                  <a:srgbClr val="000000"/>
                </a:solidFill>
                <a:latin typeface="Times New Roman"/>
              </a:rPr>
              <a:t>普     華     永     道</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myslide40">
    <p:spTree>
      <p:nvGrpSpPr>
        <p:cNvPr id="1" name=""/>
        <p:cNvGrpSpPr/>
        <p:nvPr/>
      </p:nvGrpSpPr>
      <p:grpSpPr>
        <a:xfrm>
          <a:off x="0" y="0"/>
          <a:ext cx="0" cy="0"/>
          <a:chOff x="0" y="0"/>
          <a:chExt cx="0" cy="0"/>
        </a:xfrm>
      </p:grpSpPr>
      <p:pic>
        <p:nvPicPr>
          <p:cNvPr id="2" name="图片 1" descr="ws_1D1.tmp"/>
          <p:cNvPicPr>
            <a:picLocks/>
          </p:cNvPicPr>
          <p:nvPr/>
        </p:nvPicPr>
        <p:blipFill>
          <a:blip r:embed="rId2"/>
          <a:stretch>
            <a:fillRect/>
          </a:stretch>
        </p:blipFill>
        <p:spPr>
          <a:xfrm>
            <a:off x="0" y="0"/>
            <a:ext cx="9880600" cy="6819900"/>
          </a:xfrm>
          <a:prstGeom prst="rect">
            <a:avLst/>
          </a:prstGeom>
        </p:spPr>
      </p:pic>
      <p:sp>
        <p:nvSpPr>
          <p:cNvPr id="3" name="TextBox 2"/>
          <p:cNvSpPr txBox="1"/>
          <p:nvPr/>
        </p:nvSpPr>
        <p:spPr>
          <a:xfrm>
            <a:off x="7853976" y="4120540"/>
            <a:ext cx="128240" cy="98745"/>
          </a:xfrm>
          <a:prstGeom prst="rect">
            <a:avLst/>
          </a:prstGeom>
          <a:noFill/>
        </p:spPr>
        <p:txBody>
          <a:bodyPr vert="horz" wrap="none" lIns="0" tIns="0" rIns="0" bIns="0" rtlCol="0">
            <a:spAutoFit/>
          </a:bodyPr>
          <a:lstStyle/>
          <a:p>
            <a:pPr>
              <a:lnSpc>
                <a:spcPts val="709"/>
              </a:lnSpc>
            </a:pPr>
            <a:r>
              <a:rPr lang="zh-CN" altLang="en-US" sz="1002" dirty="0">
                <a:solidFill>
                  <a:srgbClr val="FFFFFF"/>
                </a:solidFill>
                <a:latin typeface="Times New Roman"/>
              </a:rPr>
              <a:t>財</a:t>
            </a:r>
          </a:p>
        </p:txBody>
      </p:sp>
      <p:sp>
        <p:nvSpPr>
          <p:cNvPr id="4" name="TextBox 3"/>
          <p:cNvSpPr txBox="1"/>
          <p:nvPr/>
        </p:nvSpPr>
        <p:spPr>
          <a:xfrm>
            <a:off x="7943894" y="4030621"/>
            <a:ext cx="128240" cy="98745"/>
          </a:xfrm>
          <a:prstGeom prst="rect">
            <a:avLst/>
          </a:prstGeom>
          <a:noFill/>
        </p:spPr>
        <p:txBody>
          <a:bodyPr vert="horz" wrap="none" lIns="0" tIns="0" rIns="0" bIns="0" rtlCol="0">
            <a:spAutoFit/>
          </a:bodyPr>
          <a:lstStyle/>
          <a:p>
            <a:pPr>
              <a:lnSpc>
                <a:spcPts val="709"/>
              </a:lnSpc>
            </a:pPr>
            <a:r>
              <a:rPr lang="zh-CN" altLang="en-US" sz="1002" dirty="0">
                <a:solidFill>
                  <a:srgbClr val="FFFFFF"/>
                </a:solidFill>
                <a:latin typeface="Times New Roman"/>
              </a:rPr>
              <a:t>務</a:t>
            </a:r>
          </a:p>
        </p:txBody>
      </p:sp>
      <p:sp>
        <p:nvSpPr>
          <p:cNvPr id="5" name="TextBox 4"/>
          <p:cNvSpPr txBox="1"/>
          <p:nvPr/>
        </p:nvSpPr>
        <p:spPr>
          <a:xfrm>
            <a:off x="8033813" y="3940703"/>
            <a:ext cx="128240" cy="98745"/>
          </a:xfrm>
          <a:prstGeom prst="rect">
            <a:avLst/>
          </a:prstGeom>
          <a:noFill/>
        </p:spPr>
        <p:txBody>
          <a:bodyPr vert="horz" wrap="none" lIns="0" tIns="0" rIns="0" bIns="0" rtlCol="0">
            <a:spAutoFit/>
          </a:bodyPr>
          <a:lstStyle/>
          <a:p>
            <a:pPr>
              <a:lnSpc>
                <a:spcPts val="709"/>
              </a:lnSpc>
            </a:pPr>
            <a:r>
              <a:rPr lang="zh-CN" altLang="en-US" sz="1002" dirty="0">
                <a:solidFill>
                  <a:srgbClr val="FFFFFF"/>
                </a:solidFill>
                <a:latin typeface="Times New Roman"/>
              </a:rPr>
              <a:t>報</a:t>
            </a:r>
          </a:p>
        </p:txBody>
      </p:sp>
      <p:sp>
        <p:nvSpPr>
          <p:cNvPr id="6" name="TextBox 5"/>
          <p:cNvSpPr txBox="1"/>
          <p:nvPr/>
        </p:nvSpPr>
        <p:spPr>
          <a:xfrm>
            <a:off x="8123732" y="3850784"/>
            <a:ext cx="128240" cy="98745"/>
          </a:xfrm>
          <a:prstGeom prst="rect">
            <a:avLst/>
          </a:prstGeom>
          <a:noFill/>
        </p:spPr>
        <p:txBody>
          <a:bodyPr vert="horz" wrap="none" lIns="0" tIns="0" rIns="0" bIns="0" rtlCol="0">
            <a:spAutoFit/>
          </a:bodyPr>
          <a:lstStyle/>
          <a:p>
            <a:pPr>
              <a:lnSpc>
                <a:spcPts val="709"/>
              </a:lnSpc>
            </a:pPr>
            <a:r>
              <a:rPr lang="zh-CN" altLang="en-US" sz="1002" dirty="0">
                <a:solidFill>
                  <a:srgbClr val="FFFFFF"/>
                </a:solidFill>
                <a:latin typeface="Times New Roman"/>
              </a:rPr>
              <a:t>告</a:t>
            </a:r>
          </a:p>
        </p:txBody>
      </p:sp>
      <p:sp>
        <p:nvSpPr>
          <p:cNvPr id="7" name="TextBox 6"/>
          <p:cNvSpPr txBox="1"/>
          <p:nvPr/>
        </p:nvSpPr>
        <p:spPr>
          <a:xfrm>
            <a:off x="8521486" y="4075579"/>
            <a:ext cx="128240" cy="98745"/>
          </a:xfrm>
          <a:prstGeom prst="rect">
            <a:avLst/>
          </a:prstGeom>
          <a:noFill/>
        </p:spPr>
        <p:txBody>
          <a:bodyPr vert="horz" wrap="none" lIns="0" tIns="0" rIns="0" bIns="0" rtlCol="0">
            <a:spAutoFit/>
          </a:bodyPr>
          <a:lstStyle/>
          <a:p>
            <a:pPr>
              <a:lnSpc>
                <a:spcPts val="709"/>
              </a:lnSpc>
            </a:pPr>
            <a:r>
              <a:rPr lang="zh-CN" altLang="en-US" sz="1002" dirty="0">
                <a:solidFill>
                  <a:srgbClr val="FFFFFF"/>
                </a:solidFill>
                <a:latin typeface="Times New Roman"/>
              </a:rPr>
              <a:t>合</a:t>
            </a:r>
          </a:p>
        </p:txBody>
      </p:sp>
      <p:sp>
        <p:nvSpPr>
          <p:cNvPr id="8" name="TextBox 7"/>
          <p:cNvSpPr txBox="1"/>
          <p:nvPr/>
        </p:nvSpPr>
        <p:spPr>
          <a:xfrm>
            <a:off x="8611405" y="3985660"/>
            <a:ext cx="128240" cy="98745"/>
          </a:xfrm>
          <a:prstGeom prst="rect">
            <a:avLst/>
          </a:prstGeom>
          <a:noFill/>
        </p:spPr>
        <p:txBody>
          <a:bodyPr vert="horz" wrap="none" lIns="0" tIns="0" rIns="0" bIns="0" rtlCol="0">
            <a:spAutoFit/>
          </a:bodyPr>
          <a:lstStyle/>
          <a:p>
            <a:pPr>
              <a:lnSpc>
                <a:spcPts val="709"/>
              </a:lnSpc>
            </a:pPr>
            <a:r>
              <a:rPr lang="zh-CN" altLang="en-US" sz="1002" dirty="0">
                <a:solidFill>
                  <a:srgbClr val="FFFFFF"/>
                </a:solidFill>
                <a:latin typeface="Times New Roman"/>
              </a:rPr>
              <a:t>規</a:t>
            </a:r>
          </a:p>
        </p:txBody>
      </p:sp>
      <p:sp>
        <p:nvSpPr>
          <p:cNvPr id="9" name="TextBox 8"/>
          <p:cNvSpPr txBox="1"/>
          <p:nvPr/>
        </p:nvSpPr>
        <p:spPr>
          <a:xfrm>
            <a:off x="8701323" y="3895742"/>
            <a:ext cx="128240" cy="98745"/>
          </a:xfrm>
          <a:prstGeom prst="rect">
            <a:avLst/>
          </a:prstGeom>
          <a:noFill/>
        </p:spPr>
        <p:txBody>
          <a:bodyPr vert="horz" wrap="none" lIns="0" tIns="0" rIns="0" bIns="0" rtlCol="0">
            <a:spAutoFit/>
          </a:bodyPr>
          <a:lstStyle/>
          <a:p>
            <a:pPr>
              <a:lnSpc>
                <a:spcPts val="709"/>
              </a:lnSpc>
            </a:pPr>
            <a:r>
              <a:rPr lang="zh-CN" altLang="en-US" sz="1002" dirty="0">
                <a:solidFill>
                  <a:srgbClr val="FFFFFF"/>
                </a:solidFill>
                <a:latin typeface="Times New Roman"/>
              </a:rPr>
              <a:t>性</a:t>
            </a:r>
          </a:p>
        </p:txBody>
      </p:sp>
      <p:sp>
        <p:nvSpPr>
          <p:cNvPr id="10" name="TextBox 9"/>
          <p:cNvSpPr txBox="1"/>
          <p:nvPr/>
        </p:nvSpPr>
        <p:spPr>
          <a:xfrm>
            <a:off x="587134" y="2434023"/>
            <a:ext cx="174728" cy="224420"/>
          </a:xfrm>
          <a:prstGeom prst="rect">
            <a:avLst/>
          </a:prstGeom>
          <a:noFill/>
        </p:spPr>
        <p:txBody>
          <a:bodyPr vert="horz" wrap="none" lIns="0" tIns="0" rIns="0" bIns="0" rtlCol="0">
            <a:spAutoFit/>
          </a:bodyPr>
          <a:lstStyle/>
          <a:p>
            <a:pPr>
              <a:lnSpc>
                <a:spcPts val="1665"/>
              </a:lnSpc>
            </a:pPr>
            <a:r>
              <a:rPr lang="en-US" altLang="zh-CN" dirty="0">
                <a:solidFill>
                  <a:srgbClr val="000000"/>
                </a:solidFill>
                <a:latin typeface="Times New Roman"/>
              </a:rPr>
              <a:t>1.</a:t>
            </a:r>
            <a:endParaRPr lang="zh-CN" altLang="en-US" dirty="0">
              <a:solidFill>
                <a:srgbClr val="000000"/>
              </a:solidFill>
              <a:latin typeface="Times New Roman"/>
            </a:endParaRPr>
          </a:p>
        </p:txBody>
      </p:sp>
      <p:sp>
        <p:nvSpPr>
          <p:cNvPr id="11" name="TextBox 10"/>
          <p:cNvSpPr txBox="1"/>
          <p:nvPr/>
        </p:nvSpPr>
        <p:spPr>
          <a:xfrm>
            <a:off x="587134" y="2709098"/>
            <a:ext cx="174728" cy="224420"/>
          </a:xfrm>
          <a:prstGeom prst="rect">
            <a:avLst/>
          </a:prstGeom>
          <a:noFill/>
        </p:spPr>
        <p:txBody>
          <a:bodyPr vert="horz" wrap="none" lIns="0" tIns="0" rIns="0" bIns="0" rtlCol="0">
            <a:spAutoFit/>
          </a:bodyPr>
          <a:lstStyle/>
          <a:p>
            <a:pPr>
              <a:lnSpc>
                <a:spcPts val="1665"/>
              </a:lnSpc>
            </a:pPr>
            <a:r>
              <a:rPr lang="en-US" altLang="zh-CN" dirty="0">
                <a:solidFill>
                  <a:srgbClr val="000000"/>
                </a:solidFill>
                <a:latin typeface="Times New Roman"/>
              </a:rPr>
              <a:t>2.</a:t>
            </a:r>
            <a:endParaRPr lang="zh-CN" altLang="en-US" dirty="0">
              <a:solidFill>
                <a:srgbClr val="000000"/>
              </a:solidFill>
              <a:latin typeface="Times New Roman"/>
            </a:endParaRPr>
          </a:p>
        </p:txBody>
      </p:sp>
      <p:sp>
        <p:nvSpPr>
          <p:cNvPr id="12" name="TextBox 11"/>
          <p:cNvSpPr txBox="1"/>
          <p:nvPr/>
        </p:nvSpPr>
        <p:spPr>
          <a:xfrm>
            <a:off x="587134" y="2983417"/>
            <a:ext cx="174728" cy="224420"/>
          </a:xfrm>
          <a:prstGeom prst="rect">
            <a:avLst/>
          </a:prstGeom>
          <a:noFill/>
        </p:spPr>
        <p:txBody>
          <a:bodyPr vert="horz" wrap="none" lIns="0" tIns="0" rIns="0" bIns="0" rtlCol="0">
            <a:spAutoFit/>
          </a:bodyPr>
          <a:lstStyle/>
          <a:p>
            <a:pPr>
              <a:lnSpc>
                <a:spcPts val="1665"/>
              </a:lnSpc>
            </a:pPr>
            <a:r>
              <a:rPr lang="en-US" altLang="zh-CN" dirty="0">
                <a:solidFill>
                  <a:srgbClr val="000000"/>
                </a:solidFill>
                <a:latin typeface="Times New Roman"/>
              </a:rPr>
              <a:t>3.</a:t>
            </a:r>
            <a:endParaRPr lang="zh-CN" altLang="en-US" dirty="0">
              <a:solidFill>
                <a:srgbClr val="000000"/>
              </a:solidFill>
              <a:latin typeface="Times New Roman"/>
            </a:endParaRPr>
          </a:p>
        </p:txBody>
      </p:sp>
      <p:sp>
        <p:nvSpPr>
          <p:cNvPr id="13" name="TextBox 12"/>
          <p:cNvSpPr txBox="1"/>
          <p:nvPr/>
        </p:nvSpPr>
        <p:spPr>
          <a:xfrm>
            <a:off x="509403" y="6341571"/>
            <a:ext cx="144270" cy="133370"/>
          </a:xfrm>
          <a:prstGeom prst="rect">
            <a:avLst/>
          </a:prstGeom>
          <a:noFill/>
        </p:spPr>
        <p:txBody>
          <a:bodyPr vert="horz" wrap="none" lIns="0" tIns="0" rIns="0" bIns="0" rtlCol="0">
            <a:spAutoFit/>
          </a:bodyPr>
          <a:lstStyle/>
          <a:p>
            <a:pPr>
              <a:lnSpc>
                <a:spcPts val="1016"/>
              </a:lnSpc>
            </a:pPr>
            <a:r>
              <a:rPr lang="en-US" altLang="zh-CN" sz="1098" dirty="0">
                <a:solidFill>
                  <a:srgbClr val="761437"/>
                </a:solidFill>
                <a:latin typeface="Times New Roman"/>
              </a:rPr>
              <a:t>40</a:t>
            </a:r>
            <a:endParaRPr lang="zh-CN" altLang="en-US" sz="1098" dirty="0">
              <a:solidFill>
                <a:srgbClr val="761437"/>
              </a:solidFill>
              <a:latin typeface="Times New Roman"/>
            </a:endParaRPr>
          </a:p>
        </p:txBody>
      </p:sp>
      <p:sp>
        <p:nvSpPr>
          <p:cNvPr id="14" name="TextBox 13"/>
          <p:cNvSpPr txBox="1"/>
          <p:nvPr/>
        </p:nvSpPr>
        <p:spPr>
          <a:xfrm>
            <a:off x="509403" y="390082"/>
            <a:ext cx="6463308" cy="2834109"/>
          </a:xfrm>
          <a:prstGeom prst="rect">
            <a:avLst/>
          </a:prstGeom>
          <a:noFill/>
        </p:spPr>
        <p:txBody>
          <a:bodyPr vert="horz" wrap="none" lIns="0" tIns="0" rIns="0" bIns="0" rtlCol="0">
            <a:spAutoFit/>
          </a:bodyPr>
          <a:lstStyle/>
          <a:p>
            <a:pPr marL="0" marR="0" lvl="0" indent="0" defTabSz="914400" eaLnBrk="1" fontAlgn="auto" latinLnBrk="0" hangingPunct="1">
              <a:lnSpc>
                <a:spcPts val="4087"/>
              </a:lnSpc>
              <a:buClrTx/>
              <a:buSzTx/>
              <a:buNone/>
              <a:tabLst>
                <a:tab pos="317500" algn="l"/>
                <a:tab pos="533400" algn="l"/>
              </a:tabLst>
              <a:defRPr/>
            </a:pPr>
            <a:r>
              <a:rPr lang="zh-CN" altLang="en-US" dirty="0"/>
              <a:t>	</a:t>
            </a:r>
            <a:r>
              <a:rPr lang="zh-CN" altLang="en-US" sz="3798" dirty="0">
                <a:solidFill>
                  <a:srgbClr val="FFFFFF"/>
                </a:solidFill>
                <a:latin typeface="Times New Roman"/>
              </a:rPr>
              <a:t>監控  </a:t>
            </a:r>
            <a:r>
              <a:rPr lang="en-US" altLang="zh-CN" sz="3798" b="1" dirty="0">
                <a:solidFill>
                  <a:srgbClr val="FFFFFF"/>
                </a:solidFill>
                <a:latin typeface="Times New Roman"/>
              </a:rPr>
              <a:t>–  </a:t>
            </a:r>
            <a:r>
              <a:rPr lang="zh-CN" altLang="en-US" sz="3798" dirty="0">
                <a:solidFill>
                  <a:srgbClr val="FFFFFF"/>
                </a:solidFill>
                <a:latin typeface="Times New Roman"/>
              </a:rPr>
              <a:t>報告缺陷</a:t>
            </a:r>
          </a:p>
          <a:p>
            <a:pPr marL="0" marR="0" lvl="0" indent="0" defTabSz="914400" eaLnBrk="1" fontAlgn="auto" latinLnBrk="0" hangingPunct="1">
              <a:lnSpc>
                <a:spcPts val="1000"/>
              </a:lnSpc>
              <a:buClrTx/>
              <a:buSzTx/>
              <a:buNone/>
              <a:tabLst>
                <a:tab pos="317500" algn="l"/>
                <a:tab pos="533400" algn="l"/>
              </a:tabLst>
              <a:defRPr/>
            </a:pPr>
            <a:endParaRPr lang="zh-CN" altLang="en-US" sz="3798" dirty="0">
              <a:solidFill>
                <a:srgbClr val="FFFFFF"/>
              </a:solidFill>
              <a:latin typeface="Times New Roman"/>
            </a:endParaRPr>
          </a:p>
          <a:p>
            <a:pPr marL="0" marR="0" lvl="0" indent="0" defTabSz="914400" eaLnBrk="1" fontAlgn="auto" latinLnBrk="0" hangingPunct="1">
              <a:lnSpc>
                <a:spcPts val="1000"/>
              </a:lnSpc>
              <a:buClrTx/>
              <a:buSzTx/>
              <a:buNone/>
              <a:tabLst>
                <a:tab pos="317500" algn="l"/>
                <a:tab pos="533400" algn="l"/>
              </a:tabLst>
              <a:defRPr/>
            </a:pPr>
            <a:endParaRPr lang="zh-CN" altLang="en-US" sz="3798" dirty="0">
              <a:solidFill>
                <a:srgbClr val="FFFFFF"/>
              </a:solidFill>
              <a:latin typeface="Times New Roman"/>
            </a:endParaRPr>
          </a:p>
          <a:p>
            <a:pPr marL="0" marR="0" lvl="0" indent="0" defTabSz="914400" eaLnBrk="1" fontAlgn="auto" latinLnBrk="0" hangingPunct="1">
              <a:lnSpc>
                <a:spcPts val="1000"/>
              </a:lnSpc>
              <a:buClrTx/>
              <a:buSzTx/>
              <a:buNone/>
              <a:tabLst>
                <a:tab pos="317500" algn="l"/>
                <a:tab pos="533400" algn="l"/>
              </a:tabLst>
              <a:defRPr/>
            </a:pPr>
            <a:endParaRPr lang="zh-CN" altLang="en-US" sz="3798" dirty="0">
              <a:solidFill>
                <a:srgbClr val="FFFFFF"/>
              </a:solidFill>
              <a:latin typeface="Times New Roman"/>
            </a:endParaRPr>
          </a:p>
          <a:p>
            <a:pPr marL="0" marR="0" lvl="0" indent="0" defTabSz="914400" eaLnBrk="1" fontAlgn="auto" latinLnBrk="0" hangingPunct="1">
              <a:lnSpc>
                <a:spcPts val="1000"/>
              </a:lnSpc>
              <a:buClrTx/>
              <a:buSzTx/>
              <a:buNone/>
              <a:tabLst>
                <a:tab pos="317500" algn="l"/>
                <a:tab pos="533400" algn="l"/>
              </a:tabLst>
              <a:defRPr/>
            </a:pPr>
            <a:endParaRPr lang="zh-CN" altLang="en-US" sz="3798" dirty="0">
              <a:solidFill>
                <a:srgbClr val="FFFFFF"/>
              </a:solidFill>
              <a:latin typeface="Times New Roman"/>
            </a:endParaRPr>
          </a:p>
          <a:p>
            <a:pPr marL="0" marR="0" lvl="0" indent="0" defTabSz="914400" eaLnBrk="1" fontAlgn="auto" latinLnBrk="0" hangingPunct="1">
              <a:lnSpc>
                <a:spcPts val="1000"/>
              </a:lnSpc>
              <a:buClrTx/>
              <a:buSzTx/>
              <a:buNone/>
              <a:tabLst>
                <a:tab pos="317500" algn="l"/>
                <a:tab pos="533400" algn="l"/>
              </a:tabLst>
              <a:defRPr/>
            </a:pPr>
            <a:endParaRPr lang="zh-CN" altLang="en-US" sz="3798" dirty="0">
              <a:solidFill>
                <a:srgbClr val="FFFFFF"/>
              </a:solidFill>
              <a:latin typeface="Times New Roman"/>
            </a:endParaRPr>
          </a:p>
          <a:p>
            <a:pPr marL="0" marR="0" lvl="0" indent="0" defTabSz="914400" eaLnBrk="1" fontAlgn="auto" latinLnBrk="0" hangingPunct="1">
              <a:lnSpc>
                <a:spcPts val="1000"/>
              </a:lnSpc>
              <a:buClrTx/>
              <a:buSzTx/>
              <a:buNone/>
              <a:tabLst>
                <a:tab pos="317500" algn="l"/>
                <a:tab pos="533400" algn="l"/>
              </a:tabLst>
              <a:defRPr/>
            </a:pPr>
            <a:endParaRPr lang="zh-CN" altLang="en-US" sz="3798" dirty="0">
              <a:solidFill>
                <a:srgbClr val="FFFFFF"/>
              </a:solidFill>
              <a:latin typeface="Times New Roman"/>
            </a:endParaRPr>
          </a:p>
          <a:p>
            <a:pPr marL="0" marR="0" lvl="0" indent="0" defTabSz="914400" eaLnBrk="1" fontAlgn="auto" latinLnBrk="0" hangingPunct="1">
              <a:lnSpc>
                <a:spcPts val="1000"/>
              </a:lnSpc>
              <a:buClrTx/>
              <a:buSzTx/>
              <a:buNone/>
              <a:tabLst>
                <a:tab pos="317500" algn="l"/>
                <a:tab pos="533400" algn="l"/>
              </a:tabLst>
              <a:defRPr/>
            </a:pPr>
            <a:endParaRPr lang="zh-CN" altLang="en-US" sz="3798" dirty="0">
              <a:solidFill>
                <a:srgbClr val="FFFFFF"/>
              </a:solidFill>
              <a:latin typeface="Times New Roman"/>
            </a:endParaRPr>
          </a:p>
          <a:p>
            <a:pPr marL="0" marR="0" lvl="0" indent="0" defTabSz="914400" eaLnBrk="1" fontAlgn="auto" latinLnBrk="0" hangingPunct="1">
              <a:lnSpc>
                <a:spcPts val="1956"/>
              </a:lnSpc>
              <a:buClrTx/>
              <a:buSzTx/>
              <a:buNone/>
              <a:tabLst>
                <a:tab pos="317500" algn="l"/>
                <a:tab pos="533400" algn="l"/>
              </a:tabLst>
              <a:defRPr/>
            </a:pPr>
            <a:r>
              <a:rPr lang="zh-CN" altLang="en-US" dirty="0">
                <a:solidFill>
                  <a:srgbClr val="000000"/>
                </a:solidFill>
                <a:latin typeface="Times New Roman"/>
              </a:rPr>
              <a:t>內控缺陷應該向上彙報，某些問題應向高級管理層和董事會彙報</a:t>
            </a:r>
          </a:p>
          <a:p>
            <a:pPr marL="0" marR="0" lvl="0" indent="0" defTabSz="914400" eaLnBrk="1" fontAlgn="auto" latinLnBrk="0" hangingPunct="1">
              <a:lnSpc>
                <a:spcPts val="1000"/>
              </a:lnSpc>
              <a:buClrTx/>
              <a:buSzTx/>
              <a:buNone/>
              <a:tabLst>
                <a:tab pos="317500" algn="l"/>
                <a:tab pos="533400" algn="l"/>
              </a:tabLst>
              <a:defRPr/>
            </a:pPr>
            <a:endParaRPr lang="zh-CN" altLang="en-US" dirty="0">
              <a:solidFill>
                <a:srgbClr val="000000"/>
              </a:solidFill>
              <a:latin typeface="Times New Roman"/>
            </a:endParaRPr>
          </a:p>
          <a:p>
            <a:pPr marL="0" marR="0" lvl="0" indent="0" defTabSz="914400" eaLnBrk="1" fontAlgn="auto" latinLnBrk="0" hangingPunct="1">
              <a:lnSpc>
                <a:spcPts val="1000"/>
              </a:lnSpc>
              <a:buClrTx/>
              <a:buSzTx/>
              <a:buNone/>
              <a:tabLst>
                <a:tab pos="317500" algn="l"/>
                <a:tab pos="533400" algn="l"/>
              </a:tabLst>
              <a:defRPr/>
            </a:pPr>
            <a:endParaRPr lang="zh-CN" altLang="en-US" dirty="0">
              <a:solidFill>
                <a:srgbClr val="000000"/>
              </a:solidFill>
              <a:latin typeface="Times New Roman"/>
            </a:endParaRPr>
          </a:p>
          <a:p>
            <a:pPr marL="0" marR="0" lvl="0" indent="0" defTabSz="914400" eaLnBrk="1" fontAlgn="auto" latinLnBrk="0" hangingPunct="1">
              <a:lnSpc>
                <a:spcPts val="2596"/>
              </a:lnSpc>
              <a:buClrTx/>
              <a:buSzTx/>
              <a:buNone/>
              <a:tabLst>
                <a:tab pos="317500" algn="l"/>
                <a:tab pos="533400" algn="l"/>
              </a:tabLst>
              <a:defRPr/>
            </a:pPr>
            <a:r>
              <a:rPr lang="zh-CN" altLang="en-US" dirty="0">
                <a:solidFill>
                  <a:srgbClr val="000000"/>
                </a:solidFill>
                <a:latin typeface="Times New Roman"/>
              </a:rPr>
              <a:t>		存在適當的機制，來彙集並報告發現的內控缺陷。</a:t>
            </a:r>
          </a:p>
          <a:p>
            <a:pPr marL="0" marR="0" lvl="0" indent="0" defTabSz="914400" eaLnBrk="1" fontAlgn="auto" latinLnBrk="0" hangingPunct="1">
              <a:lnSpc>
                <a:spcPts val="2166"/>
              </a:lnSpc>
              <a:buClrTx/>
              <a:buSzTx/>
              <a:buNone/>
              <a:tabLst>
                <a:tab pos="317500" algn="l"/>
                <a:tab pos="533400" algn="l"/>
              </a:tabLst>
              <a:defRPr/>
            </a:pPr>
            <a:r>
              <a:rPr lang="zh-CN" altLang="en-US" dirty="0">
                <a:solidFill>
                  <a:srgbClr val="000000"/>
                </a:solidFill>
                <a:latin typeface="Times New Roman"/>
              </a:rPr>
              <a:t>		彙報程式是否恰當。</a:t>
            </a:r>
          </a:p>
          <a:p>
            <a:pPr marL="0" marR="0" lvl="0" indent="0" defTabSz="914400" eaLnBrk="1" fontAlgn="auto" latinLnBrk="0" hangingPunct="1">
              <a:lnSpc>
                <a:spcPts val="2160"/>
              </a:lnSpc>
              <a:buClrTx/>
              <a:buSzTx/>
              <a:buNone/>
              <a:tabLst>
                <a:tab pos="317500" algn="l"/>
                <a:tab pos="533400" algn="l"/>
              </a:tabLst>
              <a:defRPr/>
            </a:pPr>
            <a:r>
              <a:rPr lang="zh-CN" altLang="en-US" dirty="0">
                <a:solidFill>
                  <a:srgbClr val="000000"/>
                </a:solidFill>
                <a:latin typeface="Times New Roman"/>
              </a:rPr>
              <a:t>		跟蹤行動是否適當。</a:t>
            </a:r>
          </a:p>
        </p:txBody>
      </p:sp>
      <p:sp>
        <p:nvSpPr>
          <p:cNvPr id="15" name="TextBox 14"/>
          <p:cNvSpPr txBox="1"/>
          <p:nvPr/>
        </p:nvSpPr>
        <p:spPr>
          <a:xfrm>
            <a:off x="7368927" y="4038016"/>
            <a:ext cx="128240" cy="128240"/>
          </a:xfrm>
          <a:prstGeom prst="rect">
            <a:avLst/>
          </a:prstGeom>
          <a:noFill/>
        </p:spPr>
        <p:txBody>
          <a:bodyPr vert="horz" wrap="none" lIns="0" tIns="0" rIns="0" bIns="0" rtlCol="0">
            <a:spAutoFit/>
          </a:bodyPr>
          <a:lstStyle/>
          <a:p>
            <a:pPr>
              <a:lnSpc>
                <a:spcPts val="1001"/>
              </a:lnSpc>
            </a:pPr>
            <a:r>
              <a:rPr lang="zh-CN" altLang="en-US" sz="1002" dirty="0">
                <a:solidFill>
                  <a:srgbClr val="FFFFFF"/>
                </a:solidFill>
                <a:latin typeface="Times New Roman"/>
              </a:rPr>
              <a:t>營</a:t>
            </a:r>
          </a:p>
        </p:txBody>
      </p:sp>
      <p:sp>
        <p:nvSpPr>
          <p:cNvPr id="16" name="TextBox 15"/>
          <p:cNvSpPr txBox="1"/>
          <p:nvPr/>
        </p:nvSpPr>
        <p:spPr>
          <a:xfrm>
            <a:off x="7459610" y="3948862"/>
            <a:ext cx="128240" cy="128240"/>
          </a:xfrm>
          <a:prstGeom prst="rect">
            <a:avLst/>
          </a:prstGeom>
          <a:noFill/>
        </p:spPr>
        <p:txBody>
          <a:bodyPr vert="horz" wrap="none" lIns="0" tIns="0" rIns="0" bIns="0" rtlCol="0">
            <a:spAutoFit/>
          </a:bodyPr>
          <a:lstStyle/>
          <a:p>
            <a:pPr>
              <a:lnSpc>
                <a:spcPts val="1001"/>
              </a:lnSpc>
            </a:pPr>
            <a:r>
              <a:rPr lang="zh-CN" altLang="en-US" sz="1002" dirty="0">
                <a:solidFill>
                  <a:srgbClr val="FFFFFF"/>
                </a:solidFill>
                <a:latin typeface="Times New Roman"/>
              </a:rPr>
              <a:t>運</a:t>
            </a:r>
          </a:p>
        </p:txBody>
      </p:sp>
      <p:sp>
        <p:nvSpPr>
          <p:cNvPr id="17" name="TextBox 16"/>
          <p:cNvSpPr txBox="1"/>
          <p:nvPr/>
        </p:nvSpPr>
        <p:spPr>
          <a:xfrm>
            <a:off x="7565523" y="4457862"/>
            <a:ext cx="256480" cy="128240"/>
          </a:xfrm>
          <a:prstGeom prst="rect">
            <a:avLst/>
          </a:prstGeom>
          <a:noFill/>
        </p:spPr>
        <p:txBody>
          <a:bodyPr vert="horz" wrap="none" lIns="0" tIns="0" rIns="0" bIns="0" rtlCol="0">
            <a:spAutoFit/>
          </a:bodyPr>
          <a:lstStyle/>
          <a:p>
            <a:pPr>
              <a:lnSpc>
                <a:spcPts val="1001"/>
              </a:lnSpc>
            </a:pPr>
            <a:r>
              <a:rPr lang="zh-CN" altLang="en-US" sz="1002" dirty="0">
                <a:solidFill>
                  <a:srgbClr val="FFFFFF"/>
                </a:solidFill>
                <a:latin typeface="Times New Roman"/>
              </a:rPr>
              <a:t>監控</a:t>
            </a:r>
          </a:p>
        </p:txBody>
      </p:sp>
      <p:sp>
        <p:nvSpPr>
          <p:cNvPr id="18" name="TextBox 17"/>
          <p:cNvSpPr txBox="1"/>
          <p:nvPr/>
        </p:nvSpPr>
        <p:spPr>
          <a:xfrm>
            <a:off x="9068921" y="4367964"/>
            <a:ext cx="294953" cy="294953"/>
          </a:xfrm>
          <a:prstGeom prst="rect">
            <a:avLst/>
          </a:prstGeom>
          <a:noFill/>
        </p:spPr>
        <p:txBody>
          <a:bodyPr vert="horz" wrap="none" lIns="0" tIns="0" rIns="0" bIns="0" rtlCol="0">
            <a:spAutoFit/>
          </a:bodyPr>
          <a:lstStyle/>
          <a:p>
            <a:pPr marL="0" marR="0" lvl="0" indent="0" defTabSz="914400" eaLnBrk="1" fontAlgn="auto" latinLnBrk="0" hangingPunct="1">
              <a:lnSpc>
                <a:spcPts val="1001"/>
              </a:lnSpc>
              <a:buClrTx/>
              <a:buSzTx/>
              <a:buNone/>
              <a:tabLst>
                <a:tab pos="165100" algn="l"/>
              </a:tabLst>
              <a:defRPr/>
            </a:pPr>
            <a:r>
              <a:rPr lang="zh-CN" altLang="en-US" dirty="0"/>
              <a:t>	</a:t>
            </a:r>
            <a:r>
              <a:rPr lang="zh-CN" altLang="en-US" sz="1002" dirty="0">
                <a:solidFill>
                  <a:srgbClr val="FFFFFF"/>
                </a:solidFill>
                <a:latin typeface="Times New Roman"/>
              </a:rPr>
              <a:t>活</a:t>
            </a:r>
          </a:p>
          <a:p>
            <a:pPr marL="0" marR="0" lvl="0" indent="0" defTabSz="914400" eaLnBrk="1" fontAlgn="auto" latinLnBrk="0" hangingPunct="1">
              <a:lnSpc>
                <a:spcPts val="1290"/>
              </a:lnSpc>
              <a:buClrTx/>
              <a:buSzTx/>
              <a:buNone/>
              <a:tabLst>
                <a:tab pos="165100" algn="l"/>
              </a:tabLst>
              <a:defRPr/>
            </a:pPr>
            <a:r>
              <a:rPr lang="zh-CN" altLang="en-US" sz="1002" dirty="0">
                <a:solidFill>
                  <a:srgbClr val="FFFFFF"/>
                </a:solidFill>
                <a:latin typeface="Times New Roman"/>
              </a:rPr>
              <a:t>活 動</a:t>
            </a:r>
          </a:p>
        </p:txBody>
      </p:sp>
      <p:sp>
        <p:nvSpPr>
          <p:cNvPr id="19" name="TextBox 18"/>
          <p:cNvSpPr txBox="1"/>
          <p:nvPr/>
        </p:nvSpPr>
        <p:spPr>
          <a:xfrm>
            <a:off x="7373500" y="4781711"/>
            <a:ext cx="641201" cy="795089"/>
          </a:xfrm>
          <a:prstGeom prst="rect">
            <a:avLst/>
          </a:prstGeom>
          <a:noFill/>
        </p:spPr>
        <p:txBody>
          <a:bodyPr vert="horz" wrap="none" lIns="0" tIns="0" rIns="0" bIns="0" rtlCol="0">
            <a:spAutoFit/>
          </a:bodyPr>
          <a:lstStyle/>
          <a:p>
            <a:pPr marL="0" marR="0" lvl="0" indent="0" defTabSz="914400" eaLnBrk="1" fontAlgn="auto" latinLnBrk="0" hangingPunct="1">
              <a:lnSpc>
                <a:spcPts val="1001"/>
              </a:lnSpc>
              <a:buClrTx/>
              <a:buSzTx/>
              <a:buNone/>
              <a:tabLst>
                <a:tab pos="63500" algn="l"/>
              </a:tabLst>
              <a:defRPr/>
            </a:pPr>
            <a:r>
              <a:rPr lang="zh-CN" altLang="en-US" sz="1002" dirty="0">
                <a:solidFill>
                  <a:srgbClr val="FFFFFF"/>
                </a:solidFill>
                <a:latin typeface="Times New Roman"/>
              </a:rPr>
              <a:t>資訊和溝通</a:t>
            </a:r>
          </a:p>
          <a:p>
            <a:pPr marL="0" marR="0" lvl="0" indent="0" defTabSz="914400" eaLnBrk="1" fontAlgn="auto" latinLnBrk="0" hangingPunct="1">
              <a:lnSpc>
                <a:spcPts val="1000"/>
              </a:lnSpc>
              <a:buClrTx/>
              <a:buSzTx/>
              <a:buNone/>
              <a:tabLst>
                <a:tab pos="63500" algn="l"/>
              </a:tabLst>
              <a:defRPr/>
            </a:pPr>
            <a:endParaRPr lang="zh-CN" altLang="en-US" sz="1002" dirty="0">
              <a:solidFill>
                <a:srgbClr val="FFFFFF"/>
              </a:solidFill>
              <a:latin typeface="Times New Roman"/>
            </a:endParaRPr>
          </a:p>
          <a:p>
            <a:pPr marL="0" marR="0" lvl="0" indent="0" defTabSz="914400" eaLnBrk="1" fontAlgn="auto" latinLnBrk="0" hangingPunct="1">
              <a:lnSpc>
                <a:spcPts val="1460"/>
              </a:lnSpc>
              <a:buClrTx/>
              <a:buSzTx/>
              <a:buNone/>
              <a:tabLst>
                <a:tab pos="63500" algn="l"/>
              </a:tabLst>
              <a:defRPr/>
            </a:pPr>
            <a:r>
              <a:rPr lang="zh-CN" altLang="en-US" sz="1002" dirty="0">
                <a:solidFill>
                  <a:srgbClr val="FFFFFF"/>
                </a:solidFill>
                <a:latin typeface="Times New Roman"/>
              </a:rPr>
              <a:t>	控制活動</a:t>
            </a:r>
          </a:p>
          <a:p>
            <a:pPr marL="0" marR="0" lvl="0" indent="0" defTabSz="914400" eaLnBrk="1" fontAlgn="auto" latinLnBrk="0" hangingPunct="1">
              <a:lnSpc>
                <a:spcPts val="1000"/>
              </a:lnSpc>
              <a:buClrTx/>
              <a:buSzTx/>
              <a:buNone/>
              <a:tabLst>
                <a:tab pos="63500" algn="l"/>
              </a:tabLst>
              <a:defRPr/>
            </a:pPr>
            <a:endParaRPr lang="zh-CN" altLang="en-US" sz="1002" dirty="0">
              <a:solidFill>
                <a:srgbClr val="FFFFFF"/>
              </a:solidFill>
              <a:latin typeface="Times New Roman"/>
            </a:endParaRPr>
          </a:p>
          <a:p>
            <a:pPr marL="0" marR="0" lvl="0" indent="0" defTabSz="914400" eaLnBrk="1" fontAlgn="auto" latinLnBrk="0" hangingPunct="1">
              <a:lnSpc>
                <a:spcPts val="1652"/>
              </a:lnSpc>
              <a:buClrTx/>
              <a:buSzTx/>
              <a:buNone/>
              <a:tabLst>
                <a:tab pos="63500" algn="l"/>
              </a:tabLst>
              <a:defRPr/>
            </a:pPr>
            <a:r>
              <a:rPr lang="zh-CN" altLang="en-US" sz="1002" dirty="0">
                <a:solidFill>
                  <a:srgbClr val="FFFFFF"/>
                </a:solidFill>
                <a:latin typeface="Times New Roman"/>
              </a:rPr>
              <a:t>	風險評估</a:t>
            </a:r>
          </a:p>
        </p:txBody>
      </p:sp>
      <p:sp>
        <p:nvSpPr>
          <p:cNvPr id="20" name="TextBox 19"/>
          <p:cNvSpPr txBox="1"/>
          <p:nvPr/>
        </p:nvSpPr>
        <p:spPr>
          <a:xfrm>
            <a:off x="8731383" y="4829736"/>
            <a:ext cx="128240" cy="743793"/>
          </a:xfrm>
          <a:prstGeom prst="rect">
            <a:avLst/>
          </a:prstGeom>
          <a:noFill/>
        </p:spPr>
        <p:txBody>
          <a:bodyPr vert="horz" wrap="none" lIns="0" tIns="0" rIns="0" bIns="0" rtlCol="0">
            <a:spAutoFit/>
          </a:bodyPr>
          <a:lstStyle/>
          <a:p>
            <a:pPr marL="0" marR="0" lvl="0" indent="0" defTabSz="914400" eaLnBrk="1" fontAlgn="auto" latinLnBrk="0" hangingPunct="1">
              <a:lnSpc>
                <a:spcPts val="1001"/>
              </a:lnSpc>
              <a:buClrTx/>
              <a:buSzTx/>
              <a:buNone/>
              <a:tabLst>
                <a:tab pos="25400" algn="l"/>
              </a:tabLst>
              <a:defRPr/>
            </a:pPr>
            <a:r>
              <a:rPr lang="zh-CN" altLang="en-US" sz="1002" dirty="0">
                <a:solidFill>
                  <a:srgbClr val="FFFFFF"/>
                </a:solidFill>
                <a:latin typeface="Times New Roman"/>
              </a:rPr>
              <a:t>業</a:t>
            </a:r>
          </a:p>
          <a:p>
            <a:pPr marL="0" marR="0" lvl="0" indent="0" defTabSz="914400" eaLnBrk="1" fontAlgn="auto" latinLnBrk="0" hangingPunct="1">
              <a:lnSpc>
                <a:spcPts val="1200"/>
              </a:lnSpc>
              <a:buClrTx/>
              <a:buSzTx/>
              <a:buNone/>
              <a:tabLst>
                <a:tab pos="25400" algn="l"/>
              </a:tabLst>
              <a:defRPr/>
            </a:pPr>
            <a:r>
              <a:rPr lang="zh-CN" altLang="en-US" sz="1002" dirty="0">
                <a:solidFill>
                  <a:srgbClr val="FFFFFF"/>
                </a:solidFill>
                <a:latin typeface="Times New Roman"/>
              </a:rPr>
              <a:t>務</a:t>
            </a:r>
          </a:p>
          <a:p>
            <a:pPr marL="0" marR="0" lvl="0" indent="0" defTabSz="914400" eaLnBrk="1" fontAlgn="auto" latinLnBrk="0" hangingPunct="1">
              <a:lnSpc>
                <a:spcPts val="1200"/>
              </a:lnSpc>
              <a:buClrTx/>
              <a:buSzTx/>
              <a:buNone/>
              <a:tabLst>
                <a:tab pos="25400" algn="l"/>
              </a:tabLst>
              <a:defRPr/>
            </a:pPr>
            <a:r>
              <a:rPr lang="zh-CN" altLang="en-US" sz="1002" dirty="0">
                <a:solidFill>
                  <a:srgbClr val="FFFFFF"/>
                </a:solidFill>
                <a:latin typeface="Times New Roman"/>
              </a:rPr>
              <a:t>單</a:t>
            </a:r>
          </a:p>
          <a:p>
            <a:pPr marL="0" marR="0" lvl="0" indent="0" defTabSz="914400" eaLnBrk="1" fontAlgn="auto" latinLnBrk="0" hangingPunct="1">
              <a:lnSpc>
                <a:spcPts val="1200"/>
              </a:lnSpc>
              <a:buClrTx/>
              <a:buSzTx/>
              <a:buNone/>
              <a:tabLst>
                <a:tab pos="25400" algn="l"/>
              </a:tabLst>
              <a:defRPr/>
            </a:pPr>
            <a:r>
              <a:rPr lang="zh-CN" altLang="en-US" sz="1002" dirty="0">
                <a:solidFill>
                  <a:srgbClr val="FFFFFF"/>
                </a:solidFill>
                <a:latin typeface="Times New Roman"/>
              </a:rPr>
              <a:t>位</a:t>
            </a:r>
          </a:p>
          <a:p>
            <a:pPr marL="0" marR="0" lvl="0" indent="0" defTabSz="914400" eaLnBrk="1" fontAlgn="auto" latinLnBrk="0" hangingPunct="1">
              <a:lnSpc>
                <a:spcPts val="1193"/>
              </a:lnSpc>
              <a:buClrTx/>
              <a:buSzTx/>
              <a:buNone/>
              <a:tabLst>
                <a:tab pos="25400" algn="l"/>
              </a:tabLst>
              <a:defRPr/>
            </a:pPr>
            <a:r>
              <a:rPr lang="zh-CN" altLang="en-US" sz="1002" dirty="0">
                <a:solidFill>
                  <a:srgbClr val="FFFFFF"/>
                </a:solidFill>
                <a:latin typeface="Times New Roman"/>
              </a:rPr>
              <a:t>	</a:t>
            </a:r>
            <a:r>
              <a:rPr lang="en-US" altLang="zh-CN" sz="1002" b="1" dirty="0">
                <a:solidFill>
                  <a:srgbClr val="FFFFFF"/>
                </a:solidFill>
                <a:latin typeface="Times New Roman"/>
              </a:rPr>
              <a:t>A</a:t>
            </a:r>
            <a:endParaRPr lang="zh-CN" altLang="en-US" sz="1002" b="1" dirty="0">
              <a:solidFill>
                <a:srgbClr val="FFFFFF"/>
              </a:solidFill>
              <a:latin typeface="Times New Roman"/>
            </a:endParaRPr>
          </a:p>
        </p:txBody>
      </p:sp>
      <p:sp>
        <p:nvSpPr>
          <p:cNvPr id="21" name="TextBox 20"/>
          <p:cNvSpPr txBox="1"/>
          <p:nvPr/>
        </p:nvSpPr>
        <p:spPr>
          <a:xfrm>
            <a:off x="8902818" y="4678862"/>
            <a:ext cx="384721" cy="743793"/>
          </a:xfrm>
          <a:prstGeom prst="rect">
            <a:avLst/>
          </a:prstGeom>
          <a:noFill/>
        </p:spPr>
        <p:txBody>
          <a:bodyPr vert="horz" wrap="none" lIns="0" tIns="0" rIns="0" bIns="0" rtlCol="0">
            <a:spAutoFit/>
          </a:bodyPr>
          <a:lstStyle/>
          <a:p>
            <a:pPr>
              <a:lnSpc>
                <a:spcPts val="1043"/>
              </a:lnSpc>
            </a:pPr>
            <a:r>
              <a:rPr lang="zh-CN" altLang="en-US" sz="1002" dirty="0">
                <a:solidFill>
                  <a:srgbClr val="FFFFFF"/>
                </a:solidFill>
                <a:latin typeface="Times New Roman"/>
              </a:rPr>
              <a:t>業 動 </a:t>
            </a:r>
            <a:r>
              <a:rPr lang="en-US" altLang="zh-CN" sz="1002" b="1" dirty="0">
                <a:solidFill>
                  <a:srgbClr val="FFFFFF"/>
                </a:solidFill>
                <a:latin typeface="Times New Roman"/>
              </a:rPr>
              <a:t>2</a:t>
            </a:r>
          </a:p>
          <a:p>
            <a:pPr>
              <a:lnSpc>
                <a:spcPts val="1193"/>
              </a:lnSpc>
            </a:pPr>
            <a:r>
              <a:rPr lang="zh-CN" altLang="en-US" sz="1002" dirty="0">
                <a:solidFill>
                  <a:srgbClr val="FFFFFF"/>
                </a:solidFill>
                <a:latin typeface="Times New Roman"/>
              </a:rPr>
              <a:t>務 </a:t>
            </a:r>
            <a:r>
              <a:rPr lang="en-US" altLang="zh-CN" sz="1002" b="1" dirty="0">
                <a:solidFill>
                  <a:srgbClr val="FFFFFF"/>
                </a:solidFill>
                <a:latin typeface="Times New Roman"/>
              </a:rPr>
              <a:t>1</a:t>
            </a:r>
          </a:p>
          <a:p>
            <a:pPr>
              <a:lnSpc>
                <a:spcPts val="1165"/>
              </a:lnSpc>
            </a:pPr>
            <a:r>
              <a:rPr lang="zh-CN" altLang="en-US" sz="1002" dirty="0">
                <a:solidFill>
                  <a:srgbClr val="FFFFFF"/>
                </a:solidFill>
                <a:latin typeface="Times New Roman"/>
              </a:rPr>
              <a:t>單</a:t>
            </a:r>
          </a:p>
          <a:p>
            <a:pPr>
              <a:lnSpc>
                <a:spcPts val="1200"/>
              </a:lnSpc>
            </a:pPr>
            <a:r>
              <a:rPr lang="zh-CN" altLang="en-US" sz="1002" dirty="0">
                <a:solidFill>
                  <a:srgbClr val="FFFFFF"/>
                </a:solidFill>
                <a:latin typeface="Times New Roman"/>
              </a:rPr>
              <a:t>位</a:t>
            </a:r>
          </a:p>
          <a:p>
            <a:pPr>
              <a:lnSpc>
                <a:spcPts val="1193"/>
              </a:lnSpc>
            </a:pPr>
            <a:r>
              <a:rPr lang="en-US" altLang="zh-CN" sz="1002" b="1" dirty="0">
                <a:solidFill>
                  <a:srgbClr val="FFFFFF"/>
                </a:solidFill>
                <a:latin typeface="Times New Roman"/>
              </a:rPr>
              <a:t>B</a:t>
            </a:r>
            <a:endParaRPr lang="zh-CN" altLang="en-US" sz="1002" b="1" dirty="0">
              <a:solidFill>
                <a:srgbClr val="FFFFFF"/>
              </a:solidFill>
              <a:latin typeface="Times New Roman"/>
            </a:endParaRPr>
          </a:p>
        </p:txBody>
      </p:sp>
      <p:sp>
        <p:nvSpPr>
          <p:cNvPr id="22" name="TextBox 21"/>
          <p:cNvSpPr txBox="1"/>
          <p:nvPr/>
        </p:nvSpPr>
        <p:spPr>
          <a:xfrm>
            <a:off x="7436744" y="5769266"/>
            <a:ext cx="2119170" cy="987450"/>
          </a:xfrm>
          <a:prstGeom prst="rect">
            <a:avLst/>
          </a:prstGeom>
          <a:noFill/>
        </p:spPr>
        <p:txBody>
          <a:bodyPr vert="horz" wrap="none" lIns="0" tIns="0" rIns="0" bIns="0" rtlCol="0">
            <a:spAutoFit/>
          </a:bodyPr>
          <a:lstStyle/>
          <a:p>
            <a:pPr marL="0" marR="0" lvl="0" indent="0" defTabSz="914400" eaLnBrk="1" fontAlgn="auto" latinLnBrk="0" hangingPunct="1">
              <a:lnSpc>
                <a:spcPts val="1001"/>
              </a:lnSpc>
              <a:buClrTx/>
              <a:buSzTx/>
              <a:buNone/>
              <a:tabLst>
                <a:tab pos="635000" algn="l"/>
              </a:tabLst>
              <a:defRPr/>
            </a:pPr>
            <a:r>
              <a:rPr lang="zh-CN" altLang="en-US" sz="1002" dirty="0">
                <a:solidFill>
                  <a:srgbClr val="FFFFFF"/>
                </a:solidFill>
                <a:latin typeface="Times New Roman"/>
              </a:rPr>
              <a:t>控制環境</a:t>
            </a:r>
          </a:p>
          <a:p>
            <a:pPr marL="0" marR="0" lvl="0" indent="0" defTabSz="914400" eaLnBrk="1" fontAlgn="auto" latinLnBrk="0" hangingPunct="1">
              <a:lnSpc>
                <a:spcPts val="1000"/>
              </a:lnSpc>
              <a:buClrTx/>
              <a:buSzTx/>
              <a:buNone/>
              <a:tabLst>
                <a:tab pos="635000" algn="l"/>
              </a:tabLst>
              <a:defRPr/>
            </a:pPr>
            <a:endParaRPr lang="zh-CN" altLang="en-US" sz="1002" dirty="0">
              <a:solidFill>
                <a:srgbClr val="FFFFFF"/>
              </a:solidFill>
              <a:latin typeface="Times New Roman"/>
            </a:endParaRPr>
          </a:p>
          <a:p>
            <a:pPr marL="0" marR="0" lvl="0" indent="0" defTabSz="914400" eaLnBrk="1" fontAlgn="auto" latinLnBrk="0" hangingPunct="1">
              <a:lnSpc>
                <a:spcPts val="1000"/>
              </a:lnSpc>
              <a:buClrTx/>
              <a:buSzTx/>
              <a:buNone/>
              <a:tabLst>
                <a:tab pos="635000" algn="l"/>
              </a:tabLst>
              <a:defRPr/>
            </a:pPr>
            <a:endParaRPr lang="zh-CN" altLang="en-US" sz="1002" dirty="0">
              <a:solidFill>
                <a:srgbClr val="FFFFFF"/>
              </a:solidFill>
              <a:latin typeface="Times New Roman"/>
            </a:endParaRPr>
          </a:p>
          <a:p>
            <a:pPr marL="0" marR="0" lvl="0" indent="0" defTabSz="914400" eaLnBrk="1" fontAlgn="auto" latinLnBrk="0" hangingPunct="1">
              <a:lnSpc>
                <a:spcPts val="1000"/>
              </a:lnSpc>
              <a:buClrTx/>
              <a:buSzTx/>
              <a:buNone/>
              <a:tabLst>
                <a:tab pos="635000" algn="l"/>
              </a:tabLst>
              <a:defRPr/>
            </a:pPr>
            <a:endParaRPr lang="zh-CN" altLang="en-US" sz="1002" dirty="0">
              <a:solidFill>
                <a:srgbClr val="FFFFFF"/>
              </a:solidFill>
              <a:latin typeface="Times New Roman"/>
            </a:endParaRPr>
          </a:p>
          <a:p>
            <a:pPr marL="0" marR="0" lvl="0" indent="0" defTabSz="914400" eaLnBrk="1" fontAlgn="auto" latinLnBrk="0" hangingPunct="1">
              <a:lnSpc>
                <a:spcPts val="1864"/>
              </a:lnSpc>
              <a:buClrTx/>
              <a:buSzTx/>
              <a:buNone/>
              <a:tabLst>
                <a:tab pos="635000" algn="l"/>
              </a:tabLst>
              <a:defRPr/>
            </a:pPr>
            <a:r>
              <a:rPr lang="zh-CN" altLang="en-US" sz="1002" dirty="0">
                <a:solidFill>
                  <a:srgbClr val="FFFFFF"/>
                </a:solidFill>
                <a:latin typeface="Times New Roman"/>
              </a:rPr>
              <a:t>	</a:t>
            </a:r>
            <a:r>
              <a:rPr lang="en-US" altLang="zh-CN" dirty="0" err="1">
                <a:solidFill>
                  <a:srgbClr val="000000"/>
                </a:solidFill>
                <a:latin typeface="Times New Roman"/>
              </a:rPr>
              <a:t>Pwc</a:t>
            </a:r>
            <a:endParaRPr lang="en-US" altLang="zh-CN" dirty="0">
              <a:solidFill>
                <a:srgbClr val="000000"/>
              </a:solidFill>
              <a:latin typeface="Times New Roman"/>
            </a:endParaRPr>
          </a:p>
          <a:p>
            <a:pPr marL="0" marR="0" lvl="0" indent="0" defTabSz="914400" eaLnBrk="1" fontAlgn="auto" latinLnBrk="0" hangingPunct="1">
              <a:lnSpc>
                <a:spcPts val="1779"/>
              </a:lnSpc>
              <a:buClrTx/>
              <a:buSzTx/>
              <a:buNone/>
              <a:tabLst>
                <a:tab pos="635000" algn="l"/>
              </a:tabLst>
              <a:defRPr/>
            </a:pPr>
            <a:r>
              <a:rPr lang="en-US" altLang="zh-CN" dirty="0">
                <a:solidFill>
                  <a:srgbClr val="000000"/>
                </a:solidFill>
                <a:latin typeface="Times New Roman"/>
              </a:rPr>
              <a:t>	</a:t>
            </a:r>
            <a:r>
              <a:rPr lang="zh-CN" altLang="en-US" sz="1478" dirty="0">
                <a:solidFill>
                  <a:srgbClr val="000000"/>
                </a:solidFill>
                <a:latin typeface="Times New Roman"/>
              </a:rPr>
              <a:t>普     華     永     道</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myslide41">
    <p:spTree>
      <p:nvGrpSpPr>
        <p:cNvPr id="1" name=""/>
        <p:cNvGrpSpPr/>
        <p:nvPr/>
      </p:nvGrpSpPr>
      <p:grpSpPr>
        <a:xfrm>
          <a:off x="0" y="0"/>
          <a:ext cx="0" cy="0"/>
          <a:chOff x="0" y="0"/>
          <a:chExt cx="0" cy="0"/>
        </a:xfrm>
      </p:grpSpPr>
      <p:pic>
        <p:nvPicPr>
          <p:cNvPr id="2" name="图片 1" descr="ws_1D3.tmp"/>
          <p:cNvPicPr>
            <a:picLocks/>
          </p:cNvPicPr>
          <p:nvPr/>
        </p:nvPicPr>
        <p:blipFill>
          <a:blip r:embed="rId2"/>
          <a:stretch>
            <a:fillRect/>
          </a:stretch>
        </p:blipFill>
        <p:spPr>
          <a:xfrm>
            <a:off x="0" y="0"/>
            <a:ext cx="9880600" cy="6819900"/>
          </a:xfrm>
          <a:prstGeom prst="rect">
            <a:avLst/>
          </a:prstGeom>
        </p:spPr>
      </p:pic>
      <p:sp>
        <p:nvSpPr>
          <p:cNvPr id="3" name="TextBox 2"/>
          <p:cNvSpPr txBox="1"/>
          <p:nvPr/>
        </p:nvSpPr>
        <p:spPr>
          <a:xfrm>
            <a:off x="6372993" y="2918663"/>
            <a:ext cx="923330" cy="461665"/>
          </a:xfrm>
          <a:prstGeom prst="rect">
            <a:avLst/>
          </a:prstGeom>
          <a:noFill/>
        </p:spPr>
        <p:txBody>
          <a:bodyPr vert="horz" wrap="none" lIns="0" tIns="0" rIns="0" bIns="0" rtlCol="0">
            <a:spAutoFit/>
          </a:bodyPr>
          <a:lstStyle/>
          <a:p>
            <a:pPr>
              <a:lnSpc>
                <a:spcPts val="3596"/>
              </a:lnSpc>
            </a:pPr>
            <a:r>
              <a:rPr lang="zh-CN" altLang="en-US" sz="3600" dirty="0">
                <a:solidFill>
                  <a:srgbClr val="502800"/>
                </a:solidFill>
                <a:latin typeface="Times New Roman"/>
              </a:rPr>
              <a:t>小結</a:t>
            </a:r>
          </a:p>
        </p:txBody>
      </p:sp>
      <p:sp>
        <p:nvSpPr>
          <p:cNvPr id="4" name="TextBox 3"/>
          <p:cNvSpPr txBox="1"/>
          <p:nvPr/>
        </p:nvSpPr>
        <p:spPr>
          <a:xfrm>
            <a:off x="8067681" y="6285482"/>
            <a:ext cx="1477969" cy="461665"/>
          </a:xfrm>
          <a:prstGeom prst="rect">
            <a:avLst/>
          </a:prstGeom>
          <a:noFill/>
        </p:spPr>
        <p:txBody>
          <a:bodyPr vert="horz" wrap="none" lIns="0" tIns="0" rIns="0" bIns="0" rtlCol="0">
            <a:spAutoFit/>
          </a:bodyPr>
          <a:lstStyle/>
          <a:p>
            <a:pPr>
              <a:lnSpc>
                <a:spcPts val="1800"/>
              </a:lnSpc>
            </a:pPr>
            <a:r>
              <a:rPr lang="en-US" altLang="zh-CN" dirty="0" err="1">
                <a:solidFill>
                  <a:srgbClr val="000000"/>
                </a:solidFill>
                <a:latin typeface="Times New Roman"/>
              </a:rPr>
              <a:t>Pwc</a:t>
            </a:r>
            <a:endParaRPr lang="en-US" altLang="zh-CN" dirty="0">
              <a:solidFill>
                <a:srgbClr val="000000"/>
              </a:solidFill>
              <a:latin typeface="Times New Roman"/>
            </a:endParaRPr>
          </a:p>
          <a:p>
            <a:pPr>
              <a:lnSpc>
                <a:spcPts val="1779"/>
              </a:lnSpc>
            </a:pPr>
            <a:r>
              <a:rPr lang="zh-CN" altLang="en-US" sz="1478" dirty="0">
                <a:solidFill>
                  <a:srgbClr val="000000"/>
                </a:solidFill>
                <a:latin typeface="Times New Roman"/>
              </a:rPr>
              <a:t>普     華     永     道</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myslide42">
    <p:spTree>
      <p:nvGrpSpPr>
        <p:cNvPr id="1" name=""/>
        <p:cNvGrpSpPr/>
        <p:nvPr/>
      </p:nvGrpSpPr>
      <p:grpSpPr>
        <a:xfrm>
          <a:off x="0" y="0"/>
          <a:ext cx="0" cy="0"/>
          <a:chOff x="0" y="0"/>
          <a:chExt cx="0" cy="0"/>
        </a:xfrm>
      </p:grpSpPr>
      <p:pic>
        <p:nvPicPr>
          <p:cNvPr id="2" name="图片 1" descr="ws_1D5.tmp"/>
          <p:cNvPicPr>
            <a:picLocks/>
          </p:cNvPicPr>
          <p:nvPr/>
        </p:nvPicPr>
        <p:blipFill>
          <a:blip r:embed="rId2"/>
          <a:stretch>
            <a:fillRect/>
          </a:stretch>
        </p:blipFill>
        <p:spPr>
          <a:xfrm>
            <a:off x="0" y="0"/>
            <a:ext cx="9880600" cy="6819900"/>
          </a:xfrm>
          <a:prstGeom prst="rect">
            <a:avLst/>
          </a:prstGeom>
        </p:spPr>
      </p:pic>
      <p:sp>
        <p:nvSpPr>
          <p:cNvPr id="3" name="TextBox 2"/>
          <p:cNvSpPr txBox="1"/>
          <p:nvPr/>
        </p:nvSpPr>
        <p:spPr>
          <a:xfrm>
            <a:off x="711333" y="1637131"/>
            <a:ext cx="107402" cy="283732"/>
          </a:xfrm>
          <a:prstGeom prst="rect">
            <a:avLst/>
          </a:prstGeom>
          <a:noFill/>
        </p:spPr>
        <p:txBody>
          <a:bodyPr vert="horz" wrap="none" lIns="0" tIns="0" rIns="0" bIns="0" rtlCol="0">
            <a:spAutoFit/>
          </a:bodyPr>
          <a:lstStyle/>
          <a:p>
            <a:pPr>
              <a:lnSpc>
                <a:spcPts val="2160"/>
              </a:lnSpc>
            </a:pPr>
            <a:r>
              <a:rPr lang="en-US" altLang="zh-CN" sz="2400" dirty="0">
                <a:solidFill>
                  <a:srgbClr val="761437"/>
                </a:solidFill>
                <a:latin typeface="Times New Roman"/>
              </a:rPr>
              <a:t>•</a:t>
            </a:r>
            <a:endParaRPr lang="zh-CN" altLang="en-US" sz="2400" dirty="0">
              <a:solidFill>
                <a:srgbClr val="761437"/>
              </a:solidFill>
              <a:latin typeface="Times New Roman"/>
            </a:endParaRPr>
          </a:p>
        </p:txBody>
      </p:sp>
      <p:sp>
        <p:nvSpPr>
          <p:cNvPr id="4" name="TextBox 3"/>
          <p:cNvSpPr txBox="1"/>
          <p:nvPr/>
        </p:nvSpPr>
        <p:spPr>
          <a:xfrm>
            <a:off x="711333" y="2580487"/>
            <a:ext cx="107402" cy="283732"/>
          </a:xfrm>
          <a:prstGeom prst="rect">
            <a:avLst/>
          </a:prstGeom>
          <a:noFill/>
        </p:spPr>
        <p:txBody>
          <a:bodyPr vert="horz" wrap="none" lIns="0" tIns="0" rIns="0" bIns="0" rtlCol="0">
            <a:spAutoFit/>
          </a:bodyPr>
          <a:lstStyle/>
          <a:p>
            <a:pPr>
              <a:lnSpc>
                <a:spcPts val="2160"/>
              </a:lnSpc>
            </a:pPr>
            <a:r>
              <a:rPr lang="en-US" altLang="zh-CN" sz="2400" dirty="0">
                <a:solidFill>
                  <a:srgbClr val="761437"/>
                </a:solidFill>
                <a:latin typeface="Times New Roman"/>
              </a:rPr>
              <a:t>•</a:t>
            </a:r>
            <a:endParaRPr lang="zh-CN" altLang="en-US" sz="2400" dirty="0">
              <a:solidFill>
                <a:srgbClr val="761437"/>
              </a:solidFill>
              <a:latin typeface="Times New Roman"/>
            </a:endParaRPr>
          </a:p>
        </p:txBody>
      </p:sp>
      <p:sp>
        <p:nvSpPr>
          <p:cNvPr id="5" name="TextBox 4"/>
          <p:cNvSpPr txBox="1"/>
          <p:nvPr/>
        </p:nvSpPr>
        <p:spPr>
          <a:xfrm>
            <a:off x="711333" y="3052165"/>
            <a:ext cx="107402" cy="283732"/>
          </a:xfrm>
          <a:prstGeom prst="rect">
            <a:avLst/>
          </a:prstGeom>
          <a:noFill/>
        </p:spPr>
        <p:txBody>
          <a:bodyPr vert="horz" wrap="none" lIns="0" tIns="0" rIns="0" bIns="0" rtlCol="0">
            <a:spAutoFit/>
          </a:bodyPr>
          <a:lstStyle/>
          <a:p>
            <a:pPr>
              <a:lnSpc>
                <a:spcPts val="2160"/>
              </a:lnSpc>
            </a:pPr>
            <a:r>
              <a:rPr lang="en-US" altLang="zh-CN" sz="2400" dirty="0">
                <a:solidFill>
                  <a:srgbClr val="761437"/>
                </a:solidFill>
                <a:latin typeface="Times New Roman"/>
              </a:rPr>
              <a:t>•</a:t>
            </a:r>
            <a:endParaRPr lang="zh-CN" altLang="en-US" sz="2400" dirty="0">
              <a:solidFill>
                <a:srgbClr val="761437"/>
              </a:solidFill>
              <a:latin typeface="Times New Roman"/>
            </a:endParaRPr>
          </a:p>
        </p:txBody>
      </p:sp>
      <p:sp>
        <p:nvSpPr>
          <p:cNvPr id="6" name="TextBox 5"/>
          <p:cNvSpPr txBox="1"/>
          <p:nvPr/>
        </p:nvSpPr>
        <p:spPr>
          <a:xfrm>
            <a:off x="711333" y="3512413"/>
            <a:ext cx="107402" cy="283732"/>
          </a:xfrm>
          <a:prstGeom prst="rect">
            <a:avLst/>
          </a:prstGeom>
          <a:noFill/>
        </p:spPr>
        <p:txBody>
          <a:bodyPr vert="horz" wrap="none" lIns="0" tIns="0" rIns="0" bIns="0" rtlCol="0">
            <a:spAutoFit/>
          </a:bodyPr>
          <a:lstStyle/>
          <a:p>
            <a:pPr>
              <a:lnSpc>
                <a:spcPts val="2220"/>
              </a:lnSpc>
            </a:pPr>
            <a:r>
              <a:rPr lang="en-US" altLang="zh-CN" sz="2400" dirty="0">
                <a:solidFill>
                  <a:srgbClr val="761437"/>
                </a:solidFill>
                <a:latin typeface="Times New Roman"/>
              </a:rPr>
              <a:t>•</a:t>
            </a:r>
            <a:endParaRPr lang="zh-CN" altLang="en-US" sz="2400" dirty="0">
              <a:solidFill>
                <a:srgbClr val="761437"/>
              </a:solidFill>
              <a:latin typeface="Times New Roman"/>
            </a:endParaRPr>
          </a:p>
        </p:txBody>
      </p:sp>
      <p:sp>
        <p:nvSpPr>
          <p:cNvPr id="7" name="TextBox 6"/>
          <p:cNvSpPr txBox="1"/>
          <p:nvPr/>
        </p:nvSpPr>
        <p:spPr>
          <a:xfrm>
            <a:off x="711333" y="3984091"/>
            <a:ext cx="107402" cy="283732"/>
          </a:xfrm>
          <a:prstGeom prst="rect">
            <a:avLst/>
          </a:prstGeom>
          <a:noFill/>
        </p:spPr>
        <p:txBody>
          <a:bodyPr vert="horz" wrap="none" lIns="0" tIns="0" rIns="0" bIns="0" rtlCol="0">
            <a:spAutoFit/>
          </a:bodyPr>
          <a:lstStyle/>
          <a:p>
            <a:pPr>
              <a:lnSpc>
                <a:spcPts val="2220"/>
              </a:lnSpc>
            </a:pPr>
            <a:r>
              <a:rPr lang="en-US" altLang="zh-CN" sz="2400" dirty="0">
                <a:solidFill>
                  <a:srgbClr val="761437"/>
                </a:solidFill>
                <a:latin typeface="Times New Roman"/>
              </a:rPr>
              <a:t>•</a:t>
            </a:r>
            <a:endParaRPr lang="zh-CN" altLang="en-US" sz="2400" dirty="0">
              <a:solidFill>
                <a:srgbClr val="761437"/>
              </a:solidFill>
              <a:latin typeface="Times New Roman"/>
            </a:endParaRPr>
          </a:p>
        </p:txBody>
      </p:sp>
      <p:sp>
        <p:nvSpPr>
          <p:cNvPr id="8" name="TextBox 7"/>
          <p:cNvSpPr txBox="1"/>
          <p:nvPr/>
        </p:nvSpPr>
        <p:spPr>
          <a:xfrm>
            <a:off x="509403" y="6341571"/>
            <a:ext cx="144270" cy="133370"/>
          </a:xfrm>
          <a:prstGeom prst="rect">
            <a:avLst/>
          </a:prstGeom>
          <a:noFill/>
        </p:spPr>
        <p:txBody>
          <a:bodyPr vert="horz" wrap="none" lIns="0" tIns="0" rIns="0" bIns="0" rtlCol="0">
            <a:spAutoFit/>
          </a:bodyPr>
          <a:lstStyle/>
          <a:p>
            <a:pPr>
              <a:lnSpc>
                <a:spcPts val="1016"/>
              </a:lnSpc>
            </a:pPr>
            <a:r>
              <a:rPr lang="en-US" altLang="zh-CN" sz="1098" dirty="0">
                <a:solidFill>
                  <a:srgbClr val="761437"/>
                </a:solidFill>
                <a:latin typeface="Times New Roman"/>
              </a:rPr>
              <a:t>42</a:t>
            </a:r>
            <a:endParaRPr lang="zh-CN" altLang="en-US" sz="1098" dirty="0">
              <a:solidFill>
                <a:srgbClr val="761437"/>
              </a:solidFill>
              <a:latin typeface="Times New Roman"/>
            </a:endParaRPr>
          </a:p>
        </p:txBody>
      </p:sp>
      <p:sp>
        <p:nvSpPr>
          <p:cNvPr id="9" name="TextBox 8"/>
          <p:cNvSpPr txBox="1"/>
          <p:nvPr/>
        </p:nvSpPr>
        <p:spPr>
          <a:xfrm>
            <a:off x="903358" y="512002"/>
            <a:ext cx="6822380" cy="487313"/>
          </a:xfrm>
          <a:prstGeom prst="rect">
            <a:avLst/>
          </a:prstGeom>
          <a:noFill/>
        </p:spPr>
        <p:txBody>
          <a:bodyPr vert="horz" wrap="none" lIns="0" tIns="0" rIns="0" bIns="0" rtlCol="0">
            <a:spAutoFit/>
          </a:bodyPr>
          <a:lstStyle/>
          <a:p>
            <a:pPr>
              <a:lnSpc>
                <a:spcPts val="3794"/>
              </a:lnSpc>
            </a:pPr>
            <a:r>
              <a:rPr lang="zh-CN" altLang="en-US" sz="3798" dirty="0">
                <a:solidFill>
                  <a:srgbClr val="FFFFFF"/>
                </a:solidFill>
                <a:latin typeface="Times New Roman"/>
              </a:rPr>
              <a:t>改進並建立有效內部控制的步驟</a:t>
            </a:r>
          </a:p>
        </p:txBody>
      </p:sp>
      <p:sp>
        <p:nvSpPr>
          <p:cNvPr id="10" name="TextBox 9"/>
          <p:cNvSpPr txBox="1"/>
          <p:nvPr/>
        </p:nvSpPr>
        <p:spPr>
          <a:xfrm>
            <a:off x="1187586" y="1583486"/>
            <a:ext cx="7463582" cy="782265"/>
          </a:xfrm>
          <a:prstGeom prst="rect">
            <a:avLst/>
          </a:prstGeom>
          <a:noFill/>
        </p:spPr>
        <p:txBody>
          <a:bodyPr vert="horz" wrap="none" lIns="0" tIns="0" rIns="0" bIns="0" rtlCol="0">
            <a:spAutoFit/>
          </a:bodyPr>
          <a:lstStyle/>
          <a:p>
            <a:pPr>
              <a:lnSpc>
                <a:spcPts val="2398"/>
              </a:lnSpc>
            </a:pPr>
            <a:r>
              <a:rPr lang="zh-CN" altLang="en-US" sz="2400" dirty="0">
                <a:solidFill>
                  <a:srgbClr val="000000"/>
                </a:solidFill>
                <a:latin typeface="Times New Roman"/>
              </a:rPr>
              <a:t>通過恰當的調研和分析來瞭解提高公司價值的驅動力</a:t>
            </a:r>
            <a:r>
              <a:rPr lang="en-US" altLang="zh-CN" sz="2400" dirty="0">
                <a:solidFill>
                  <a:srgbClr val="000000"/>
                </a:solidFill>
                <a:latin typeface="Times New Roman"/>
              </a:rPr>
              <a:t>,</a:t>
            </a:r>
            <a:r>
              <a:rPr lang="zh-CN" altLang="en-US" sz="2400" dirty="0">
                <a:solidFill>
                  <a:srgbClr val="000000"/>
                </a:solidFill>
                <a:latin typeface="Times New Roman"/>
              </a:rPr>
              <a:t>評</a:t>
            </a:r>
          </a:p>
          <a:p>
            <a:pPr>
              <a:lnSpc>
                <a:spcPts val="1000"/>
              </a:lnSpc>
            </a:pPr>
            <a:endParaRPr lang="zh-CN" altLang="en-US" sz="2400" dirty="0">
              <a:solidFill>
                <a:srgbClr val="000000"/>
              </a:solidFill>
              <a:latin typeface="Times New Roman"/>
            </a:endParaRPr>
          </a:p>
          <a:p>
            <a:pPr>
              <a:lnSpc>
                <a:spcPts val="2714"/>
              </a:lnSpc>
            </a:pPr>
            <a:r>
              <a:rPr lang="zh-CN" altLang="en-US" sz="2400" dirty="0">
                <a:solidFill>
                  <a:srgbClr val="000000"/>
                </a:solidFill>
                <a:latin typeface="Times New Roman"/>
              </a:rPr>
              <a:t>估公司的風險</a:t>
            </a:r>
          </a:p>
        </p:txBody>
      </p:sp>
      <p:sp>
        <p:nvSpPr>
          <p:cNvPr id="11" name="TextBox 10"/>
          <p:cNvSpPr txBox="1"/>
          <p:nvPr/>
        </p:nvSpPr>
        <p:spPr>
          <a:xfrm>
            <a:off x="1187586" y="2526842"/>
            <a:ext cx="7078861" cy="1731243"/>
          </a:xfrm>
          <a:prstGeom prst="rect">
            <a:avLst/>
          </a:prstGeom>
          <a:noFill/>
        </p:spPr>
        <p:txBody>
          <a:bodyPr vert="horz" wrap="none" lIns="0" tIns="0" rIns="0" bIns="0" rtlCol="0">
            <a:spAutoFit/>
          </a:bodyPr>
          <a:lstStyle/>
          <a:p>
            <a:pPr>
              <a:lnSpc>
                <a:spcPts val="2398"/>
              </a:lnSpc>
            </a:pPr>
            <a:r>
              <a:rPr lang="zh-CN" altLang="en-US" sz="2400" dirty="0">
                <a:solidFill>
                  <a:srgbClr val="000000"/>
                </a:solidFill>
                <a:latin typeface="Times New Roman"/>
              </a:rPr>
              <a:t>為公司各層次的人員確定目標和具體的業績考核指標</a:t>
            </a:r>
          </a:p>
          <a:p>
            <a:pPr>
              <a:lnSpc>
                <a:spcPts val="1000"/>
              </a:lnSpc>
            </a:pPr>
            <a:endParaRPr lang="zh-CN" altLang="en-US" sz="2400" dirty="0">
              <a:solidFill>
                <a:srgbClr val="000000"/>
              </a:solidFill>
              <a:latin typeface="Times New Roman"/>
            </a:endParaRPr>
          </a:p>
          <a:p>
            <a:pPr>
              <a:lnSpc>
                <a:spcPts val="2714"/>
              </a:lnSpc>
            </a:pPr>
            <a:r>
              <a:rPr lang="zh-CN" altLang="en-US" sz="2400" dirty="0">
                <a:solidFill>
                  <a:srgbClr val="000000"/>
                </a:solidFill>
                <a:latin typeface="Times New Roman"/>
              </a:rPr>
              <a:t>建立對經營、財務和合規性的控制來支援這些目標</a:t>
            </a:r>
          </a:p>
          <a:p>
            <a:pPr>
              <a:lnSpc>
                <a:spcPts val="1000"/>
              </a:lnSpc>
            </a:pPr>
            <a:endParaRPr lang="zh-CN" altLang="en-US" sz="2400" dirty="0">
              <a:solidFill>
                <a:srgbClr val="000000"/>
              </a:solidFill>
              <a:latin typeface="Times New Roman"/>
            </a:endParaRPr>
          </a:p>
          <a:p>
            <a:pPr>
              <a:lnSpc>
                <a:spcPts val="2708"/>
              </a:lnSpc>
            </a:pPr>
            <a:r>
              <a:rPr lang="zh-CN" altLang="en-US" sz="2400" dirty="0">
                <a:solidFill>
                  <a:srgbClr val="000000"/>
                </a:solidFill>
                <a:latin typeface="Times New Roman"/>
              </a:rPr>
              <a:t>監督結果以確定資源的分配，從而不斷提升業績</a:t>
            </a:r>
          </a:p>
          <a:p>
            <a:pPr>
              <a:lnSpc>
                <a:spcPts val="1000"/>
              </a:lnSpc>
            </a:pPr>
            <a:endParaRPr lang="zh-CN" altLang="en-US" sz="2400" dirty="0">
              <a:solidFill>
                <a:srgbClr val="000000"/>
              </a:solidFill>
              <a:latin typeface="Times New Roman"/>
            </a:endParaRPr>
          </a:p>
          <a:p>
            <a:pPr>
              <a:lnSpc>
                <a:spcPts val="2714"/>
              </a:lnSpc>
            </a:pPr>
            <a:r>
              <a:rPr lang="zh-CN" altLang="en-US" sz="2400" dirty="0">
                <a:solidFill>
                  <a:srgbClr val="000000"/>
                </a:solidFill>
                <a:latin typeface="Times New Roman"/>
              </a:rPr>
              <a:t>定期進行調整，以適應經營環境的變化</a:t>
            </a:r>
          </a:p>
        </p:txBody>
      </p:sp>
      <p:sp>
        <p:nvSpPr>
          <p:cNvPr id="12" name="TextBox 11"/>
          <p:cNvSpPr txBox="1"/>
          <p:nvPr/>
        </p:nvSpPr>
        <p:spPr>
          <a:xfrm>
            <a:off x="8067681" y="6285482"/>
            <a:ext cx="1477969" cy="461665"/>
          </a:xfrm>
          <a:prstGeom prst="rect">
            <a:avLst/>
          </a:prstGeom>
          <a:noFill/>
        </p:spPr>
        <p:txBody>
          <a:bodyPr vert="horz" wrap="none" lIns="0" tIns="0" rIns="0" bIns="0" rtlCol="0">
            <a:spAutoFit/>
          </a:bodyPr>
          <a:lstStyle/>
          <a:p>
            <a:pPr>
              <a:lnSpc>
                <a:spcPts val="1800"/>
              </a:lnSpc>
            </a:pPr>
            <a:r>
              <a:rPr lang="en-US" altLang="zh-CN" dirty="0" err="1">
                <a:solidFill>
                  <a:srgbClr val="000000"/>
                </a:solidFill>
                <a:latin typeface="Times New Roman"/>
              </a:rPr>
              <a:t>Pwc</a:t>
            </a:r>
            <a:endParaRPr lang="en-US" altLang="zh-CN" dirty="0">
              <a:solidFill>
                <a:srgbClr val="000000"/>
              </a:solidFill>
              <a:latin typeface="Times New Roman"/>
            </a:endParaRPr>
          </a:p>
          <a:p>
            <a:pPr>
              <a:lnSpc>
                <a:spcPts val="1779"/>
              </a:lnSpc>
            </a:pPr>
            <a:r>
              <a:rPr lang="zh-CN" altLang="en-US" sz="1478" dirty="0">
                <a:solidFill>
                  <a:srgbClr val="000000"/>
                </a:solidFill>
                <a:latin typeface="Times New Roman"/>
              </a:rPr>
              <a:t>普     華     永     道</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myslide43">
    <p:spTree>
      <p:nvGrpSpPr>
        <p:cNvPr id="1" name=""/>
        <p:cNvGrpSpPr/>
        <p:nvPr/>
      </p:nvGrpSpPr>
      <p:grpSpPr>
        <a:xfrm>
          <a:off x="0" y="0"/>
          <a:ext cx="0" cy="0"/>
          <a:chOff x="0" y="0"/>
          <a:chExt cx="0" cy="0"/>
        </a:xfrm>
      </p:grpSpPr>
      <p:pic>
        <p:nvPicPr>
          <p:cNvPr id="2" name="图片 1" descr="ws_1D7.tmp"/>
          <p:cNvPicPr>
            <a:picLocks/>
          </p:cNvPicPr>
          <p:nvPr/>
        </p:nvPicPr>
        <p:blipFill>
          <a:blip r:embed="rId2"/>
          <a:stretch>
            <a:fillRect/>
          </a:stretch>
        </p:blipFill>
        <p:spPr>
          <a:xfrm>
            <a:off x="0" y="0"/>
            <a:ext cx="9880600" cy="6819900"/>
          </a:xfrm>
          <a:prstGeom prst="rect">
            <a:avLst/>
          </a:prstGeom>
        </p:spPr>
      </p:pic>
      <p:sp>
        <p:nvSpPr>
          <p:cNvPr id="3" name="TextBox 2"/>
          <p:cNvSpPr txBox="1"/>
          <p:nvPr/>
        </p:nvSpPr>
        <p:spPr>
          <a:xfrm>
            <a:off x="509403" y="6341571"/>
            <a:ext cx="144270" cy="133370"/>
          </a:xfrm>
          <a:prstGeom prst="rect">
            <a:avLst/>
          </a:prstGeom>
          <a:noFill/>
        </p:spPr>
        <p:txBody>
          <a:bodyPr vert="horz" wrap="none" lIns="0" tIns="0" rIns="0" bIns="0" rtlCol="0">
            <a:spAutoFit/>
          </a:bodyPr>
          <a:lstStyle/>
          <a:p>
            <a:pPr>
              <a:lnSpc>
                <a:spcPts val="1016"/>
              </a:lnSpc>
            </a:pPr>
            <a:r>
              <a:rPr lang="en-US" altLang="zh-CN" sz="1098" dirty="0">
                <a:solidFill>
                  <a:srgbClr val="761437"/>
                </a:solidFill>
                <a:latin typeface="Times New Roman"/>
              </a:rPr>
              <a:t>43</a:t>
            </a:r>
            <a:endParaRPr lang="zh-CN" altLang="en-US" sz="1098" dirty="0">
              <a:solidFill>
                <a:srgbClr val="761437"/>
              </a:solidFill>
              <a:latin typeface="Times New Roman"/>
            </a:endParaRPr>
          </a:p>
        </p:txBody>
      </p:sp>
      <p:sp>
        <p:nvSpPr>
          <p:cNvPr id="4" name="TextBox 3"/>
          <p:cNvSpPr txBox="1"/>
          <p:nvPr/>
        </p:nvSpPr>
        <p:spPr>
          <a:xfrm>
            <a:off x="837064" y="507695"/>
            <a:ext cx="8181727" cy="1795363"/>
          </a:xfrm>
          <a:prstGeom prst="rect">
            <a:avLst/>
          </a:prstGeom>
          <a:noFill/>
        </p:spPr>
        <p:txBody>
          <a:bodyPr vert="horz" wrap="none" lIns="0" tIns="0" rIns="0" bIns="0" rtlCol="0">
            <a:spAutoFit/>
          </a:bodyPr>
          <a:lstStyle/>
          <a:p>
            <a:pPr marL="0" marR="0" lvl="0" indent="0" defTabSz="914400" eaLnBrk="1" fontAlgn="auto" latinLnBrk="0" hangingPunct="1">
              <a:lnSpc>
                <a:spcPts val="3596"/>
              </a:lnSpc>
              <a:buClrTx/>
              <a:buSzTx/>
              <a:buNone/>
              <a:tabLst>
                <a:tab pos="76200" algn="l"/>
              </a:tabLst>
              <a:defRPr/>
            </a:pPr>
            <a:r>
              <a:rPr lang="zh-CN" altLang="en-US" dirty="0"/>
              <a:t>	</a:t>
            </a:r>
            <a:r>
              <a:rPr lang="zh-CN" altLang="en-US" sz="3600" dirty="0">
                <a:solidFill>
                  <a:srgbClr val="FFFFFF"/>
                </a:solidFill>
                <a:latin typeface="Times New Roman"/>
              </a:rPr>
              <a:t>內部審計、內部控制與公司治理的關係</a:t>
            </a:r>
          </a:p>
          <a:p>
            <a:pPr marL="0" marR="0" lvl="0" indent="0" defTabSz="914400" eaLnBrk="1" fontAlgn="auto" latinLnBrk="0" hangingPunct="1">
              <a:lnSpc>
                <a:spcPts val="1000"/>
              </a:lnSpc>
              <a:buClrTx/>
              <a:buSzTx/>
              <a:buNone/>
              <a:tabLst>
                <a:tab pos="76200" algn="l"/>
              </a:tabLst>
              <a:defRPr/>
            </a:pPr>
            <a:endParaRPr lang="zh-CN" altLang="en-US" sz="3600" dirty="0">
              <a:solidFill>
                <a:srgbClr val="FFFFFF"/>
              </a:solidFill>
              <a:latin typeface="Times New Roman"/>
            </a:endParaRPr>
          </a:p>
          <a:p>
            <a:pPr marL="0" marR="0" lvl="0" indent="0" defTabSz="914400" eaLnBrk="1" fontAlgn="auto" latinLnBrk="0" hangingPunct="1">
              <a:lnSpc>
                <a:spcPts val="1000"/>
              </a:lnSpc>
              <a:buClrTx/>
              <a:buSzTx/>
              <a:buNone/>
              <a:tabLst>
                <a:tab pos="76200" algn="l"/>
              </a:tabLst>
              <a:defRPr/>
            </a:pPr>
            <a:endParaRPr lang="zh-CN" altLang="en-US" sz="3600" dirty="0">
              <a:solidFill>
                <a:srgbClr val="FFFFFF"/>
              </a:solidFill>
              <a:latin typeface="Times New Roman"/>
            </a:endParaRPr>
          </a:p>
          <a:p>
            <a:pPr marL="0" marR="0" lvl="0" indent="0" defTabSz="914400" eaLnBrk="1" fontAlgn="auto" latinLnBrk="0" hangingPunct="1">
              <a:lnSpc>
                <a:spcPts val="2574"/>
              </a:lnSpc>
              <a:buClrTx/>
              <a:buSzTx/>
              <a:buNone/>
              <a:tabLst>
                <a:tab pos="76200" algn="l"/>
              </a:tabLst>
              <a:defRPr/>
            </a:pPr>
            <a:r>
              <a:rPr lang="zh-CN" altLang="en-US" sz="2202" dirty="0">
                <a:solidFill>
                  <a:srgbClr val="000000"/>
                </a:solidFill>
                <a:latin typeface="Times New Roman"/>
              </a:rPr>
              <a:t>有效的公司治理需要有效的內部控制、風險管理和監控。內部審</a:t>
            </a:r>
          </a:p>
          <a:p>
            <a:pPr marL="0" marR="0" lvl="0" indent="0" defTabSz="914400" eaLnBrk="1" fontAlgn="auto" latinLnBrk="0" hangingPunct="1">
              <a:lnSpc>
                <a:spcPts val="2898"/>
              </a:lnSpc>
              <a:buClrTx/>
              <a:buSzTx/>
              <a:buNone/>
              <a:tabLst>
                <a:tab pos="76200" algn="l"/>
              </a:tabLst>
              <a:defRPr/>
            </a:pPr>
            <a:r>
              <a:rPr lang="zh-CN" altLang="en-US" sz="2202" dirty="0">
                <a:solidFill>
                  <a:srgbClr val="000000"/>
                </a:solidFill>
                <a:latin typeface="Times New Roman"/>
              </a:rPr>
              <a:t>計，以及健全的內控和風險管理在加強公司治理的過程中扮演著舉</a:t>
            </a:r>
          </a:p>
          <a:p>
            <a:pPr marL="0" marR="0" lvl="0" indent="0" defTabSz="914400" eaLnBrk="1" fontAlgn="auto" latinLnBrk="0" hangingPunct="1">
              <a:lnSpc>
                <a:spcPts val="2904"/>
              </a:lnSpc>
              <a:buClrTx/>
              <a:buSzTx/>
              <a:buNone/>
              <a:tabLst>
                <a:tab pos="76200" algn="l"/>
              </a:tabLst>
              <a:defRPr/>
            </a:pPr>
            <a:r>
              <a:rPr lang="zh-CN" altLang="en-US" sz="2202" dirty="0">
                <a:solidFill>
                  <a:srgbClr val="000000"/>
                </a:solidFill>
                <a:latin typeface="Times New Roman"/>
              </a:rPr>
              <a:t>足輕重的角色。</a:t>
            </a:r>
          </a:p>
        </p:txBody>
      </p:sp>
      <p:sp>
        <p:nvSpPr>
          <p:cNvPr id="5" name="TextBox 4"/>
          <p:cNvSpPr txBox="1"/>
          <p:nvPr/>
        </p:nvSpPr>
        <p:spPr>
          <a:xfrm>
            <a:off x="1694313" y="2718516"/>
            <a:ext cx="769441" cy="1577355"/>
          </a:xfrm>
          <a:prstGeom prst="rect">
            <a:avLst/>
          </a:prstGeom>
          <a:noFill/>
        </p:spPr>
        <p:txBody>
          <a:bodyPr vert="horz" wrap="none" lIns="0" tIns="0" rIns="0" bIns="0" rtlCol="0">
            <a:spAutoFit/>
          </a:bodyPr>
          <a:lstStyle/>
          <a:p>
            <a:pPr>
              <a:lnSpc>
                <a:spcPts val="1996"/>
              </a:lnSpc>
            </a:pPr>
            <a:r>
              <a:rPr lang="zh-CN" altLang="en-US" sz="1998" dirty="0">
                <a:solidFill>
                  <a:srgbClr val="000000"/>
                </a:solidFill>
                <a:latin typeface="Times New Roman"/>
              </a:rPr>
              <a:t>股東</a:t>
            </a:r>
          </a:p>
          <a:p>
            <a:pPr>
              <a:lnSpc>
                <a:spcPts val="1000"/>
              </a:lnSpc>
            </a:pPr>
            <a:endParaRPr lang="zh-CN" altLang="en-US" sz="1998" dirty="0">
              <a:solidFill>
                <a:srgbClr val="000000"/>
              </a:solidFill>
              <a:latin typeface="Times New Roman"/>
            </a:endParaRPr>
          </a:p>
          <a:p>
            <a:pPr>
              <a:lnSpc>
                <a:spcPts val="1000"/>
              </a:lnSpc>
            </a:pPr>
            <a:endParaRPr lang="zh-CN" altLang="en-US" sz="1998" dirty="0">
              <a:solidFill>
                <a:srgbClr val="000000"/>
              </a:solidFill>
              <a:latin typeface="Times New Roman"/>
            </a:endParaRPr>
          </a:p>
          <a:p>
            <a:pPr>
              <a:lnSpc>
                <a:spcPts val="1000"/>
              </a:lnSpc>
            </a:pPr>
            <a:endParaRPr lang="zh-CN" altLang="en-US" sz="1998" dirty="0">
              <a:solidFill>
                <a:srgbClr val="000000"/>
              </a:solidFill>
              <a:latin typeface="Times New Roman"/>
            </a:endParaRPr>
          </a:p>
          <a:p>
            <a:pPr>
              <a:lnSpc>
                <a:spcPts val="1000"/>
              </a:lnSpc>
            </a:pPr>
            <a:endParaRPr lang="zh-CN" altLang="en-US" sz="1998" dirty="0">
              <a:solidFill>
                <a:srgbClr val="000000"/>
              </a:solidFill>
              <a:latin typeface="Times New Roman"/>
            </a:endParaRPr>
          </a:p>
          <a:p>
            <a:pPr>
              <a:lnSpc>
                <a:spcPts val="1000"/>
              </a:lnSpc>
            </a:pPr>
            <a:endParaRPr lang="zh-CN" altLang="en-US" sz="1998" dirty="0">
              <a:solidFill>
                <a:srgbClr val="000000"/>
              </a:solidFill>
              <a:latin typeface="Times New Roman"/>
            </a:endParaRPr>
          </a:p>
          <a:p>
            <a:pPr>
              <a:lnSpc>
                <a:spcPts val="1000"/>
              </a:lnSpc>
            </a:pPr>
            <a:endParaRPr lang="zh-CN" altLang="en-US" sz="1998" dirty="0">
              <a:solidFill>
                <a:srgbClr val="000000"/>
              </a:solidFill>
              <a:latin typeface="Times New Roman"/>
            </a:endParaRPr>
          </a:p>
          <a:p>
            <a:pPr>
              <a:lnSpc>
                <a:spcPts val="1000"/>
              </a:lnSpc>
            </a:pPr>
            <a:endParaRPr lang="zh-CN" altLang="en-US" sz="1998" dirty="0">
              <a:solidFill>
                <a:srgbClr val="000000"/>
              </a:solidFill>
              <a:latin typeface="Times New Roman"/>
            </a:endParaRPr>
          </a:p>
          <a:p>
            <a:pPr>
              <a:lnSpc>
                <a:spcPts val="1000"/>
              </a:lnSpc>
            </a:pPr>
            <a:endParaRPr lang="zh-CN" altLang="en-US" sz="1998" dirty="0">
              <a:solidFill>
                <a:srgbClr val="000000"/>
              </a:solidFill>
              <a:latin typeface="Times New Roman"/>
            </a:endParaRPr>
          </a:p>
          <a:p>
            <a:pPr>
              <a:lnSpc>
                <a:spcPts val="2338"/>
              </a:lnSpc>
            </a:pPr>
            <a:r>
              <a:rPr lang="zh-CN" altLang="en-US" sz="1998" dirty="0">
                <a:solidFill>
                  <a:srgbClr val="000000"/>
                </a:solidFill>
                <a:latin typeface="Times New Roman"/>
              </a:rPr>
              <a:t>董事會</a:t>
            </a:r>
          </a:p>
        </p:txBody>
      </p:sp>
      <p:sp>
        <p:nvSpPr>
          <p:cNvPr id="6" name="TextBox 5"/>
          <p:cNvSpPr txBox="1"/>
          <p:nvPr/>
        </p:nvSpPr>
        <p:spPr>
          <a:xfrm>
            <a:off x="3489585" y="2655620"/>
            <a:ext cx="3504164" cy="1679947"/>
          </a:xfrm>
          <a:prstGeom prst="rect">
            <a:avLst/>
          </a:prstGeom>
          <a:noFill/>
        </p:spPr>
        <p:txBody>
          <a:bodyPr vert="horz" wrap="none" lIns="0" tIns="0" rIns="0" bIns="0" rtlCol="0">
            <a:spAutoFit/>
          </a:bodyPr>
          <a:lstStyle/>
          <a:p>
            <a:pPr marL="0" marR="0" lvl="0" indent="0" defTabSz="914400" eaLnBrk="1" fontAlgn="auto" latinLnBrk="0" hangingPunct="1">
              <a:lnSpc>
                <a:spcPts val="2398"/>
              </a:lnSpc>
              <a:buClrTx/>
              <a:buSzTx/>
              <a:buNone/>
              <a:tabLst>
                <a:tab pos="1066800" algn="l"/>
                <a:tab pos="1219200" algn="l"/>
                <a:tab pos="1295400" algn="l"/>
              </a:tabLst>
              <a:defRPr/>
            </a:pPr>
            <a:r>
              <a:rPr lang="zh-CN" altLang="en-US" sz="2400" dirty="0">
                <a:solidFill>
                  <a:srgbClr val="000000"/>
                </a:solidFill>
                <a:latin typeface="Times New Roman"/>
              </a:rPr>
              <a:t>對股東</a:t>
            </a:r>
            <a:r>
              <a:rPr lang="en-US" altLang="zh-CN" sz="2400" dirty="0">
                <a:solidFill>
                  <a:srgbClr val="000000"/>
                </a:solidFill>
                <a:latin typeface="Times New Roman"/>
              </a:rPr>
              <a:t>/</a:t>
            </a:r>
            <a:r>
              <a:rPr lang="zh-CN" altLang="en-US" sz="2400" dirty="0">
                <a:solidFill>
                  <a:srgbClr val="000000"/>
                </a:solidFill>
                <a:latin typeface="Times New Roman"/>
              </a:rPr>
              <a:t>利益相關方的責任</a:t>
            </a:r>
          </a:p>
          <a:p>
            <a:pPr marL="0" marR="0" lvl="0" indent="0" defTabSz="914400" eaLnBrk="1" fontAlgn="auto" latinLnBrk="0" hangingPunct="1">
              <a:lnSpc>
                <a:spcPts val="1000"/>
              </a:lnSpc>
              <a:buClrTx/>
              <a:buSzTx/>
              <a:buNone/>
              <a:tabLst>
                <a:tab pos="1066800" algn="l"/>
                <a:tab pos="1219200" algn="l"/>
                <a:tab pos="1295400" algn="l"/>
              </a:tabLst>
              <a:defRPr/>
            </a:pPr>
            <a:endParaRPr lang="zh-CN" altLang="en-US" sz="2400" dirty="0">
              <a:solidFill>
                <a:srgbClr val="000000"/>
              </a:solidFill>
              <a:latin typeface="Times New Roman"/>
            </a:endParaRPr>
          </a:p>
          <a:p>
            <a:pPr marL="0" marR="0" lvl="0" indent="0" defTabSz="914400" eaLnBrk="1" fontAlgn="auto" latinLnBrk="0" hangingPunct="1">
              <a:lnSpc>
                <a:spcPts val="1000"/>
              </a:lnSpc>
              <a:buClrTx/>
              <a:buSzTx/>
              <a:buNone/>
              <a:tabLst>
                <a:tab pos="1066800" algn="l"/>
                <a:tab pos="1219200" algn="l"/>
                <a:tab pos="1295400" algn="l"/>
              </a:tabLst>
              <a:defRPr/>
            </a:pPr>
            <a:endParaRPr lang="zh-CN" altLang="en-US" sz="2400" dirty="0">
              <a:solidFill>
                <a:srgbClr val="000000"/>
              </a:solidFill>
              <a:latin typeface="Times New Roman"/>
            </a:endParaRPr>
          </a:p>
          <a:p>
            <a:pPr marL="0" marR="0" lvl="0" indent="0" defTabSz="914400" eaLnBrk="1" fontAlgn="auto" latinLnBrk="0" hangingPunct="1">
              <a:lnSpc>
                <a:spcPts val="1000"/>
              </a:lnSpc>
              <a:buClrTx/>
              <a:buSzTx/>
              <a:buNone/>
              <a:tabLst>
                <a:tab pos="1066800" algn="l"/>
                <a:tab pos="1219200" algn="l"/>
                <a:tab pos="1295400" algn="l"/>
              </a:tabLst>
              <a:defRPr/>
            </a:pPr>
            <a:endParaRPr lang="zh-CN" altLang="en-US" sz="2400" dirty="0">
              <a:solidFill>
                <a:srgbClr val="000000"/>
              </a:solidFill>
              <a:latin typeface="Times New Roman"/>
            </a:endParaRPr>
          </a:p>
          <a:p>
            <a:pPr marL="0" marR="0" lvl="0" indent="0" defTabSz="914400" eaLnBrk="1" fontAlgn="auto" latinLnBrk="0" hangingPunct="1">
              <a:lnSpc>
                <a:spcPts val="1000"/>
              </a:lnSpc>
              <a:buClrTx/>
              <a:buSzTx/>
              <a:buNone/>
              <a:tabLst>
                <a:tab pos="1066800" algn="l"/>
                <a:tab pos="1219200" algn="l"/>
                <a:tab pos="1295400" algn="l"/>
              </a:tabLst>
              <a:defRPr/>
            </a:pPr>
            <a:endParaRPr lang="zh-CN" altLang="en-US" sz="2400" dirty="0">
              <a:solidFill>
                <a:srgbClr val="000000"/>
              </a:solidFill>
              <a:latin typeface="Times New Roman"/>
            </a:endParaRPr>
          </a:p>
          <a:p>
            <a:pPr marL="0" marR="0" lvl="0" indent="0" defTabSz="914400" eaLnBrk="1" fontAlgn="auto" latinLnBrk="0" hangingPunct="1">
              <a:lnSpc>
                <a:spcPts val="2096"/>
              </a:lnSpc>
              <a:buClrTx/>
              <a:buSzTx/>
              <a:buNone/>
              <a:tabLst>
                <a:tab pos="1066800" algn="l"/>
                <a:tab pos="1219200" algn="l"/>
                <a:tab pos="1295400" algn="l"/>
              </a:tabLst>
              <a:defRPr/>
            </a:pPr>
            <a:r>
              <a:rPr lang="zh-CN" altLang="en-US" sz="2400" dirty="0">
                <a:solidFill>
                  <a:srgbClr val="000000"/>
                </a:solidFill>
                <a:latin typeface="Times New Roman"/>
              </a:rPr>
              <a:t>	</a:t>
            </a:r>
            <a:r>
              <a:rPr lang="zh-CN" altLang="en-US" sz="1500" dirty="0">
                <a:solidFill>
                  <a:srgbClr val="000000"/>
                </a:solidFill>
                <a:latin typeface="Times New Roman"/>
              </a:rPr>
              <a:t>公司治理</a:t>
            </a:r>
          </a:p>
          <a:p>
            <a:pPr marL="0" marR="0" lvl="0" indent="0" defTabSz="914400" eaLnBrk="1" fontAlgn="auto" latinLnBrk="0" hangingPunct="1">
              <a:lnSpc>
                <a:spcPts val="1000"/>
              </a:lnSpc>
              <a:buClrTx/>
              <a:buSzTx/>
              <a:buNone/>
              <a:tabLst>
                <a:tab pos="1066800" algn="l"/>
                <a:tab pos="1219200" algn="l"/>
                <a:tab pos="1295400" algn="l"/>
              </a:tabLst>
              <a:defRPr/>
            </a:pPr>
            <a:endParaRPr lang="zh-CN" altLang="en-US" sz="1500" dirty="0">
              <a:solidFill>
                <a:srgbClr val="000000"/>
              </a:solidFill>
              <a:latin typeface="Times New Roman"/>
            </a:endParaRPr>
          </a:p>
          <a:p>
            <a:pPr marL="0" marR="0" lvl="0" indent="0" defTabSz="914400" eaLnBrk="1" fontAlgn="auto" latinLnBrk="0" hangingPunct="1">
              <a:lnSpc>
                <a:spcPts val="2180"/>
              </a:lnSpc>
              <a:buClrTx/>
              <a:buSzTx/>
              <a:buNone/>
              <a:tabLst>
                <a:tab pos="1066800" algn="l"/>
                <a:tab pos="1219200" algn="l"/>
                <a:tab pos="1295400" algn="l"/>
              </a:tabLst>
              <a:defRPr/>
            </a:pPr>
            <a:r>
              <a:rPr lang="zh-CN" altLang="en-US" sz="1500" dirty="0">
                <a:solidFill>
                  <a:srgbClr val="000000"/>
                </a:solidFill>
                <a:latin typeface="Times New Roman"/>
              </a:rPr>
              <a:t>		</a:t>
            </a:r>
            <a:r>
              <a:rPr lang="zh-CN" altLang="en-US" sz="1200" dirty="0">
                <a:solidFill>
                  <a:srgbClr val="000000"/>
                </a:solidFill>
                <a:latin typeface="Times New Roman"/>
              </a:rPr>
              <a:t>最高層</a:t>
            </a:r>
          </a:p>
          <a:p>
            <a:pPr marL="0" marR="0" lvl="0" indent="0" defTabSz="914400" eaLnBrk="1" fontAlgn="auto" latinLnBrk="0" hangingPunct="1">
              <a:lnSpc>
                <a:spcPts val="1434"/>
              </a:lnSpc>
              <a:buClrTx/>
              <a:buSzTx/>
              <a:buNone/>
              <a:tabLst>
                <a:tab pos="1066800" algn="l"/>
                <a:tab pos="1219200" algn="l"/>
                <a:tab pos="1295400" algn="l"/>
              </a:tabLst>
              <a:defRPr/>
            </a:pPr>
            <a:r>
              <a:rPr lang="zh-CN" altLang="en-US" sz="1200" dirty="0">
                <a:solidFill>
                  <a:srgbClr val="000000"/>
                </a:solidFill>
                <a:latin typeface="Times New Roman"/>
              </a:rPr>
              <a:t>			指引</a:t>
            </a:r>
          </a:p>
        </p:txBody>
      </p:sp>
      <p:sp>
        <p:nvSpPr>
          <p:cNvPr id="7" name="TextBox 6"/>
          <p:cNvSpPr txBox="1"/>
          <p:nvPr/>
        </p:nvSpPr>
        <p:spPr>
          <a:xfrm>
            <a:off x="1976253" y="4595822"/>
            <a:ext cx="833562" cy="166712"/>
          </a:xfrm>
          <a:prstGeom prst="rect">
            <a:avLst/>
          </a:prstGeom>
          <a:noFill/>
        </p:spPr>
        <p:txBody>
          <a:bodyPr vert="horz" wrap="none" lIns="0" tIns="0" rIns="0" bIns="0" rtlCol="0">
            <a:spAutoFit/>
          </a:bodyPr>
          <a:lstStyle/>
          <a:p>
            <a:pPr>
              <a:lnSpc>
                <a:spcPts val="1301"/>
              </a:lnSpc>
            </a:pPr>
            <a:r>
              <a:rPr lang="zh-CN" altLang="en-US" sz="1302" dirty="0">
                <a:solidFill>
                  <a:srgbClr val="263583"/>
                </a:solidFill>
                <a:latin typeface="Times New Roman"/>
              </a:rPr>
              <a:t>授權和責任</a:t>
            </a:r>
          </a:p>
        </p:txBody>
      </p:sp>
      <p:sp>
        <p:nvSpPr>
          <p:cNvPr id="8" name="TextBox 7"/>
          <p:cNvSpPr txBox="1"/>
          <p:nvPr/>
        </p:nvSpPr>
        <p:spPr>
          <a:xfrm>
            <a:off x="3765429" y="4696866"/>
            <a:ext cx="307777" cy="153888"/>
          </a:xfrm>
          <a:prstGeom prst="rect">
            <a:avLst/>
          </a:prstGeom>
          <a:noFill/>
        </p:spPr>
        <p:txBody>
          <a:bodyPr vert="horz" wrap="none" lIns="0" tIns="0" rIns="0" bIns="0" rtlCol="0">
            <a:spAutoFit/>
          </a:bodyPr>
          <a:lstStyle/>
          <a:p>
            <a:pPr>
              <a:lnSpc>
                <a:spcPts val="1199"/>
              </a:lnSpc>
            </a:pPr>
            <a:r>
              <a:rPr lang="zh-CN" altLang="en-US" sz="1200" dirty="0">
                <a:solidFill>
                  <a:srgbClr val="000000"/>
                </a:solidFill>
                <a:latin typeface="Times New Roman"/>
              </a:rPr>
              <a:t>監控</a:t>
            </a:r>
          </a:p>
        </p:txBody>
      </p:sp>
      <p:sp>
        <p:nvSpPr>
          <p:cNvPr id="9" name="TextBox 8"/>
          <p:cNvSpPr txBox="1"/>
          <p:nvPr/>
        </p:nvSpPr>
        <p:spPr>
          <a:xfrm>
            <a:off x="4616583" y="4771542"/>
            <a:ext cx="769441" cy="153888"/>
          </a:xfrm>
          <a:prstGeom prst="rect">
            <a:avLst/>
          </a:prstGeom>
          <a:noFill/>
        </p:spPr>
        <p:txBody>
          <a:bodyPr vert="horz" wrap="none" lIns="0" tIns="0" rIns="0" bIns="0" rtlCol="0">
            <a:spAutoFit/>
          </a:bodyPr>
          <a:lstStyle/>
          <a:p>
            <a:pPr>
              <a:lnSpc>
                <a:spcPts val="1199"/>
              </a:lnSpc>
            </a:pPr>
            <a:r>
              <a:rPr lang="zh-CN" altLang="en-US" sz="1200" dirty="0">
                <a:solidFill>
                  <a:srgbClr val="FFFFFF"/>
                </a:solidFill>
                <a:latin typeface="Times New Roman"/>
              </a:rPr>
              <a:t>溝通和資訊</a:t>
            </a:r>
          </a:p>
        </p:txBody>
      </p:sp>
      <p:sp>
        <p:nvSpPr>
          <p:cNvPr id="10" name="TextBox 9"/>
          <p:cNvSpPr txBox="1"/>
          <p:nvPr/>
        </p:nvSpPr>
        <p:spPr>
          <a:xfrm>
            <a:off x="5648331" y="4695342"/>
            <a:ext cx="615553" cy="153888"/>
          </a:xfrm>
          <a:prstGeom prst="rect">
            <a:avLst/>
          </a:prstGeom>
          <a:noFill/>
        </p:spPr>
        <p:txBody>
          <a:bodyPr vert="horz" wrap="none" lIns="0" tIns="0" rIns="0" bIns="0" rtlCol="0">
            <a:spAutoFit/>
          </a:bodyPr>
          <a:lstStyle/>
          <a:p>
            <a:pPr>
              <a:lnSpc>
                <a:spcPts val="1199"/>
              </a:lnSpc>
            </a:pPr>
            <a:r>
              <a:rPr lang="zh-CN" altLang="en-US" sz="1200" dirty="0">
                <a:solidFill>
                  <a:srgbClr val="000000"/>
                </a:solidFill>
                <a:latin typeface="Times New Roman"/>
              </a:rPr>
              <a:t>分析風險</a:t>
            </a:r>
          </a:p>
        </p:txBody>
      </p:sp>
      <p:sp>
        <p:nvSpPr>
          <p:cNvPr id="11" name="TextBox 10"/>
          <p:cNvSpPr txBox="1"/>
          <p:nvPr/>
        </p:nvSpPr>
        <p:spPr>
          <a:xfrm>
            <a:off x="6629775" y="4614871"/>
            <a:ext cx="1000274" cy="166712"/>
          </a:xfrm>
          <a:prstGeom prst="rect">
            <a:avLst/>
          </a:prstGeom>
          <a:noFill/>
        </p:spPr>
        <p:txBody>
          <a:bodyPr vert="horz" wrap="none" lIns="0" tIns="0" rIns="0" bIns="0" rtlCol="0">
            <a:spAutoFit/>
          </a:bodyPr>
          <a:lstStyle/>
          <a:p>
            <a:pPr>
              <a:lnSpc>
                <a:spcPts val="1301"/>
              </a:lnSpc>
            </a:pPr>
            <a:r>
              <a:rPr lang="zh-CN" altLang="en-US" sz="1302" dirty="0">
                <a:solidFill>
                  <a:srgbClr val="263583"/>
                </a:solidFill>
                <a:latin typeface="Times New Roman"/>
              </a:rPr>
              <a:t>風險管理系統</a:t>
            </a:r>
          </a:p>
        </p:txBody>
      </p:sp>
      <p:sp>
        <p:nvSpPr>
          <p:cNvPr id="12" name="TextBox 11"/>
          <p:cNvSpPr txBox="1"/>
          <p:nvPr/>
        </p:nvSpPr>
        <p:spPr>
          <a:xfrm>
            <a:off x="4631823" y="5363616"/>
            <a:ext cx="615553" cy="153888"/>
          </a:xfrm>
          <a:prstGeom prst="rect">
            <a:avLst/>
          </a:prstGeom>
          <a:noFill/>
        </p:spPr>
        <p:txBody>
          <a:bodyPr vert="horz" wrap="none" lIns="0" tIns="0" rIns="0" bIns="0" rtlCol="0">
            <a:spAutoFit/>
          </a:bodyPr>
          <a:lstStyle/>
          <a:p>
            <a:pPr>
              <a:lnSpc>
                <a:spcPts val="1199"/>
              </a:lnSpc>
            </a:pPr>
            <a:r>
              <a:rPr lang="zh-CN" altLang="en-US" sz="1200" dirty="0">
                <a:solidFill>
                  <a:srgbClr val="000000"/>
                </a:solidFill>
                <a:latin typeface="Times New Roman"/>
              </a:rPr>
              <a:t>建立控制</a:t>
            </a:r>
          </a:p>
        </p:txBody>
      </p:sp>
      <p:sp>
        <p:nvSpPr>
          <p:cNvPr id="13" name="TextBox 12"/>
          <p:cNvSpPr txBox="1"/>
          <p:nvPr/>
        </p:nvSpPr>
        <p:spPr>
          <a:xfrm>
            <a:off x="1694313" y="5576026"/>
            <a:ext cx="512961" cy="256480"/>
          </a:xfrm>
          <a:prstGeom prst="rect">
            <a:avLst/>
          </a:prstGeom>
          <a:noFill/>
        </p:spPr>
        <p:txBody>
          <a:bodyPr vert="horz" wrap="none" lIns="0" tIns="0" rIns="0" bIns="0" rtlCol="0">
            <a:spAutoFit/>
          </a:bodyPr>
          <a:lstStyle/>
          <a:p>
            <a:pPr>
              <a:lnSpc>
                <a:spcPts val="1996"/>
              </a:lnSpc>
            </a:pPr>
            <a:r>
              <a:rPr lang="zh-CN" altLang="en-US" sz="1998" dirty="0">
                <a:solidFill>
                  <a:srgbClr val="000000"/>
                </a:solidFill>
                <a:latin typeface="Times New Roman"/>
              </a:rPr>
              <a:t>企業</a:t>
            </a:r>
          </a:p>
        </p:txBody>
      </p:sp>
      <p:sp>
        <p:nvSpPr>
          <p:cNvPr id="14" name="TextBox 13"/>
          <p:cNvSpPr txBox="1"/>
          <p:nvPr/>
        </p:nvSpPr>
        <p:spPr>
          <a:xfrm>
            <a:off x="3219837" y="5719772"/>
            <a:ext cx="333425" cy="166712"/>
          </a:xfrm>
          <a:prstGeom prst="rect">
            <a:avLst/>
          </a:prstGeom>
          <a:noFill/>
        </p:spPr>
        <p:txBody>
          <a:bodyPr vert="horz" wrap="none" lIns="0" tIns="0" rIns="0" bIns="0" rtlCol="0">
            <a:spAutoFit/>
          </a:bodyPr>
          <a:lstStyle/>
          <a:p>
            <a:pPr>
              <a:lnSpc>
                <a:spcPts val="1301"/>
              </a:lnSpc>
            </a:pPr>
            <a:r>
              <a:rPr lang="zh-CN" altLang="en-US" sz="1302" dirty="0">
                <a:solidFill>
                  <a:srgbClr val="000000"/>
                </a:solidFill>
                <a:latin typeface="Times New Roman"/>
              </a:rPr>
              <a:t>資源</a:t>
            </a:r>
          </a:p>
        </p:txBody>
      </p:sp>
      <p:sp>
        <p:nvSpPr>
          <p:cNvPr id="15" name="TextBox 14"/>
          <p:cNvSpPr txBox="1"/>
          <p:nvPr/>
        </p:nvSpPr>
        <p:spPr>
          <a:xfrm>
            <a:off x="4814697" y="5719772"/>
            <a:ext cx="333425" cy="166712"/>
          </a:xfrm>
          <a:prstGeom prst="rect">
            <a:avLst/>
          </a:prstGeom>
          <a:noFill/>
        </p:spPr>
        <p:txBody>
          <a:bodyPr vert="horz" wrap="none" lIns="0" tIns="0" rIns="0" bIns="0" rtlCol="0">
            <a:spAutoFit/>
          </a:bodyPr>
          <a:lstStyle/>
          <a:p>
            <a:pPr>
              <a:lnSpc>
                <a:spcPts val="1301"/>
              </a:lnSpc>
            </a:pPr>
            <a:r>
              <a:rPr lang="zh-CN" altLang="en-US" sz="1302" dirty="0">
                <a:solidFill>
                  <a:srgbClr val="000000"/>
                </a:solidFill>
                <a:latin typeface="Times New Roman"/>
              </a:rPr>
              <a:t>職能</a:t>
            </a:r>
          </a:p>
        </p:txBody>
      </p:sp>
      <p:sp>
        <p:nvSpPr>
          <p:cNvPr id="16" name="TextBox 15"/>
          <p:cNvSpPr txBox="1"/>
          <p:nvPr/>
        </p:nvSpPr>
        <p:spPr>
          <a:xfrm>
            <a:off x="6363076" y="5719772"/>
            <a:ext cx="333425" cy="166712"/>
          </a:xfrm>
          <a:prstGeom prst="rect">
            <a:avLst/>
          </a:prstGeom>
          <a:noFill/>
        </p:spPr>
        <p:txBody>
          <a:bodyPr vert="horz" wrap="none" lIns="0" tIns="0" rIns="0" bIns="0" rtlCol="0">
            <a:spAutoFit/>
          </a:bodyPr>
          <a:lstStyle/>
          <a:p>
            <a:pPr>
              <a:lnSpc>
                <a:spcPts val="1301"/>
              </a:lnSpc>
            </a:pPr>
            <a:r>
              <a:rPr lang="zh-CN" altLang="en-US" sz="1302" dirty="0">
                <a:solidFill>
                  <a:srgbClr val="000000"/>
                </a:solidFill>
                <a:latin typeface="Times New Roman"/>
              </a:rPr>
              <a:t>資產</a:t>
            </a:r>
          </a:p>
        </p:txBody>
      </p:sp>
      <p:sp>
        <p:nvSpPr>
          <p:cNvPr id="17" name="TextBox 16"/>
          <p:cNvSpPr txBox="1"/>
          <p:nvPr/>
        </p:nvSpPr>
        <p:spPr>
          <a:xfrm>
            <a:off x="8067681" y="6285482"/>
            <a:ext cx="1477969" cy="461665"/>
          </a:xfrm>
          <a:prstGeom prst="rect">
            <a:avLst/>
          </a:prstGeom>
          <a:noFill/>
        </p:spPr>
        <p:txBody>
          <a:bodyPr vert="horz" wrap="none" lIns="0" tIns="0" rIns="0" bIns="0" rtlCol="0">
            <a:spAutoFit/>
          </a:bodyPr>
          <a:lstStyle/>
          <a:p>
            <a:pPr>
              <a:lnSpc>
                <a:spcPts val="1800"/>
              </a:lnSpc>
            </a:pPr>
            <a:r>
              <a:rPr lang="en-US" altLang="zh-CN" dirty="0" err="1">
                <a:solidFill>
                  <a:srgbClr val="000000"/>
                </a:solidFill>
                <a:latin typeface="Times New Roman"/>
              </a:rPr>
              <a:t>Pwc</a:t>
            </a:r>
            <a:endParaRPr lang="en-US" altLang="zh-CN" dirty="0">
              <a:solidFill>
                <a:srgbClr val="000000"/>
              </a:solidFill>
              <a:latin typeface="Times New Roman"/>
            </a:endParaRPr>
          </a:p>
          <a:p>
            <a:pPr>
              <a:lnSpc>
                <a:spcPts val="1779"/>
              </a:lnSpc>
            </a:pPr>
            <a:r>
              <a:rPr lang="zh-CN" altLang="en-US" sz="1478" dirty="0">
                <a:solidFill>
                  <a:srgbClr val="000000"/>
                </a:solidFill>
                <a:latin typeface="Times New Roman"/>
              </a:rPr>
              <a:t>普     華     永     道</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myslide44">
    <p:spTree>
      <p:nvGrpSpPr>
        <p:cNvPr id="1" name=""/>
        <p:cNvGrpSpPr/>
        <p:nvPr/>
      </p:nvGrpSpPr>
      <p:grpSpPr>
        <a:xfrm>
          <a:off x="0" y="0"/>
          <a:ext cx="0" cy="0"/>
          <a:chOff x="0" y="0"/>
          <a:chExt cx="0" cy="0"/>
        </a:xfrm>
      </p:grpSpPr>
      <p:sp>
        <p:nvSpPr>
          <p:cNvPr id="2" name="任意多边形 1"/>
          <p:cNvSpPr/>
          <p:nvPr/>
        </p:nvSpPr>
        <p:spPr>
          <a:xfrm>
            <a:off x="-11036" y="-19304"/>
            <a:ext cx="9902952" cy="6858000"/>
          </a:xfrm>
          <a:custGeom>
            <a:avLst/>
            <a:gdLst/>
            <a:ahLst/>
            <a:cxnLst/>
            <a:rect l="0" t="0" r="0" b="0"/>
            <a:pathLst>
              <a:path w="9902952" h="6858000">
                <a:moveTo>
                  <a:pt x="0" y="0"/>
                </a:moveTo>
                <a:lnTo>
                  <a:pt x="0" y="6857999"/>
                </a:lnTo>
                <a:lnTo>
                  <a:pt x="9902951" y="6857999"/>
                </a:lnTo>
                <a:lnTo>
                  <a:pt x="9902951" y="0"/>
                </a:lnTo>
                <a:close/>
              </a:path>
            </a:pathLst>
          </a:custGeom>
          <a:solidFill>
            <a:srgbClr val="E6D199"/>
          </a:solidFill>
          <a:ln w="12700" cap="flat" cmpd="sng" algn="ctr">
            <a:solidFill>
              <a:srgbClr val="E6D199"/>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 name="图片 2" descr="ws_1D9.tmp"/>
          <p:cNvPicPr>
            <a:picLocks/>
          </p:cNvPicPr>
          <p:nvPr/>
        </p:nvPicPr>
        <p:blipFill>
          <a:blip r:embed="rId2"/>
          <a:stretch>
            <a:fillRect/>
          </a:stretch>
        </p:blipFill>
        <p:spPr>
          <a:xfrm>
            <a:off x="0" y="0"/>
            <a:ext cx="9880600" cy="6819900"/>
          </a:xfrm>
          <a:prstGeom prst="rect">
            <a:avLst/>
          </a:prstGeom>
        </p:spPr>
      </p:pic>
      <p:sp>
        <p:nvSpPr>
          <p:cNvPr id="4" name="TextBox 3"/>
          <p:cNvSpPr txBox="1"/>
          <p:nvPr/>
        </p:nvSpPr>
        <p:spPr>
          <a:xfrm>
            <a:off x="2967615" y="1193307"/>
            <a:ext cx="3949799" cy="564257"/>
          </a:xfrm>
          <a:prstGeom prst="rect">
            <a:avLst/>
          </a:prstGeom>
          <a:noFill/>
        </p:spPr>
        <p:txBody>
          <a:bodyPr vert="horz" wrap="none" lIns="0" tIns="0" rIns="0" bIns="0" rtlCol="0">
            <a:spAutoFit/>
          </a:bodyPr>
          <a:lstStyle/>
          <a:p>
            <a:pPr>
              <a:lnSpc>
                <a:spcPts val="4394"/>
              </a:lnSpc>
            </a:pPr>
            <a:r>
              <a:rPr lang="zh-CN" altLang="en-US" sz="4398" dirty="0">
                <a:solidFill>
                  <a:srgbClr val="FFFFFF"/>
                </a:solidFill>
                <a:latin typeface="Times New Roman"/>
              </a:rPr>
              <a:t>把內部控制作為</a:t>
            </a:r>
          </a:p>
        </p:txBody>
      </p:sp>
      <p:sp>
        <p:nvSpPr>
          <p:cNvPr id="5" name="TextBox 4"/>
          <p:cNvSpPr txBox="1"/>
          <p:nvPr/>
        </p:nvSpPr>
        <p:spPr>
          <a:xfrm>
            <a:off x="3248058" y="2198410"/>
            <a:ext cx="3385542" cy="564257"/>
          </a:xfrm>
          <a:prstGeom prst="rect">
            <a:avLst/>
          </a:prstGeom>
          <a:noFill/>
        </p:spPr>
        <p:txBody>
          <a:bodyPr vert="horz" wrap="none" lIns="0" tIns="0" rIns="0" bIns="0" rtlCol="0">
            <a:spAutoFit/>
          </a:bodyPr>
          <a:lstStyle/>
          <a:p>
            <a:pPr>
              <a:lnSpc>
                <a:spcPts val="4394"/>
              </a:lnSpc>
            </a:pPr>
            <a:r>
              <a:rPr lang="zh-CN" altLang="en-US" sz="4398" dirty="0">
                <a:solidFill>
                  <a:srgbClr val="FFFFFF"/>
                </a:solidFill>
                <a:latin typeface="Times New Roman"/>
              </a:rPr>
              <a:t>現代管理工具</a:t>
            </a:r>
          </a:p>
        </p:txBody>
      </p:sp>
      <p:sp>
        <p:nvSpPr>
          <p:cNvPr id="6" name="TextBox 5"/>
          <p:cNvSpPr txBox="1"/>
          <p:nvPr/>
        </p:nvSpPr>
        <p:spPr>
          <a:xfrm>
            <a:off x="2688010" y="3167655"/>
            <a:ext cx="4514056" cy="564257"/>
          </a:xfrm>
          <a:prstGeom prst="rect">
            <a:avLst/>
          </a:prstGeom>
          <a:noFill/>
        </p:spPr>
        <p:txBody>
          <a:bodyPr vert="horz" wrap="none" lIns="0" tIns="0" rIns="0" bIns="0" rtlCol="0">
            <a:spAutoFit/>
          </a:bodyPr>
          <a:lstStyle/>
          <a:p>
            <a:pPr>
              <a:lnSpc>
                <a:spcPts val="4394"/>
              </a:lnSpc>
            </a:pPr>
            <a:r>
              <a:rPr lang="zh-CN" altLang="en-US" sz="4398" dirty="0">
                <a:solidFill>
                  <a:srgbClr val="000000"/>
                </a:solidFill>
                <a:latin typeface="Times New Roman"/>
              </a:rPr>
              <a:t>來實現銀行的目標</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myslide45">
    <p:spTree>
      <p:nvGrpSpPr>
        <p:cNvPr id="1" name=""/>
        <p:cNvGrpSpPr/>
        <p:nvPr/>
      </p:nvGrpSpPr>
      <p:grpSpPr>
        <a:xfrm>
          <a:off x="0" y="0"/>
          <a:ext cx="0" cy="0"/>
          <a:chOff x="0" y="0"/>
          <a:chExt cx="0" cy="0"/>
        </a:xfrm>
      </p:grpSpPr>
      <p:pic>
        <p:nvPicPr>
          <p:cNvPr id="2" name="图片 1" descr="ws_1DB.tmp"/>
          <p:cNvPicPr>
            <a:picLocks/>
          </p:cNvPicPr>
          <p:nvPr/>
        </p:nvPicPr>
        <p:blipFill>
          <a:blip r:embed="rId2"/>
          <a:stretch>
            <a:fillRect/>
          </a:stretch>
        </p:blipFill>
        <p:spPr>
          <a:xfrm>
            <a:off x="0" y="0"/>
            <a:ext cx="9880600" cy="6819900"/>
          </a:xfrm>
          <a:prstGeom prst="rect">
            <a:avLst/>
          </a:prstGeom>
        </p:spPr>
      </p:pic>
      <p:sp>
        <p:nvSpPr>
          <p:cNvPr id="3" name="TextBox 2"/>
          <p:cNvSpPr txBox="1"/>
          <p:nvPr/>
        </p:nvSpPr>
        <p:spPr>
          <a:xfrm>
            <a:off x="509403" y="6341571"/>
            <a:ext cx="144270" cy="133370"/>
          </a:xfrm>
          <a:prstGeom prst="rect">
            <a:avLst/>
          </a:prstGeom>
          <a:noFill/>
        </p:spPr>
        <p:txBody>
          <a:bodyPr vert="horz" wrap="none" lIns="0" tIns="0" rIns="0" bIns="0" rtlCol="0">
            <a:spAutoFit/>
          </a:bodyPr>
          <a:lstStyle/>
          <a:p>
            <a:pPr>
              <a:lnSpc>
                <a:spcPts val="1016"/>
              </a:lnSpc>
            </a:pPr>
            <a:r>
              <a:rPr lang="en-US" altLang="zh-CN" sz="1098" dirty="0">
                <a:solidFill>
                  <a:srgbClr val="761437"/>
                </a:solidFill>
                <a:latin typeface="Times New Roman"/>
              </a:rPr>
              <a:t>45</a:t>
            </a:r>
            <a:endParaRPr lang="zh-CN" altLang="en-US" sz="1098" dirty="0">
              <a:solidFill>
                <a:srgbClr val="761437"/>
              </a:solidFill>
              <a:latin typeface="Times New Roman"/>
            </a:endParaRPr>
          </a:p>
        </p:txBody>
      </p:sp>
      <p:sp>
        <p:nvSpPr>
          <p:cNvPr id="4" name="TextBox 3"/>
          <p:cNvSpPr txBox="1"/>
          <p:nvPr/>
        </p:nvSpPr>
        <p:spPr>
          <a:xfrm>
            <a:off x="903358" y="494741"/>
            <a:ext cx="1846659" cy="461665"/>
          </a:xfrm>
          <a:prstGeom prst="rect">
            <a:avLst/>
          </a:prstGeom>
          <a:noFill/>
        </p:spPr>
        <p:txBody>
          <a:bodyPr vert="horz" wrap="none" lIns="0" tIns="0" rIns="0" bIns="0" rtlCol="0">
            <a:spAutoFit/>
          </a:bodyPr>
          <a:lstStyle/>
          <a:p>
            <a:pPr>
              <a:lnSpc>
                <a:spcPts val="3596"/>
              </a:lnSpc>
            </a:pPr>
            <a:r>
              <a:rPr lang="zh-CN" altLang="en-US" sz="3600" dirty="0">
                <a:solidFill>
                  <a:srgbClr val="FFFFFF"/>
                </a:solidFill>
                <a:latin typeface="Times New Roman"/>
              </a:rPr>
              <a:t>問題解答</a:t>
            </a:r>
          </a:p>
        </p:txBody>
      </p:sp>
      <p:sp>
        <p:nvSpPr>
          <p:cNvPr id="5" name="TextBox 4"/>
          <p:cNvSpPr txBox="1"/>
          <p:nvPr/>
        </p:nvSpPr>
        <p:spPr>
          <a:xfrm>
            <a:off x="4220343" y="2349027"/>
            <a:ext cx="1263166" cy="512961"/>
          </a:xfrm>
          <a:prstGeom prst="rect">
            <a:avLst/>
          </a:prstGeom>
          <a:noFill/>
        </p:spPr>
        <p:txBody>
          <a:bodyPr vert="horz" wrap="none" lIns="0" tIns="0" rIns="0" bIns="0" rtlCol="0">
            <a:spAutoFit/>
          </a:bodyPr>
          <a:lstStyle/>
          <a:p>
            <a:pPr>
              <a:lnSpc>
                <a:spcPts val="3998"/>
              </a:lnSpc>
            </a:pPr>
            <a:r>
              <a:rPr lang="zh-CN" altLang="en-US" sz="4002" dirty="0">
                <a:solidFill>
                  <a:srgbClr val="000000"/>
                </a:solidFill>
                <a:latin typeface="Times New Roman"/>
              </a:rPr>
              <a:t>問題</a:t>
            </a:r>
            <a:r>
              <a:rPr lang="en-US" altLang="zh-CN" sz="4002" dirty="0">
                <a:solidFill>
                  <a:srgbClr val="000000"/>
                </a:solidFill>
                <a:latin typeface="Times New Roman"/>
              </a:rPr>
              <a:t>?</a:t>
            </a:r>
            <a:endParaRPr lang="zh-CN" altLang="en-US" sz="4002" dirty="0">
              <a:solidFill>
                <a:srgbClr val="000000"/>
              </a:solidFill>
              <a:latin typeface="Times New Roman"/>
            </a:endParaRPr>
          </a:p>
        </p:txBody>
      </p:sp>
      <p:sp>
        <p:nvSpPr>
          <p:cNvPr id="6" name="TextBox 5"/>
          <p:cNvSpPr txBox="1"/>
          <p:nvPr/>
        </p:nvSpPr>
        <p:spPr>
          <a:xfrm>
            <a:off x="8067681" y="6285482"/>
            <a:ext cx="1477969" cy="461665"/>
          </a:xfrm>
          <a:prstGeom prst="rect">
            <a:avLst/>
          </a:prstGeom>
          <a:noFill/>
        </p:spPr>
        <p:txBody>
          <a:bodyPr vert="horz" wrap="none" lIns="0" tIns="0" rIns="0" bIns="0" rtlCol="0">
            <a:spAutoFit/>
          </a:bodyPr>
          <a:lstStyle/>
          <a:p>
            <a:pPr>
              <a:lnSpc>
                <a:spcPts val="1800"/>
              </a:lnSpc>
            </a:pPr>
            <a:r>
              <a:rPr lang="en-US" altLang="zh-CN" dirty="0" err="1">
                <a:solidFill>
                  <a:srgbClr val="000000"/>
                </a:solidFill>
                <a:latin typeface="Times New Roman"/>
              </a:rPr>
              <a:t>Pwc</a:t>
            </a:r>
            <a:endParaRPr lang="en-US" altLang="zh-CN" dirty="0">
              <a:solidFill>
                <a:srgbClr val="000000"/>
              </a:solidFill>
              <a:latin typeface="Times New Roman"/>
            </a:endParaRPr>
          </a:p>
          <a:p>
            <a:pPr>
              <a:lnSpc>
                <a:spcPts val="1779"/>
              </a:lnSpc>
            </a:pPr>
            <a:r>
              <a:rPr lang="zh-CN" altLang="en-US" sz="1478" dirty="0">
                <a:solidFill>
                  <a:srgbClr val="000000"/>
                </a:solidFill>
                <a:latin typeface="Times New Roman"/>
              </a:rPr>
              <a:t>普     華     永     道</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myslide46">
    <p:spTree>
      <p:nvGrpSpPr>
        <p:cNvPr id="1" name=""/>
        <p:cNvGrpSpPr/>
        <p:nvPr/>
      </p:nvGrpSpPr>
      <p:grpSpPr>
        <a:xfrm>
          <a:off x="0" y="0"/>
          <a:ext cx="0" cy="0"/>
          <a:chOff x="0" y="0"/>
          <a:chExt cx="0" cy="0"/>
        </a:xfrm>
      </p:grpSpPr>
      <p:sp>
        <p:nvSpPr>
          <p:cNvPr id="2" name="任意多边形 1"/>
          <p:cNvSpPr/>
          <p:nvPr/>
        </p:nvSpPr>
        <p:spPr>
          <a:xfrm>
            <a:off x="-11036" y="-19304"/>
            <a:ext cx="9902952" cy="6858000"/>
          </a:xfrm>
          <a:custGeom>
            <a:avLst/>
            <a:gdLst/>
            <a:ahLst/>
            <a:cxnLst/>
            <a:rect l="0" t="0" r="0" b="0"/>
            <a:pathLst>
              <a:path w="9902952" h="6858000">
                <a:moveTo>
                  <a:pt x="0" y="0"/>
                </a:moveTo>
                <a:lnTo>
                  <a:pt x="0" y="6857999"/>
                </a:lnTo>
                <a:lnTo>
                  <a:pt x="9902951" y="6857999"/>
                </a:lnTo>
                <a:lnTo>
                  <a:pt x="9902951" y="0"/>
                </a:lnTo>
                <a:close/>
              </a:path>
            </a:pathLst>
          </a:custGeom>
          <a:solidFill>
            <a:srgbClr val="E6D199"/>
          </a:solidFill>
          <a:ln w="12700" cap="flat" cmpd="sng" algn="ctr">
            <a:solidFill>
              <a:srgbClr val="E6D199"/>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 name="图片 2" descr="ws_1DD.tmp"/>
          <p:cNvPicPr>
            <a:picLocks/>
          </p:cNvPicPr>
          <p:nvPr/>
        </p:nvPicPr>
        <p:blipFill>
          <a:blip r:embed="rId2"/>
          <a:stretch>
            <a:fillRect/>
          </a:stretch>
        </p:blipFill>
        <p:spPr>
          <a:xfrm>
            <a:off x="0" y="0"/>
            <a:ext cx="9880600" cy="6819900"/>
          </a:xfrm>
          <a:prstGeom prst="rect">
            <a:avLst/>
          </a:prstGeom>
        </p:spPr>
      </p:pic>
      <p:sp>
        <p:nvSpPr>
          <p:cNvPr id="4" name="TextBox 3"/>
          <p:cNvSpPr txBox="1"/>
          <p:nvPr/>
        </p:nvSpPr>
        <p:spPr>
          <a:xfrm>
            <a:off x="1189107" y="2630170"/>
            <a:ext cx="1723229" cy="1000274"/>
          </a:xfrm>
          <a:prstGeom prst="rect">
            <a:avLst/>
          </a:prstGeom>
          <a:noFill/>
        </p:spPr>
        <p:txBody>
          <a:bodyPr vert="horz" wrap="none" lIns="0" tIns="0" rIns="0" bIns="0" rtlCol="0">
            <a:spAutoFit/>
          </a:bodyPr>
          <a:lstStyle/>
          <a:p>
            <a:pPr>
              <a:lnSpc>
                <a:spcPts val="7800"/>
              </a:lnSpc>
            </a:pPr>
            <a:r>
              <a:rPr lang="en-US" altLang="zh-CN" sz="7800" dirty="0" err="1">
                <a:solidFill>
                  <a:srgbClr val="FF9A00"/>
                </a:solidFill>
                <a:latin typeface="Times New Roman"/>
              </a:rPr>
              <a:t>Pwc</a:t>
            </a:r>
            <a:endParaRPr lang="zh-CN" altLang="en-US" sz="7800" dirty="0">
              <a:solidFill>
                <a:srgbClr val="FF9A00"/>
              </a:solidFill>
              <a:latin typeface="Times New Roman"/>
            </a:endParaRPr>
          </a:p>
        </p:txBody>
      </p:sp>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TotalTime>
  <Words>5151</Words>
  <Application>Microsoft Office PowerPoint</Application>
  <PresentationFormat>自訂</PresentationFormat>
  <Paragraphs>1415</Paragraphs>
  <Slides>46</Slides>
  <Notes>0</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46</vt:i4>
      </vt:variant>
    </vt:vector>
  </HeadingPairs>
  <TitlesOfParts>
    <vt:vector size="50" baseType="lpstr">
      <vt:lpstr>Arial</vt:lpstr>
      <vt:lpstr>Calibri</vt:lpstr>
      <vt:lpstr>Times New Roman</vt:lpstr>
      <vt:lpstr>Office 主题</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微软中国</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审计部</dc:creator>
  <cp:lastModifiedBy>Jim Lee</cp:lastModifiedBy>
  <cp:revision>6</cp:revision>
  <dcterms:created xsi:type="dcterms:W3CDTF">2012-05-31T06:38:05Z</dcterms:created>
  <dcterms:modified xsi:type="dcterms:W3CDTF">2023-11-23T05:45:42Z</dcterms:modified>
</cp:coreProperties>
</file>