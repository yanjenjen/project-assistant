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272" r:id="rId2"/>
    <p:sldId id="422" r:id="rId3"/>
    <p:sldId id="287" r:id="rId4"/>
    <p:sldId id="256" r:id="rId5"/>
    <p:sldId id="3571" r:id="rId6"/>
    <p:sldId id="3596" r:id="rId7"/>
    <p:sldId id="3569" r:id="rId8"/>
    <p:sldId id="3597" r:id="rId9"/>
    <p:sldId id="3572" r:id="rId10"/>
    <p:sldId id="3573" r:id="rId11"/>
    <p:sldId id="265" r:id="rId12"/>
    <p:sldId id="3598" r:id="rId13"/>
    <p:sldId id="3576" r:id="rId14"/>
    <p:sldId id="269" r:id="rId15"/>
    <p:sldId id="3599" r:id="rId16"/>
    <p:sldId id="3578" r:id="rId17"/>
    <p:sldId id="3601" r:id="rId18"/>
    <p:sldId id="3577" r:id="rId19"/>
    <p:sldId id="3602" r:id="rId20"/>
    <p:sldId id="3579" r:id="rId21"/>
    <p:sldId id="3600" r:id="rId22"/>
    <p:sldId id="3574" r:id="rId23"/>
    <p:sldId id="3582" r:id="rId24"/>
    <p:sldId id="3604" r:id="rId25"/>
    <p:sldId id="3603" r:id="rId26"/>
    <p:sldId id="3583" r:id="rId27"/>
    <p:sldId id="3605" r:id="rId28"/>
    <p:sldId id="3584" r:id="rId29"/>
    <p:sldId id="3606" r:id="rId30"/>
    <p:sldId id="3581" r:id="rId31"/>
    <p:sldId id="3607" r:id="rId32"/>
    <p:sldId id="3585" r:id="rId33"/>
    <p:sldId id="3608" r:id="rId34"/>
    <p:sldId id="3586" r:id="rId35"/>
    <p:sldId id="3587" r:id="rId36"/>
    <p:sldId id="3609" r:id="rId37"/>
    <p:sldId id="3588" r:id="rId38"/>
    <p:sldId id="3610" r:id="rId39"/>
    <p:sldId id="3590" r:id="rId40"/>
    <p:sldId id="3611" r:id="rId41"/>
    <p:sldId id="3589" r:id="rId42"/>
    <p:sldId id="3612" r:id="rId43"/>
    <p:sldId id="3591" r:id="rId44"/>
    <p:sldId id="3595" r:id="rId45"/>
    <p:sldId id="3592" r:id="rId46"/>
    <p:sldId id="3593" r:id="rId47"/>
    <p:sldId id="3594" r:id="rId48"/>
    <p:sldId id="3580" r:id="rId49"/>
    <p:sldId id="264" r:id="rId50"/>
    <p:sldId id="3565" r:id="rId5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4E3F"/>
    <a:srgbClr val="61C1BE"/>
    <a:srgbClr val="ECAA4A"/>
    <a:srgbClr val="3CE6DE"/>
    <a:srgbClr val="E9E9E9"/>
    <a:srgbClr val="ED7D31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85BB92-A53E-48A2-B34B-DA3FE45E6819}" v="22" dt="2026-06-17T02:41:40.2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淺色樣式 1 - 輔色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51" autoAdjust="0"/>
    <p:restoredTop sz="94660"/>
  </p:normalViewPr>
  <p:slideViewPr>
    <p:cSldViewPr snapToGrid="0">
      <p:cViewPr>
        <p:scale>
          <a:sx n="100" d="100"/>
          <a:sy n="100" d="100"/>
        </p:scale>
        <p:origin x="80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F547AE-91C4-A642-9730-9B76381E39E9}" type="datetimeFigureOut">
              <a:rPr kumimoji="1" lang="zh-TW" altLang="en-US" smtClean="0"/>
              <a:t>2026/7/2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2D2E52-28A7-A149-BDC3-987FEF71FEF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46928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D33708-7170-4922-9BEA-C2077C43CC3A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797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D2E52-28A7-A149-BDC3-987FEF71FEF9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01653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D2E52-28A7-A149-BDC3-987FEF71FEF9}" type="slidenum">
              <a:rPr kumimoji="1" lang="zh-TW" altLang="en-US" smtClean="0"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13262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D2E52-28A7-A149-BDC3-987FEF71FEF9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385539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D2E52-28A7-A149-BDC3-987FEF71FEF9}" type="slidenum">
              <a:rPr kumimoji="1" lang="zh-TW" altLang="en-US" smtClean="0"/>
              <a:t>10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043949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D2E52-28A7-A149-BDC3-987FEF71FEF9}" type="slidenum">
              <a:rPr kumimoji="1" lang="zh-TW" altLang="en-US" smtClean="0"/>
              <a:t>13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381680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D2E52-28A7-A149-BDC3-987FEF71FEF9}" type="slidenum">
              <a:rPr kumimoji="1" lang="zh-TW" altLang="en-US" smtClean="0"/>
              <a:t>16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278957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D2E52-28A7-A149-BDC3-987FEF71FEF9}" type="slidenum">
              <a:rPr kumimoji="1" lang="zh-TW" altLang="en-US" smtClean="0"/>
              <a:t>18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146951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32723-72FD-41BD-587B-E9C3B81E3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C8AFADD-6586-A158-FAE1-E54D933EF0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25B0CCE-47E3-A262-8A0F-918CE2A4F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7F482C-5E7C-66EE-4AF6-D90545A76A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D2E52-28A7-A149-BDC3-987FEF71FEF9}" type="slidenum">
              <a:rPr kumimoji="1" lang="zh-TW" altLang="en-US" smtClean="0"/>
              <a:t>20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637549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32723-72FD-41BD-587B-E9C3B81E3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C8AFADD-6586-A158-FAE1-E54D933EF0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25B0CCE-47E3-A262-8A0F-918CE2A4F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7F482C-5E7C-66EE-4AF6-D90545A76A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D2E52-28A7-A149-BDC3-987FEF71FEF9}" type="slidenum">
              <a:rPr kumimoji="1" lang="zh-TW" altLang="en-US" smtClean="0"/>
              <a:t>23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22405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D2E52-28A7-A149-BDC3-987FEF71FEF9}" type="slidenum">
              <a:rPr kumimoji="1" lang="zh-TW" altLang="en-US" smtClean="0"/>
              <a:t>24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805796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32723-72FD-41BD-587B-E9C3B81E3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C8AFADD-6586-A158-FAE1-E54D933EF0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25B0CCE-47E3-A262-8A0F-918CE2A4F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7F482C-5E7C-66EE-4AF6-D90545A76A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D2E52-28A7-A149-BDC3-987FEF71FEF9}" type="slidenum">
              <a:rPr kumimoji="1" lang="zh-TW" altLang="en-US" smtClean="0"/>
              <a:t>26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210422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32723-72FD-41BD-587B-E9C3B81E3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C8AFADD-6586-A158-FAE1-E54D933EF0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25B0CCE-47E3-A262-8A0F-918CE2A4F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7F482C-5E7C-66EE-4AF6-D90545A76A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D2E52-28A7-A149-BDC3-987FEF71FEF9}" type="slidenum">
              <a:rPr kumimoji="1" lang="zh-TW" altLang="en-US" smtClean="0"/>
              <a:t>28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256716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32723-72FD-41BD-587B-E9C3B81E3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C8AFADD-6586-A158-FAE1-E54D933EF0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25B0CCE-47E3-A262-8A0F-918CE2A4F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7F482C-5E7C-66EE-4AF6-D90545A76A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D2E52-28A7-A149-BDC3-987FEF71FEF9}" type="slidenum">
              <a:rPr kumimoji="1" lang="zh-TW" altLang="en-US" smtClean="0"/>
              <a:t>30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562685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32723-72FD-41BD-587B-E9C3B81E3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C8AFADD-6586-A158-FAE1-E54D933EF0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25B0CCE-47E3-A262-8A0F-918CE2A4F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7F482C-5E7C-66EE-4AF6-D90545A76A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D2E52-28A7-A149-BDC3-987FEF71FEF9}" type="slidenum">
              <a:rPr kumimoji="1" lang="zh-TW" altLang="en-US" smtClean="0"/>
              <a:t>32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670694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32723-72FD-41BD-587B-E9C3B81E3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C8AFADD-6586-A158-FAE1-E54D933EF0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25B0CCE-47E3-A262-8A0F-918CE2A4F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7F482C-5E7C-66EE-4AF6-D90545A76A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D2E52-28A7-A149-BDC3-987FEF71FEF9}" type="slidenum">
              <a:rPr kumimoji="1" lang="zh-TW" altLang="en-US" smtClean="0"/>
              <a:t>35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880225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32723-72FD-41BD-587B-E9C3B81E3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C8AFADD-6586-A158-FAE1-E54D933EF0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25B0CCE-47E3-A262-8A0F-918CE2A4F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7F482C-5E7C-66EE-4AF6-D90545A76A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D2E52-28A7-A149-BDC3-987FEF71FEF9}" type="slidenum">
              <a:rPr kumimoji="1" lang="zh-TW" altLang="en-US" smtClean="0"/>
              <a:t>37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900243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32723-72FD-41BD-587B-E9C3B81E3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C8AFADD-6586-A158-FAE1-E54D933EF0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25B0CCE-47E3-A262-8A0F-918CE2A4F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7F482C-5E7C-66EE-4AF6-D90545A76A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D2E52-28A7-A149-BDC3-987FEF71FEF9}" type="slidenum">
              <a:rPr kumimoji="1" lang="zh-TW" altLang="en-US" smtClean="0"/>
              <a:t>39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086315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32723-72FD-41BD-587B-E9C3B81E3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C8AFADD-6586-A158-FAE1-E54D933EF0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25B0CCE-47E3-A262-8A0F-918CE2A4F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7F482C-5E7C-66EE-4AF6-D90545A76A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D2E52-28A7-A149-BDC3-987FEF71FEF9}" type="slidenum">
              <a:rPr kumimoji="1" lang="zh-TW" altLang="en-US" smtClean="0"/>
              <a:t>41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704089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32723-72FD-41BD-587B-E9C3B81E3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C8AFADD-6586-A158-FAE1-E54D933EF0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25B0CCE-47E3-A262-8A0F-918CE2A4F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7F482C-5E7C-66EE-4AF6-D90545A76A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D2E52-28A7-A149-BDC3-987FEF71FEF9}" type="slidenum">
              <a:rPr kumimoji="1" lang="zh-TW" altLang="en-US" smtClean="0"/>
              <a:t>44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438829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32723-72FD-41BD-587B-E9C3B81E3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C8AFADD-6586-A158-FAE1-E54D933EF0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25B0CCE-47E3-A262-8A0F-918CE2A4F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7F482C-5E7C-66EE-4AF6-D90545A76A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D2E52-28A7-A149-BDC3-987FEF71FEF9}" type="slidenum">
              <a:rPr kumimoji="1" lang="zh-TW" altLang="en-US" smtClean="0"/>
              <a:t>45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773128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32723-72FD-41BD-587B-E9C3B81E3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C8AFADD-6586-A158-FAE1-E54D933EF0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25B0CCE-47E3-A262-8A0F-918CE2A4F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7F482C-5E7C-66EE-4AF6-D90545A76A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D2E52-28A7-A149-BDC3-987FEF71FEF9}" type="slidenum">
              <a:rPr kumimoji="1" lang="zh-TW" altLang="en-US" smtClean="0"/>
              <a:t>46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984952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32723-72FD-41BD-587B-E9C3B81E3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C8AFADD-6586-A158-FAE1-E54D933EF0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25B0CCE-47E3-A262-8A0F-918CE2A4F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7F482C-5E7C-66EE-4AF6-D90545A76A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D2E52-28A7-A149-BDC3-987FEF71FEF9}" type="slidenum">
              <a:rPr kumimoji="1" lang="zh-TW" altLang="en-US" smtClean="0"/>
              <a:t>47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647830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32723-72FD-41BD-587B-E9C3B81E3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C8AFADD-6586-A158-FAE1-E54D933EF0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25B0CCE-47E3-A262-8A0F-918CE2A4F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7F482C-5E7C-66EE-4AF6-D90545A76A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D2E52-28A7-A149-BDC3-987FEF71FEF9}" type="slidenum">
              <a:rPr kumimoji="1" lang="zh-TW" altLang="en-US" smtClean="0"/>
              <a:t>48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39786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全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4527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E1170A70-ECD2-9534-4968-748AE6603C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67D4D15-19FB-FB50-215B-65BAC8D3FC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841124"/>
            <a:ext cx="9144000" cy="2387600"/>
          </a:xfrm>
        </p:spPr>
        <p:txBody>
          <a:bodyPr anchor="t">
            <a:noAutofit/>
          </a:bodyPr>
          <a:lstStyle>
            <a:lvl1pPr algn="ctr">
              <a:defRPr sz="20000" b="0">
                <a:solidFill>
                  <a:schemeClr val="bg1">
                    <a:lumMod val="95000"/>
                    <a:alpha val="66000"/>
                  </a:schemeClr>
                </a:solidFill>
                <a:latin typeface="+mn-lt"/>
              </a:defRPr>
            </a:lvl1pPr>
          </a:lstStyle>
          <a:p>
            <a:r>
              <a:rPr lang="en-US" altLang="zh-TW" dirty="0"/>
              <a:t>01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189A6B6-66EC-B0F9-F14E-BA67CCC87A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06095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按一下以編輯母片子標題樣式</a:t>
            </a:r>
          </a:p>
        </p:txBody>
      </p:sp>
      <p:pic>
        <p:nvPicPr>
          <p:cNvPr id="8" name="圖形 7">
            <a:extLst>
              <a:ext uri="{FF2B5EF4-FFF2-40B4-BE49-F238E27FC236}">
                <a16:creationId xmlns:a16="http://schemas.microsoft.com/office/drawing/2014/main" id="{D5E8E56A-C6D5-DD75-E8DF-79F69201C8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20747" y="5376870"/>
            <a:ext cx="1522905" cy="908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960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09371C-619F-612D-7583-2BFAFC9D3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470094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純背景+底部裝飾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 descr="一張含有 室外, 城市, 路面, 公寓大樓 的圖片&#10;&#10;自動產生的描述">
            <a:extLst>
              <a:ext uri="{FF2B5EF4-FFF2-40B4-BE49-F238E27FC236}">
                <a16:creationId xmlns:a16="http://schemas.microsoft.com/office/drawing/2014/main" id="{509B4E52-7DE7-AA43-E831-AD8F684F947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 amt="37000"/>
          </a:blip>
          <a:srcRect r="7117"/>
          <a:stretch/>
        </p:blipFill>
        <p:spPr>
          <a:xfrm>
            <a:off x="-1" y="-1"/>
            <a:ext cx="12237397" cy="6883535"/>
          </a:xfrm>
          <a:prstGeom prst="rect">
            <a:avLst/>
          </a:prstGeom>
          <a:effectLst/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295461B-624F-495A-5DDC-834AADE2122C}"/>
              </a:ext>
            </a:extLst>
          </p:cNvPr>
          <p:cNvSpPr/>
          <p:nvPr userDrawn="1"/>
        </p:nvSpPr>
        <p:spPr>
          <a:xfrm>
            <a:off x="-1" y="6691086"/>
            <a:ext cx="12192001" cy="192448"/>
          </a:xfrm>
          <a:prstGeom prst="rect">
            <a:avLst/>
          </a:prstGeom>
          <a:solidFill>
            <a:srgbClr val="61C1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1817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純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 descr="一張含有 室外, 城市, 路面, 公寓大樓 的圖片&#10;&#10;自動產生的描述">
            <a:extLst>
              <a:ext uri="{FF2B5EF4-FFF2-40B4-BE49-F238E27FC236}">
                <a16:creationId xmlns:a16="http://schemas.microsoft.com/office/drawing/2014/main" id="{509B4E52-7DE7-AA43-E831-AD8F684F947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 amt="37000"/>
          </a:blip>
          <a:srcRect r="7117"/>
          <a:stretch/>
        </p:blipFill>
        <p:spPr>
          <a:xfrm>
            <a:off x="-1" y="-1"/>
            <a:ext cx="12237397" cy="688353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30356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CBD4758B-D2F7-CDA3-E590-3F25D33D04D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043" b="2662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標題 5">
            <a:extLst>
              <a:ext uri="{FF2B5EF4-FFF2-40B4-BE49-F238E27FC236}">
                <a16:creationId xmlns:a16="http://schemas.microsoft.com/office/drawing/2014/main" id="{4BE770F8-AE97-A716-8BEE-A5AE2A0D4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54936"/>
            <a:ext cx="6605337" cy="998454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7" name="內容版面配置區 11">
            <a:extLst>
              <a:ext uri="{FF2B5EF4-FFF2-40B4-BE49-F238E27FC236}">
                <a16:creationId xmlns:a16="http://schemas.microsoft.com/office/drawing/2014/main" id="{D5A7DF8D-8BFC-4870-1B71-74E9C686329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229853"/>
            <a:ext cx="6605337" cy="3107073"/>
          </a:xfrm>
        </p:spPr>
        <p:txBody>
          <a:bodyPr>
            <a:normAutofit/>
          </a:bodyPr>
          <a:lstStyle>
            <a:lvl1pPr marL="0" indent="0">
              <a:buNone/>
              <a:defRPr lang="zh-TW" altLang="en-US" sz="1800" kern="12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64824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+清單(無背景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DFF0BF-3F3A-E979-26F9-D12CAF55A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9607"/>
            <a:ext cx="10515600" cy="1325563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61C1B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81895F-517D-2250-0D61-F81C619D0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81300"/>
            <a:ext cx="10515600" cy="3395663"/>
          </a:xfrm>
        </p:spPr>
        <p:txBody>
          <a:bodyPr/>
          <a:lstStyle>
            <a:lvl1pPr marL="228600" indent="-228600" algn="l">
              <a:lnSpc>
                <a:spcPct val="100000"/>
              </a:lnSpc>
              <a:buClr>
                <a:srgbClr val="61C1BE"/>
              </a:buClr>
              <a:buFont typeface="Arial" panose="020B0604020202020204" pitchFamily="34" charset="0"/>
              <a:buChar char="•"/>
              <a:defRPr b="1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685800" indent="-228600" algn="l">
              <a:lnSpc>
                <a:spcPct val="100000"/>
              </a:lnSpc>
              <a:buClr>
                <a:srgbClr val="61C1BE"/>
              </a:buClr>
              <a:buFont typeface="Arial" panose="020B0604020202020204" pitchFamily="34" charset="0"/>
              <a:buChar char="•"/>
              <a:defRPr sz="2000" b="1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1143000" indent="-228600" algn="l">
              <a:lnSpc>
                <a:spcPct val="100000"/>
              </a:lnSpc>
              <a:buClr>
                <a:srgbClr val="61C1BE"/>
              </a:buClr>
              <a:buFont typeface="Arial" panose="020B0604020202020204" pitchFamily="34" charset="0"/>
              <a:buChar char="•"/>
              <a:defRPr b="1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600200" indent="-228600" algn="l">
              <a:lnSpc>
                <a:spcPct val="100000"/>
              </a:lnSpc>
              <a:buClr>
                <a:srgbClr val="61C1BE"/>
              </a:buClr>
              <a:buFont typeface="Arial" panose="020B0604020202020204" pitchFamily="34" charset="0"/>
              <a:buChar char="•"/>
              <a:defRPr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2057400" indent="-228600" algn="l">
              <a:lnSpc>
                <a:spcPct val="100000"/>
              </a:lnSpc>
              <a:buClr>
                <a:srgbClr val="61C1BE"/>
              </a:buClr>
              <a:buFont typeface="Arial" panose="020B0604020202020204" pitchFamily="34" charset="0"/>
              <a:buChar char="•"/>
              <a:defRPr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602215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+清單+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DFF0BF-3F3A-E979-26F9-D12CAF55A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9607"/>
            <a:ext cx="10515600" cy="1325563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61C1B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81895F-517D-2250-0D61-F81C619D0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81300"/>
            <a:ext cx="10515600" cy="3395663"/>
          </a:xfrm>
        </p:spPr>
        <p:txBody>
          <a:bodyPr/>
          <a:lstStyle>
            <a:lvl1pPr marL="514350" indent="-514350" algn="l">
              <a:lnSpc>
                <a:spcPct val="100000"/>
              </a:lnSpc>
              <a:buClr>
                <a:srgbClr val="61C1BE"/>
              </a:buClr>
              <a:buFont typeface="+mj-lt"/>
              <a:buAutoNum type="arabicPeriod"/>
              <a:defRPr b="1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914400" indent="-457200" algn="l">
              <a:lnSpc>
                <a:spcPct val="100000"/>
              </a:lnSpc>
              <a:buClr>
                <a:srgbClr val="61C1BE"/>
              </a:buClr>
              <a:buFont typeface="+mj-lt"/>
              <a:buAutoNum type="arabicPeriod"/>
              <a:defRPr sz="2000" b="1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1371600" indent="-457200" algn="l">
              <a:lnSpc>
                <a:spcPct val="100000"/>
              </a:lnSpc>
              <a:buClr>
                <a:srgbClr val="61C1BE"/>
              </a:buClr>
              <a:buFont typeface="+mj-lt"/>
              <a:buAutoNum type="arabicPeriod"/>
              <a:defRPr b="1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714500" indent="-342900" algn="l">
              <a:lnSpc>
                <a:spcPct val="100000"/>
              </a:lnSpc>
              <a:buClr>
                <a:srgbClr val="61C1BE"/>
              </a:buClr>
              <a:buFont typeface="+mj-lt"/>
              <a:buAutoNum type="arabicPeriod"/>
              <a:defRPr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2171700" indent="-342900" algn="l">
              <a:lnSpc>
                <a:spcPct val="100000"/>
              </a:lnSpc>
              <a:buClr>
                <a:srgbClr val="61C1BE"/>
              </a:buClr>
              <a:buFont typeface="+mj-lt"/>
              <a:buAutoNum type="arabicPeriod"/>
              <a:defRPr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48A61D74-C680-46C1-DD1B-2063811F2AF2}"/>
              </a:ext>
            </a:extLst>
          </p:cNvPr>
          <p:cNvGrpSpPr/>
          <p:nvPr userDrawn="1"/>
        </p:nvGrpSpPr>
        <p:grpSpPr>
          <a:xfrm>
            <a:off x="388149" y="328197"/>
            <a:ext cx="4177838" cy="341790"/>
            <a:chOff x="388149" y="328197"/>
            <a:chExt cx="4177838" cy="341790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F73E599-C057-3CDD-2D42-8586F5AD0861}"/>
                </a:ext>
              </a:extLst>
            </p:cNvPr>
            <p:cNvSpPr/>
            <p:nvPr/>
          </p:nvSpPr>
          <p:spPr>
            <a:xfrm rot="5400000">
              <a:off x="388210" y="404786"/>
              <a:ext cx="176090" cy="176212"/>
            </a:xfrm>
            <a:prstGeom prst="rect">
              <a:avLst/>
            </a:prstGeom>
            <a:solidFill>
              <a:srgbClr val="61C1BE"/>
            </a:solidFill>
            <a:ln w="12700" cap="flat" cmpd="sng" algn="ctr">
              <a:solidFill>
                <a:srgbClr val="61C1B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3F95E0CE-CE4C-1FF9-4213-AECE39929447}"/>
                </a:ext>
              </a:extLst>
            </p:cNvPr>
            <p:cNvSpPr txBox="1"/>
            <p:nvPr/>
          </p:nvSpPr>
          <p:spPr>
            <a:xfrm>
              <a:off x="2294211" y="331433"/>
              <a:ext cx="22717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600" b="1" i="0" u="none" strike="noStrike" kern="0" cap="none" spc="60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IDEAXPRESS</a:t>
              </a:r>
              <a:endParaRPr kumimoji="0" lang="zh-TW" altLang="en-US" sz="1800" b="1" i="0" u="none" strike="noStrike" kern="0" cap="none" spc="60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4959B3FD-6123-F334-AE21-E3EC42C283B4}"/>
                </a:ext>
              </a:extLst>
            </p:cNvPr>
            <p:cNvSpPr txBox="1"/>
            <p:nvPr/>
          </p:nvSpPr>
          <p:spPr>
            <a:xfrm>
              <a:off x="713974" y="328197"/>
              <a:ext cx="159530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600" b="0" i="0" u="none" strike="noStrike" kern="0" cap="none" spc="60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艾創點數位</a:t>
              </a:r>
            </a:p>
          </p:txBody>
        </p:sp>
      </p:grpSp>
      <p:pic>
        <p:nvPicPr>
          <p:cNvPr id="8" name="圖形 7">
            <a:extLst>
              <a:ext uri="{FF2B5EF4-FFF2-40B4-BE49-F238E27FC236}">
                <a16:creationId xmlns:a16="http://schemas.microsoft.com/office/drawing/2014/main" id="{B30816D4-D812-5BC9-9795-858BCFD39D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7960" y="-132597"/>
            <a:ext cx="4553431" cy="271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165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+清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室外, 城市, 路面, 公寓大樓 的圖片&#10;&#10;自動產生的描述">
            <a:extLst>
              <a:ext uri="{FF2B5EF4-FFF2-40B4-BE49-F238E27FC236}">
                <a16:creationId xmlns:a16="http://schemas.microsoft.com/office/drawing/2014/main" id="{3CA8C56C-CDD6-41C5-C844-7679924BD62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 amt="37000"/>
          </a:blip>
          <a:srcRect r="7117"/>
          <a:stretch/>
        </p:blipFill>
        <p:spPr>
          <a:xfrm>
            <a:off x="-1" y="-1"/>
            <a:ext cx="12237397" cy="6883535"/>
          </a:xfrm>
          <a:prstGeom prst="rect">
            <a:avLst/>
          </a:prstGeom>
          <a:effectLst/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6FDFF0BF-3F3A-E979-26F9-D12CAF55A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9607"/>
            <a:ext cx="10515600" cy="1325563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61C1B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81895F-517D-2250-0D61-F81C619D0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81300"/>
            <a:ext cx="10515600" cy="3395663"/>
          </a:xfrm>
        </p:spPr>
        <p:txBody>
          <a:bodyPr/>
          <a:lstStyle>
            <a:lvl1pPr marL="228600" indent="-228600" algn="l">
              <a:lnSpc>
                <a:spcPct val="100000"/>
              </a:lnSpc>
              <a:buClr>
                <a:srgbClr val="61C1BE"/>
              </a:buClr>
              <a:buFont typeface="Arial" panose="020B0604020202020204" pitchFamily="34" charset="0"/>
              <a:buChar char="•"/>
              <a:defRPr b="1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685800" indent="-228600" algn="l">
              <a:lnSpc>
                <a:spcPct val="100000"/>
              </a:lnSpc>
              <a:buClr>
                <a:srgbClr val="61C1BE"/>
              </a:buClr>
              <a:buFont typeface="Arial" panose="020B0604020202020204" pitchFamily="34" charset="0"/>
              <a:buChar char="•"/>
              <a:defRPr sz="2000" b="1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1143000" indent="-228600" algn="l">
              <a:lnSpc>
                <a:spcPct val="100000"/>
              </a:lnSpc>
              <a:buClr>
                <a:srgbClr val="61C1BE"/>
              </a:buClr>
              <a:buFont typeface="Arial" panose="020B0604020202020204" pitchFamily="34" charset="0"/>
              <a:buChar char="•"/>
              <a:defRPr b="1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600200" indent="-228600" algn="l">
              <a:lnSpc>
                <a:spcPct val="100000"/>
              </a:lnSpc>
              <a:buClr>
                <a:srgbClr val="61C1BE"/>
              </a:buClr>
              <a:buFont typeface="Arial" panose="020B0604020202020204" pitchFamily="34" charset="0"/>
              <a:buChar char="•"/>
              <a:defRPr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2057400" indent="-228600" algn="l">
              <a:lnSpc>
                <a:spcPct val="100000"/>
              </a:lnSpc>
              <a:buClr>
                <a:srgbClr val="61C1BE"/>
              </a:buClr>
              <a:buFont typeface="Arial" panose="020B0604020202020204" pitchFamily="34" charset="0"/>
              <a:buChar char="•"/>
              <a:defRPr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17C0A793-178E-FEC9-BB27-EB98A597303C}"/>
              </a:ext>
            </a:extLst>
          </p:cNvPr>
          <p:cNvGrpSpPr/>
          <p:nvPr userDrawn="1"/>
        </p:nvGrpSpPr>
        <p:grpSpPr>
          <a:xfrm>
            <a:off x="388149" y="328197"/>
            <a:ext cx="4177838" cy="341790"/>
            <a:chOff x="388149" y="328197"/>
            <a:chExt cx="4177838" cy="341790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09C33ACA-8DC4-69C6-A63F-F086EEBCDFA7}"/>
                </a:ext>
              </a:extLst>
            </p:cNvPr>
            <p:cNvSpPr/>
            <p:nvPr/>
          </p:nvSpPr>
          <p:spPr>
            <a:xfrm rot="5400000">
              <a:off x="388210" y="404786"/>
              <a:ext cx="176090" cy="176212"/>
            </a:xfrm>
            <a:prstGeom prst="rect">
              <a:avLst/>
            </a:prstGeom>
            <a:solidFill>
              <a:srgbClr val="61C1BE"/>
            </a:solidFill>
            <a:ln w="12700" cap="flat" cmpd="sng" algn="ctr">
              <a:solidFill>
                <a:srgbClr val="61C1B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9BC16C05-49D3-02A7-2E6C-6CA8B33217F9}"/>
                </a:ext>
              </a:extLst>
            </p:cNvPr>
            <p:cNvSpPr txBox="1"/>
            <p:nvPr/>
          </p:nvSpPr>
          <p:spPr>
            <a:xfrm>
              <a:off x="2294211" y="331433"/>
              <a:ext cx="22717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600" b="1" i="0" u="none" strike="noStrike" kern="0" cap="none" spc="60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IDEAXPRESS</a:t>
              </a:r>
              <a:endParaRPr kumimoji="0" lang="zh-TW" altLang="en-US" sz="1800" b="1" i="0" u="none" strike="noStrike" kern="0" cap="none" spc="60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BAA3080A-2417-F78D-60C2-8F07B999B397}"/>
                </a:ext>
              </a:extLst>
            </p:cNvPr>
            <p:cNvSpPr txBox="1"/>
            <p:nvPr/>
          </p:nvSpPr>
          <p:spPr>
            <a:xfrm>
              <a:off x="713974" y="328197"/>
              <a:ext cx="159530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600" b="0" i="0" u="none" strike="noStrike" kern="0" cap="none" spc="60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艾創點數位</a:t>
              </a:r>
            </a:p>
          </p:txBody>
        </p:sp>
      </p:grpSp>
      <p:pic>
        <p:nvPicPr>
          <p:cNvPr id="9" name="圖形 8">
            <a:extLst>
              <a:ext uri="{FF2B5EF4-FFF2-40B4-BE49-F238E27FC236}">
                <a16:creationId xmlns:a16="http://schemas.microsoft.com/office/drawing/2014/main" id="{00AA3CF0-1EC9-4464-A9EF-8C920150FB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53719" y="-132597"/>
            <a:ext cx="4553431" cy="271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72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純標題+副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D1C777-E71E-F721-DF13-621835F24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TW" altLang="en-US" sz="3600" b="1" kern="1200" dirty="0">
                <a:solidFill>
                  <a:srgbClr val="61C1B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906BFBA-16FA-64AC-3903-A5E68B0F0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82DE9F11-C944-93CB-FC81-0918E39ACAF3}"/>
              </a:ext>
            </a:extLst>
          </p:cNvPr>
          <p:cNvGrpSpPr/>
          <p:nvPr userDrawn="1"/>
        </p:nvGrpSpPr>
        <p:grpSpPr>
          <a:xfrm>
            <a:off x="388149" y="328197"/>
            <a:ext cx="4177838" cy="341790"/>
            <a:chOff x="388149" y="328197"/>
            <a:chExt cx="4177838" cy="341790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50C0A4A-0111-0A6C-DE0E-D2D8B5D8A076}"/>
                </a:ext>
              </a:extLst>
            </p:cNvPr>
            <p:cNvSpPr/>
            <p:nvPr/>
          </p:nvSpPr>
          <p:spPr>
            <a:xfrm rot="5400000">
              <a:off x="388210" y="404786"/>
              <a:ext cx="176090" cy="176212"/>
            </a:xfrm>
            <a:prstGeom prst="rect">
              <a:avLst/>
            </a:prstGeom>
            <a:solidFill>
              <a:srgbClr val="61C1BE"/>
            </a:solidFill>
            <a:ln w="12700" cap="flat" cmpd="sng" algn="ctr">
              <a:solidFill>
                <a:srgbClr val="61C1B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7B858B1A-803B-4DE4-4112-7B33CF5FB0AA}"/>
                </a:ext>
              </a:extLst>
            </p:cNvPr>
            <p:cNvSpPr txBox="1"/>
            <p:nvPr/>
          </p:nvSpPr>
          <p:spPr>
            <a:xfrm>
              <a:off x="2294211" y="331433"/>
              <a:ext cx="22717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600" b="1" i="0" u="none" strike="noStrike" kern="0" cap="none" spc="60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IDEAXPRESS</a:t>
              </a:r>
              <a:endParaRPr kumimoji="0" lang="zh-TW" altLang="en-US" sz="1800" b="1" i="0" u="none" strike="noStrike" kern="0" cap="none" spc="60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A9A16A8B-0225-1E2C-3082-E97B74DD8C5F}"/>
                </a:ext>
              </a:extLst>
            </p:cNvPr>
            <p:cNvSpPr txBox="1"/>
            <p:nvPr/>
          </p:nvSpPr>
          <p:spPr>
            <a:xfrm>
              <a:off x="713974" y="328197"/>
              <a:ext cx="159530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600" b="0" i="0" u="none" strike="noStrike" kern="0" cap="none" spc="60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艾創點數位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00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 descr="一張含有 室外, 城市, 路面, 公寓大樓 的圖片&#10;&#10;自動產生的描述">
            <a:extLst>
              <a:ext uri="{FF2B5EF4-FFF2-40B4-BE49-F238E27FC236}">
                <a16:creationId xmlns:a16="http://schemas.microsoft.com/office/drawing/2014/main" id="{D37ABE6D-BCD7-C836-7BA5-8358200ED47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 amt="37000"/>
          </a:blip>
          <a:srcRect r="7117"/>
          <a:stretch/>
        </p:blipFill>
        <p:spPr>
          <a:xfrm>
            <a:off x="-1" y="-1"/>
            <a:ext cx="12237397" cy="6883535"/>
          </a:xfrm>
          <a:prstGeom prst="rect">
            <a:avLst/>
          </a:prstGeom>
          <a:effectLst/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6FCCC9D0-2194-9396-EC54-4D7874325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216" y="780715"/>
            <a:ext cx="10652018" cy="612996"/>
          </a:xfrm>
        </p:spPr>
        <p:txBody>
          <a:bodyPr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TW" altLang="en-US" sz="3600" b="1" kern="1200" dirty="0">
                <a:solidFill>
                  <a:srgbClr val="61C1B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5B7D7742-AED3-E0A5-7063-55F735D36DF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7216" y="1482761"/>
            <a:ext cx="5464945" cy="4771735"/>
          </a:xfrm>
        </p:spPr>
        <p:txBody>
          <a:bodyPr>
            <a:normAutofit/>
          </a:bodyPr>
          <a:lstStyle>
            <a:lvl1pPr marL="0" indent="0">
              <a:buNone/>
              <a:defRPr lang="zh-TW" altLang="en-US" sz="1600" kern="1200" dirty="0" smtClean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TW" altLang="en-US" dirty="0"/>
              <a:t>按一下以編輯母片文字樣式</a:t>
            </a:r>
          </a:p>
        </p:txBody>
      </p:sp>
      <p:sp>
        <p:nvSpPr>
          <p:cNvPr id="14" name="圖片版面配置區 13">
            <a:extLst>
              <a:ext uri="{FF2B5EF4-FFF2-40B4-BE49-F238E27FC236}">
                <a16:creationId xmlns:a16="http://schemas.microsoft.com/office/drawing/2014/main" id="{EAD992F2-CE5E-C547-DB8D-AAB7196B163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05565" y="1482760"/>
            <a:ext cx="5360427" cy="4771735"/>
          </a:xfrm>
        </p:spPr>
        <p:txBody>
          <a:bodyPr/>
          <a:lstStyle/>
          <a:p>
            <a:endParaRPr lang="zh-TW" altLang="en-US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AEC5DC6E-E99A-AFEE-10D3-B8ABF8A41D39}"/>
              </a:ext>
            </a:extLst>
          </p:cNvPr>
          <p:cNvGrpSpPr/>
          <p:nvPr userDrawn="1"/>
        </p:nvGrpSpPr>
        <p:grpSpPr>
          <a:xfrm>
            <a:off x="388149" y="328197"/>
            <a:ext cx="4177838" cy="341790"/>
            <a:chOff x="388149" y="328197"/>
            <a:chExt cx="4177838" cy="34179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2295B017-9042-D51C-99E9-BD0DBD5BF0D9}"/>
                </a:ext>
              </a:extLst>
            </p:cNvPr>
            <p:cNvSpPr/>
            <p:nvPr/>
          </p:nvSpPr>
          <p:spPr>
            <a:xfrm rot="5400000">
              <a:off x="388210" y="404786"/>
              <a:ext cx="176090" cy="176212"/>
            </a:xfrm>
            <a:prstGeom prst="rect">
              <a:avLst/>
            </a:prstGeom>
            <a:solidFill>
              <a:srgbClr val="61C1BE"/>
            </a:solidFill>
            <a:ln w="12700" cap="flat" cmpd="sng" algn="ctr">
              <a:solidFill>
                <a:srgbClr val="61C1B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F5914428-2602-B92B-50E3-209B90BC3CB9}"/>
                </a:ext>
              </a:extLst>
            </p:cNvPr>
            <p:cNvSpPr txBox="1"/>
            <p:nvPr/>
          </p:nvSpPr>
          <p:spPr>
            <a:xfrm>
              <a:off x="2294211" y="331433"/>
              <a:ext cx="22717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600" b="1" i="0" u="none" strike="noStrike" kern="0" cap="none" spc="60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IDEAXPRESS</a:t>
              </a:r>
              <a:endParaRPr kumimoji="0" lang="zh-TW" altLang="en-US" sz="1800" b="1" i="0" u="none" strike="noStrike" kern="0" cap="none" spc="60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00E27961-E8AB-F002-3760-41209E4AC2C7}"/>
                </a:ext>
              </a:extLst>
            </p:cNvPr>
            <p:cNvSpPr txBox="1"/>
            <p:nvPr/>
          </p:nvSpPr>
          <p:spPr>
            <a:xfrm>
              <a:off x="713974" y="328197"/>
              <a:ext cx="159530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600" b="0" i="0" u="none" strike="noStrike" kern="0" cap="none" spc="60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艾創點數位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324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C223DCAD-DE39-3D9B-4B18-8D3B3F0733F2}"/>
              </a:ext>
            </a:extLst>
          </p:cNvPr>
          <p:cNvSpPr/>
          <p:nvPr userDrawn="1"/>
        </p:nvSpPr>
        <p:spPr>
          <a:xfrm>
            <a:off x="0" y="5029083"/>
            <a:ext cx="12192000" cy="18090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FCCC9D0-2194-9396-EC54-4D7874325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3606" y="2005262"/>
            <a:ext cx="4499195" cy="1010857"/>
          </a:xfrm>
        </p:spPr>
        <p:txBody>
          <a:bodyPr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TW" altLang="en-US" sz="3600" b="1" kern="1200" dirty="0">
                <a:solidFill>
                  <a:srgbClr val="61C1B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5B7D7742-AED3-E0A5-7063-55F735D36DF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73606" y="3189968"/>
            <a:ext cx="4499195" cy="1970269"/>
          </a:xfrm>
        </p:spPr>
        <p:txBody>
          <a:bodyPr>
            <a:normAutofit/>
          </a:bodyPr>
          <a:lstStyle>
            <a:lvl1pPr marL="0" indent="0">
              <a:buNone/>
              <a:defRPr lang="zh-TW" altLang="en-US" sz="1600" kern="1200" dirty="0" smtClean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TW" altLang="en-US" dirty="0"/>
              <a:t>按一下以編輯母片文字樣式</a:t>
            </a:r>
          </a:p>
        </p:txBody>
      </p:sp>
      <p:sp>
        <p:nvSpPr>
          <p:cNvPr id="14" name="圖片版面配置區 13">
            <a:extLst>
              <a:ext uri="{FF2B5EF4-FFF2-40B4-BE49-F238E27FC236}">
                <a16:creationId xmlns:a16="http://schemas.microsoft.com/office/drawing/2014/main" id="{EAD992F2-CE5E-C547-DB8D-AAB7196B163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199" y="2005262"/>
            <a:ext cx="4738687" cy="3745401"/>
          </a:xfr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48424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半版圖片+標題內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CCC9D0-2194-9396-EC54-4D7874325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611" y="1666646"/>
            <a:ext cx="4052777" cy="626611"/>
          </a:xfrm>
        </p:spPr>
        <p:txBody>
          <a:bodyPr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TW" altLang="en-US" sz="3600" b="1" kern="1200" dirty="0">
                <a:solidFill>
                  <a:srgbClr val="61C1B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5B7D7742-AED3-E0A5-7063-55F735D36DF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021611" y="2794236"/>
            <a:ext cx="4052777" cy="2956428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lang="zh-TW" altLang="en-US" sz="1600" kern="1200" dirty="0" smtClean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dirty="0"/>
              <a:t>按一下以編輯母片文字樣式</a:t>
            </a:r>
          </a:p>
        </p:txBody>
      </p:sp>
      <p:sp>
        <p:nvSpPr>
          <p:cNvPr id="14" name="圖片版面配置區 13">
            <a:extLst>
              <a:ext uri="{FF2B5EF4-FFF2-40B4-BE49-F238E27FC236}">
                <a16:creationId xmlns:a16="http://schemas.microsoft.com/office/drawing/2014/main" id="{EAD992F2-CE5E-C547-DB8D-AAB7196B163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6691086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19D3A72-CFA6-962F-9BCA-8EB846CDFD68}"/>
              </a:ext>
            </a:extLst>
          </p:cNvPr>
          <p:cNvSpPr/>
          <p:nvPr userDrawn="1"/>
        </p:nvSpPr>
        <p:spPr>
          <a:xfrm>
            <a:off x="0" y="6691086"/>
            <a:ext cx="12192001" cy="192448"/>
          </a:xfrm>
          <a:prstGeom prst="rect">
            <a:avLst/>
          </a:prstGeom>
          <a:solidFill>
            <a:srgbClr val="61C1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6724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半版圖片+標題內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19D3A72-CFA6-962F-9BCA-8EB846CDFD68}"/>
              </a:ext>
            </a:extLst>
          </p:cNvPr>
          <p:cNvSpPr/>
          <p:nvPr userDrawn="1"/>
        </p:nvSpPr>
        <p:spPr>
          <a:xfrm>
            <a:off x="5886449" y="0"/>
            <a:ext cx="6305551" cy="6883534"/>
          </a:xfrm>
          <a:prstGeom prst="rect">
            <a:avLst/>
          </a:prstGeom>
          <a:solidFill>
            <a:srgbClr val="61C1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FCCC9D0-2194-9396-EC54-4D7874325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611" y="1369194"/>
            <a:ext cx="4052777" cy="626611"/>
          </a:xfrm>
        </p:spPr>
        <p:txBody>
          <a:bodyPr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TW" altLang="en-US" sz="3600" b="1" kern="1200" dirty="0">
                <a:solidFill>
                  <a:srgbClr val="61C1B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5B7D7742-AED3-E0A5-7063-55F735D36DF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021611" y="2620609"/>
            <a:ext cx="4052777" cy="2956428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lang="zh-TW" altLang="en-US" sz="1600" kern="1200" dirty="0" smtClean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dirty="0"/>
              <a:t>按一下以編輯母片文字樣式</a:t>
            </a:r>
          </a:p>
        </p:txBody>
      </p:sp>
      <p:sp>
        <p:nvSpPr>
          <p:cNvPr id="14" name="圖片版面配置區 13">
            <a:extLst>
              <a:ext uri="{FF2B5EF4-FFF2-40B4-BE49-F238E27FC236}">
                <a16:creationId xmlns:a16="http://schemas.microsoft.com/office/drawing/2014/main" id="{EAD992F2-CE5E-C547-DB8D-AAB7196B163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62724" y="1369194"/>
            <a:ext cx="5095875" cy="4296004"/>
          </a:xfrm>
        </p:spPr>
        <p:txBody>
          <a:bodyPr/>
          <a:lstStyle/>
          <a:p>
            <a:endParaRPr lang="zh-TW" altLang="en-US" dirty="0"/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3916F43A-7968-27C9-F268-EEB2A406A180}"/>
              </a:ext>
            </a:extLst>
          </p:cNvPr>
          <p:cNvGrpSpPr/>
          <p:nvPr userDrawn="1"/>
        </p:nvGrpSpPr>
        <p:grpSpPr>
          <a:xfrm>
            <a:off x="388149" y="328197"/>
            <a:ext cx="4177838" cy="341790"/>
            <a:chOff x="388149" y="328197"/>
            <a:chExt cx="4177838" cy="34179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80390F1-8E45-05BD-982B-E4A15DDA7F01}"/>
                </a:ext>
              </a:extLst>
            </p:cNvPr>
            <p:cNvSpPr/>
            <p:nvPr/>
          </p:nvSpPr>
          <p:spPr>
            <a:xfrm rot="5400000">
              <a:off x="388210" y="404786"/>
              <a:ext cx="176090" cy="176212"/>
            </a:xfrm>
            <a:prstGeom prst="rect">
              <a:avLst/>
            </a:prstGeom>
            <a:solidFill>
              <a:srgbClr val="61C1BE"/>
            </a:solidFill>
            <a:ln w="12700" cap="flat" cmpd="sng" algn="ctr">
              <a:solidFill>
                <a:srgbClr val="61C1B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3297DA70-68A1-D6EF-F94C-DD9BACDB9D14}"/>
                </a:ext>
              </a:extLst>
            </p:cNvPr>
            <p:cNvSpPr txBox="1"/>
            <p:nvPr/>
          </p:nvSpPr>
          <p:spPr>
            <a:xfrm>
              <a:off x="2294211" y="331433"/>
              <a:ext cx="22717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600" b="1" i="0" u="none" strike="noStrike" kern="0" cap="none" spc="60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IDEAXPRESS</a:t>
              </a:r>
              <a:endParaRPr kumimoji="0" lang="zh-TW" altLang="en-US" sz="1800" b="1" i="0" u="none" strike="noStrike" kern="0" cap="none" spc="60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BDA45120-8C37-A1C2-755F-D95287944218}"/>
                </a:ext>
              </a:extLst>
            </p:cNvPr>
            <p:cNvSpPr txBox="1"/>
            <p:nvPr/>
          </p:nvSpPr>
          <p:spPr>
            <a:xfrm>
              <a:off x="713974" y="328197"/>
              <a:ext cx="159530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600" b="0" i="0" u="none" strike="noStrike" kern="0" cap="none" spc="60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艾創點數位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645575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標題+內文+清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7DBB5B-45F8-DE27-725F-B4E7FF0D2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6"/>
            <a:ext cx="3932237" cy="1047254"/>
          </a:xfrm>
        </p:spPr>
        <p:txBody>
          <a:bodyPr anchor="t"/>
          <a:lstStyle>
            <a:lvl1pPr>
              <a:defRPr sz="3200" b="1">
                <a:solidFill>
                  <a:srgbClr val="61C1B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85AEAD-620A-5246-990D-44F626A5D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228600" indent="-228600">
              <a:defRPr lang="zh-TW" altLang="en-US" sz="2800" b="1" kern="1200" dirty="0" smtClean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685800" indent="-228600">
              <a:defRPr lang="zh-TW" altLang="en-US" sz="2000" b="1" kern="1200" dirty="0" smtClean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1143000" indent="-228600">
              <a:defRPr lang="zh-TW" altLang="en-US" sz="2000" b="1" kern="1200" dirty="0" smtClean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600200" indent="-228600">
              <a:defRPr lang="zh-TW" altLang="en-US" sz="1800" kern="1200" dirty="0" smtClean="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2057400" indent="-228600">
              <a:defRPr lang="zh-TW" altLang="en-US" sz="1800" kern="1200" dirty="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1C1BE"/>
              </a:buClr>
              <a:buFont typeface="Arial" panose="020B0604020202020204" pitchFamily="34" charset="0"/>
              <a:buChar char="•"/>
            </a:pPr>
            <a:r>
              <a:rPr lang="zh-TW" altLang="en-US" dirty="0"/>
              <a:t>按一下以編輯母片文字樣式</a:t>
            </a:r>
          </a:p>
          <a:p>
            <a:pPr marL="685800" lvl="1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61C1BE"/>
              </a:buClr>
              <a:buFont typeface="Arial" panose="020B0604020202020204" pitchFamily="34" charset="0"/>
              <a:buChar char="•"/>
            </a:pPr>
            <a:r>
              <a:rPr lang="zh-TW" altLang="en-US" dirty="0"/>
              <a:t>第二層</a:t>
            </a:r>
          </a:p>
          <a:p>
            <a:pPr marL="1143000" lvl="2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61C1BE"/>
              </a:buClr>
              <a:buFont typeface="Arial" panose="020B0604020202020204" pitchFamily="34" charset="0"/>
              <a:buChar char="•"/>
            </a:pPr>
            <a:r>
              <a:rPr lang="zh-TW" altLang="en-US" dirty="0"/>
              <a:t>第三層</a:t>
            </a:r>
          </a:p>
          <a:p>
            <a:pPr marL="1600200" lvl="3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61C1BE"/>
              </a:buClr>
              <a:buFont typeface="Arial" panose="020B0604020202020204" pitchFamily="34" charset="0"/>
              <a:buChar char="•"/>
            </a:pPr>
            <a:r>
              <a:rPr lang="zh-TW" altLang="en-US" dirty="0"/>
              <a:t>第四層</a:t>
            </a:r>
          </a:p>
          <a:p>
            <a:pPr marL="2057400" lvl="4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61C1BE"/>
              </a:buClr>
              <a:buFont typeface="Arial" panose="020B0604020202020204" pitchFamily="34" charset="0"/>
              <a:buChar char="•"/>
            </a:pPr>
            <a:r>
              <a:rPr lang="zh-TW" altLang="en-US" dirty="0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BCF401F-0B55-D763-B0C5-DA372CEAF7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2194559"/>
            <a:ext cx="3932237" cy="3676015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1265274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標題+內文+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AE9272-9A4D-A32B-7993-F04C1809E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930688"/>
          </a:xfrm>
        </p:spPr>
        <p:txBody>
          <a:bodyPr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TW" altLang="en-US" sz="3200" b="1" kern="1200" dirty="0">
                <a:solidFill>
                  <a:srgbClr val="61C1B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ECA7D91-0EC1-E417-AD34-94D30CC6F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0961729-430C-1053-FA5E-C9D5F3DCA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lang="zh-TW" altLang="en-US" sz="1600" kern="1200" dirty="0" smtClean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068273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45F2408-7D21-147C-1428-83154999B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50B5932-5FAF-5285-3579-923B2E901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1C1BE"/>
              </a:buClr>
              <a:buFont typeface="Arial" panose="020B0604020202020204" pitchFamily="34" charset="0"/>
              <a:buChar char="•"/>
            </a:pPr>
            <a:r>
              <a:rPr lang="zh-TW" altLang="en-US" dirty="0"/>
              <a:t>按一下以編輯母片文字樣式</a:t>
            </a:r>
          </a:p>
          <a:p>
            <a:pPr marL="685800" lvl="1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61C1BE"/>
              </a:buClr>
              <a:buFont typeface="Arial" panose="020B0604020202020204" pitchFamily="34" charset="0"/>
              <a:buChar char="•"/>
            </a:pPr>
            <a:r>
              <a:rPr lang="zh-TW" altLang="en-US" dirty="0"/>
              <a:t>第二層</a:t>
            </a:r>
          </a:p>
          <a:p>
            <a:pPr marL="1143000" lvl="2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61C1BE"/>
              </a:buClr>
              <a:buFont typeface="Arial" panose="020B0604020202020204" pitchFamily="34" charset="0"/>
              <a:buChar char="•"/>
            </a:pPr>
            <a:r>
              <a:rPr lang="zh-TW" altLang="en-US" dirty="0"/>
              <a:t>第三層</a:t>
            </a:r>
          </a:p>
          <a:p>
            <a:pPr marL="1600200" lvl="3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61C1BE"/>
              </a:buClr>
              <a:buFont typeface="Arial" panose="020B0604020202020204" pitchFamily="34" charset="0"/>
              <a:buChar char="•"/>
            </a:pPr>
            <a:r>
              <a:rPr lang="zh-TW" altLang="en-US" dirty="0"/>
              <a:t>第四層</a:t>
            </a:r>
          </a:p>
          <a:p>
            <a:pPr marL="2057400" lvl="4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61C1BE"/>
              </a:buClr>
              <a:buFont typeface="Arial" panose="020B0604020202020204" pitchFamily="34" charset="0"/>
              <a:buChar char="•"/>
            </a:pPr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699357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49" r:id="rId2"/>
    <p:sldLayoutId id="2147483663" r:id="rId3"/>
    <p:sldLayoutId id="2147483658" r:id="rId4"/>
    <p:sldLayoutId id="2147483664" r:id="rId5"/>
    <p:sldLayoutId id="2147483661" r:id="rId6"/>
    <p:sldLayoutId id="2147483650" r:id="rId7"/>
    <p:sldLayoutId id="2147483660" r:id="rId8"/>
    <p:sldLayoutId id="2147483659" r:id="rId9"/>
    <p:sldLayoutId id="2147483651" r:id="rId10"/>
    <p:sldLayoutId id="2147483654" r:id="rId11"/>
    <p:sldLayoutId id="2147483665" r:id="rId12"/>
    <p:sldLayoutId id="2147483662" r:id="rId13"/>
    <p:sldLayoutId id="2147483667" r:id="rId14"/>
    <p:sldLayoutId id="2147483656" r:id="rId15"/>
    <p:sldLayoutId id="2147483657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TW" altLang="en-US" sz="3600" b="1" kern="1200" dirty="0" smtClean="0">
          <a:solidFill>
            <a:srgbClr val="61C1BE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zh-TW" altLang="en-US" sz="2800" b="1" kern="1200" dirty="0" smtClean="0">
          <a:solidFill>
            <a:schemeClr val="bg2">
              <a:lumMod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TW" altLang="en-US" sz="2000" b="1" kern="1200" dirty="0" smtClean="0">
          <a:solidFill>
            <a:schemeClr val="bg2">
              <a:lumMod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TW" altLang="en-US" sz="2000" b="1" kern="1200" dirty="0" smtClean="0">
          <a:solidFill>
            <a:schemeClr val="bg2">
              <a:lumMod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TW" altLang="en-US" sz="1800" kern="1200" dirty="0" smtClean="0">
          <a:solidFill>
            <a:schemeClr val="bg2">
              <a:lumMod val="50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TW" altLang="en-US" sz="1800" kern="1200" dirty="0" smtClean="0">
          <a:solidFill>
            <a:schemeClr val="bg2">
              <a:lumMod val="50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群組 8">
            <a:extLst>
              <a:ext uri="{FF2B5EF4-FFF2-40B4-BE49-F238E27FC236}">
                <a16:creationId xmlns:a16="http://schemas.microsoft.com/office/drawing/2014/main" id="{D0DD0CD9-73AB-0D89-C706-CD4BCA63BE7F}"/>
              </a:ext>
            </a:extLst>
          </p:cNvPr>
          <p:cNvGrpSpPr/>
          <p:nvPr/>
        </p:nvGrpSpPr>
        <p:grpSpPr>
          <a:xfrm>
            <a:off x="4026570" y="5182474"/>
            <a:ext cx="410606" cy="410606"/>
            <a:chOff x="7652084" y="2390274"/>
            <a:chExt cx="834190" cy="834190"/>
          </a:xfrm>
        </p:grpSpPr>
        <p:cxnSp>
          <p:nvCxnSpPr>
            <p:cNvPr id="5" name="直線接點 4">
              <a:extLst>
                <a:ext uri="{FF2B5EF4-FFF2-40B4-BE49-F238E27FC236}">
                  <a16:creationId xmlns:a16="http://schemas.microsoft.com/office/drawing/2014/main" id="{8E47F0E5-539F-258D-1002-23B35B8A57A7}"/>
                </a:ext>
              </a:extLst>
            </p:cNvPr>
            <p:cNvCxnSpPr/>
            <p:nvPr/>
          </p:nvCxnSpPr>
          <p:spPr>
            <a:xfrm>
              <a:off x="7652084" y="2390274"/>
              <a:ext cx="834190" cy="834190"/>
            </a:xfrm>
            <a:prstGeom prst="line">
              <a:avLst/>
            </a:prstGeom>
            <a:ln w="254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" name="直線接點 5">
              <a:extLst>
                <a:ext uri="{FF2B5EF4-FFF2-40B4-BE49-F238E27FC236}">
                  <a16:creationId xmlns:a16="http://schemas.microsoft.com/office/drawing/2014/main" id="{92B173B1-ABDD-ADED-E57B-978F1D45145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652084" y="2390274"/>
              <a:ext cx="834190" cy="834190"/>
            </a:xfrm>
            <a:prstGeom prst="line">
              <a:avLst/>
            </a:prstGeom>
            <a:ln w="254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13A891D-7CB9-D5D0-C1D5-805FBFCC56FF}"/>
              </a:ext>
            </a:extLst>
          </p:cNvPr>
          <p:cNvSpPr txBox="1"/>
          <p:nvPr/>
        </p:nvSpPr>
        <p:spPr>
          <a:xfrm>
            <a:off x="761748" y="1590284"/>
            <a:ext cx="78708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60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建大工業</a:t>
            </a:r>
            <a:endParaRPr kumimoji="0" lang="zh-TW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61C1B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r>
              <a:rPr lang="zh-TW" altLang="en-US" sz="6000" b="1" dirty="0">
                <a:solidFill>
                  <a:srgbClr val="61C1B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全通路行銷平台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ECB25DF-63E3-F553-4B24-5DDE526A3806}"/>
              </a:ext>
            </a:extLst>
          </p:cNvPr>
          <p:cNvSpPr/>
          <p:nvPr/>
        </p:nvSpPr>
        <p:spPr>
          <a:xfrm>
            <a:off x="0" y="6641432"/>
            <a:ext cx="12192000" cy="216568"/>
          </a:xfrm>
          <a:prstGeom prst="rect">
            <a:avLst/>
          </a:prstGeom>
          <a:solidFill>
            <a:srgbClr val="61C1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2" name="圖形 21">
            <a:extLst>
              <a:ext uri="{FF2B5EF4-FFF2-40B4-BE49-F238E27FC236}">
                <a16:creationId xmlns:a16="http://schemas.microsoft.com/office/drawing/2014/main" id="{DB5DFC7E-3FCC-8A5D-B4E6-D93529AEDE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38569" y="-80211"/>
            <a:ext cx="4553431" cy="2716753"/>
          </a:xfrm>
          <a:prstGeom prst="rect">
            <a:avLst/>
          </a:prstGeom>
        </p:spPr>
      </p:pic>
      <p:sp>
        <p:nvSpPr>
          <p:cNvPr id="23" name="文字方塊 22">
            <a:extLst>
              <a:ext uri="{FF2B5EF4-FFF2-40B4-BE49-F238E27FC236}">
                <a16:creationId xmlns:a16="http://schemas.microsoft.com/office/drawing/2014/main" id="{EDE0DEBB-0977-A8CE-BC25-0D11AF02B279}"/>
              </a:ext>
            </a:extLst>
          </p:cNvPr>
          <p:cNvSpPr txBox="1"/>
          <p:nvPr/>
        </p:nvSpPr>
        <p:spPr>
          <a:xfrm>
            <a:off x="10304643" y="2195130"/>
            <a:ext cx="1046440" cy="31783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zh-TW" altLang="en-US" sz="2800" b="1" dirty="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數位轉型的</a:t>
            </a:r>
            <a:endParaRPr kumimoji="1" lang="en-US" altLang="zh-TW" sz="2800" b="1" dirty="0">
              <a:solidFill>
                <a:schemeClr val="bg2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kumimoji="1" lang="zh-TW" altLang="en-US" sz="2800" b="1" dirty="0">
                <a:solidFill>
                  <a:schemeClr val="bg2">
                    <a:lumMod val="1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</a:t>
            </a:r>
            <a:r>
              <a:rPr kumimoji="1" lang="zh-TW" altLang="en-US" sz="2800" b="1" dirty="0">
                <a:solidFill>
                  <a:srgbClr val="ECAA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最佳合作夥伴</a:t>
            </a:r>
            <a:r>
              <a:rPr kumimoji="1" lang="zh-CN" altLang="en-US" sz="2800" b="1" dirty="0">
                <a:solidFill>
                  <a:srgbClr val="ECAA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kumimoji="1" lang="en-US" altLang="zh-CN" sz="2800" b="1" dirty="0">
              <a:solidFill>
                <a:srgbClr val="ECAA4A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" name="圖片 1" descr="一張含有 字型, 文字, 螢幕擷取畫面, 圖形 的圖片&#10;&#10;自動產生的描述">
            <a:extLst>
              <a:ext uri="{FF2B5EF4-FFF2-40B4-BE49-F238E27FC236}">
                <a16:creationId xmlns:a16="http://schemas.microsoft.com/office/drawing/2014/main" id="{6722C5EA-7709-CAE4-0977-DF31FBA662D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10"/>
          <a:stretch/>
        </p:blipFill>
        <p:spPr>
          <a:xfrm>
            <a:off x="876923" y="4882581"/>
            <a:ext cx="2892750" cy="93938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2E532E2B-8334-91DB-1DE0-E586952F0D1E}"/>
              </a:ext>
            </a:extLst>
          </p:cNvPr>
          <p:cNvSpPr txBox="1"/>
          <p:nvPr/>
        </p:nvSpPr>
        <p:spPr>
          <a:xfrm>
            <a:off x="800560" y="3351347"/>
            <a:ext cx="37425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rgbClr val="61C1B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（經銷商下單平台）</a:t>
            </a:r>
          </a:p>
        </p:txBody>
      </p:sp>
      <p:pic>
        <p:nvPicPr>
          <p:cNvPr id="1026" name="Picture 2" descr="KENDA_Logo_Horizontal_White BG">
            <a:extLst>
              <a:ext uri="{FF2B5EF4-FFF2-40B4-BE49-F238E27FC236}">
                <a16:creationId xmlns:a16="http://schemas.microsoft.com/office/drawing/2014/main" id="{FFD73C5E-0FEF-4A07-2723-B7EF35FFF5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7759" y="4920583"/>
            <a:ext cx="2727366" cy="897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4046EE5C-62DD-109C-984D-00F73AA0C082}"/>
              </a:ext>
            </a:extLst>
          </p:cNvPr>
          <p:cNvSpPr txBox="1"/>
          <p:nvPr/>
        </p:nvSpPr>
        <p:spPr>
          <a:xfrm>
            <a:off x="8326013" y="5557113"/>
            <a:ext cx="23038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許仕杰 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Jerry</a:t>
            </a:r>
          </a:p>
          <a:p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2026/03/18</a:t>
            </a:r>
            <a:endParaRPr kumimoji="1" lang="zh-TW" altLang="en-US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2196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0C4DB2E3-6866-4A0D-BF7D-436D25089F72}"/>
              </a:ext>
            </a:extLst>
          </p:cNvPr>
          <p:cNvSpPr/>
          <p:nvPr/>
        </p:nvSpPr>
        <p:spPr>
          <a:xfrm>
            <a:off x="-7359" y="0"/>
            <a:ext cx="5090159" cy="6858000"/>
          </a:xfrm>
          <a:prstGeom prst="rect">
            <a:avLst/>
          </a:prstGeom>
          <a:solidFill>
            <a:srgbClr val="61C1BE"/>
          </a:solidFill>
          <a:ln>
            <a:solidFill>
              <a:srgbClr val="61C1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2B79FE50-AB34-C046-A559-68F7A1040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650673" cy="5894388"/>
          </a:xfrm>
        </p:spPr>
        <p:txBody>
          <a:bodyPr anchor="ctr"/>
          <a:lstStyle/>
          <a:p>
            <a:pPr algn="ctr"/>
            <a:r>
              <a:rPr lang="en-US" altLang="zh-TW" dirty="0">
                <a:solidFill>
                  <a:srgbClr val="FFFFFF"/>
                </a:solidFill>
                <a:latin typeface="Noto Sans TC Medium" panose="020B0500000000000000" pitchFamily="34" charset="-128"/>
                <a:ea typeface="Noto Sans TC Medium" panose="020B0500000000000000" pitchFamily="34" charset="-128"/>
              </a:rPr>
              <a:t>Agenda</a:t>
            </a:r>
            <a:endParaRPr lang="zh-TW" altLang="en-US" dirty="0">
              <a:solidFill>
                <a:srgbClr val="FFFFFF"/>
              </a:solidFill>
              <a:latin typeface="Noto Sans TC Medium" panose="020B0500000000000000" pitchFamily="34" charset="-128"/>
              <a:ea typeface="Noto Sans TC Medium" panose="020B0500000000000000" pitchFamily="34" charset="-128"/>
            </a:endParaRPr>
          </a:p>
        </p:txBody>
      </p:sp>
      <p:sp>
        <p:nvSpPr>
          <p:cNvPr id="13" name="內容版面配置區 3">
            <a:extLst>
              <a:ext uri="{FF2B5EF4-FFF2-40B4-BE49-F238E27FC236}">
                <a16:creationId xmlns:a16="http://schemas.microsoft.com/office/drawing/2014/main" id="{5FE89ADF-0BEE-C846-973E-E66AA490CF8C}"/>
              </a:ext>
            </a:extLst>
          </p:cNvPr>
          <p:cNvSpPr txBox="1">
            <a:spLocks/>
          </p:cNvSpPr>
          <p:nvPr/>
        </p:nvSpPr>
        <p:spPr>
          <a:xfrm>
            <a:off x="6096001" y="494684"/>
            <a:ext cx="4234066" cy="57278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>
                    <a:tint val="75000"/>
                  </a:schemeClr>
                </a:solidFill>
                <a:latin typeface="Noto Sans TC Light" panose="020B0300000000000000" pitchFamily="34" charset="-128"/>
                <a:ea typeface="Noto Sans TC Light" panose="020B0300000000000000" pitchFamily="34" charset="-128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>
                    <a:tint val="75000"/>
                  </a:schemeClr>
                </a:solidFill>
                <a:latin typeface="Noto Sans TC Light" panose="020B0300000000000000" pitchFamily="34" charset="-128"/>
                <a:ea typeface="Noto Sans TC Light" panose="020B0300000000000000" pitchFamily="34" charset="-128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Noto Sans TC Light" panose="020B0300000000000000" pitchFamily="34" charset="-128"/>
                <a:ea typeface="Noto Sans TC Light" panose="020B0300000000000000" pitchFamily="34" charset="-128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Noto Sans TC Light" panose="020B0300000000000000" pitchFamily="34" charset="-128"/>
                <a:ea typeface="Noto Sans TC Light" panose="020B0300000000000000" pitchFamily="34" charset="-128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Noto Sans TC Light" panose="020B0300000000000000" pitchFamily="34" charset="-128"/>
                <a:ea typeface="Noto Sans TC Light" panose="020B0300000000000000" pitchFamily="34" charset="-128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8908E"/>
                </a:solidFill>
                <a:effectLst/>
                <a:uLnTx/>
                <a:uFillTx/>
                <a:latin typeface="Noto Sans TC" panose="020B0500000000000000" pitchFamily="34" charset="-128"/>
                <a:ea typeface="Noto Sans TC" panose="020B0500000000000000" pitchFamily="34" charset="-128"/>
                <a:cs typeface="+mn-cs"/>
              </a:rPr>
              <a:t>經銷商網站系統建置</a:t>
            </a:r>
            <a:endParaRPr kumimoji="1" lang="en-US" altLang="zh-TW" sz="2400" b="0" i="0" u="none" strike="noStrike" kern="1200" cap="none" spc="0" normalizeH="0" baseline="0" noProof="0" dirty="0">
              <a:ln>
                <a:noFill/>
              </a:ln>
              <a:solidFill>
                <a:srgbClr val="38908E"/>
              </a:solidFill>
              <a:effectLst/>
              <a:uLnTx/>
              <a:uFillTx/>
              <a:latin typeface="Noto Sans TC" panose="020B0500000000000000" pitchFamily="34" charset="-128"/>
              <a:ea typeface="Noto Sans TC" panose="020B0500000000000000" pitchFamily="34" charset="-128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8908E"/>
                </a:solidFill>
                <a:effectLst/>
                <a:uLnTx/>
                <a:uFillTx/>
                <a:latin typeface="Noto Sans TC" panose="020B0500000000000000" pitchFamily="34" charset="-128"/>
                <a:ea typeface="Noto Sans TC" panose="020B0500000000000000" pitchFamily="34" charset="-128"/>
                <a:cs typeface="+mn-cs"/>
              </a:rPr>
              <a:t>系統管理</a:t>
            </a:r>
            <a:endParaRPr kumimoji="1" lang="en-US" altLang="zh-TW" sz="2400" b="0" i="0" u="none" strike="noStrike" kern="1200" cap="none" spc="0" normalizeH="0" baseline="0" noProof="0" dirty="0">
              <a:ln>
                <a:noFill/>
              </a:ln>
              <a:solidFill>
                <a:srgbClr val="38908E"/>
              </a:solidFill>
              <a:effectLst/>
              <a:uLnTx/>
              <a:uFillTx/>
              <a:latin typeface="Noto Sans TC" panose="020B0500000000000000" pitchFamily="34" charset="-128"/>
              <a:ea typeface="Noto Sans TC" panose="020B0500000000000000" pitchFamily="34" charset="-128"/>
              <a:cs typeface="+mn-cs"/>
            </a:endParaRPr>
          </a:p>
          <a:p>
            <a:pPr marL="800100" lvl="1" indent="-3429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kumimoji="1" lang="zh-TW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38908E"/>
                </a:solidFill>
                <a:effectLst/>
                <a:uLnTx/>
                <a:uFillTx/>
                <a:latin typeface="Noto Sans TC" panose="020B0500000000000000" pitchFamily="34" charset="-128"/>
                <a:ea typeface="Noto Sans TC" panose="020B0500000000000000" pitchFamily="34" charset="-128"/>
                <a:cs typeface="+mn-cs"/>
              </a:rPr>
              <a:t>經銷商業務管理帳號</a:t>
            </a:r>
            <a:endParaRPr kumimoji="1" lang="en-US" altLang="zh-TW" b="0" i="0" u="none" strike="noStrike" kern="1200" cap="none" spc="0" normalizeH="0" baseline="0" noProof="0" dirty="0">
              <a:ln>
                <a:noFill/>
              </a:ln>
              <a:solidFill>
                <a:srgbClr val="38908E"/>
              </a:solidFill>
              <a:effectLst/>
              <a:uLnTx/>
              <a:uFillTx/>
              <a:latin typeface="Noto Sans TC" panose="020B0500000000000000" pitchFamily="34" charset="-128"/>
              <a:ea typeface="Noto Sans TC" panose="020B0500000000000000" pitchFamily="34" charset="-128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TW" altLang="en-US" dirty="0">
                <a:solidFill>
                  <a:srgbClr val="38908E"/>
                </a:solidFill>
                <a:latin typeface="Noto Sans TC" panose="020B0500000000000000" pitchFamily="34" charset="-128"/>
                <a:ea typeface="Noto Sans TC" panose="020B0500000000000000" pitchFamily="34" charset="-128"/>
              </a:rPr>
              <a:t>公佈欄</a:t>
            </a:r>
            <a:endParaRPr kumimoji="1" lang="en-US" altLang="zh-TW" dirty="0">
              <a:solidFill>
                <a:srgbClr val="38908E"/>
              </a:solidFill>
              <a:latin typeface="Noto Sans TC" panose="020B0500000000000000" pitchFamily="34" charset="-128"/>
              <a:ea typeface="Noto Sans TC" panose="020B0500000000000000" pitchFamily="34" charset="-128"/>
            </a:endParaRPr>
          </a:p>
          <a:p>
            <a:pPr marL="800100" lvl="1" indent="-3429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kumimoji="1" lang="zh-TW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38908E"/>
                </a:solidFill>
                <a:effectLst/>
                <a:uLnTx/>
                <a:uFillTx/>
                <a:latin typeface="Noto Sans TC" panose="020B0500000000000000" pitchFamily="34" charset="-128"/>
                <a:ea typeface="Noto Sans TC" panose="020B0500000000000000" pitchFamily="34" charset="-128"/>
                <a:cs typeface="+mn-cs"/>
              </a:rPr>
              <a:t>最新消息</a:t>
            </a:r>
            <a:r>
              <a:rPr kumimoji="1" lang="en-US" altLang="zh-TW" b="0" i="0" u="none" strike="noStrike" kern="1200" cap="none" spc="0" normalizeH="0" baseline="0" noProof="0" dirty="0">
                <a:ln>
                  <a:noFill/>
                </a:ln>
                <a:solidFill>
                  <a:srgbClr val="38908E"/>
                </a:solidFill>
                <a:effectLst/>
                <a:uLnTx/>
                <a:uFillTx/>
                <a:latin typeface="Noto Sans TC" panose="020B0500000000000000" pitchFamily="34" charset="-128"/>
                <a:ea typeface="Noto Sans TC" panose="020B0500000000000000" pitchFamily="34" charset="-128"/>
                <a:cs typeface="+mn-cs"/>
              </a:rPr>
              <a:t>/</a:t>
            </a:r>
            <a:r>
              <a:rPr kumimoji="1" lang="zh-TW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38908E"/>
                </a:solidFill>
                <a:effectLst/>
                <a:uLnTx/>
                <a:uFillTx/>
                <a:latin typeface="Noto Sans TC" panose="020B0500000000000000" pitchFamily="34" charset="-128"/>
                <a:ea typeface="Noto Sans TC" panose="020B0500000000000000" pitchFamily="34" charset="-128"/>
                <a:cs typeface="+mn-cs"/>
              </a:rPr>
              <a:t>店招申請</a:t>
            </a:r>
            <a:endParaRPr kumimoji="1" lang="en-US" altLang="zh-TW" b="0" i="0" u="none" strike="noStrike" kern="1200" cap="none" spc="0" normalizeH="0" baseline="0" noProof="0" dirty="0">
              <a:ln>
                <a:noFill/>
              </a:ln>
              <a:solidFill>
                <a:srgbClr val="38908E"/>
              </a:solidFill>
              <a:effectLst/>
              <a:uLnTx/>
              <a:uFillTx/>
              <a:latin typeface="Noto Sans TC" panose="020B0500000000000000" pitchFamily="34" charset="-128"/>
              <a:ea typeface="Noto Sans TC" panose="020B0500000000000000" pitchFamily="34" charset="-128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TW" altLang="en-US" dirty="0">
                <a:solidFill>
                  <a:srgbClr val="38908E"/>
                </a:solidFill>
                <a:latin typeface="Noto Sans TC" panose="020B0500000000000000" pitchFamily="34" charset="-128"/>
                <a:ea typeface="Noto Sans TC" panose="020B0500000000000000" pitchFamily="34" charset="-128"/>
              </a:rPr>
              <a:t>訂單</a:t>
            </a:r>
            <a:endParaRPr kumimoji="1" lang="en-US" altLang="zh-TW" dirty="0">
              <a:solidFill>
                <a:srgbClr val="38908E"/>
              </a:solidFill>
              <a:latin typeface="Noto Sans TC" panose="020B0500000000000000" pitchFamily="34" charset="-128"/>
              <a:ea typeface="Noto Sans TC" panose="020B0500000000000000" pitchFamily="34" charset="-128"/>
            </a:endParaRPr>
          </a:p>
          <a:p>
            <a:pPr marL="800100" lvl="1" indent="-3429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kumimoji="1" lang="zh-TW" altLang="en-US" dirty="0">
                <a:solidFill>
                  <a:srgbClr val="38908E"/>
                </a:solidFill>
                <a:latin typeface="Noto Sans TC" panose="020B0500000000000000" pitchFamily="34" charset="-128"/>
                <a:ea typeface="Noto Sans TC" panose="020B0500000000000000" pitchFamily="34" charset="-128"/>
              </a:rPr>
              <a:t>產品選項</a:t>
            </a:r>
            <a:r>
              <a:rPr kumimoji="1" lang="en-US" altLang="zh-TW" dirty="0">
                <a:solidFill>
                  <a:srgbClr val="38908E"/>
                </a:solidFill>
                <a:latin typeface="Noto Sans TC" panose="020B0500000000000000" pitchFamily="34" charset="-128"/>
                <a:ea typeface="Noto Sans TC" panose="020B0500000000000000" pitchFamily="34" charset="-128"/>
              </a:rPr>
              <a:t>/</a:t>
            </a:r>
            <a:r>
              <a:rPr kumimoji="1" lang="zh-TW" altLang="en-US" dirty="0">
                <a:solidFill>
                  <a:srgbClr val="38908E"/>
                </a:solidFill>
                <a:latin typeface="Noto Sans TC" panose="020B0500000000000000" pitchFamily="34" charset="-128"/>
                <a:ea typeface="Noto Sans TC" panose="020B0500000000000000" pitchFamily="34" charset="-128"/>
              </a:rPr>
              <a:t>檢視訂單</a:t>
            </a:r>
            <a:endParaRPr kumimoji="1" lang="en-US" altLang="zh-TW" dirty="0">
              <a:solidFill>
                <a:srgbClr val="38908E"/>
              </a:solidFill>
              <a:latin typeface="Noto Sans TC" panose="020B0500000000000000" pitchFamily="34" charset="-128"/>
              <a:ea typeface="Noto Sans TC" panose="020B0500000000000000" pitchFamily="34" charset="-128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8908E"/>
                </a:solidFill>
                <a:effectLst/>
                <a:uLnTx/>
                <a:uFillTx/>
                <a:latin typeface="Noto Sans TC" panose="020B0500000000000000" pitchFamily="34" charset="-128"/>
                <a:ea typeface="Noto Sans TC" panose="020B0500000000000000" pitchFamily="34" charset="-128"/>
                <a:cs typeface="+mn-cs"/>
              </a:rPr>
              <a:t>查詢</a:t>
            </a:r>
            <a:endParaRPr kumimoji="1" lang="en-US" altLang="zh-TW" sz="2400" b="0" i="0" u="none" strike="noStrike" kern="1200" cap="none" spc="0" normalizeH="0" baseline="0" noProof="0" dirty="0">
              <a:ln>
                <a:noFill/>
              </a:ln>
              <a:solidFill>
                <a:srgbClr val="38908E"/>
              </a:solidFill>
              <a:effectLst/>
              <a:uLnTx/>
              <a:uFillTx/>
              <a:latin typeface="Noto Sans TC" panose="020B0500000000000000" pitchFamily="34" charset="-128"/>
              <a:ea typeface="Noto Sans TC" panose="020B0500000000000000" pitchFamily="34" charset="-128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TW" altLang="en-US" dirty="0">
                <a:solidFill>
                  <a:srgbClr val="38908E"/>
                </a:solidFill>
                <a:latin typeface="Noto Sans TC" panose="020B0500000000000000" pitchFamily="34" charset="-128"/>
                <a:ea typeface="Noto Sans TC" panose="020B0500000000000000" pitchFamily="34" charset="-128"/>
              </a:rPr>
              <a:t>訂單</a:t>
            </a:r>
            <a:r>
              <a:rPr kumimoji="1" lang="en-US" altLang="zh-TW" dirty="0">
                <a:solidFill>
                  <a:srgbClr val="38908E"/>
                </a:solidFill>
                <a:latin typeface="Noto Sans TC" panose="020B0500000000000000" pitchFamily="34" charset="-128"/>
                <a:ea typeface="Noto Sans TC" panose="020B0500000000000000" pitchFamily="34" charset="-128"/>
              </a:rPr>
              <a:t>/</a:t>
            </a:r>
            <a:r>
              <a:rPr kumimoji="1" lang="zh-TW" altLang="en-US" dirty="0">
                <a:solidFill>
                  <a:srgbClr val="38908E"/>
                </a:solidFill>
                <a:latin typeface="Noto Sans TC" panose="020B0500000000000000" pitchFamily="34" charset="-128"/>
                <a:ea typeface="Noto Sans TC" panose="020B0500000000000000" pitchFamily="34" charset="-128"/>
              </a:rPr>
              <a:t>業績</a:t>
            </a:r>
            <a:r>
              <a:rPr kumimoji="1" lang="en-US" altLang="zh-TW" dirty="0">
                <a:solidFill>
                  <a:srgbClr val="38908E"/>
                </a:solidFill>
                <a:latin typeface="Noto Sans TC" panose="020B0500000000000000" pitchFamily="34" charset="-128"/>
                <a:ea typeface="Noto Sans TC" panose="020B0500000000000000" pitchFamily="34" charset="-128"/>
              </a:rPr>
              <a:t>/</a:t>
            </a:r>
            <a:r>
              <a:rPr kumimoji="1" lang="zh-TW" altLang="en-US" dirty="0">
                <a:solidFill>
                  <a:srgbClr val="38908E"/>
                </a:solidFill>
                <a:latin typeface="Noto Sans TC" panose="020B0500000000000000" pitchFamily="34" charset="-128"/>
                <a:ea typeface="Noto Sans TC" panose="020B0500000000000000" pitchFamily="34" charset="-128"/>
              </a:rPr>
              <a:t>獎金</a:t>
            </a:r>
            <a:r>
              <a:rPr kumimoji="1" lang="en-US" altLang="zh-TW" dirty="0">
                <a:solidFill>
                  <a:srgbClr val="38908E"/>
                </a:solidFill>
                <a:latin typeface="Noto Sans TC" panose="020B0500000000000000" pitchFamily="34" charset="-128"/>
                <a:ea typeface="Noto Sans TC" panose="020B0500000000000000" pitchFamily="34" charset="-128"/>
              </a:rPr>
              <a:t>/</a:t>
            </a:r>
            <a:r>
              <a:rPr kumimoji="1" lang="zh-TW" altLang="en-US" dirty="0">
                <a:solidFill>
                  <a:srgbClr val="38908E"/>
                </a:solidFill>
                <a:latin typeface="Noto Sans TC" panose="020B0500000000000000" pitchFamily="34" charset="-128"/>
                <a:ea typeface="Noto Sans TC" panose="020B0500000000000000" pitchFamily="34" charset="-128"/>
              </a:rPr>
              <a:t>對帳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38908E"/>
              </a:solidFill>
              <a:effectLst/>
              <a:uLnTx/>
              <a:uFillTx/>
              <a:latin typeface="Noto Sans TC" panose="020B0500000000000000" pitchFamily="34" charset="-128"/>
              <a:ea typeface="Noto Sans TC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8171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719BCFDA-B0AB-827F-ABC7-CA6273DD1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914" y="359196"/>
            <a:ext cx="10515600" cy="1325563"/>
          </a:xfrm>
        </p:spPr>
        <p:txBody>
          <a:bodyPr/>
          <a:lstStyle/>
          <a:p>
            <a:r>
              <a:rPr lang="zh-TW" altLang="en-US" dirty="0"/>
              <a:t>經銷商網站建置</a:t>
            </a:r>
          </a:p>
        </p:txBody>
      </p:sp>
      <p:sp>
        <p:nvSpPr>
          <p:cNvPr id="13" name="內容版面配置區 12">
            <a:extLst>
              <a:ext uri="{FF2B5EF4-FFF2-40B4-BE49-F238E27FC236}">
                <a16:creationId xmlns:a16="http://schemas.microsoft.com/office/drawing/2014/main" id="{6E6609F7-0093-B3A9-21F2-7F5B664F9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914" y="1872052"/>
            <a:ext cx="4135708" cy="43862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dirty="0"/>
              <a:t>依企業</a:t>
            </a:r>
            <a:r>
              <a:rPr lang="en-US" altLang="zh-TW" dirty="0"/>
              <a:t>CIS</a:t>
            </a:r>
            <a:r>
              <a:rPr lang="zh-TW" altLang="en-US" dirty="0"/>
              <a:t>設計前台網站</a:t>
            </a:r>
            <a:endParaRPr lang="en-US" altLang="zh-TW" dirty="0"/>
          </a:p>
          <a:p>
            <a:r>
              <a:rPr lang="zh-TW" altLang="en-US" b="0" dirty="0"/>
              <a:t>最新消息</a:t>
            </a:r>
            <a:endParaRPr lang="en-US" altLang="zh-TW" b="0" dirty="0"/>
          </a:p>
          <a:p>
            <a:r>
              <a:rPr lang="zh-TW" altLang="en-US" b="0" dirty="0"/>
              <a:t>店招申請</a:t>
            </a:r>
            <a:endParaRPr lang="en-US" altLang="zh-TW" b="0" dirty="0"/>
          </a:p>
          <a:p>
            <a:r>
              <a:rPr lang="zh-TW" altLang="en-US" b="0" dirty="0"/>
              <a:t>產品</a:t>
            </a:r>
            <a:endParaRPr lang="en-US" altLang="zh-TW" b="0" dirty="0"/>
          </a:p>
          <a:p>
            <a:pPr lvl="1"/>
            <a:r>
              <a:rPr lang="zh-TW" altLang="en-US" b="0" dirty="0"/>
              <a:t>依經銷商篩選產品</a:t>
            </a:r>
            <a:endParaRPr lang="en-US" altLang="zh-TW" b="0" dirty="0"/>
          </a:p>
          <a:p>
            <a:pPr lvl="1"/>
            <a:r>
              <a:rPr lang="zh-TW" altLang="en-US" b="0" dirty="0"/>
              <a:t>提供下訂單</a:t>
            </a:r>
            <a:endParaRPr lang="en-US" altLang="zh-TW" b="0" dirty="0"/>
          </a:p>
          <a:p>
            <a:pPr lvl="1"/>
            <a:r>
              <a:rPr lang="zh-TW" altLang="en-US" b="0" dirty="0"/>
              <a:t>多組價格：標準</a:t>
            </a:r>
            <a:r>
              <a:rPr lang="en-US" altLang="zh-TW" b="0" dirty="0"/>
              <a:t>/</a:t>
            </a:r>
            <a:r>
              <a:rPr lang="zh-TW" altLang="en-US" b="0" dirty="0"/>
              <a:t>呆貨</a:t>
            </a:r>
            <a:r>
              <a:rPr lang="en-US" altLang="zh-TW" b="0" dirty="0"/>
              <a:t>/</a:t>
            </a:r>
            <a:r>
              <a:rPr lang="zh-TW" altLang="en-US" b="0" dirty="0"/>
              <a:t>販促</a:t>
            </a:r>
            <a:endParaRPr lang="en-US" altLang="zh-TW" b="0" dirty="0"/>
          </a:p>
          <a:p>
            <a:r>
              <a:rPr lang="zh-TW" altLang="en-US" b="0" dirty="0"/>
              <a:t>經銷商會員查詢</a:t>
            </a:r>
            <a:endParaRPr lang="en-US" altLang="zh-TW" b="0" dirty="0"/>
          </a:p>
          <a:p>
            <a:pPr lvl="1"/>
            <a:r>
              <a:rPr lang="zh-TW" altLang="en-US" b="0" dirty="0"/>
              <a:t>訂單</a:t>
            </a:r>
            <a:r>
              <a:rPr lang="en-US" altLang="zh-TW" b="0" dirty="0"/>
              <a:t>/</a:t>
            </a:r>
            <a:r>
              <a:rPr lang="zh-TW" altLang="en-US" b="0" dirty="0"/>
              <a:t>業績</a:t>
            </a:r>
            <a:r>
              <a:rPr lang="en-US" altLang="zh-TW" b="0" dirty="0"/>
              <a:t>/</a:t>
            </a:r>
            <a:r>
              <a:rPr lang="zh-TW" altLang="en-US" b="0" dirty="0"/>
              <a:t>獎金</a:t>
            </a:r>
            <a:r>
              <a:rPr lang="en-US" altLang="zh-TW" b="0" dirty="0"/>
              <a:t>/</a:t>
            </a:r>
            <a:r>
              <a:rPr lang="zh-TW" altLang="en-US" b="0" dirty="0"/>
              <a:t>對帳</a:t>
            </a:r>
          </a:p>
        </p:txBody>
      </p:sp>
      <p:pic>
        <p:nvPicPr>
          <p:cNvPr id="9" name="圖片 8" descr="一張含有 文字, 螢幕擷取畫面, 設計 的圖片&#10;&#10;AI 產生的內容可能不正確。">
            <a:extLst>
              <a:ext uri="{FF2B5EF4-FFF2-40B4-BE49-F238E27FC236}">
                <a16:creationId xmlns:a16="http://schemas.microsoft.com/office/drawing/2014/main" id="{165CB50F-8070-C821-8287-62507E03DB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872"/>
          <a:stretch>
            <a:fillRect/>
          </a:stretch>
        </p:blipFill>
        <p:spPr>
          <a:xfrm>
            <a:off x="4370497" y="1150715"/>
            <a:ext cx="3741538" cy="522137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圖片 9" descr="一張含有 文字, 螢幕擷取畫面, 設計 的圖片&#10;&#10;AI 產生的內容可能不正確。">
            <a:extLst>
              <a:ext uri="{FF2B5EF4-FFF2-40B4-BE49-F238E27FC236}">
                <a16:creationId xmlns:a16="http://schemas.microsoft.com/office/drawing/2014/main" id="{477744DB-2717-14E4-0481-46618C4E08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128" b="7744"/>
          <a:stretch>
            <a:fillRect/>
          </a:stretch>
        </p:blipFill>
        <p:spPr>
          <a:xfrm>
            <a:off x="8317548" y="1150715"/>
            <a:ext cx="3741538" cy="522137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41A509B1-8D26-1C30-9071-6118853DDD66}"/>
              </a:ext>
            </a:extLst>
          </p:cNvPr>
          <p:cNvSpPr txBox="1"/>
          <p:nvPr/>
        </p:nvSpPr>
        <p:spPr>
          <a:xfrm>
            <a:off x="7342261" y="6051890"/>
            <a:ext cx="1643186" cy="307777"/>
          </a:xfrm>
          <a:prstGeom prst="rect">
            <a:avLst/>
          </a:prstGeom>
          <a:solidFill>
            <a:srgbClr val="61C1BE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系統示意畫面</a:t>
            </a:r>
            <a:endParaRPr lang="en-US" altLang="zh-TW" sz="14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D7BAE81-2DFE-8C00-5570-EDF4ADB4CEB4}"/>
              </a:ext>
            </a:extLst>
          </p:cNvPr>
          <p:cNvSpPr txBox="1"/>
          <p:nvPr/>
        </p:nvSpPr>
        <p:spPr>
          <a:xfrm>
            <a:off x="6263279" y="6407719"/>
            <a:ext cx="4108537" cy="307777"/>
          </a:xfrm>
          <a:prstGeom prst="rect">
            <a:avLst/>
          </a:prstGeom>
          <a:noFill/>
          <a:ln>
            <a:solidFill>
              <a:srgbClr val="61C1BE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註：需請建大工業提供網站相關圖片素材。</a:t>
            </a:r>
            <a:r>
              <a:rPr lang="en-US" altLang="zh-TW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</a:p>
        </p:txBody>
      </p:sp>
    </p:spTree>
    <p:extLst>
      <p:ext uri="{BB962C8B-B14F-4D97-AF65-F5344CB8AC3E}">
        <p14:creationId xmlns:p14="http://schemas.microsoft.com/office/powerpoint/2010/main" val="3717765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B4B9C6-8E9E-0D10-C677-83A7D4E35D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01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E081DED-3658-B064-4D7F-9B358F181B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經銷商系統管理</a:t>
            </a:r>
          </a:p>
        </p:txBody>
      </p:sp>
    </p:spTree>
    <p:extLst>
      <p:ext uri="{BB962C8B-B14F-4D97-AF65-F5344CB8AC3E}">
        <p14:creationId xmlns:p14="http://schemas.microsoft.com/office/powerpoint/2010/main" val="4008149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719BCFDA-B0AB-827F-ABC7-CA6273DD1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914" y="359196"/>
            <a:ext cx="10515600" cy="1325563"/>
          </a:xfrm>
        </p:spPr>
        <p:txBody>
          <a:bodyPr/>
          <a:lstStyle/>
          <a:p>
            <a:r>
              <a:rPr lang="zh-TW" altLang="en-US" dirty="0"/>
              <a:t>經銷商帳號管理-已完成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D430017-51F2-364D-5D3E-44F900776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568" y="1671008"/>
            <a:ext cx="8665011" cy="235943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CBA6B9C7-4B3D-64D9-C044-1413C1B3F8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4919" y="4457454"/>
            <a:ext cx="6926623" cy="240054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59D3DC7-50BC-0836-AE84-E029ECBBC1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0895" y="4217308"/>
            <a:ext cx="6926623" cy="24076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A5D3A08-E6EA-7C5A-96B6-83FB5D210BC5}"/>
              </a:ext>
            </a:extLst>
          </p:cNvPr>
          <p:cNvSpPr/>
          <p:nvPr/>
        </p:nvSpPr>
        <p:spPr>
          <a:xfrm>
            <a:off x="2003973" y="3376693"/>
            <a:ext cx="1033174" cy="2856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CD49CAC-C0F1-BEBA-2FCF-FF3A8DF65B12}"/>
              </a:ext>
            </a:extLst>
          </p:cNvPr>
          <p:cNvSpPr/>
          <p:nvPr/>
        </p:nvSpPr>
        <p:spPr>
          <a:xfrm>
            <a:off x="2003973" y="3718470"/>
            <a:ext cx="1033174" cy="2856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2B4490D-1058-4A4E-5C96-90B508C04751}"/>
              </a:ext>
            </a:extLst>
          </p:cNvPr>
          <p:cNvSpPr/>
          <p:nvPr/>
        </p:nvSpPr>
        <p:spPr>
          <a:xfrm>
            <a:off x="6589828" y="5135468"/>
            <a:ext cx="1000846" cy="2856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C9A7F79-7907-FCAB-9CAD-01AF37C443B3}"/>
              </a:ext>
            </a:extLst>
          </p:cNvPr>
          <p:cNvSpPr/>
          <p:nvPr/>
        </p:nvSpPr>
        <p:spPr>
          <a:xfrm>
            <a:off x="8743852" y="5372062"/>
            <a:ext cx="1000846" cy="2856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接點: 肘形 21">
            <a:extLst>
              <a:ext uri="{FF2B5EF4-FFF2-40B4-BE49-F238E27FC236}">
                <a16:creationId xmlns:a16="http://schemas.microsoft.com/office/drawing/2014/main" id="{2F12393D-692D-8B1C-EE22-B0C7F93A69CE}"/>
              </a:ext>
            </a:extLst>
          </p:cNvPr>
          <p:cNvCxnSpPr>
            <a:stCxn id="7" idx="2"/>
          </p:cNvCxnSpPr>
          <p:nvPr/>
        </p:nvCxnSpPr>
        <p:spPr>
          <a:xfrm rot="16200000" flipH="1">
            <a:off x="3918112" y="2606583"/>
            <a:ext cx="1274165" cy="4069268"/>
          </a:xfrm>
          <a:prstGeom prst="bent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5545EA8-EE18-CAD4-1ED7-79B3CB7A7EF1}"/>
              </a:ext>
            </a:extLst>
          </p:cNvPr>
          <p:cNvSpPr txBox="1"/>
          <p:nvPr/>
        </p:nvSpPr>
        <p:spPr>
          <a:xfrm>
            <a:off x="3265715" y="4827691"/>
            <a:ext cx="3065820" cy="307777"/>
          </a:xfrm>
          <a:prstGeom prst="rect">
            <a:avLst/>
          </a:prstGeom>
          <a:solidFill>
            <a:srgbClr val="61C1BE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可建立多個子帳號，分別登入使用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2924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31A840-E686-20CE-C614-9CFBC328B0A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4800" y="112395"/>
            <a:ext cx="10515600" cy="1325563"/>
          </a:xfrm>
        </p:spPr>
        <p:txBody>
          <a:bodyPr/>
          <a:lstStyle/>
          <a:p>
            <a:r>
              <a:rPr lang="zh-TW" altLang="zh-TW" dirty="0"/>
              <a:t>投影片 ｜經銷商帳號管理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A91C13-531A-CBC6-3D76-5793363F368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04800" y="1437958"/>
            <a:ext cx="11440160" cy="50949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sz="1000" b="0" dirty="0">
                <a:solidFill>
                  <a:srgbClr val="666666"/>
                </a:solidFill>
              </a:rPr>
              <a:t>原文：可建立多個子帳號，分別登入使用</a:t>
            </a:r>
          </a:p>
          <a:p>
            <a:endParaRPr sz="1000" b="0" dirty="0">
              <a:solidFill>
                <a:srgbClr val="666666"/>
              </a:solidFill>
            </a:endParaRPr>
          </a:p>
          <a:p>
            <a:r>
              <a:rPr sz="1000" b="1" dirty="0">
                <a:solidFill>
                  <a:srgbClr val="1F6496"/>
                </a:solidFill>
              </a:rPr>
              <a:t>A. 實際使用工具/方式（✅ 已實作）</a:t>
            </a:r>
          </a:p>
          <a:p>
            <a:r>
              <a:rPr sz="1000" b="0" dirty="0">
                <a:solidFill>
                  <a:srgbClr val="1A1A1A"/>
                </a:solidFill>
              </a:rPr>
              <a:t>採平台既有會員框架（res.users）擴充「主帳號（kenda.dealer）→ 子帳號（kenda.account）」</a:t>
            </a:r>
          </a:p>
          <a:p>
            <a:r>
              <a:rPr sz="1000" b="0" dirty="0">
                <a:solidFill>
                  <a:srgbClr val="1A1A1A"/>
                </a:solidFill>
              </a:rPr>
              <a:t>一對多關聯，純平台端開發，不涉及 ERP API。</a:t>
            </a:r>
          </a:p>
          <a:p>
            <a:endParaRPr sz="1000" b="0" dirty="0">
              <a:solidFill>
                <a:srgbClr val="1A1A1A"/>
              </a:solidFill>
            </a:endParaRPr>
          </a:p>
          <a:p>
            <a:r>
              <a:rPr sz="1000" b="1" dirty="0">
                <a:solidFill>
                  <a:srgbClr val="1F6496"/>
                </a:solidFill>
              </a:rPr>
              <a:t>B. 已實作規格</a:t>
            </a:r>
          </a:p>
          <a:p>
            <a:r>
              <a:rPr sz="1000" b="0" dirty="0">
                <a:solidFill>
                  <a:srgbClr val="1A1A1A"/>
                </a:solidFill>
              </a:rPr>
              <a:t>功能名稱：經銷商子帳號管理</a:t>
            </a:r>
          </a:p>
          <a:p>
            <a:r>
              <a:rPr sz="1000" b="0" dirty="0">
                <a:solidFill>
                  <a:srgbClr val="1A1A1A"/>
                </a:solidFill>
              </a:rPr>
              <a:t>描述：經銷商主帳號可建立多個子帳號，各自登入使用（已完成）</a:t>
            </a:r>
          </a:p>
          <a:p>
            <a:r>
              <a:rPr sz="1000" b="0" dirty="0">
                <a:solidFill>
                  <a:srgbClr val="1A1A1A"/>
                </a:solidFill>
              </a:rPr>
              <a:t>已實作欄位：kenda.account 含帳號（login）、姓名、所屬 dealer_id、active（啟停用）</a:t>
            </a:r>
          </a:p>
          <a:p>
            <a:r>
              <a:rPr sz="1000" b="0" dirty="0">
                <a:solidFill>
                  <a:srgbClr val="1A1A1A"/>
                </a:solidFill>
              </a:rPr>
              <a:t>後台 UI：kenda_account_views.xml 提供帳號列表/表單/啟停用管理</a:t>
            </a:r>
          </a:p>
          <a:p>
            <a:endParaRPr sz="1000" b="0" dirty="0">
              <a:solidFill>
                <a:srgbClr val="1A1A1A"/>
              </a:solidFill>
            </a:endParaRPr>
          </a:p>
          <a:p>
            <a:r>
              <a:rPr sz="1000" b="1" dirty="0">
                <a:solidFill>
                  <a:srgbClr val="1F6496"/>
                </a:solidFill>
              </a:rPr>
              <a:t>C. 已確認事項</a:t>
            </a:r>
          </a:p>
          <a:p>
            <a:r>
              <a:rPr sz="1000" b="0" dirty="0">
                <a:solidFill>
                  <a:srgbClr val="1A1A1A"/>
                </a:solidFill>
              </a:rPr>
              <a:t>〔子帳號-權限分級〕目前子帳號共用主帳號存取範圍（統一權限），無額外分級授權設計</a:t>
            </a:r>
          </a:p>
          <a:p>
            <a:r>
              <a:rPr sz="1000" b="0" dirty="0">
                <a:solidFill>
                  <a:srgbClr val="1A1A1A"/>
                </a:solidFill>
              </a:rPr>
              <a:t>〔子帳號-數量上限〕無數量上限限制，由後台管理員控制新增</a:t>
            </a:r>
          </a:p>
          <a:p>
            <a:r>
              <a:rPr sz="1000" b="0" dirty="0">
                <a:solidFill>
                  <a:srgbClr val="007000"/>
                </a:solidFill>
              </a:rPr>
              <a:t>〔子帳號-啟用停用〕✅ 已實作：kenda.account 有 active 欄位，後台 UI 可啟用/停用</a:t>
            </a:r>
          </a:p>
        </p:txBody>
      </p:sp>
    </p:spTree>
    <p:extLst>
      <p:ext uri="{BB962C8B-B14F-4D97-AF65-F5344CB8AC3E}">
        <p14:creationId xmlns:p14="http://schemas.microsoft.com/office/powerpoint/2010/main" val="3598547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719BCFDA-B0AB-827F-ABC7-CA6273DD1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914" y="359196"/>
            <a:ext cx="10515600" cy="1325563"/>
          </a:xfrm>
        </p:spPr>
        <p:txBody>
          <a:bodyPr/>
          <a:lstStyle/>
          <a:p>
            <a:r>
              <a:rPr lang="zh-TW" altLang="en-US" dirty="0"/>
              <a:t>前台個人帳號管理-已完成</a:t>
            </a:r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E7B5EA49-F352-899B-BF7C-B11060A6F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719" y="1969767"/>
            <a:ext cx="5814951" cy="357540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0F8C54AD-7A14-BD46-5EAD-E04ABC1258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314" y="3411846"/>
            <a:ext cx="5410200" cy="308695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24" name="文字方塊 23">
            <a:extLst>
              <a:ext uri="{FF2B5EF4-FFF2-40B4-BE49-F238E27FC236}">
                <a16:creationId xmlns:a16="http://schemas.microsoft.com/office/drawing/2014/main" id="{9B164AE1-46A6-5D41-FE84-FF5AB723752B}"/>
              </a:ext>
            </a:extLst>
          </p:cNvPr>
          <p:cNvSpPr txBox="1"/>
          <p:nvPr/>
        </p:nvSpPr>
        <p:spPr>
          <a:xfrm>
            <a:off x="1890955" y="5870661"/>
            <a:ext cx="3065820" cy="307777"/>
          </a:xfrm>
          <a:prstGeom prst="rect">
            <a:avLst/>
          </a:prstGeom>
          <a:solidFill>
            <a:srgbClr val="61C1BE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經銷商可自行更新個人資訊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11223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69A8363D-5D69-E735-2C54-87C5E56E3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2887"/>
            <a:ext cx="10515600" cy="1325563"/>
          </a:xfrm>
        </p:spPr>
        <p:txBody>
          <a:bodyPr>
            <a:normAutofit/>
          </a:bodyPr>
          <a:lstStyle/>
          <a:p>
            <a:r>
              <a:rPr lang="zh-TW" altLang="zh-TW" dirty="0"/>
              <a:t>投影片 ｜前台個人帳號管理</a:t>
            </a:r>
            <a:br>
              <a:rPr lang="en-US" altLang="zh-TW" dirty="0"/>
            </a:br>
            <a:r>
              <a:rPr lang="zh-TW" altLang="zh-TW" sz="3200" dirty="0"/>
              <a:t>原文：經銷商可自行更新個人資訊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1F64B93-1AF7-F581-86E4-8AE5428E0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120" y="1879600"/>
            <a:ext cx="11592560" cy="4795520"/>
          </a:xfrm>
        </p:spPr>
        <p:txBody>
          <a:bodyPr>
            <a:normAutofit/>
          </a:bodyPr>
          <a:lstStyle/>
          <a:p>
            <a:r>
              <a:rPr sz="1000" b="0" dirty="0">
                <a:solidFill>
                  <a:srgbClr val="666666"/>
                </a:solidFill>
              </a:rPr>
              <a:t>原文：經銷商可自行更新個人資訊</a:t>
            </a:r>
          </a:p>
          <a:p>
            <a:endParaRPr sz="1000" b="0" dirty="0">
              <a:solidFill>
                <a:srgbClr val="666666"/>
              </a:solidFill>
            </a:endParaRPr>
          </a:p>
          <a:p>
            <a:r>
              <a:rPr sz="1000" b="1" dirty="0">
                <a:solidFill>
                  <a:srgbClr val="1F6496"/>
                </a:solidFill>
              </a:rPr>
              <a:t>A. 實際使用工具/方式（✅ 已實作）</a:t>
            </a:r>
          </a:p>
          <a:p>
            <a:r>
              <a:rPr sz="1000" b="0" dirty="0">
                <a:solidFill>
                  <a:srgbClr val="1A1A1A"/>
                </a:solidFill>
              </a:rPr>
              <a:t>前台會員資料維護 API（finance.py），屬平台端 CRUD 功能，不涉及 ERP API。</a:t>
            </a:r>
          </a:p>
          <a:p>
            <a:endParaRPr sz="1000" b="0" dirty="0">
              <a:solidFill>
                <a:srgbClr val="1A1A1A"/>
              </a:solidFill>
            </a:endParaRPr>
          </a:p>
          <a:p>
            <a:r>
              <a:rPr sz="1000" b="1" dirty="0">
                <a:solidFill>
                  <a:srgbClr val="1F6496"/>
                </a:solidFill>
              </a:rPr>
              <a:t>B. 已實作規格</a:t>
            </a:r>
          </a:p>
          <a:p>
            <a:r>
              <a:rPr sz="1000" b="0" dirty="0">
                <a:solidFill>
                  <a:srgbClr val="1A1A1A"/>
                </a:solidFill>
              </a:rPr>
              <a:t>功能名稱：前台個人帳號資料維護</a:t>
            </a:r>
          </a:p>
          <a:p>
            <a:r>
              <a:rPr sz="1000" b="0" dirty="0">
                <a:solidFill>
                  <a:srgbClr val="1A1A1A"/>
                </a:solidFill>
              </a:rPr>
              <a:t>描述：經銷商於前台可自行編輯個人資訊（已完成）</a:t>
            </a:r>
          </a:p>
          <a:p>
            <a:r>
              <a:rPr sz="1000" b="0" dirty="0">
                <a:solidFill>
                  <a:srgbClr val="1A1A1A"/>
                </a:solidFill>
              </a:rPr>
              <a:t>API：GET /api/kenda/account（取得）、PUT /api/kenda/account（更新）</a:t>
            </a:r>
          </a:p>
          <a:p>
            <a:r>
              <a:rPr sz="1000" b="0" dirty="0">
                <a:solidFill>
                  <a:srgbClr val="1A1A1A"/>
                </a:solidFill>
              </a:rPr>
              <a:t>已實作欄位：customer_short_name（簡稱）、customer_full_name（全名）、</a:t>
            </a:r>
          </a:p>
          <a:p>
            <a:r>
              <a:rPr sz="1000" b="0" dirty="0">
                <a:solidFill>
                  <a:srgbClr val="1A1A1A"/>
                </a:solidFill>
              </a:rPr>
              <a:t>           currency_code（幣別）、payment_method（付款方式）</a:t>
            </a:r>
          </a:p>
          <a:p>
            <a:endParaRPr sz="1000" b="0" dirty="0">
              <a:solidFill>
                <a:srgbClr val="1A1A1A"/>
              </a:solidFill>
            </a:endParaRPr>
          </a:p>
          <a:p>
            <a:r>
              <a:rPr sz="1000" b="1" dirty="0">
                <a:solidFill>
                  <a:srgbClr val="1F6496"/>
                </a:solidFill>
              </a:rPr>
              <a:t>C. 已確認 / 保留待確認</a:t>
            </a:r>
          </a:p>
          <a:p>
            <a:r>
              <a:rPr sz="1000" b="0" dirty="0">
                <a:solidFill>
                  <a:srgbClr val="BF5F00"/>
                </a:solidFill>
              </a:rPr>
              <a:t>〔個人資料-同步ERP〕⚠️ 保留：前台更新不回寫 ERP 客戶主檔，兩端可能逐漸不同步，</a:t>
            </a:r>
          </a:p>
          <a:p>
            <a:r>
              <a:rPr sz="1000" b="0" dirty="0">
                <a:solidFill>
                  <a:srgbClr val="BF5F00"/>
                </a:solidFill>
              </a:rPr>
              <a:t>  建議列入後續待釐清清單</a:t>
            </a:r>
          </a:p>
          <a:p>
            <a:r>
              <a:rPr sz="1000" b="0" dirty="0">
                <a:solidFill>
                  <a:srgbClr val="1A1A1A"/>
                </a:solidFill>
              </a:rPr>
              <a:t>〔個人資料-可編輯範圍〕目前開放 4 個欄位，銀行帳號等敏感欄位未開放（合理設計）</a:t>
            </a:r>
          </a:p>
          <a:p>
            <a:r>
              <a:rPr sz="1000" b="0" dirty="0">
                <a:solidFill>
                  <a:srgbClr val="1A1A1A"/>
                </a:solidFill>
              </a:rPr>
              <a:t>〔個人資料-審核機制〕目前無審核流程，異動即時生效</a:t>
            </a:r>
          </a:p>
        </p:txBody>
      </p:sp>
    </p:spTree>
    <p:extLst>
      <p:ext uri="{BB962C8B-B14F-4D97-AF65-F5344CB8AC3E}">
        <p14:creationId xmlns:p14="http://schemas.microsoft.com/office/powerpoint/2010/main" val="3728637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B4B9C6-8E9E-0D10-C677-83A7D4E35D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02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E081DED-3658-B064-4D7F-9B358F181B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經銷商前台管理</a:t>
            </a:r>
            <a:endParaRPr lang="en-US" altLang="zh-TW" dirty="0"/>
          </a:p>
          <a:p>
            <a:r>
              <a:rPr lang="zh-TW" altLang="en-US" dirty="0"/>
              <a:t>最新消息</a:t>
            </a:r>
            <a:r>
              <a:rPr lang="en-US" altLang="zh-TW" dirty="0"/>
              <a:t> / </a:t>
            </a:r>
            <a:r>
              <a:rPr lang="zh-TW" altLang="en-US" dirty="0"/>
              <a:t>店招申請</a:t>
            </a:r>
          </a:p>
        </p:txBody>
      </p:sp>
    </p:spTree>
    <p:extLst>
      <p:ext uri="{BB962C8B-B14F-4D97-AF65-F5344CB8AC3E}">
        <p14:creationId xmlns:p14="http://schemas.microsoft.com/office/powerpoint/2010/main" val="3151229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719BCFDA-B0AB-827F-ABC7-CA6273DD1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914" y="359196"/>
            <a:ext cx="10515600" cy="1325563"/>
          </a:xfrm>
        </p:spPr>
        <p:txBody>
          <a:bodyPr/>
          <a:lstStyle/>
          <a:p>
            <a:r>
              <a:rPr lang="zh-TW" altLang="en-US" dirty="0"/>
              <a:t>最新消息-已完成</a:t>
            </a: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4637975A-0900-E0C2-11EA-F993BBBF7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749" y="1535332"/>
            <a:ext cx="7811190" cy="327649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8633CDF0-ACCE-ACD0-3DF2-DB0BBF9BA4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0719" y="2146433"/>
            <a:ext cx="5767532" cy="422761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BB7FB5A5-5EB1-78F2-F2EE-C77A66A06979}"/>
              </a:ext>
            </a:extLst>
          </p:cNvPr>
          <p:cNvSpPr/>
          <p:nvPr/>
        </p:nvSpPr>
        <p:spPr>
          <a:xfrm>
            <a:off x="3387107" y="2514682"/>
            <a:ext cx="2281380" cy="22510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" name="接點: 肘形 6">
            <a:extLst>
              <a:ext uri="{FF2B5EF4-FFF2-40B4-BE49-F238E27FC236}">
                <a16:creationId xmlns:a16="http://schemas.microsoft.com/office/drawing/2014/main" id="{40DBF73E-623F-99E0-6408-1E4F8D36CF29}"/>
              </a:ext>
            </a:extLst>
          </p:cNvPr>
          <p:cNvCxnSpPr>
            <a:cxnSpLocks/>
            <a:stCxn id="19" idx="2"/>
          </p:cNvCxnSpPr>
          <p:nvPr/>
        </p:nvCxnSpPr>
        <p:spPr>
          <a:xfrm rot="16200000" flipH="1">
            <a:off x="4930643" y="4362848"/>
            <a:ext cx="657232" cy="1462924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156336C-4442-A839-47A9-52B468EDE4E3}"/>
              </a:ext>
            </a:extLst>
          </p:cNvPr>
          <p:cNvSpPr txBox="1"/>
          <p:nvPr/>
        </p:nvSpPr>
        <p:spPr>
          <a:xfrm>
            <a:off x="2035134" y="5042660"/>
            <a:ext cx="3231573" cy="307777"/>
          </a:xfrm>
          <a:prstGeom prst="rect">
            <a:avLst/>
          </a:prstGeom>
          <a:solidFill>
            <a:srgbClr val="61C1BE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公告內文排版與圖片可自主調整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0AE9BDC-EFBB-8EC0-9201-8E26741BDCBC}"/>
              </a:ext>
            </a:extLst>
          </p:cNvPr>
          <p:cNvSpPr/>
          <p:nvPr/>
        </p:nvSpPr>
        <p:spPr>
          <a:xfrm>
            <a:off x="1345870" y="2223117"/>
            <a:ext cx="3354531" cy="2052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2B47BE85-7F13-70D8-CC5E-4C943C3E38CE}"/>
              </a:ext>
            </a:extLst>
          </p:cNvPr>
          <p:cNvSpPr txBox="1"/>
          <p:nvPr/>
        </p:nvSpPr>
        <p:spPr>
          <a:xfrm>
            <a:off x="3298151" y="1601323"/>
            <a:ext cx="1961108" cy="307777"/>
          </a:xfrm>
          <a:prstGeom prst="rect">
            <a:avLst/>
          </a:prstGeom>
          <a:solidFill>
            <a:srgbClr val="61C1BE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支援文章分類管理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52441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B45B9-640F-DCD1-4DD1-D65D434DC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9BDA75-8926-42A9-A1D1-5B671B7F2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402" y="24239"/>
            <a:ext cx="10515600" cy="1325563"/>
          </a:xfrm>
        </p:spPr>
        <p:txBody>
          <a:bodyPr/>
          <a:lstStyle/>
          <a:p>
            <a:r>
              <a:rPr lang="en-US" altLang="zh-TW" b="1" dirty="0"/>
              <a:t>“</a:t>
            </a:r>
            <a:r>
              <a:rPr lang="zh-TW" altLang="en-US" b="1" dirty="0"/>
              <a:t>原始</a:t>
            </a:r>
            <a:r>
              <a:rPr lang="en-US" altLang="zh-TW" b="1" dirty="0"/>
              <a:t>-</a:t>
            </a:r>
            <a:r>
              <a:rPr lang="zh-TW" altLang="en-US" b="1" dirty="0"/>
              <a:t>最新消息</a:t>
            </a:r>
            <a:r>
              <a:rPr lang="en-US" altLang="zh-TW" b="1" dirty="0"/>
              <a:t>”</a:t>
            </a:r>
            <a:r>
              <a:rPr lang="zh-TW" altLang="en-US" b="1" dirty="0"/>
              <a:t>公佈欄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745BC237-BB58-379C-D4D8-4C5E0F298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44" y="1216763"/>
            <a:ext cx="7620625" cy="4849489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04B173DC-79C0-CB76-5215-F1A0038FB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7973" y="2603839"/>
            <a:ext cx="4344027" cy="3173963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98F0ED0C-402C-AB4E-DCB7-6C13105D23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1949" y="3366270"/>
            <a:ext cx="5075360" cy="2860497"/>
          </a:xfrm>
          <a:prstGeom prst="rect">
            <a:avLst/>
          </a:prstGeom>
        </p:spPr>
      </p:pic>
      <p:cxnSp>
        <p:nvCxnSpPr>
          <p:cNvPr id="16" name="接點: 弧形 15">
            <a:extLst>
              <a:ext uri="{FF2B5EF4-FFF2-40B4-BE49-F238E27FC236}">
                <a16:creationId xmlns:a16="http://schemas.microsoft.com/office/drawing/2014/main" id="{7A04BB47-A650-6D48-8191-F5A8C7C16CE2}"/>
              </a:ext>
            </a:extLst>
          </p:cNvPr>
          <p:cNvCxnSpPr>
            <a:cxnSpLocks/>
          </p:cNvCxnSpPr>
          <p:nvPr/>
        </p:nvCxnSpPr>
        <p:spPr>
          <a:xfrm flipV="1">
            <a:off x="6989528" y="3408975"/>
            <a:ext cx="991106" cy="380800"/>
          </a:xfrm>
          <a:prstGeom prst="curvedConnector3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橢圓 19">
            <a:extLst>
              <a:ext uri="{FF2B5EF4-FFF2-40B4-BE49-F238E27FC236}">
                <a16:creationId xmlns:a16="http://schemas.microsoft.com/office/drawing/2014/main" id="{C4ECA544-C20E-26D7-0E4B-ADDCB2EB06C6}"/>
              </a:ext>
            </a:extLst>
          </p:cNvPr>
          <p:cNvSpPr/>
          <p:nvPr/>
        </p:nvSpPr>
        <p:spPr>
          <a:xfrm>
            <a:off x="1306286" y="3380250"/>
            <a:ext cx="252048" cy="2612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13B97FDE-D694-225F-4B40-EFABAA448320}"/>
              </a:ext>
            </a:extLst>
          </p:cNvPr>
          <p:cNvSpPr txBox="1"/>
          <p:nvPr/>
        </p:nvSpPr>
        <p:spPr>
          <a:xfrm>
            <a:off x="8166717" y="2148556"/>
            <a:ext cx="21355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rgbClr val="FF0000"/>
                </a:solidFill>
              </a:rPr>
              <a:t>最新消息</a:t>
            </a:r>
            <a:r>
              <a:rPr lang="en-US" altLang="zh-TW" sz="2400" b="1" dirty="0">
                <a:solidFill>
                  <a:srgbClr val="FF0000"/>
                </a:solidFill>
              </a:rPr>
              <a:t>-</a:t>
            </a:r>
            <a:r>
              <a:rPr lang="zh-TW" altLang="en-US" sz="2400" b="1" dirty="0">
                <a:solidFill>
                  <a:srgbClr val="FF0000"/>
                </a:solidFill>
              </a:rPr>
              <a:t>全文</a:t>
            </a:r>
          </a:p>
        </p:txBody>
      </p:sp>
    </p:spTree>
    <p:extLst>
      <p:ext uri="{BB962C8B-B14F-4D97-AF65-F5344CB8AC3E}">
        <p14:creationId xmlns:p14="http://schemas.microsoft.com/office/powerpoint/2010/main" val="1601624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5887DB81-864B-E9B1-1E11-F5668A027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" y="570327"/>
            <a:ext cx="10515600" cy="1325563"/>
          </a:xfrm>
        </p:spPr>
        <p:txBody>
          <a:bodyPr>
            <a:normAutofit/>
          </a:bodyPr>
          <a:lstStyle/>
          <a:p>
            <a:r>
              <a:rPr lang="zh-TW" altLang="zh-TW" dirty="0"/>
              <a:t>投影片 ｜最新消息</a:t>
            </a:r>
            <a:br>
              <a:rPr lang="en-US" altLang="zh-TW" dirty="0"/>
            </a:br>
            <a:r>
              <a:rPr lang="zh-TW" altLang="zh-TW" sz="3100" dirty="0"/>
              <a:t>原文：公告內文排版與圖片可自主調整／支援文章分類管理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D840E5E-2931-3FFF-C87E-5701AB4C3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720" y="1950720"/>
            <a:ext cx="6017260" cy="4701539"/>
          </a:xfrm>
        </p:spPr>
        <p:txBody>
          <a:bodyPr>
            <a:normAutofit fontScale="92500" lnSpcReduction="10000"/>
          </a:bodyPr>
          <a:lstStyle/>
          <a:p>
            <a:r>
              <a:rPr sz="1050" b="0" dirty="0">
                <a:solidFill>
                  <a:srgbClr val="666666"/>
                </a:solidFill>
              </a:rPr>
              <a:t>原文：公告內文排版與圖片可自主調整／支援文章分類管理</a:t>
            </a:r>
          </a:p>
          <a:p>
            <a:r>
              <a:rPr sz="1050" b="1" dirty="0">
                <a:solidFill>
                  <a:srgbClr val="BF5F00"/>
                </a:solidFill>
              </a:rPr>
              <a:t>⚠️ 注意：本頁原 A/B 分析內文疑似複製自「前台個人帳號管理」，以下已更正為最新消息正確分析。</a:t>
            </a:r>
          </a:p>
          <a:p>
            <a:endParaRPr sz="1050" b="1" dirty="0">
              <a:solidFill>
                <a:srgbClr val="BF5F00"/>
              </a:solidFill>
            </a:endParaRPr>
          </a:p>
          <a:p>
            <a:r>
              <a:rPr sz="1050" b="1" dirty="0">
                <a:solidFill>
                  <a:srgbClr val="1F6496"/>
                </a:solidFill>
              </a:rPr>
              <a:t>A. 實際使用工具/方式（✅ 已實作）</a:t>
            </a:r>
          </a:p>
          <a:p>
            <a:r>
              <a:rPr sz="1050" b="0" dirty="0">
                <a:solidFill>
                  <a:srgbClr val="1A1A1A"/>
                </a:solidFill>
              </a:rPr>
              <a:t>後台 CMS（kenda_announcement.py），支援 HTML 富文字排版（body_html）與圖片上傳（image），</a:t>
            </a:r>
          </a:p>
          <a:p>
            <a:r>
              <a:rPr sz="1050" b="0" dirty="0">
                <a:solidFill>
                  <a:srgbClr val="1A1A1A"/>
                </a:solidFill>
              </a:rPr>
              <a:t>前台 /announcements GET API 提供分類篩選，純平台端開發。</a:t>
            </a:r>
          </a:p>
          <a:p>
            <a:r>
              <a:rPr sz="1050" b="1" dirty="0">
                <a:solidFill>
                  <a:srgbClr val="1F6496"/>
                </a:solidFill>
              </a:rPr>
              <a:t>B. 已實作規格</a:t>
            </a:r>
          </a:p>
          <a:p>
            <a:r>
              <a:rPr sz="1050" b="0" dirty="0">
                <a:solidFill>
                  <a:srgbClr val="1A1A1A"/>
                </a:solidFill>
              </a:rPr>
              <a:t>功能名稱：最新消息管理</a:t>
            </a:r>
          </a:p>
          <a:p>
            <a:r>
              <a:rPr sz="1050" b="0" dirty="0">
                <a:solidFill>
                  <a:srgbClr val="1A1A1A"/>
                </a:solidFill>
              </a:rPr>
              <a:t>描述：後台發布公告（含排版與圖片），前台依分類篩選顯示（已完成）</a:t>
            </a:r>
          </a:p>
          <a:p>
            <a:r>
              <a:rPr sz="1050" b="0" dirty="0">
                <a:solidFill>
                  <a:srgbClr val="1A1A1A"/>
                </a:solidFill>
              </a:rPr>
              <a:t>已實作欄位：title、category（分類）、body_html（富文字）、image（圖片）、</a:t>
            </a:r>
          </a:p>
          <a:p>
            <a:r>
              <a:rPr sz="1050" b="0" dirty="0">
                <a:solidFill>
                  <a:srgbClr val="1A1A1A"/>
                </a:solidFill>
              </a:rPr>
              <a:t>           publish_date、company_code、product_category、active（發布/下架）</a:t>
            </a:r>
          </a:p>
          <a:p>
            <a:endParaRPr sz="1050" b="0" dirty="0">
              <a:solidFill>
                <a:srgbClr val="1A1A1A"/>
              </a:solidFill>
            </a:endParaRPr>
          </a:p>
          <a:p>
            <a:r>
              <a:rPr sz="1050" b="1" dirty="0">
                <a:solidFill>
                  <a:srgbClr val="1F6496"/>
                </a:solidFill>
              </a:rPr>
              <a:t>C. 已確認事項</a:t>
            </a:r>
          </a:p>
          <a:p>
            <a:r>
              <a:rPr sz="1050" b="0" dirty="0">
                <a:solidFill>
                  <a:srgbClr val="007000"/>
                </a:solidFill>
              </a:rPr>
              <a:t>〔分類管理〕✅ 已實作：category 欄位，/announcements GET 支援 category 篩選</a:t>
            </a:r>
            <a:endParaRPr sz="250" b="0" dirty="0">
              <a:solidFill>
                <a:srgbClr val="007000"/>
              </a:solidFill>
            </a:endParaRPr>
          </a:p>
          <a:p>
            <a:r>
              <a:rPr sz="1050" b="0" dirty="0">
                <a:solidFill>
                  <a:srgbClr val="007000"/>
                </a:solidFill>
              </a:rPr>
              <a:t>〔圖片調整〕✅ 已實作：image 欄位，後台 UI 含圖片 widget</a:t>
            </a:r>
          </a:p>
          <a:p>
            <a:r>
              <a:rPr sz="1050" b="0" dirty="0">
                <a:solidFill>
                  <a:srgbClr val="007000"/>
                </a:solidFill>
              </a:rPr>
              <a:t>〔排版自主調整〕✅ 已實作：body_html 使用富文字編輯器，可自主排版</a:t>
            </a:r>
            <a:endParaRPr lang="en-US" sz="1050" b="0" dirty="0">
              <a:solidFill>
                <a:srgbClr val="007000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041948C-12AA-8C2C-8793-1C7A138FF00C}"/>
              </a:ext>
            </a:extLst>
          </p:cNvPr>
          <p:cNvSpPr txBox="1"/>
          <p:nvPr/>
        </p:nvSpPr>
        <p:spPr>
          <a:xfrm>
            <a:off x="6316980" y="2591445"/>
            <a:ext cx="5798820" cy="406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1000"/>
              </a:spcBef>
              <a:buClr>
                <a:srgbClr val="61C1BE"/>
              </a:buClr>
              <a:buFont typeface="Arial" panose="020B0604020202020204" pitchFamily="34" charset="0"/>
              <a:buChar char="•"/>
              <a:defRPr lang="zh-TW" altLang="en-US" sz="1050" b="0">
                <a:solidFill>
                  <a:srgbClr val="6666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685800" indent="-228600">
              <a:lnSpc>
                <a:spcPct val="100000"/>
              </a:lnSpc>
              <a:spcBef>
                <a:spcPts val="500"/>
              </a:spcBef>
              <a:buClr>
                <a:srgbClr val="61C1BE"/>
              </a:buClr>
              <a:buFont typeface="Arial" panose="020B0604020202020204" pitchFamily="34" charset="0"/>
              <a:buChar char="•"/>
              <a:defRPr lang="zh-TW" altLang="en-US" sz="2000" b="1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1143000" indent="-228600">
              <a:lnSpc>
                <a:spcPct val="100000"/>
              </a:lnSpc>
              <a:spcBef>
                <a:spcPts val="500"/>
              </a:spcBef>
              <a:buClr>
                <a:srgbClr val="61C1BE"/>
              </a:buClr>
              <a:buFont typeface="Arial" panose="020B0604020202020204" pitchFamily="34" charset="0"/>
              <a:buChar char="•"/>
              <a:defRPr lang="zh-TW" altLang="en-US" sz="2000" b="1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600200" indent="-228600">
              <a:lnSpc>
                <a:spcPct val="100000"/>
              </a:lnSpc>
              <a:spcBef>
                <a:spcPts val="500"/>
              </a:spcBef>
              <a:buClr>
                <a:srgbClr val="61C1BE"/>
              </a:buClr>
              <a:buFont typeface="Arial" panose="020B0604020202020204" pitchFamily="34" charset="0"/>
              <a:buChar char="•"/>
              <a:defRPr lang="zh-TW" altLang="en-US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2057400" indent="-228600">
              <a:lnSpc>
                <a:spcPct val="100000"/>
              </a:lnSpc>
              <a:spcBef>
                <a:spcPts val="500"/>
              </a:spcBef>
              <a:buClr>
                <a:srgbClr val="61C1BE"/>
              </a:buClr>
              <a:buFont typeface="Arial" panose="020B0604020202020204" pitchFamily="34" charset="0"/>
              <a:buChar char="•"/>
              <a:defRPr lang="zh-TW" altLang="en-US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r>
              <a:rPr lang="en-US" altLang="zh-TW" sz="1600" b="1" dirty="0"/>
              <a:t>07/01 </a:t>
            </a:r>
            <a:r>
              <a:rPr lang="zh-TW" altLang="en-US" sz="1600" b="1" dirty="0"/>
              <a:t>新增功能：</a:t>
            </a:r>
            <a:endParaRPr lang="en-US" altLang="zh-TW" sz="1600" b="1" dirty="0"/>
          </a:p>
          <a:p>
            <a:r>
              <a:rPr lang="en-US" altLang="zh-TW" sz="1600" b="1" dirty="0"/>
              <a:t>1.</a:t>
            </a:r>
            <a:r>
              <a:rPr lang="zh-TW" altLang="en-US" sz="1600" b="1" dirty="0"/>
              <a:t>可瀏覽的顯示對象：種類</a:t>
            </a:r>
            <a:r>
              <a:rPr lang="en-US" altLang="zh-TW" sz="1600" b="1" dirty="0"/>
              <a:t>-</a:t>
            </a:r>
            <a:r>
              <a:rPr lang="zh-TW" altLang="en-US" sz="1600" b="1" dirty="0"/>
              <a:t>依照</a:t>
            </a:r>
            <a:r>
              <a:rPr lang="en-US" altLang="zh-TW" sz="1600" b="1" dirty="0"/>
              <a:t>【</a:t>
            </a:r>
            <a:r>
              <a:rPr lang="zh-TW" altLang="zh-TW" sz="1600" b="1" dirty="0"/>
              <a:t>購買產品類別“productType“</a:t>
            </a:r>
            <a:r>
              <a:rPr lang="en-US" altLang="zh-TW" sz="1600" b="1" dirty="0"/>
              <a:t>】</a:t>
            </a:r>
            <a:r>
              <a:rPr lang="zh-TW" altLang="en-US" sz="1600" b="1" dirty="0"/>
              <a:t>，後台與前台同步調整</a:t>
            </a:r>
            <a:r>
              <a:rPr lang="zh-TW" altLang="en-US" sz="1600" b="1" dirty="0">
                <a:solidFill>
                  <a:srgbClr val="007000"/>
                </a:solidFill>
              </a:rPr>
              <a:t>✅</a:t>
            </a:r>
            <a:endParaRPr lang="en-US" altLang="zh-TW" sz="1600" b="1" dirty="0">
              <a:solidFill>
                <a:srgbClr val="007000"/>
              </a:solidFill>
            </a:endParaRPr>
          </a:p>
          <a:p>
            <a:r>
              <a:rPr lang="en-US" altLang="zh-TW" sz="1600" dirty="0"/>
              <a:t>1-2</a:t>
            </a:r>
            <a:r>
              <a:rPr lang="zh-TW" altLang="zh-TW" sz="1600" dirty="0"/>
              <a:t>多加了「全選」功能</a:t>
            </a:r>
            <a:r>
              <a:rPr lang="zh-TW" altLang="en-US" sz="1600" b="1" dirty="0">
                <a:solidFill>
                  <a:srgbClr val="007000"/>
                </a:solidFill>
              </a:rPr>
              <a:t>✅</a:t>
            </a:r>
            <a:endParaRPr lang="en-US" altLang="zh-TW" sz="1600" b="1" dirty="0"/>
          </a:p>
          <a:p>
            <a:r>
              <a:rPr lang="en-US" altLang="zh-TW" sz="1600" b="1" dirty="0"/>
              <a:t>2.</a:t>
            </a:r>
            <a:r>
              <a:rPr lang="zh-TW" altLang="en-US" sz="1600" b="1" dirty="0"/>
              <a:t>前台排版方式，只項目文字列</a:t>
            </a:r>
            <a:r>
              <a:rPr lang="en-US" altLang="zh-TW" sz="1600" b="1" dirty="0"/>
              <a:t>/</a:t>
            </a:r>
            <a:r>
              <a:rPr lang="zh-TW" altLang="en-US" sz="1600" b="1" dirty="0"/>
              <a:t>圖文排版</a:t>
            </a:r>
            <a:r>
              <a:rPr lang="zh-TW" altLang="en-US" sz="1600" b="1" dirty="0">
                <a:solidFill>
                  <a:srgbClr val="007000"/>
                </a:solidFill>
              </a:rPr>
              <a:t>✅</a:t>
            </a:r>
            <a:r>
              <a:rPr lang="zh-TW" altLang="en-US" sz="1600" b="1" dirty="0"/>
              <a:t> </a:t>
            </a:r>
            <a:endParaRPr lang="en-US" altLang="zh-TW" sz="1600" b="1" dirty="0"/>
          </a:p>
          <a:p>
            <a:r>
              <a:rPr lang="en-US" altLang="zh-TW" sz="1600" b="1" dirty="0"/>
              <a:t>3.</a:t>
            </a:r>
            <a:r>
              <a:rPr lang="zh-TW" altLang="en-US" sz="1600" b="1" dirty="0"/>
              <a:t>消息的類型分類</a:t>
            </a:r>
            <a:r>
              <a:rPr lang="zh-TW" altLang="en-US" sz="1600" b="1" dirty="0">
                <a:solidFill>
                  <a:srgbClr val="007000"/>
                </a:solidFill>
              </a:rPr>
              <a:t>✅</a:t>
            </a:r>
            <a:r>
              <a:rPr lang="zh-TW" altLang="en-US" sz="1600" b="1" dirty="0"/>
              <a:t> </a:t>
            </a:r>
            <a:endParaRPr lang="en-US" altLang="zh-TW" sz="1600" b="1" dirty="0"/>
          </a:p>
          <a:p>
            <a:endParaRPr lang="en-US" altLang="zh-TW" sz="1600" b="1" dirty="0"/>
          </a:p>
          <a:p>
            <a:r>
              <a:rPr lang="zh-TW" altLang="en-US" sz="1600" b="1" dirty="0"/>
              <a:t>待處理：模糊搜尋</a:t>
            </a:r>
            <a:r>
              <a:rPr lang="en-US" altLang="zh-TW" sz="1600" b="1" dirty="0"/>
              <a:t>『</a:t>
            </a:r>
            <a:r>
              <a:rPr lang="zh-TW" altLang="en-US" sz="1600" b="1" dirty="0"/>
              <a:t>標題</a:t>
            </a:r>
            <a:r>
              <a:rPr lang="en-US" altLang="zh-TW" sz="1600" b="1" dirty="0"/>
              <a:t>』</a:t>
            </a:r>
            <a:r>
              <a:rPr lang="zh-TW" altLang="en-US" sz="1600" b="1" dirty="0"/>
              <a:t>或內容</a:t>
            </a:r>
            <a:endParaRPr lang="en-US" altLang="zh-TW" sz="1600" b="1" dirty="0"/>
          </a:p>
          <a:p>
            <a:endParaRPr lang="en-US" altLang="zh-TW" sz="1600" b="1" dirty="0"/>
          </a:p>
          <a:p>
            <a:endParaRPr lang="zh-TW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333172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719BCFDA-B0AB-827F-ABC7-CA6273DD1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914" y="359196"/>
            <a:ext cx="10515600" cy="1325563"/>
          </a:xfrm>
        </p:spPr>
        <p:txBody>
          <a:bodyPr/>
          <a:lstStyle/>
          <a:p>
            <a:r>
              <a:rPr lang="zh-TW" altLang="en-US" dirty="0"/>
              <a:t>店招申請</a:t>
            </a:r>
            <a:r>
              <a:rPr lang="en-US" altLang="zh-TW" dirty="0"/>
              <a:t>-</a:t>
            </a:r>
            <a:r>
              <a:rPr lang="zh-TW" altLang="en-US" dirty="0"/>
              <a:t>申請書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91BE983A-D3BF-5C1F-DFBD-6003F745C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7850" y="563151"/>
            <a:ext cx="7790182" cy="583038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85B20225-24FD-E0F1-C6A7-478B9A078854}"/>
              </a:ext>
            </a:extLst>
          </p:cNvPr>
          <p:cNvSpPr txBox="1"/>
          <p:nvPr/>
        </p:nvSpPr>
        <p:spPr>
          <a:xfrm>
            <a:off x="10606195" y="5948274"/>
            <a:ext cx="935172" cy="3077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示意畫面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528BF847-901C-D80B-9DF9-22CD171A83EC}"/>
              </a:ext>
            </a:extLst>
          </p:cNvPr>
          <p:cNvSpPr txBox="1"/>
          <p:nvPr/>
        </p:nvSpPr>
        <p:spPr>
          <a:xfrm>
            <a:off x="8346290" y="5948274"/>
            <a:ext cx="2160330" cy="3077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需依據詳細需求去做規劃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FF196F3-6EF3-DB65-E072-9326FDAAF868}"/>
              </a:ext>
            </a:extLst>
          </p:cNvPr>
          <p:cNvSpPr/>
          <p:nvPr/>
        </p:nvSpPr>
        <p:spPr>
          <a:xfrm>
            <a:off x="4315242" y="2881668"/>
            <a:ext cx="1253078" cy="5126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D109E537-C32A-5B9E-8E6C-602DA72EBC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554" y="4785442"/>
            <a:ext cx="1347953" cy="191587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E78172D3-2AB1-388A-8D10-9E298C3446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7759" y="4280100"/>
            <a:ext cx="1282865" cy="211343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21" name="文字方塊 20">
            <a:extLst>
              <a:ext uri="{FF2B5EF4-FFF2-40B4-BE49-F238E27FC236}">
                <a16:creationId xmlns:a16="http://schemas.microsoft.com/office/drawing/2014/main" id="{5C3B67AF-339C-FAEE-1F2F-097743B1875E}"/>
              </a:ext>
            </a:extLst>
          </p:cNvPr>
          <p:cNvSpPr txBox="1"/>
          <p:nvPr/>
        </p:nvSpPr>
        <p:spPr>
          <a:xfrm>
            <a:off x="141566" y="6547427"/>
            <a:ext cx="1634951" cy="3077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示意：未來可支援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22" name="接點: 肘形 6">
            <a:extLst>
              <a:ext uri="{FF2B5EF4-FFF2-40B4-BE49-F238E27FC236}">
                <a16:creationId xmlns:a16="http://schemas.microsoft.com/office/drawing/2014/main" id="{2DC696FF-4BC4-54D8-107A-6236838BC207}"/>
              </a:ext>
            </a:extLst>
          </p:cNvPr>
          <p:cNvCxnSpPr>
            <a:cxnSpLocks/>
            <a:stCxn id="25" idx="1"/>
            <a:endCxn id="20" idx="3"/>
          </p:cNvCxnSpPr>
          <p:nvPr/>
        </p:nvCxnSpPr>
        <p:spPr>
          <a:xfrm rot="10800000" flipV="1">
            <a:off x="2550624" y="3706131"/>
            <a:ext cx="1764618" cy="1630688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向左箭號 22">
            <a:extLst>
              <a:ext uri="{FF2B5EF4-FFF2-40B4-BE49-F238E27FC236}">
                <a16:creationId xmlns:a16="http://schemas.microsoft.com/office/drawing/2014/main" id="{C4F85C81-DDCD-D193-2EC1-5761A711DCA2}"/>
              </a:ext>
            </a:extLst>
          </p:cNvPr>
          <p:cNvSpPr/>
          <p:nvPr/>
        </p:nvSpPr>
        <p:spPr>
          <a:xfrm rot="12700035">
            <a:off x="3484970" y="1651237"/>
            <a:ext cx="984738" cy="344755"/>
          </a:xfrm>
          <a:prstGeom prst="lef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63DD453-CF25-ED44-997D-7407597E2A6B}"/>
              </a:ext>
            </a:extLst>
          </p:cNvPr>
          <p:cNvSpPr/>
          <p:nvPr/>
        </p:nvSpPr>
        <p:spPr>
          <a:xfrm>
            <a:off x="4315242" y="3449795"/>
            <a:ext cx="4031048" cy="5126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C244D76-72F3-E6D4-DAFD-0CD672CA6702}"/>
              </a:ext>
            </a:extLst>
          </p:cNvPr>
          <p:cNvSpPr/>
          <p:nvPr/>
        </p:nvSpPr>
        <p:spPr>
          <a:xfrm>
            <a:off x="4348893" y="4214621"/>
            <a:ext cx="5026898" cy="5126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C883EDA-67E7-6907-5D04-A973B902E576}"/>
              </a:ext>
            </a:extLst>
          </p:cNvPr>
          <p:cNvSpPr txBox="1"/>
          <p:nvPr/>
        </p:nvSpPr>
        <p:spPr>
          <a:xfrm>
            <a:off x="9228296" y="4012654"/>
            <a:ext cx="2778144" cy="523220"/>
          </a:xfrm>
          <a:prstGeom prst="rect">
            <a:avLst/>
          </a:prstGeom>
          <a:solidFill>
            <a:srgbClr val="61C1BE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依後台設定帶出經銷商所屬之台灣區施工項目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E57754D-92B3-6879-7EC5-003D1D5746D4}"/>
              </a:ext>
            </a:extLst>
          </p:cNvPr>
          <p:cNvSpPr/>
          <p:nvPr/>
        </p:nvSpPr>
        <p:spPr>
          <a:xfrm>
            <a:off x="4230066" y="5743379"/>
            <a:ext cx="1202434" cy="5126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0570322-CC2A-6625-7A7B-E2D171304169}"/>
              </a:ext>
            </a:extLst>
          </p:cNvPr>
          <p:cNvSpPr txBox="1"/>
          <p:nvPr/>
        </p:nvSpPr>
        <p:spPr>
          <a:xfrm>
            <a:off x="3580311" y="6329016"/>
            <a:ext cx="3408318" cy="523220"/>
          </a:xfrm>
          <a:prstGeom prst="rect">
            <a:avLst/>
          </a:prstGeom>
          <a:solidFill>
            <a:srgbClr val="61C1BE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信件通知給建大業務，接續相關作業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後臺成立任務清單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內容版面配置區 12">
            <a:extLst>
              <a:ext uri="{FF2B5EF4-FFF2-40B4-BE49-F238E27FC236}">
                <a16:creationId xmlns:a16="http://schemas.microsoft.com/office/drawing/2014/main" id="{59653251-8700-19D8-B72B-602542DFA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411" y="1635341"/>
            <a:ext cx="3776452" cy="4386244"/>
          </a:xfrm>
        </p:spPr>
        <p:txBody>
          <a:bodyPr>
            <a:normAutofit/>
          </a:bodyPr>
          <a:lstStyle/>
          <a:p>
            <a:r>
              <a:rPr lang="zh-TW" altLang="en-US" b="0" dirty="0"/>
              <a:t>提供經銷商自行填寫申請書</a:t>
            </a:r>
            <a:endParaRPr lang="en-US" altLang="zh-TW" b="0" dirty="0"/>
          </a:p>
          <a:p>
            <a:r>
              <a:rPr lang="zh-TW" altLang="en-US" b="0" dirty="0"/>
              <a:t>填寫完後，系統通知建大營業單位</a:t>
            </a:r>
            <a:endParaRPr lang="en-US" altLang="zh-TW" b="0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B1E6E47-3DFE-4971-7B3F-D817C672C2DF}"/>
              </a:ext>
            </a:extLst>
          </p:cNvPr>
          <p:cNvSpPr txBox="1"/>
          <p:nvPr/>
        </p:nvSpPr>
        <p:spPr>
          <a:xfrm>
            <a:off x="720882" y="3643322"/>
            <a:ext cx="2743200" cy="738664"/>
          </a:xfrm>
          <a:prstGeom prst="rect">
            <a:avLst/>
          </a:prstGeom>
          <a:solidFill>
            <a:srgbClr val="61C1BE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顯示經銷商名稱（不可改）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依經銷商所在國家進行選擇</a:t>
            </a:r>
            <a:r>
              <a:rPr lang="en-US" altLang="zh-TW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『State</a:t>
            </a: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州</a:t>
            </a:r>
            <a:r>
              <a:rPr lang="en-US" altLang="zh-TW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省</a:t>
            </a:r>
            <a:r>
              <a:rPr lang="en-US" altLang="zh-TW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地區</a:t>
            </a:r>
            <a:r>
              <a:rPr lang="en-US" altLang="zh-TW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)』</a:t>
            </a:r>
          </a:p>
        </p:txBody>
      </p:sp>
    </p:spTree>
    <p:extLst>
      <p:ext uri="{BB962C8B-B14F-4D97-AF65-F5344CB8AC3E}">
        <p14:creationId xmlns:p14="http://schemas.microsoft.com/office/powerpoint/2010/main" val="2657622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1C095-69B9-8CCC-1A08-725B58982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015297-3C36-3791-DABC-5EA5DB6CB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402" y="24239"/>
            <a:ext cx="10515600" cy="1325563"/>
          </a:xfrm>
        </p:spPr>
        <p:txBody>
          <a:bodyPr/>
          <a:lstStyle/>
          <a:p>
            <a:r>
              <a:rPr lang="en-US" altLang="zh-TW" dirty="0"/>
              <a:t>“</a:t>
            </a:r>
            <a:r>
              <a:rPr lang="zh-TW" altLang="en-US" dirty="0"/>
              <a:t>原始</a:t>
            </a:r>
            <a:r>
              <a:rPr lang="en-US" altLang="zh-TW" dirty="0"/>
              <a:t>-</a:t>
            </a:r>
            <a:r>
              <a:rPr lang="zh-TW" altLang="en-US" dirty="0"/>
              <a:t>店招</a:t>
            </a:r>
            <a:r>
              <a:rPr lang="en-US" altLang="zh-TW" dirty="0"/>
              <a:t>”</a:t>
            </a:r>
            <a:endParaRPr lang="zh-TW" altLang="en-US" b="1" dirty="0"/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F8C01ED9-8EC0-25FD-5810-B9CE040AE1D9}"/>
              </a:ext>
            </a:extLst>
          </p:cNvPr>
          <p:cNvSpPr/>
          <p:nvPr/>
        </p:nvSpPr>
        <p:spPr>
          <a:xfrm>
            <a:off x="1366576" y="3205755"/>
            <a:ext cx="252048" cy="2612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1F4DA1B-5734-C98A-26B1-5EF7BAFA3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37" y="1111346"/>
            <a:ext cx="7613040" cy="4595258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AE233267-B0FC-BCB8-B271-C60F9522C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5640" y="443070"/>
            <a:ext cx="4233759" cy="3264772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D86DF0BC-53BC-ED60-5225-5BE33CE4C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1626" y="4020150"/>
            <a:ext cx="5227773" cy="2575783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270026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B90EA414-0158-DBE0-B51F-7B0FF28DD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080" y="0"/>
            <a:ext cx="11394440" cy="1547791"/>
          </a:xfrm>
        </p:spPr>
        <p:txBody>
          <a:bodyPr>
            <a:normAutofit/>
          </a:bodyPr>
          <a:lstStyle/>
          <a:p>
            <a:r>
              <a:rPr lang="zh-TW" altLang="zh-TW" dirty="0"/>
              <a:t>投影片 10｜店招申請-申請書</a:t>
            </a:r>
            <a:br>
              <a:rPr lang="en-US" altLang="zh-TW" dirty="0"/>
            </a:br>
            <a:r>
              <a:rPr lang="zh-TW" altLang="en-US" sz="2000" dirty="0"/>
              <a:t>原文：示意畫面，需依詳細需求規劃／依後台設定帶出經銷商所屬台灣區施工項目／填寫完後系統通知建大營業單位、後台成立任務清單／顯示經銷商名稱（不可改）／依所在國家選擇</a:t>
            </a:r>
            <a:r>
              <a:rPr lang="en-US" altLang="zh-TW" sz="2000" dirty="0"/>
              <a:t>State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E81B633-6FCB-EDF8-A238-1D3A74C58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790" y="1547791"/>
            <a:ext cx="7138560" cy="522448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sz="1100" b="0" dirty="0">
                <a:solidFill>
                  <a:srgbClr val="666666"/>
                </a:solidFill>
              </a:rPr>
              <a:t>原文：依後台設定帶出施工項目／填寫完後通知業務、後台成立任務清單／顯示經銷商名稱（不可改）</a:t>
            </a:r>
          </a:p>
          <a:p>
            <a:r>
              <a:rPr sz="1100" b="1" dirty="0">
                <a:solidFill>
                  <a:srgbClr val="1F6496"/>
                </a:solidFill>
              </a:rPr>
              <a:t>A. 實際使用工具/方式（⚠️ 部分實作）</a:t>
            </a:r>
          </a:p>
          <a:p>
            <a:r>
              <a:rPr sz="1100" b="0" dirty="0">
                <a:solidFill>
                  <a:srgbClr val="1A1A1A"/>
                </a:solidFill>
              </a:rPr>
              <a:t>表單填寫（kenda_signage.py）+ 後台任務清單 UI 已完成，mail 通知整合和施工項目動態帶出尚未實作。</a:t>
            </a:r>
          </a:p>
          <a:p>
            <a:endParaRPr sz="1100" b="0" dirty="0">
              <a:solidFill>
                <a:srgbClr val="1A1A1A"/>
              </a:solidFill>
            </a:endParaRPr>
          </a:p>
          <a:p>
            <a:r>
              <a:rPr sz="1100" b="1" dirty="0">
                <a:solidFill>
                  <a:srgbClr val="1F6496"/>
                </a:solidFill>
              </a:rPr>
              <a:t>B. 已實作 / 待辦規格</a:t>
            </a:r>
          </a:p>
          <a:p>
            <a:r>
              <a:rPr sz="1100" b="0" dirty="0">
                <a:solidFill>
                  <a:srgbClr val="1A1A1A"/>
                </a:solidFill>
              </a:rPr>
              <a:t>功能名稱：店招申請－申請書</a:t>
            </a:r>
          </a:p>
          <a:p>
            <a:r>
              <a:rPr sz="1100" b="0" dirty="0">
                <a:solidFill>
                  <a:srgbClr val="007000"/>
                </a:solidFill>
              </a:rPr>
              <a:t>✅ 已實作：kenda.signage model 完整欄位、狀態機（draft→submitted→processing→done）</a:t>
            </a:r>
          </a:p>
          <a:p>
            <a:r>
              <a:rPr sz="1100" b="0" dirty="0">
                <a:solidFill>
                  <a:srgbClr val="007000"/>
                </a:solidFill>
              </a:rPr>
              <a:t>✅ 已實作：POST /signage 建立申請，自動鎖定申請人名稱（state=submitted）</a:t>
            </a:r>
          </a:p>
          <a:p>
            <a:r>
              <a:rPr sz="1100" b="0" dirty="0">
                <a:solidFill>
                  <a:srgbClr val="007000"/>
                </a:solidFill>
              </a:rPr>
              <a:t>✅ 已實作：後台申請管理 UI（列表/表單/statusbar 進度條）</a:t>
            </a:r>
          </a:p>
          <a:p>
            <a:r>
              <a:rPr sz="1100" b="0" dirty="0">
                <a:solidFill>
                  <a:srgbClr val="BF5F00"/>
                </a:solidFill>
              </a:rPr>
              <a:t>⚠️ 待補：申請提交後 mail 通知建大業務機制</a:t>
            </a:r>
          </a:p>
          <a:p>
            <a:r>
              <a:rPr sz="1100" b="0" dirty="0">
                <a:solidFill>
                  <a:srgbClr val="BF5F00"/>
                </a:solidFill>
              </a:rPr>
              <a:t>⚠️ 待補：施工項目依後台設定/地區動態帶出邏輯</a:t>
            </a:r>
          </a:p>
          <a:p>
            <a:endParaRPr sz="1100" b="0" dirty="0">
              <a:solidFill>
                <a:srgbClr val="BF5F00"/>
              </a:solidFill>
            </a:endParaRPr>
          </a:p>
          <a:p>
            <a:r>
              <a:rPr sz="1100" b="1" dirty="0">
                <a:solidFill>
                  <a:srgbClr val="1F6496"/>
                </a:solidFill>
              </a:rPr>
              <a:t>C. 已確認 / 仍待確認</a:t>
            </a:r>
          </a:p>
          <a:p>
            <a:r>
              <a:rPr sz="1100" b="0" dirty="0">
                <a:solidFill>
                  <a:srgbClr val="BF5F00"/>
                </a:solidFill>
              </a:rPr>
              <a:t>〔規格定案〕⚠️ 仍待確認：表單欄位細節是否已正式定案</a:t>
            </a:r>
          </a:p>
          <a:p>
            <a:r>
              <a:rPr sz="1100" b="0" dirty="0">
                <a:solidFill>
                  <a:srgbClr val="BF5F00"/>
                </a:solidFill>
              </a:rPr>
              <a:t>〔施工項目對照表〕⚠️ 仍待確認：「經銷商↔地區↔施工項目」對照表由誰維護、如何建立</a:t>
            </a:r>
          </a:p>
          <a:p>
            <a:r>
              <a:rPr lang="en-US" altLang="zh-TW" sz="1100" b="0" dirty="0">
                <a:solidFill>
                  <a:srgbClr val="BF5F00"/>
                </a:solidFill>
              </a:rPr>
              <a:t>〔</a:t>
            </a:r>
            <a:r>
              <a:rPr lang="zh-TW" altLang="en-US" sz="1100" b="0" dirty="0">
                <a:solidFill>
                  <a:srgbClr val="BF5F00"/>
                </a:solidFill>
              </a:rPr>
              <a:t>多國支援</a:t>
            </a:r>
            <a:r>
              <a:rPr lang="en-US" altLang="zh-TW" sz="1100" b="0" dirty="0">
                <a:solidFill>
                  <a:srgbClr val="BF5F00"/>
                </a:solidFill>
              </a:rPr>
              <a:t>〕⚠️ </a:t>
            </a:r>
            <a:r>
              <a:rPr lang="zh-TW" altLang="en-US" sz="1100" b="0" dirty="0">
                <a:solidFill>
                  <a:srgbClr val="BF5F00"/>
                </a:solidFill>
              </a:rPr>
              <a:t>仍待確認：是否支援多國，或僅台灣保留欄位彈性</a:t>
            </a:r>
          </a:p>
          <a:p>
            <a:r>
              <a:rPr sz="1100" b="0" dirty="0">
                <a:solidFill>
                  <a:srgbClr val="BF5F00"/>
                </a:solidFill>
              </a:rPr>
              <a:t>〔審核流程〕⚠️ 仍待確認：通知業務後，審核/核准/駁回流程為何</a:t>
            </a:r>
          </a:p>
        </p:txBody>
      </p:sp>
    </p:spTree>
    <p:extLst>
      <p:ext uri="{BB962C8B-B14F-4D97-AF65-F5344CB8AC3E}">
        <p14:creationId xmlns:p14="http://schemas.microsoft.com/office/powerpoint/2010/main" val="20242916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719BCFDA-B0AB-827F-ABC7-CA6273DD1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914" y="359196"/>
            <a:ext cx="10515600" cy="1325563"/>
          </a:xfrm>
        </p:spPr>
        <p:txBody>
          <a:bodyPr/>
          <a:lstStyle/>
          <a:p>
            <a:r>
              <a:rPr lang="zh-TW" altLang="en-US" dirty="0"/>
              <a:t>店招申請</a:t>
            </a:r>
            <a:r>
              <a:rPr lang="en-US" altLang="zh-TW" dirty="0"/>
              <a:t>-</a:t>
            </a:r>
            <a:r>
              <a:rPr lang="zh-TW" altLang="en-US" dirty="0"/>
              <a:t>合約書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91BE983A-D3BF-5C1F-DFBD-6003F745C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9366" y="1027613"/>
            <a:ext cx="7790182" cy="583038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7" name="向左箭號 26">
            <a:extLst>
              <a:ext uri="{FF2B5EF4-FFF2-40B4-BE49-F238E27FC236}">
                <a16:creationId xmlns:a16="http://schemas.microsoft.com/office/drawing/2014/main" id="{9579E263-134A-A6E7-3C67-CC2DD9F08993}"/>
              </a:ext>
            </a:extLst>
          </p:cNvPr>
          <p:cNvSpPr/>
          <p:nvPr/>
        </p:nvSpPr>
        <p:spPr>
          <a:xfrm rot="12700035">
            <a:off x="5032051" y="2076589"/>
            <a:ext cx="984738" cy="344755"/>
          </a:xfrm>
          <a:prstGeom prst="lef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49E96B4-6657-234C-6626-5FA7AEDE80AC}"/>
              </a:ext>
            </a:extLst>
          </p:cNvPr>
          <p:cNvSpPr/>
          <p:nvPr/>
        </p:nvSpPr>
        <p:spPr>
          <a:xfrm>
            <a:off x="4130238" y="2918411"/>
            <a:ext cx="7454725" cy="37805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62C36CD6-6CC9-F030-D79D-7784CAD4DE86}"/>
              </a:ext>
            </a:extLst>
          </p:cNvPr>
          <p:cNvSpPr txBox="1"/>
          <p:nvPr/>
        </p:nvSpPr>
        <p:spPr>
          <a:xfrm>
            <a:off x="10649791" y="6391210"/>
            <a:ext cx="935172" cy="3077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示意畫面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257B3793-789B-D4FD-5901-0EFBB9196B3C}"/>
              </a:ext>
            </a:extLst>
          </p:cNvPr>
          <p:cNvSpPr txBox="1"/>
          <p:nvPr/>
        </p:nvSpPr>
        <p:spPr>
          <a:xfrm>
            <a:off x="8389886" y="6391210"/>
            <a:ext cx="2160330" cy="3077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需依據詳細需求去做規劃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33" name="表格 32">
            <a:extLst>
              <a:ext uri="{FF2B5EF4-FFF2-40B4-BE49-F238E27FC236}">
                <a16:creationId xmlns:a16="http://schemas.microsoft.com/office/drawing/2014/main" id="{9BD338B6-988D-4E01-C4FC-A480015C52C5}"/>
              </a:ext>
            </a:extLst>
          </p:cNvPr>
          <p:cNvGraphicFramePr>
            <a:graphicFrameLocks noGrp="1"/>
          </p:cNvGraphicFramePr>
          <p:nvPr/>
        </p:nvGraphicFramePr>
        <p:xfrm>
          <a:off x="5014863" y="3618491"/>
          <a:ext cx="5999411" cy="182880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2744474">
                  <a:extLst>
                    <a:ext uri="{9D8B030D-6E8A-4147-A177-3AD203B41FA5}">
                      <a16:colId xmlns:a16="http://schemas.microsoft.com/office/drawing/2014/main" val="3791768744"/>
                    </a:ext>
                  </a:extLst>
                </a:gridCol>
                <a:gridCol w="1854926">
                  <a:extLst>
                    <a:ext uri="{9D8B030D-6E8A-4147-A177-3AD203B41FA5}">
                      <a16:colId xmlns:a16="http://schemas.microsoft.com/office/drawing/2014/main" val="3799878131"/>
                    </a:ext>
                  </a:extLst>
                </a:gridCol>
                <a:gridCol w="1400011">
                  <a:extLst>
                    <a:ext uri="{9D8B030D-6E8A-4147-A177-3AD203B41FA5}">
                      <a16:colId xmlns:a16="http://schemas.microsoft.com/office/drawing/2014/main" val="1901037272"/>
                    </a:ext>
                  </a:extLst>
                </a:gridCol>
              </a:tblGrid>
              <a:tr h="306604"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合約清單（點擊下載）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施工項目說明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更新日期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864557"/>
                  </a:ext>
                </a:extLst>
              </a:tr>
              <a:tr h="306604">
                <a:tc>
                  <a:txBody>
                    <a:bodyPr/>
                    <a:lstStyle/>
                    <a:p>
                      <a:r>
                        <a:rPr lang="en" altLang="zh-TW" sz="1600" dirty="0">
                          <a:solidFill>
                            <a:srgbClr val="0070C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PCR</a:t>
                      </a:r>
                      <a:r>
                        <a:rPr lang="zh-TW" altLang="en-US" sz="1600" dirty="0">
                          <a:solidFill>
                            <a:srgbClr val="0070C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簽約店銷售合約書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形象店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2026/03/18</a:t>
                      </a:r>
                      <a:endParaRPr lang="zh-TW" altLang="en-US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9780105"/>
                  </a:ext>
                </a:extLst>
              </a:tr>
              <a:tr h="306604"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solidFill>
                            <a:srgbClr val="0070C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建大輪胎店招牌製作申請書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直式看板一座</a:t>
                      </a:r>
                      <a:endParaRPr lang="en-US" altLang="zh-TW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橫式看板一座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2026/03/10</a:t>
                      </a:r>
                      <a:endParaRPr lang="zh-TW" altLang="en-US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135320"/>
                  </a:ext>
                </a:extLst>
              </a:tr>
              <a:tr h="306604"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solidFill>
                            <a:srgbClr val="0070C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建豐輪胎店招牌維修申請書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直式看板一座</a:t>
                      </a:r>
                      <a:endParaRPr lang="en-US" altLang="zh-TW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橫式看板一座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2026/03/10</a:t>
                      </a:r>
                      <a:endParaRPr lang="zh-TW" altLang="en-US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983276"/>
                  </a:ext>
                </a:extLst>
              </a:tr>
            </a:tbl>
          </a:graphicData>
        </a:graphic>
      </p:graphicFrame>
      <p:sp>
        <p:nvSpPr>
          <p:cNvPr id="3" name="內容版面配置區 12">
            <a:extLst>
              <a:ext uri="{FF2B5EF4-FFF2-40B4-BE49-F238E27FC236}">
                <a16:creationId xmlns:a16="http://schemas.microsoft.com/office/drawing/2014/main" id="{1567AA12-059F-2718-979F-9283D65A0D52}"/>
              </a:ext>
            </a:extLst>
          </p:cNvPr>
          <p:cNvSpPr txBox="1">
            <a:spLocks/>
          </p:cNvSpPr>
          <p:nvPr/>
        </p:nvSpPr>
        <p:spPr>
          <a:xfrm>
            <a:off x="127411" y="1635341"/>
            <a:ext cx="3776452" cy="4386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14350" indent="-5143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1C1BE"/>
              </a:buClr>
              <a:buFont typeface="+mj-lt"/>
              <a:buAutoNum type="arabicPeriod"/>
              <a:defRPr lang="zh-TW" altLang="en-US" sz="2800" b="1" kern="120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61C1BE"/>
              </a:buClr>
              <a:buFont typeface="+mj-lt"/>
              <a:buAutoNum type="arabicPeriod"/>
              <a:defRPr lang="zh-TW" altLang="en-US" sz="2000" b="1" kern="120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13716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61C1BE"/>
              </a:buClr>
              <a:buFont typeface="+mj-lt"/>
              <a:buAutoNum type="arabicPeriod"/>
              <a:defRPr lang="zh-TW" altLang="en-US" sz="2000" b="1" kern="120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714500" indent="-3429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61C1BE"/>
              </a:buClr>
              <a:buFont typeface="+mj-lt"/>
              <a:buAutoNum type="arabicPeriod"/>
              <a:defRPr lang="zh-TW" altLang="en-US" sz="1800" kern="120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2171700" indent="-3429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61C1BE"/>
              </a:buClr>
              <a:buFont typeface="+mj-lt"/>
              <a:buAutoNum type="arabicPeriod"/>
              <a:defRPr lang="zh-TW" altLang="en-US" sz="1800" kern="120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b="0" dirty="0"/>
              <a:t>依照後臺設定帶出台灣區域施工項目</a:t>
            </a:r>
            <a:endParaRPr lang="en-US" altLang="zh-TW" b="0" dirty="0"/>
          </a:p>
          <a:p>
            <a:r>
              <a:rPr lang="zh-TW" altLang="en-US" b="0" dirty="0"/>
              <a:t>提供下載連結給經銷商自行使用</a:t>
            </a:r>
          </a:p>
        </p:txBody>
      </p:sp>
    </p:spTree>
    <p:extLst>
      <p:ext uri="{BB962C8B-B14F-4D97-AF65-F5344CB8AC3E}">
        <p14:creationId xmlns:p14="http://schemas.microsoft.com/office/powerpoint/2010/main" val="17759553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E1F0E-6E27-EAA1-10D0-710E2B500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AC264DE-F483-4424-6347-79EBB890F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82432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zh-TW" altLang="zh-TW" dirty="0"/>
              <a:t>投影片 ｜店招申請-合約書</a:t>
            </a:r>
            <a:br>
              <a:rPr lang="zh-TW" altLang="zh-TW" dirty="0"/>
            </a:br>
            <a:r>
              <a:rPr lang="zh-TW" altLang="en-US" sz="2000" dirty="0"/>
              <a:t>原文：示意畫面，需依詳細需求規劃／合約清單表格（</a:t>
            </a:r>
            <a:r>
              <a:rPr lang="en-US" altLang="zh-TW" sz="2000" dirty="0"/>
              <a:t>PCR</a:t>
            </a:r>
            <a:r>
              <a:rPr lang="zh-TW" altLang="en-US" sz="2000" dirty="0"/>
              <a:t>簽約店銷售合約書、建大輪胎店招牌製作申請書、建豐輪胎店招牌維修申請書）／依後台設定帶出台灣區域施工項目／提供下載連結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4AA043E-4481-4ED1-AB3D-6833B77AB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640" y="2149890"/>
            <a:ext cx="11582400" cy="4606510"/>
          </a:xfrm>
        </p:spPr>
        <p:txBody>
          <a:bodyPr>
            <a:normAutofit fontScale="85000" lnSpcReduction="20000"/>
          </a:bodyPr>
          <a:lstStyle/>
          <a:p>
            <a:r>
              <a:rPr sz="1000" b="0">
                <a:solidFill>
                  <a:srgbClr val="666666"/>
                </a:solidFill>
              </a:rPr>
              <a:t>原文：合約清單供下載／依後台設定帶出台灣區域施工項目／提供下載連結</a:t>
            </a:r>
          </a:p>
          <a:p>
            <a:endParaRPr sz="1000" b="0">
              <a:solidFill>
                <a:srgbClr val="666666"/>
              </a:solidFill>
            </a:endParaRPr>
          </a:p>
          <a:p>
            <a:r>
              <a:rPr sz="1000" b="1">
                <a:solidFill>
                  <a:srgbClr val="1F6496"/>
                </a:solidFill>
              </a:rPr>
              <a:t>A. 實際使用工具/方式（⚠️ 部分實作）</a:t>
            </a:r>
          </a:p>
          <a:p>
            <a:r>
              <a:rPr sz="1000" b="0">
                <a:solidFill>
                  <a:srgbClr val="1A1A1A"/>
                </a:solidFill>
              </a:rPr>
              <a:t>文件庫/檔案下載（kenda_contract.py + content.py /contracts GET）主體已完成，</a:t>
            </a:r>
          </a:p>
          <a:p>
            <a:r>
              <a:rPr sz="1000" b="0">
                <a:solidFill>
                  <a:srgbClr val="1A1A1A"/>
                </a:solidFill>
              </a:rPr>
              <a:t>施工項目關聯篩選和前台下載 URL 尚未完成。</a:t>
            </a:r>
          </a:p>
          <a:p>
            <a:endParaRPr sz="1000" b="0">
              <a:solidFill>
                <a:srgbClr val="1A1A1A"/>
              </a:solidFill>
            </a:endParaRPr>
          </a:p>
          <a:p>
            <a:r>
              <a:rPr sz="1000" b="1">
                <a:solidFill>
                  <a:srgbClr val="1F6496"/>
                </a:solidFill>
              </a:rPr>
              <a:t>B. 已實作 / 待辦規格</a:t>
            </a:r>
          </a:p>
          <a:p>
            <a:r>
              <a:rPr sz="1000" b="0">
                <a:solidFill>
                  <a:srgbClr val="1A1A1A"/>
                </a:solidFill>
              </a:rPr>
              <a:t>功能名稱：店招申請－合約書下載</a:t>
            </a:r>
          </a:p>
          <a:p>
            <a:r>
              <a:rPr sz="1000" b="0">
                <a:solidFill>
                  <a:srgbClr val="007000"/>
                </a:solidFill>
              </a:rPr>
              <a:t>✅ 已實作：kenda.contract model（title、store_level、file_data、file_name、front_visible）</a:t>
            </a:r>
          </a:p>
          <a:p>
            <a:r>
              <a:rPr sz="1000" b="0">
                <a:solidFill>
                  <a:srgbClr val="007000"/>
                </a:solidFill>
              </a:rPr>
              <a:t>✅ 已實作：/contracts GET 回傳合約清單（factory、title、store_level、update_date）</a:t>
            </a:r>
          </a:p>
          <a:p>
            <a:r>
              <a:rPr sz="1000" b="0">
                <a:solidFill>
                  <a:srgbClr val="007000"/>
                </a:solidFill>
              </a:rPr>
              <a:t>✅ 已實作：後台合約上傳/管理 UI 完整</a:t>
            </a:r>
          </a:p>
          <a:p>
            <a:r>
              <a:rPr sz="1000" b="0">
                <a:solidFill>
                  <a:srgbClr val="BF5F00"/>
                </a:solidFill>
              </a:rPr>
              <a:t>⚠️ 待補：依施工項目/地區動態篩選對應合約之邏輯</a:t>
            </a:r>
          </a:p>
          <a:p>
            <a:r>
              <a:rPr sz="1000" b="0">
                <a:solidFill>
                  <a:srgbClr val="BF5F00"/>
                </a:solidFill>
              </a:rPr>
              <a:t>⚠️ 待補：前台直接下載 URL（目前僅回傳 file_name，需補完整路徑或 signed URL）</a:t>
            </a:r>
          </a:p>
          <a:p>
            <a:endParaRPr sz="1000" b="0">
              <a:solidFill>
                <a:srgbClr val="BF5F00"/>
              </a:solidFill>
            </a:endParaRPr>
          </a:p>
          <a:p>
            <a:r>
              <a:rPr sz="1000" b="1">
                <a:solidFill>
                  <a:srgbClr val="1F6496"/>
                </a:solidFill>
              </a:rPr>
              <a:t>C. 已確認 / 仍待確認</a:t>
            </a:r>
          </a:p>
          <a:p>
            <a:r>
              <a:rPr sz="1000" b="0">
                <a:solidFill>
                  <a:srgbClr val="1A1A1A"/>
                </a:solidFill>
              </a:rPr>
              <a:t>〔檔案版控〕✅ 有 update_date 記錄；舊版本歷程保留尚未實作</a:t>
            </a:r>
          </a:p>
          <a:p>
            <a:r>
              <a:rPr sz="1000" b="0">
                <a:solidFill>
                  <a:srgbClr val="BF5F00"/>
                </a:solidFill>
              </a:rPr>
              <a:t>〔內容定案〕⚠️ 仍待確認：合約書清單是否已正式定案</a:t>
            </a:r>
          </a:p>
          <a:p>
            <a:r>
              <a:rPr sz="1000" b="0">
                <a:solidFill>
                  <a:srgbClr val="BF5F00"/>
                </a:solidFill>
              </a:rPr>
              <a:t>〔簽署流程〕⚠️ 仍待確認：是否在平台範圍內簽署/回傳，或線下處理</a:t>
            </a:r>
          </a:p>
          <a:p>
            <a:r>
              <a:rPr sz="1000" b="0">
                <a:solidFill>
                  <a:srgbClr val="BF5F00"/>
                </a:solidFill>
              </a:rPr>
              <a:t>〔企業關係〕⚠️ 仍待確認：「建大輪胎」與「建豐輪胎」於系統中的企業代號歸類</a:t>
            </a:r>
          </a:p>
        </p:txBody>
      </p:sp>
    </p:spTree>
    <p:extLst>
      <p:ext uri="{BB962C8B-B14F-4D97-AF65-F5344CB8AC3E}">
        <p14:creationId xmlns:p14="http://schemas.microsoft.com/office/powerpoint/2010/main" val="33133658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719BCFDA-B0AB-827F-ABC7-CA6273DD1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914" y="359196"/>
            <a:ext cx="10515600" cy="1325563"/>
          </a:xfrm>
        </p:spPr>
        <p:txBody>
          <a:bodyPr/>
          <a:lstStyle/>
          <a:p>
            <a:r>
              <a:rPr lang="zh-TW" altLang="en-US" dirty="0"/>
              <a:t>店招申請</a:t>
            </a:r>
            <a:r>
              <a:rPr lang="en-US" altLang="zh-TW" dirty="0"/>
              <a:t>-</a:t>
            </a:r>
            <a:r>
              <a:rPr lang="zh-TW" altLang="en-US" dirty="0"/>
              <a:t>店招到期列表-已完成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91BE983A-D3BF-5C1F-DFBD-6003F745C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6303" y="1186626"/>
            <a:ext cx="7790182" cy="583038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7" name="向左箭號 26">
            <a:extLst>
              <a:ext uri="{FF2B5EF4-FFF2-40B4-BE49-F238E27FC236}">
                <a16:creationId xmlns:a16="http://schemas.microsoft.com/office/drawing/2014/main" id="{9579E263-134A-A6E7-3C67-CC2DD9F08993}"/>
              </a:ext>
            </a:extLst>
          </p:cNvPr>
          <p:cNvSpPr/>
          <p:nvPr/>
        </p:nvSpPr>
        <p:spPr>
          <a:xfrm rot="12700035">
            <a:off x="6468966" y="2258284"/>
            <a:ext cx="984738" cy="344755"/>
          </a:xfrm>
          <a:prstGeom prst="lef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49E96B4-6657-234C-6626-5FA7AEDE80AC}"/>
              </a:ext>
            </a:extLst>
          </p:cNvPr>
          <p:cNvSpPr/>
          <p:nvPr/>
        </p:nvSpPr>
        <p:spPr>
          <a:xfrm>
            <a:off x="4117175" y="3077424"/>
            <a:ext cx="7454725" cy="37805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62C36CD6-6CC9-F030-D79D-7784CAD4DE86}"/>
              </a:ext>
            </a:extLst>
          </p:cNvPr>
          <p:cNvSpPr txBox="1"/>
          <p:nvPr/>
        </p:nvSpPr>
        <p:spPr>
          <a:xfrm>
            <a:off x="10636728" y="6550223"/>
            <a:ext cx="935172" cy="3077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示意畫面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257B3793-789B-D4FD-5901-0EFBB9196B3C}"/>
              </a:ext>
            </a:extLst>
          </p:cNvPr>
          <p:cNvSpPr txBox="1"/>
          <p:nvPr/>
        </p:nvSpPr>
        <p:spPr>
          <a:xfrm>
            <a:off x="8376823" y="6550223"/>
            <a:ext cx="2160330" cy="3077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需依據詳細需求去做規劃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0ECEA0C-3B12-7F90-ABD5-297827B527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861"/>
          <a:stretch/>
        </p:blipFill>
        <p:spPr>
          <a:xfrm>
            <a:off x="4336869" y="3259114"/>
            <a:ext cx="7235032" cy="3248916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sp>
        <p:nvSpPr>
          <p:cNvPr id="4" name="內容版面配置區 12">
            <a:extLst>
              <a:ext uri="{FF2B5EF4-FFF2-40B4-BE49-F238E27FC236}">
                <a16:creationId xmlns:a16="http://schemas.microsoft.com/office/drawing/2014/main" id="{66580984-D362-21D4-FE13-F7BBE6EB7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411" y="1635341"/>
            <a:ext cx="3776452" cy="4386244"/>
          </a:xfrm>
        </p:spPr>
        <p:txBody>
          <a:bodyPr>
            <a:normAutofit/>
          </a:bodyPr>
          <a:lstStyle/>
          <a:p>
            <a:r>
              <a:rPr lang="zh-TW" altLang="en-US" b="0" dirty="0"/>
              <a:t>僅顯示</a:t>
            </a:r>
            <a:r>
              <a:rPr lang="zh-TW" altLang="en-US" u="sng" dirty="0"/>
              <a:t>已完成</a:t>
            </a:r>
            <a:r>
              <a:rPr lang="zh-TW" altLang="en-US" b="0" dirty="0"/>
              <a:t>店招申請之項目</a:t>
            </a:r>
            <a:endParaRPr lang="en-US" altLang="zh-TW" b="0" dirty="0"/>
          </a:p>
        </p:txBody>
      </p:sp>
    </p:spTree>
    <p:extLst>
      <p:ext uri="{BB962C8B-B14F-4D97-AF65-F5344CB8AC3E}">
        <p14:creationId xmlns:p14="http://schemas.microsoft.com/office/powerpoint/2010/main" val="7241945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07056-3D87-01C5-9588-059D75DCF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2CC8CB5C-085D-C04A-A289-E6186603A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760" y="753207"/>
            <a:ext cx="10515600" cy="1325563"/>
          </a:xfrm>
        </p:spPr>
        <p:txBody>
          <a:bodyPr>
            <a:normAutofit/>
          </a:bodyPr>
          <a:lstStyle/>
          <a:p>
            <a:r>
              <a:rPr lang="zh-TW" altLang="zh-TW" dirty="0"/>
              <a:t>投影片 ｜店招申請-店招到期列表</a:t>
            </a:r>
            <a:br>
              <a:rPr lang="zh-TW" altLang="zh-TW" dirty="0"/>
            </a:br>
            <a:r>
              <a:rPr lang="zh-TW" altLang="zh-TW" sz="2700" dirty="0"/>
              <a:t>原文：示意畫面，需依詳細需求規劃／僅顯示已完成店招申請之項目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AB6EF05-7317-9ED8-695D-35A0A7EDC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840" y="2078770"/>
            <a:ext cx="6636352" cy="4647150"/>
          </a:xfrm>
        </p:spPr>
        <p:txBody>
          <a:bodyPr>
            <a:normAutofit/>
          </a:bodyPr>
          <a:lstStyle/>
          <a:p>
            <a:r>
              <a:rPr sz="1000" b="0" dirty="0">
                <a:solidFill>
                  <a:srgbClr val="666666"/>
                </a:solidFill>
              </a:rPr>
              <a:t>原文：示意畫面，需依詳細需求規劃／僅顯示已完成店招申請之項目</a:t>
            </a:r>
          </a:p>
          <a:p>
            <a:endParaRPr sz="1000" b="0" dirty="0">
              <a:solidFill>
                <a:srgbClr val="666666"/>
              </a:solidFill>
            </a:endParaRPr>
          </a:p>
          <a:p>
            <a:r>
              <a:rPr sz="1000" b="1" dirty="0">
                <a:solidFill>
                  <a:srgbClr val="1F6496"/>
                </a:solidFill>
              </a:rPr>
              <a:t>A. 實際使用工具/方式（✅ 已實作）</a:t>
            </a:r>
          </a:p>
          <a:p>
            <a:r>
              <a:rPr sz="1000" b="0" dirty="0">
                <a:solidFill>
                  <a:srgbClr val="1A1A1A"/>
                </a:solidFill>
              </a:rPr>
              <a:t>列表查詢功能，依 state=done 篩選，kenda_signage.py 含 contract_end_date 與</a:t>
            </a:r>
          </a:p>
          <a:p>
            <a:r>
              <a:rPr sz="1000" b="0" dirty="0">
                <a:solidFill>
                  <a:srgbClr val="1A1A1A"/>
                </a:solidFill>
              </a:rPr>
              <a:t>days_to_expire 計算欄位，平台端開發，不涉及 ERP API。</a:t>
            </a:r>
          </a:p>
          <a:p>
            <a:endParaRPr sz="1000" b="0" dirty="0">
              <a:solidFill>
                <a:srgbClr val="1A1A1A"/>
              </a:solidFill>
            </a:endParaRPr>
          </a:p>
          <a:p>
            <a:r>
              <a:rPr sz="1000" b="1" dirty="0">
                <a:solidFill>
                  <a:srgbClr val="1F6496"/>
                </a:solidFill>
              </a:rPr>
              <a:t>B. 已實作規格</a:t>
            </a:r>
          </a:p>
          <a:p>
            <a:r>
              <a:rPr sz="1000" b="0" dirty="0">
                <a:solidFill>
                  <a:srgbClr val="1A1A1A"/>
                </a:solidFill>
              </a:rPr>
              <a:t>功能名稱：店招到期列表</a:t>
            </a:r>
          </a:p>
          <a:p>
            <a:r>
              <a:rPr sz="1000" b="0" dirty="0">
                <a:solidFill>
                  <a:srgbClr val="1A1A1A"/>
                </a:solidFill>
              </a:rPr>
              <a:t>描述：顯示已完成店招申請項目及到期資訊（已完成）</a:t>
            </a:r>
          </a:p>
          <a:p>
            <a:r>
              <a:rPr sz="1000" b="0" dirty="0">
                <a:solidFill>
                  <a:srgbClr val="1A1A1A"/>
                </a:solidFill>
              </a:rPr>
              <a:t>已實作欄位：state=done（已完成）、contract_end_date（到期日）、days_to_expire（距到期天數）</a:t>
            </a:r>
          </a:p>
          <a:p>
            <a:endParaRPr sz="1000" b="0" dirty="0">
              <a:solidFill>
                <a:srgbClr val="1A1A1A"/>
              </a:solidFill>
            </a:endParaRPr>
          </a:p>
          <a:p>
            <a:r>
              <a:rPr sz="1000" b="1" dirty="0">
                <a:solidFill>
                  <a:srgbClr val="1F6496"/>
                </a:solidFill>
              </a:rPr>
              <a:t>C. 已確認事項</a:t>
            </a:r>
          </a:p>
          <a:p>
            <a:r>
              <a:rPr sz="1000" b="0" dirty="0">
                <a:solidFill>
                  <a:srgbClr val="007000"/>
                </a:solidFill>
              </a:rPr>
              <a:t>〔到期定義〕✅ 以 contract_end_date（合約到期日）為基準，days_to_expire 自動計算</a:t>
            </a:r>
          </a:p>
          <a:p>
            <a:r>
              <a:rPr sz="1000" b="0" dirty="0">
                <a:solidFill>
                  <a:srgbClr val="BF5F00"/>
                </a:solidFill>
              </a:rPr>
              <a:t>〔提醒機制〕⚠️ 目前無到期前 mail 預警，如需通知功能需另行開發</a:t>
            </a:r>
          </a:p>
          <a:p>
            <a:r>
              <a:rPr sz="1000" b="0" dirty="0">
                <a:solidFill>
                  <a:srgbClr val="007000"/>
                </a:solidFill>
              </a:rPr>
              <a:t>〔定案狀態〕✅ 功能規格已落地，邏輯清晰（state=done + 到期日）</a:t>
            </a:r>
            <a:endParaRPr lang="en-US" sz="1000" b="0" dirty="0">
              <a:solidFill>
                <a:srgbClr val="007000"/>
              </a:solidFill>
            </a:endParaRPr>
          </a:p>
          <a:p>
            <a:endParaRPr sz="1000" b="0" dirty="0">
              <a:solidFill>
                <a:srgbClr val="007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66955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E6200-6A10-14B4-3C0C-4D9A04213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DFC72AA5-91CB-F7F6-3BB5-7F53799A1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914" y="359196"/>
            <a:ext cx="10515600" cy="1325563"/>
          </a:xfrm>
        </p:spPr>
        <p:txBody>
          <a:bodyPr/>
          <a:lstStyle/>
          <a:p>
            <a:r>
              <a:rPr lang="zh-TW" altLang="en-US" dirty="0"/>
              <a:t>店招申請</a:t>
            </a:r>
            <a:r>
              <a:rPr lang="en-US" altLang="zh-TW" dirty="0"/>
              <a:t>-</a:t>
            </a:r>
            <a:r>
              <a:rPr lang="zh-TW" altLang="en-US" dirty="0"/>
              <a:t>進度查詢-已完成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1CB53A7A-E0D2-1963-BB79-D08109FBC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9366" y="1027613"/>
            <a:ext cx="7790182" cy="583038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7" name="向左箭號 26">
            <a:extLst>
              <a:ext uri="{FF2B5EF4-FFF2-40B4-BE49-F238E27FC236}">
                <a16:creationId xmlns:a16="http://schemas.microsoft.com/office/drawing/2014/main" id="{D688C33A-9B77-AE7A-2430-BF5A279F51AC}"/>
              </a:ext>
            </a:extLst>
          </p:cNvPr>
          <p:cNvSpPr/>
          <p:nvPr/>
        </p:nvSpPr>
        <p:spPr>
          <a:xfrm rot="12700035">
            <a:off x="8031754" y="2096996"/>
            <a:ext cx="984738" cy="344755"/>
          </a:xfrm>
          <a:prstGeom prst="lef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090AE78-B818-95A3-A863-A673B43F2246}"/>
              </a:ext>
            </a:extLst>
          </p:cNvPr>
          <p:cNvSpPr/>
          <p:nvPr/>
        </p:nvSpPr>
        <p:spPr>
          <a:xfrm>
            <a:off x="4130238" y="2918411"/>
            <a:ext cx="7454725" cy="37805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C8F8291E-3862-85AD-255F-7B50AEE0598D}"/>
              </a:ext>
            </a:extLst>
          </p:cNvPr>
          <p:cNvSpPr txBox="1"/>
          <p:nvPr/>
        </p:nvSpPr>
        <p:spPr>
          <a:xfrm>
            <a:off x="10649791" y="6391210"/>
            <a:ext cx="935172" cy="3077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示意畫面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EF9E9FFB-9484-B5E9-4D10-1F9351B431D4}"/>
              </a:ext>
            </a:extLst>
          </p:cNvPr>
          <p:cNvSpPr txBox="1"/>
          <p:nvPr/>
        </p:nvSpPr>
        <p:spPr>
          <a:xfrm>
            <a:off x="8389886" y="6391210"/>
            <a:ext cx="2160330" cy="3077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需依據詳細需求去做規劃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33" name="表格 32">
            <a:extLst>
              <a:ext uri="{FF2B5EF4-FFF2-40B4-BE49-F238E27FC236}">
                <a16:creationId xmlns:a16="http://schemas.microsoft.com/office/drawing/2014/main" id="{A707DC8E-4980-2350-A0FD-6105BD248E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4573888"/>
              </p:ext>
            </p:extLst>
          </p:nvPr>
        </p:nvGraphicFramePr>
        <p:xfrm>
          <a:off x="4415582" y="3669534"/>
          <a:ext cx="6884035" cy="182880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027604">
                  <a:extLst>
                    <a:ext uri="{9D8B030D-6E8A-4147-A177-3AD203B41FA5}">
                      <a16:colId xmlns:a16="http://schemas.microsoft.com/office/drawing/2014/main" val="681395662"/>
                    </a:ext>
                  </a:extLst>
                </a:gridCol>
                <a:gridCol w="1218269">
                  <a:extLst>
                    <a:ext uri="{9D8B030D-6E8A-4147-A177-3AD203B41FA5}">
                      <a16:colId xmlns:a16="http://schemas.microsoft.com/office/drawing/2014/main" val="3791768744"/>
                    </a:ext>
                  </a:extLst>
                </a:gridCol>
                <a:gridCol w="1489768">
                  <a:extLst>
                    <a:ext uri="{9D8B030D-6E8A-4147-A177-3AD203B41FA5}">
                      <a16:colId xmlns:a16="http://schemas.microsoft.com/office/drawing/2014/main" val="1421154226"/>
                    </a:ext>
                  </a:extLst>
                </a:gridCol>
                <a:gridCol w="1802674">
                  <a:extLst>
                    <a:ext uri="{9D8B030D-6E8A-4147-A177-3AD203B41FA5}">
                      <a16:colId xmlns:a16="http://schemas.microsoft.com/office/drawing/2014/main" val="3799878131"/>
                    </a:ext>
                  </a:extLst>
                </a:gridCol>
                <a:gridCol w="1345720">
                  <a:extLst>
                    <a:ext uri="{9D8B030D-6E8A-4147-A177-3AD203B41FA5}">
                      <a16:colId xmlns:a16="http://schemas.microsoft.com/office/drawing/2014/main" val="1901037272"/>
                    </a:ext>
                  </a:extLst>
                </a:gridCol>
              </a:tblGrid>
              <a:tr h="3066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申請進度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1600" b="1" kern="12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車行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1600" b="1" kern="12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州</a:t>
                      </a:r>
                      <a:r>
                        <a:rPr lang="en-US" altLang="zh-TW" sz="1600" b="1" kern="12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/</a:t>
                      </a:r>
                      <a:r>
                        <a:rPr lang="zh-TW" altLang="en-US" sz="1600" b="1" kern="12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省</a:t>
                      </a:r>
                      <a:r>
                        <a:rPr lang="en-US" altLang="zh-TW" sz="1600" b="1" kern="12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/</a:t>
                      </a:r>
                      <a:r>
                        <a:rPr lang="zh-TW" altLang="en-US" sz="1600" b="1" kern="12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地區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申請項目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最後異動日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864557"/>
                  </a:ext>
                </a:extLst>
              </a:tr>
              <a:tr h="306604"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solidFill>
                            <a:schemeClr val="tx1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處理中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solidFill>
                            <a:schemeClr val="tx1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達欣車行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台中市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形象店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2026/03/18</a:t>
                      </a:r>
                      <a:endParaRPr lang="zh-TW" altLang="en-US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9780105"/>
                  </a:ext>
                </a:extLst>
              </a:tr>
              <a:tr h="306604"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solidFill>
                            <a:schemeClr val="tx1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處理中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solidFill>
                            <a:schemeClr val="tx1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達達車業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彰化市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直式看板一座</a:t>
                      </a:r>
                      <a:endParaRPr lang="en-US" altLang="zh-TW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橫式看板一座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2026/03/10</a:t>
                      </a:r>
                      <a:endParaRPr lang="zh-TW" altLang="en-US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135320"/>
                  </a:ext>
                </a:extLst>
              </a:tr>
              <a:tr h="306604"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solidFill>
                            <a:schemeClr val="tx1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處理中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solidFill>
                            <a:schemeClr val="tx1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創點車行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彰化縣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直式看板一座</a:t>
                      </a:r>
                      <a:endParaRPr lang="en-US" altLang="zh-TW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橫式看板一座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2026/03/10</a:t>
                      </a:r>
                      <a:endParaRPr lang="zh-TW" altLang="en-US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983276"/>
                  </a:ext>
                </a:extLst>
              </a:tr>
            </a:tbl>
          </a:graphicData>
        </a:graphic>
      </p:graphicFrame>
      <p:sp>
        <p:nvSpPr>
          <p:cNvPr id="2" name="文字方塊 1">
            <a:extLst>
              <a:ext uri="{FF2B5EF4-FFF2-40B4-BE49-F238E27FC236}">
                <a16:creationId xmlns:a16="http://schemas.microsoft.com/office/drawing/2014/main" id="{15432BFF-02AA-D225-FDEF-66EAFE67D5B0}"/>
              </a:ext>
            </a:extLst>
          </p:cNvPr>
          <p:cNvSpPr txBox="1"/>
          <p:nvPr/>
        </p:nvSpPr>
        <p:spPr>
          <a:xfrm>
            <a:off x="1595635" y="5044335"/>
            <a:ext cx="1806435" cy="738664"/>
          </a:xfrm>
          <a:prstGeom prst="rect">
            <a:avLst/>
          </a:prstGeom>
          <a:solidFill>
            <a:srgbClr val="61C1BE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申請進度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處理中</a:t>
            </a:r>
            <a:endParaRPr lang="en-US" altLang="zh-TW" sz="14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完成</a:t>
            </a:r>
            <a:endParaRPr lang="en-US" altLang="zh-TW" sz="14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" name="接點: 肘形 6">
            <a:extLst>
              <a:ext uri="{FF2B5EF4-FFF2-40B4-BE49-F238E27FC236}">
                <a16:creationId xmlns:a16="http://schemas.microsoft.com/office/drawing/2014/main" id="{F27A1BBD-8ABB-866A-E703-10CAC412421C}"/>
              </a:ext>
            </a:extLst>
          </p:cNvPr>
          <p:cNvCxnSpPr>
            <a:cxnSpLocks/>
            <a:stCxn id="4" idx="1"/>
            <a:endCxn id="2" idx="3"/>
          </p:cNvCxnSpPr>
          <p:nvPr/>
        </p:nvCxnSpPr>
        <p:spPr>
          <a:xfrm rot="10800000" flipV="1">
            <a:off x="3402070" y="4683195"/>
            <a:ext cx="792922" cy="730472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00CEF475-09A2-73E8-330A-2A1F435F52E2}"/>
              </a:ext>
            </a:extLst>
          </p:cNvPr>
          <p:cNvSpPr/>
          <p:nvPr/>
        </p:nvSpPr>
        <p:spPr>
          <a:xfrm>
            <a:off x="4194992" y="3536003"/>
            <a:ext cx="1195722" cy="229438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內容版面配置區 12">
            <a:extLst>
              <a:ext uri="{FF2B5EF4-FFF2-40B4-BE49-F238E27FC236}">
                <a16:creationId xmlns:a16="http://schemas.microsoft.com/office/drawing/2014/main" id="{FBD6C73A-DE48-80FC-52C3-C48C5A795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411" y="1635341"/>
            <a:ext cx="3776452" cy="4386244"/>
          </a:xfrm>
        </p:spPr>
        <p:txBody>
          <a:bodyPr>
            <a:normAutofit/>
          </a:bodyPr>
          <a:lstStyle/>
          <a:p>
            <a:r>
              <a:rPr lang="zh-TW" altLang="en-US" b="0" dirty="0"/>
              <a:t>僅顯示</a:t>
            </a:r>
            <a:r>
              <a:rPr lang="zh-TW" altLang="en-US" u="sng" dirty="0"/>
              <a:t>未完成</a:t>
            </a:r>
            <a:r>
              <a:rPr lang="zh-TW" altLang="en-US" b="0" dirty="0"/>
              <a:t>店招申請之項目</a:t>
            </a:r>
            <a:endParaRPr lang="en-US" altLang="zh-TW" b="0" dirty="0"/>
          </a:p>
          <a:p>
            <a:r>
              <a:rPr lang="zh-TW" altLang="en-US" b="0" dirty="0"/>
              <a:t>依照後台任務之</a:t>
            </a:r>
            <a:r>
              <a:rPr lang="en-US" altLang="zh-TW" b="0" dirty="0"/>
              <a:t>[</a:t>
            </a:r>
            <a:r>
              <a:rPr lang="zh-TW" altLang="en-US" b="0" dirty="0"/>
              <a:t>申請進度</a:t>
            </a:r>
            <a:r>
              <a:rPr lang="en-US" altLang="zh-TW" b="0" dirty="0"/>
              <a:t>]</a:t>
            </a:r>
            <a:r>
              <a:rPr lang="zh-TW" altLang="en-US" b="0" dirty="0"/>
              <a:t>顯示</a:t>
            </a:r>
            <a:endParaRPr lang="en-US" altLang="zh-TW" b="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F716955-AC00-89DB-D58A-8394C029B1CE}"/>
              </a:ext>
            </a:extLst>
          </p:cNvPr>
          <p:cNvSpPr txBox="1"/>
          <p:nvPr/>
        </p:nvSpPr>
        <p:spPr>
          <a:xfrm>
            <a:off x="1302646" y="5990250"/>
            <a:ext cx="2392412" cy="307777"/>
          </a:xfrm>
          <a:prstGeom prst="rect">
            <a:avLst/>
          </a:prstGeom>
          <a:solidFill>
            <a:srgbClr val="61C1BE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後台提供行銷人員更新狀態</a:t>
            </a:r>
            <a:endParaRPr lang="en-US" altLang="zh-TW" sz="14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859789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EDFE10D-B8C6-F3A3-0F75-78B488CC6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760" y="925927"/>
            <a:ext cx="10515600" cy="1325563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zh-TW" altLang="zh-TW" dirty="0"/>
              <a:t>投影片｜店招申請-進度查詢</a:t>
            </a:r>
            <a:br>
              <a:rPr lang="zh-TW" altLang="zh-TW" dirty="0"/>
            </a:br>
            <a:r>
              <a:rPr lang="zh-TW" altLang="zh-TW" sz="2200" dirty="0"/>
              <a:t>原文：示意畫面，需依詳細需求規劃／表格示例（達欣車行、達達車業、創點車行 + 地區/項目/異動日）／申請進度：處理中/完成／僅顯示未完成項目／後台提供行銷人員更新狀態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5694124-7BB6-A1C4-C11B-F81E80B40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81300"/>
            <a:ext cx="11109960" cy="3883660"/>
          </a:xfrm>
        </p:spPr>
        <p:txBody>
          <a:bodyPr>
            <a:normAutofit fontScale="85000" lnSpcReduction="20000"/>
          </a:bodyPr>
          <a:lstStyle/>
          <a:p>
            <a:r>
              <a:rPr sz="1000" b="0">
                <a:solidFill>
                  <a:srgbClr val="666666"/>
                </a:solidFill>
              </a:rPr>
              <a:t>原文：申請進度：處理中/完成／僅顯示未完成項目／後台人員更新狀態</a:t>
            </a:r>
          </a:p>
          <a:p>
            <a:endParaRPr sz="1000" b="0">
              <a:solidFill>
                <a:srgbClr val="666666"/>
              </a:solidFill>
            </a:endParaRPr>
          </a:p>
          <a:p>
            <a:r>
              <a:rPr sz="1000" b="1">
                <a:solidFill>
                  <a:srgbClr val="1F6496"/>
                </a:solidFill>
              </a:rPr>
              <a:t>A. 實際使用工具/方式（✅ 已實作）</a:t>
            </a:r>
          </a:p>
          <a:p>
            <a:r>
              <a:rPr sz="1000" b="0">
                <a:solidFill>
                  <a:srgbClr val="1A1A1A"/>
                </a:solidFill>
              </a:rPr>
              <a:t>signage.py /signage GET 依 state 篩選，狀態由建大行銷人員於後台手動更新，</a:t>
            </a:r>
          </a:p>
          <a:p>
            <a:r>
              <a:rPr sz="1000" b="0">
                <a:solidFill>
                  <a:srgbClr val="1A1A1A"/>
                </a:solidFill>
              </a:rPr>
              <a:t>前台只顯示未完成項目，不涉及 ERP API。</a:t>
            </a:r>
          </a:p>
          <a:p>
            <a:endParaRPr sz="1000" b="0">
              <a:solidFill>
                <a:srgbClr val="1A1A1A"/>
              </a:solidFill>
            </a:endParaRPr>
          </a:p>
          <a:p>
            <a:r>
              <a:rPr sz="1000" b="1">
                <a:solidFill>
                  <a:srgbClr val="1F6496"/>
                </a:solidFill>
              </a:rPr>
              <a:t>B. 已實作規格</a:t>
            </a:r>
          </a:p>
          <a:p>
            <a:r>
              <a:rPr sz="1000" b="0">
                <a:solidFill>
                  <a:srgbClr val="1A1A1A"/>
                </a:solidFill>
              </a:rPr>
              <a:t>功能名稱：店招申請－進度查詢</a:t>
            </a:r>
          </a:p>
          <a:p>
            <a:r>
              <a:rPr sz="1000" b="0">
                <a:solidFill>
                  <a:srgbClr val="1A1A1A"/>
                </a:solidFill>
              </a:rPr>
              <a:t>描述：顯示未完成項目，後台人員可更新進度狀態（已完成）</a:t>
            </a:r>
          </a:p>
          <a:p>
            <a:r>
              <a:rPr sz="1000" b="0">
                <a:solidFill>
                  <a:srgbClr val="1A1A1A"/>
                </a:solidFill>
              </a:rPr>
              <a:t>已實作欄位：state（processing/done）、apply_progress、車行名稱、地區、申請項目、最後異動日</a:t>
            </a:r>
          </a:p>
          <a:p>
            <a:r>
              <a:rPr sz="1000" b="0">
                <a:solidFill>
                  <a:srgbClr val="1A1A1A"/>
                </a:solidFill>
              </a:rPr>
              <a:t>後台：statusbar UI 供行銷人員手動更新 state/apply_progress</a:t>
            </a:r>
          </a:p>
          <a:p>
            <a:endParaRPr sz="1000" b="0">
              <a:solidFill>
                <a:srgbClr val="1A1A1A"/>
              </a:solidFill>
            </a:endParaRPr>
          </a:p>
          <a:p>
            <a:r>
              <a:rPr sz="1000" b="1">
                <a:solidFill>
                  <a:srgbClr val="1F6496"/>
                </a:solidFill>
              </a:rPr>
              <a:t>C. 已確認事項</a:t>
            </a:r>
          </a:p>
          <a:p>
            <a:r>
              <a:rPr sz="1000" b="0">
                <a:solidFill>
                  <a:srgbClr val="007000"/>
                </a:solidFill>
              </a:rPr>
              <a:t>〔定案狀態〕✅ 已落地，state 狀態機（submitted→processing→done）完整</a:t>
            </a:r>
          </a:p>
          <a:p>
            <a:r>
              <a:rPr sz="1000" b="0">
                <a:solidFill>
                  <a:srgbClr val="007000"/>
                </a:solidFill>
              </a:rPr>
              <a:t>〔範例資料〕✅ 已確認：PPT 示意名稱（達欣車行/達達車業/創點車行）為示意，非真實資料</a:t>
            </a:r>
          </a:p>
          <a:p>
            <a:r>
              <a:rPr sz="1000" b="0">
                <a:solidFill>
                  <a:srgbClr val="007000"/>
                </a:solidFill>
              </a:rPr>
              <a:t>〔權限歸屬〕✅ 已確認：後台行銷人員手動更新，屬建大工業內部操作</a:t>
            </a:r>
          </a:p>
        </p:txBody>
      </p:sp>
    </p:spTree>
    <p:extLst>
      <p:ext uri="{BB962C8B-B14F-4D97-AF65-F5344CB8AC3E}">
        <p14:creationId xmlns:p14="http://schemas.microsoft.com/office/powerpoint/2010/main" val="8622933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B4B9C6-8E9E-0D10-C677-83A7D4E35D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03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E081DED-3658-B064-4D7F-9B358F181B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經銷商前台管理</a:t>
            </a:r>
            <a:endParaRPr lang="en-US" altLang="zh-TW" dirty="0"/>
          </a:p>
          <a:p>
            <a:r>
              <a:rPr lang="zh-TW" altLang="en-US" dirty="0"/>
              <a:t>產品查詢</a:t>
            </a:r>
            <a:r>
              <a:rPr lang="en-US" altLang="zh-TW" dirty="0"/>
              <a:t> / </a:t>
            </a:r>
            <a:r>
              <a:rPr lang="zh-TW" altLang="en-US" dirty="0"/>
              <a:t>訂單管理</a:t>
            </a:r>
          </a:p>
        </p:txBody>
      </p:sp>
    </p:spTree>
    <p:extLst>
      <p:ext uri="{BB962C8B-B14F-4D97-AF65-F5344CB8AC3E}">
        <p14:creationId xmlns:p14="http://schemas.microsoft.com/office/powerpoint/2010/main" val="5440215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E6200-6A10-14B4-3C0C-4D9A04213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DFC72AA5-91CB-F7F6-3BB5-7F53799A1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914" y="359196"/>
            <a:ext cx="10515600" cy="1325563"/>
          </a:xfrm>
        </p:spPr>
        <p:txBody>
          <a:bodyPr/>
          <a:lstStyle/>
          <a:p>
            <a:r>
              <a:rPr lang="zh-TW" altLang="en-US" dirty="0"/>
              <a:t>訂單</a:t>
            </a:r>
            <a:r>
              <a:rPr lang="en-US" altLang="zh-TW" dirty="0"/>
              <a:t> – </a:t>
            </a:r>
            <a:r>
              <a:rPr lang="zh-TW" altLang="en-US" dirty="0"/>
              <a:t>產品選品-已完成</a:t>
            </a:r>
          </a:p>
        </p:txBody>
      </p:sp>
      <p:sp>
        <p:nvSpPr>
          <p:cNvPr id="10" name="內容版面配置區 12">
            <a:extLst>
              <a:ext uri="{FF2B5EF4-FFF2-40B4-BE49-F238E27FC236}">
                <a16:creationId xmlns:a16="http://schemas.microsoft.com/office/drawing/2014/main" id="{FBD6C73A-DE48-80FC-52C3-C48C5A795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411" y="1635341"/>
            <a:ext cx="3776452" cy="4386244"/>
          </a:xfrm>
        </p:spPr>
        <p:txBody>
          <a:bodyPr>
            <a:normAutofit/>
          </a:bodyPr>
          <a:lstStyle/>
          <a:p>
            <a:endParaRPr lang="en-US" altLang="zh-TW" b="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00FDB65-BC63-3F9B-C0D0-F7550F021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2411" y="1460036"/>
            <a:ext cx="8686446" cy="539796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9EC0B361-B5F6-1A4F-B43B-85355088900A}"/>
              </a:ext>
            </a:extLst>
          </p:cNvPr>
          <p:cNvSpPr/>
          <p:nvPr/>
        </p:nvSpPr>
        <p:spPr>
          <a:xfrm>
            <a:off x="4360338" y="2276764"/>
            <a:ext cx="6171045" cy="46672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0719C98-C516-922A-917A-5271D48EC0B1}"/>
              </a:ext>
            </a:extLst>
          </p:cNvPr>
          <p:cNvSpPr txBox="1"/>
          <p:nvPr/>
        </p:nvSpPr>
        <p:spPr>
          <a:xfrm>
            <a:off x="5820642" y="1684759"/>
            <a:ext cx="4710741" cy="307777"/>
          </a:xfrm>
          <a:prstGeom prst="rect">
            <a:avLst/>
          </a:prstGeom>
          <a:solidFill>
            <a:srgbClr val="61C1BE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透過產品分類 以及搜尋、排序功能，能快速找到目標產品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4D21EF2-F737-7EC7-CB90-922AB2CF98DC}"/>
              </a:ext>
            </a:extLst>
          </p:cNvPr>
          <p:cNvSpPr/>
          <p:nvPr/>
        </p:nvSpPr>
        <p:spPr>
          <a:xfrm>
            <a:off x="2417239" y="2276764"/>
            <a:ext cx="1532370" cy="195560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C7C584D-BFE1-099E-2C81-537C155ABEAF}"/>
              </a:ext>
            </a:extLst>
          </p:cNvPr>
          <p:cNvSpPr txBox="1"/>
          <p:nvPr/>
        </p:nvSpPr>
        <p:spPr>
          <a:xfrm>
            <a:off x="721939" y="348384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/>
              <a:t>花紋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71981D8-2454-2F00-F55E-3D11B88CC874}"/>
              </a:ext>
            </a:extLst>
          </p:cNvPr>
          <p:cNvSpPr txBox="1"/>
          <p:nvPr/>
        </p:nvSpPr>
        <p:spPr>
          <a:xfrm>
            <a:off x="621532" y="126576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/>
              <a:t>規格</a:t>
            </a:r>
          </a:p>
        </p:txBody>
      </p:sp>
    </p:spTree>
    <p:extLst>
      <p:ext uri="{BB962C8B-B14F-4D97-AF65-F5344CB8AC3E}">
        <p14:creationId xmlns:p14="http://schemas.microsoft.com/office/powerpoint/2010/main" val="4831989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4107C-9987-FCE9-E393-5125D205B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6B740A12-1835-6EF3-AD2E-36C967230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760" y="925927"/>
            <a:ext cx="10515600" cy="1325563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zh-TW" altLang="en-US"/>
              <a:t>投影片 </a:t>
            </a:r>
            <a:r>
              <a:rPr lang="en-US" altLang="zh-TW"/>
              <a:t>15</a:t>
            </a:r>
            <a:r>
              <a:rPr lang="zh-TW" altLang="en-US"/>
              <a:t>｜訂單 </a:t>
            </a:r>
            <a:r>
              <a:rPr lang="en-US" altLang="zh-TW"/>
              <a:t>– </a:t>
            </a:r>
            <a:r>
              <a:rPr lang="zh-TW" altLang="en-US"/>
              <a:t>產品選品原文：透過產品分類以及搜尋、排序功能，能快速找到目標產品／花紋／規格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DCADA25-E3CC-D000-16E6-AE62483C4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81300"/>
            <a:ext cx="11109960" cy="3883660"/>
          </a:xfrm>
        </p:spPr>
        <p:txBody>
          <a:bodyPr>
            <a:normAutofit fontScale="77500" lnSpcReduction="20000"/>
          </a:bodyPr>
          <a:lstStyle/>
          <a:p>
            <a:r>
              <a:rPr sz="1000" b="0">
                <a:solidFill>
                  <a:srgbClr val="666666"/>
                </a:solidFill>
              </a:rPr>
              <a:t>原文：透過產品分類以及搜尋、排序功能，能快速找到目標產品／花紋／規格</a:t>
            </a:r>
          </a:p>
          <a:p>
            <a:endParaRPr sz="1000" b="0">
              <a:solidFill>
                <a:srgbClr val="666666"/>
              </a:solidFill>
            </a:endParaRPr>
          </a:p>
          <a:p>
            <a:r>
              <a:rPr sz="1000" b="1">
                <a:solidFill>
                  <a:srgbClr val="1F6496"/>
                </a:solidFill>
              </a:rPr>
              <a:t>A. 實際使用工具/方式（✅ 已實作）</a:t>
            </a:r>
          </a:p>
          <a:p>
            <a:r>
              <a:rPr sz="1000" b="0">
                <a:solidFill>
                  <a:srgbClr val="1A1A1A"/>
                </a:solidFill>
              </a:rPr>
              <a:t>catalog.py /products GET，依 Excel 匯入後的 kenda.product 主檔運作，</a:t>
            </a:r>
          </a:p>
          <a:p>
            <a:r>
              <a:rPr sz="1000" b="0">
                <a:solidFill>
                  <a:srgbClr val="1A1A1A"/>
                </a:solidFill>
              </a:rPr>
              <a:t>不涉及 ERP API 即時查詢。</a:t>
            </a:r>
          </a:p>
          <a:p>
            <a:endParaRPr sz="1000" b="0">
              <a:solidFill>
                <a:srgbClr val="1A1A1A"/>
              </a:solidFill>
            </a:endParaRPr>
          </a:p>
          <a:p>
            <a:r>
              <a:rPr sz="1000" b="1">
                <a:solidFill>
                  <a:srgbClr val="1F6496"/>
                </a:solidFill>
              </a:rPr>
              <a:t>B. 已實作規格</a:t>
            </a:r>
          </a:p>
          <a:p>
            <a:r>
              <a:rPr sz="1000" b="0">
                <a:solidFill>
                  <a:srgbClr val="1A1A1A"/>
                </a:solidFill>
              </a:rPr>
              <a:t>功能名稱：產品選品列表與搜尋</a:t>
            </a:r>
          </a:p>
          <a:p>
            <a:r>
              <a:rPr sz="1000" b="0">
                <a:solidFill>
                  <a:srgbClr val="1A1A1A"/>
                </a:solidFill>
              </a:rPr>
              <a:t>描述：前台依分類瀏覽，支援搜尋/排序/花紋規格篩選（已完成）</a:t>
            </a:r>
          </a:p>
          <a:p>
            <a:r>
              <a:rPr sz="1000" b="0">
                <a:solidFill>
                  <a:srgbClr val="1A1A1A"/>
                </a:solidFill>
              </a:rPr>
              <a:t>已實作篩選：series（系列）、tread_pattern（花紋）、q（關鍵字）、purpose（standard/promo/dead）</a:t>
            </a:r>
          </a:p>
          <a:p>
            <a:r>
              <a:rPr sz="1000" b="0">
                <a:solidFill>
                  <a:srgbClr val="1A1A1A"/>
                </a:solidFill>
              </a:rPr>
              <a:t>分類邏輯：_derive_category() 依尺寸自動判定 BC/MC/PCR/IC</a:t>
            </a:r>
          </a:p>
          <a:p>
            <a:r>
              <a:rPr sz="1000" b="0">
                <a:solidFill>
                  <a:srgbClr val="1A1A1A"/>
                </a:solidFill>
              </a:rPr>
              <a:t>排序：預設依 quote_master_no、seq；/product-filters 提供篩選選項清單</a:t>
            </a:r>
          </a:p>
          <a:p>
            <a:endParaRPr sz="1000" b="0">
              <a:solidFill>
                <a:srgbClr val="1A1A1A"/>
              </a:solidFill>
            </a:endParaRPr>
          </a:p>
          <a:p>
            <a:r>
              <a:rPr sz="1000" b="1">
                <a:solidFill>
                  <a:srgbClr val="1F6496"/>
                </a:solidFill>
              </a:rPr>
              <a:t>C. 已確認事項</a:t>
            </a:r>
          </a:p>
          <a:p>
            <a:r>
              <a:rPr sz="1000" b="0">
                <a:solidFill>
                  <a:srgbClr val="1A1A1A"/>
                </a:solidFill>
              </a:rPr>
              <a:t>〔同步頻率〕✅ 已確認：產品主檔僅 Excel 匯入，ERP 異動需手動重新匯入更新前台</a:t>
            </a:r>
          </a:p>
          <a:p>
            <a:r>
              <a:rPr sz="1000" b="0">
                <a:solidFill>
                  <a:srgbClr val="007000"/>
                </a:solidFill>
              </a:rPr>
              <a:t>〔分類結構〕✅ 已確認：BC/MC/PCR/IC 由 _derive_category() 依尺寸自動判定</a:t>
            </a:r>
          </a:p>
          <a:p>
            <a:r>
              <a:rPr sz="1000" b="0">
                <a:solidFill>
                  <a:srgbClr val="007000"/>
                </a:solidFill>
              </a:rPr>
              <a:t>〔多組價格顯示〕✅ 已確認：standard/promo/dead 三種 purpose 可篩選</a:t>
            </a:r>
          </a:p>
        </p:txBody>
      </p:sp>
    </p:spTree>
    <p:extLst>
      <p:ext uri="{BB962C8B-B14F-4D97-AF65-F5344CB8AC3E}">
        <p14:creationId xmlns:p14="http://schemas.microsoft.com/office/powerpoint/2010/main" val="18165525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F004B-7F7A-8FC4-E653-B1C39BC88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0AB42E34-D143-9671-D46D-CD92BB253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00CB95A-4AAB-A398-39B0-C0032ED31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49903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E6200-6A10-14B4-3C0C-4D9A04213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DFC72AA5-91CB-F7F6-3BB5-7F53799A1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914" y="359196"/>
            <a:ext cx="10515600" cy="1325563"/>
          </a:xfrm>
        </p:spPr>
        <p:txBody>
          <a:bodyPr/>
          <a:lstStyle/>
          <a:p>
            <a:r>
              <a:rPr lang="zh-TW" altLang="en-US" dirty="0"/>
              <a:t>訂單</a:t>
            </a:r>
            <a:r>
              <a:rPr lang="en-US" altLang="zh-TW" dirty="0"/>
              <a:t> – </a:t>
            </a:r>
            <a:r>
              <a:rPr lang="zh-TW" altLang="en-US" dirty="0"/>
              <a:t>產品選品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A2E29A10-66D2-2974-03BC-BAD903FED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6862" y="1465033"/>
            <a:ext cx="8938276" cy="553725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227AFB0B-6790-0466-3FDC-A17D4E3F2604}"/>
              </a:ext>
            </a:extLst>
          </p:cNvPr>
          <p:cNvSpPr/>
          <p:nvPr/>
        </p:nvSpPr>
        <p:spPr>
          <a:xfrm>
            <a:off x="1791855" y="5585854"/>
            <a:ext cx="2008620" cy="82601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3E8D32B-51CC-BC21-C4C4-390BBEE78CB8}"/>
              </a:ext>
            </a:extLst>
          </p:cNvPr>
          <p:cNvSpPr/>
          <p:nvPr/>
        </p:nvSpPr>
        <p:spPr>
          <a:xfrm>
            <a:off x="6249554" y="4938154"/>
            <a:ext cx="3275445" cy="136249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3C77F13-EE11-A0B2-50CA-86E5264E5ED2}"/>
              </a:ext>
            </a:extLst>
          </p:cNvPr>
          <p:cNvSpPr txBox="1"/>
          <p:nvPr/>
        </p:nvSpPr>
        <p:spPr>
          <a:xfrm>
            <a:off x="6249554" y="4582752"/>
            <a:ext cx="3075421" cy="307777"/>
          </a:xfrm>
          <a:prstGeom prst="rect">
            <a:avLst/>
          </a:prstGeom>
          <a:solidFill>
            <a:srgbClr val="61C1BE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可依需求選擇輪胎規格與花紋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5CD09F0-B689-17BC-F27B-6868BA964022}"/>
              </a:ext>
            </a:extLst>
          </p:cNvPr>
          <p:cNvSpPr txBox="1"/>
          <p:nvPr/>
        </p:nvSpPr>
        <p:spPr>
          <a:xfrm>
            <a:off x="1791855" y="6469019"/>
            <a:ext cx="2361045" cy="307777"/>
          </a:xfrm>
          <a:prstGeom prst="rect">
            <a:avLst/>
          </a:prstGeom>
          <a:solidFill>
            <a:srgbClr val="61C1BE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支援多圖片與產品影片展示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207E501-1D6D-F1F5-9CC1-457AF3E4F026}"/>
              </a:ext>
            </a:extLst>
          </p:cNvPr>
          <p:cNvSpPr txBox="1"/>
          <p:nvPr/>
        </p:nvSpPr>
        <p:spPr>
          <a:xfrm>
            <a:off x="9902080" y="6400175"/>
            <a:ext cx="1326116" cy="307777"/>
          </a:xfrm>
          <a:prstGeom prst="rect">
            <a:avLst/>
          </a:prstGeom>
          <a:solidFill>
            <a:srgbClr val="61C1BE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加入數量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984832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31A840-E686-20CE-C614-9CFBC328B0A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4800" y="112395"/>
            <a:ext cx="10515600" cy="1325563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zh-TW" altLang="zh-TW" dirty="0"/>
              <a:t>投影片 ｜訂單–產品選品（規格/花紋/加入數量）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A91C13-531A-CBC6-3D76-5793363F368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04800" y="1437958"/>
            <a:ext cx="11440160" cy="50949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sz="1000" b="0">
                <a:solidFill>
                  <a:srgbClr val="666666"/>
                </a:solidFill>
              </a:rPr>
              <a:t>原文：可依需求選擇輪胎規格與花紋／支援多圖片與產品影片展示／加入數量</a:t>
            </a:r>
          </a:p>
          <a:p>
            <a:endParaRPr sz="1000" b="0">
              <a:solidFill>
                <a:srgbClr val="666666"/>
              </a:solidFill>
            </a:endParaRPr>
          </a:p>
          <a:p>
            <a:r>
              <a:rPr sz="1000" b="1">
                <a:solidFill>
                  <a:srgbClr val="1F6496"/>
                </a:solidFill>
              </a:rPr>
              <a:t>A. 實際使用工具/方式（⚠️ 部分實作）</a:t>
            </a:r>
          </a:p>
          <a:p>
            <a:r>
              <a:rPr sz="1000" b="0">
                <a:solidFill>
                  <a:srgbClr val="1A1A1A"/>
                </a:solidFill>
              </a:rPr>
              <a:t>catalog.py /products/&lt;code&gt; 規格查詢已完成，多圖片/影片展示和完整購物車流程尚未完成。</a:t>
            </a:r>
          </a:p>
          <a:p>
            <a:r>
              <a:rPr sz="1000" b="0">
                <a:solidFill>
                  <a:srgbClr val="1A1A1A"/>
                </a:solidFill>
              </a:rPr>
              <a:t>已確認排除庫存 API（無即時庫存校驗）。</a:t>
            </a:r>
          </a:p>
          <a:p>
            <a:endParaRPr sz="1000" b="0">
              <a:solidFill>
                <a:srgbClr val="1A1A1A"/>
              </a:solidFill>
            </a:endParaRPr>
          </a:p>
          <a:p>
            <a:r>
              <a:rPr sz="1000" b="1">
                <a:solidFill>
                  <a:srgbClr val="1F6496"/>
                </a:solidFill>
              </a:rPr>
              <a:t>B. 已實作 / 待辦規格</a:t>
            </a:r>
          </a:p>
          <a:p>
            <a:r>
              <a:rPr sz="1000" b="0">
                <a:solidFill>
                  <a:srgbClr val="1A1A1A"/>
                </a:solidFill>
              </a:rPr>
              <a:t>功能名稱：產品詳情與加入購物車</a:t>
            </a:r>
          </a:p>
          <a:p>
            <a:r>
              <a:rPr sz="1000" b="0">
                <a:solidFill>
                  <a:srgbClr val="007000"/>
                </a:solidFill>
              </a:rPr>
              <a:t>✅ 已實作：/products/&lt;code&gt; GET，回傳 spec/size/tread_pattern/ply_rating/tt_tl/tpu 等規格</a:t>
            </a:r>
          </a:p>
          <a:p>
            <a:r>
              <a:rPr sz="1000" b="0">
                <a:solidFill>
                  <a:srgbClr val="007000"/>
                </a:solidFill>
              </a:rPr>
              <a:t>✅ 已實作：/cart POST 加入購物車基礎架構</a:t>
            </a:r>
          </a:p>
          <a:p>
            <a:r>
              <a:rPr sz="1000" b="0">
                <a:solidFill>
                  <a:srgbClr val="BF5F00"/>
                </a:solidFill>
              </a:rPr>
              <a:t>⚠️ 待補：多圖片/影片展示（kenda.product 目前僅有單一 image 欄位）</a:t>
            </a:r>
          </a:p>
          <a:p>
            <a:r>
              <a:rPr sz="1000" b="0">
                <a:solidFill>
                  <a:srgbClr val="BF5F00"/>
                </a:solidFill>
              </a:rPr>
              <a:t>⚠️ 待補：購物車 add/update qty/remove 完整邏輯</a:t>
            </a:r>
          </a:p>
          <a:p>
            <a:endParaRPr sz="1000" b="0">
              <a:solidFill>
                <a:srgbClr val="BF5F00"/>
              </a:solidFill>
            </a:endParaRPr>
          </a:p>
          <a:p>
            <a:r>
              <a:rPr sz="1000" b="1">
                <a:solidFill>
                  <a:srgbClr val="1F6496"/>
                </a:solidFill>
              </a:rPr>
              <a:t>C. 已確認 / 仍待確認</a:t>
            </a:r>
          </a:p>
          <a:p>
            <a:r>
              <a:rPr sz="1000" b="0">
                <a:solidFill>
                  <a:srgbClr val="007000"/>
                </a:solidFill>
              </a:rPr>
              <a:t>〔超賣風險〕✅ 已確認排除庫存查詢 API，下單後由 ERP 端覆核</a:t>
            </a:r>
          </a:p>
          <a:p>
            <a:r>
              <a:rPr sz="1000" b="0">
                <a:solidFill>
                  <a:srgbClr val="BF5F00"/>
                </a:solidFill>
              </a:rPr>
              <a:t>〔最小訂購量〕⚠️ 仍待確認：是否有最小訂購量/倍數限制及前端防呆規則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E6200-6A10-14B4-3C0C-4D9A04213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DFC72AA5-91CB-F7F6-3BB5-7F53799A1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914" y="359196"/>
            <a:ext cx="10515600" cy="1325563"/>
          </a:xfrm>
        </p:spPr>
        <p:txBody>
          <a:bodyPr/>
          <a:lstStyle/>
          <a:p>
            <a:r>
              <a:rPr lang="zh-TW" altLang="en-US" dirty="0"/>
              <a:t>後臺 </a:t>
            </a:r>
            <a:r>
              <a:rPr lang="en-US" altLang="zh-TW" dirty="0"/>
              <a:t>– </a:t>
            </a:r>
            <a:r>
              <a:rPr lang="zh-TW" altLang="en-US" dirty="0"/>
              <a:t>成立訂單</a:t>
            </a:r>
          </a:p>
        </p:txBody>
      </p:sp>
      <p:pic>
        <p:nvPicPr>
          <p:cNvPr id="32" name="圖片 31">
            <a:extLst>
              <a:ext uri="{FF2B5EF4-FFF2-40B4-BE49-F238E27FC236}">
                <a16:creationId xmlns:a16="http://schemas.microsoft.com/office/drawing/2014/main" id="{B2DBCAAC-79D7-3847-DC9C-9E3080938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648" y="2609014"/>
            <a:ext cx="8254525" cy="273811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3F14BE7C-F195-3902-1DC3-EDFB2FD19FF1}"/>
              </a:ext>
            </a:extLst>
          </p:cNvPr>
          <p:cNvSpPr/>
          <p:nvPr/>
        </p:nvSpPr>
        <p:spPr>
          <a:xfrm>
            <a:off x="659097" y="3387890"/>
            <a:ext cx="7387623" cy="195924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2E124876-59FC-E2EF-6981-9864B995D0F8}"/>
              </a:ext>
            </a:extLst>
          </p:cNvPr>
          <p:cNvSpPr txBox="1"/>
          <p:nvPr/>
        </p:nvSpPr>
        <p:spPr>
          <a:xfrm>
            <a:off x="659097" y="5439235"/>
            <a:ext cx="3113951" cy="307777"/>
          </a:xfrm>
          <a:prstGeom prst="rect">
            <a:avLst/>
          </a:prstGeom>
          <a:solidFill>
            <a:srgbClr val="61C1BE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可透過後台完整掌握訂單狀態與內容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51F8C889-C375-C663-81D3-0EDC0205D723}"/>
              </a:ext>
            </a:extLst>
          </p:cNvPr>
          <p:cNvSpPr txBox="1"/>
          <p:nvPr/>
        </p:nvSpPr>
        <p:spPr>
          <a:xfrm>
            <a:off x="4419600" y="5347133"/>
            <a:ext cx="51587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/>
              <a:t>經銷商確認訂單後</a:t>
            </a:r>
            <a:r>
              <a:rPr lang="en-US" altLang="zh-TW" sz="2000" b="1" dirty="0"/>
              <a:t> </a:t>
            </a:r>
            <a:r>
              <a:rPr lang="en-US" altLang="zh-TW" sz="2000" b="1" dirty="0">
                <a:sym typeface="Wingdings" panose="05000000000000000000" pitchFamily="2" charset="2"/>
              </a:rPr>
              <a:t> </a:t>
            </a:r>
            <a:r>
              <a:rPr lang="en-US" altLang="zh-TW" sz="2000" b="1" dirty="0">
                <a:highlight>
                  <a:srgbClr val="FFFF00"/>
                </a:highlight>
                <a:sym typeface="Wingdings" panose="05000000000000000000" pitchFamily="2" charset="2"/>
              </a:rPr>
              <a:t>mail</a:t>
            </a:r>
            <a:r>
              <a:rPr lang="zh-TW" altLang="en-US" sz="2000" b="1" dirty="0">
                <a:highlight>
                  <a:srgbClr val="FFFF00"/>
                </a:highlight>
                <a:sym typeface="Wingdings" panose="05000000000000000000" pitchFamily="2" charset="2"/>
              </a:rPr>
              <a:t>通知建大業務人員</a:t>
            </a:r>
            <a:endParaRPr lang="zh-TW" altLang="en-US" sz="2000" b="1" dirty="0">
              <a:highlight>
                <a:srgbClr val="FFFF00"/>
              </a:highlight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F3C8AB23-261A-64E5-7428-CDF2D6B1066F}"/>
              </a:ext>
            </a:extLst>
          </p:cNvPr>
          <p:cNvSpPr txBox="1"/>
          <p:nvPr/>
        </p:nvSpPr>
        <p:spPr>
          <a:xfrm>
            <a:off x="4472121" y="5861964"/>
            <a:ext cx="659211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1" dirty="0">
                <a:sym typeface="Wingdings" panose="05000000000000000000" pitchFamily="2" charset="2"/>
              </a:rPr>
              <a:t>建大業務人員後台   </a:t>
            </a:r>
            <a:r>
              <a:rPr lang="zh-TW" altLang="en-US" sz="2000" b="1" dirty="0">
                <a:highlight>
                  <a:srgbClr val="FFFF00"/>
                </a:highlight>
                <a:sym typeface="Wingdings" panose="05000000000000000000" pitchFamily="2" charset="2"/>
              </a:rPr>
              <a:t>確認訂單 ，前台經銷商可查詢</a:t>
            </a:r>
            <a:endParaRPr lang="en-US" altLang="zh-TW" sz="2000" b="1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en-US" altLang="zh-TW" sz="2000" b="1" dirty="0">
                <a:sym typeface="Wingdings" panose="05000000000000000000" pitchFamily="2" charset="2"/>
              </a:rPr>
              <a:t>                                     </a:t>
            </a:r>
            <a:r>
              <a:rPr lang="zh-TW" altLang="en-US" sz="2000" b="1" dirty="0">
                <a:highlight>
                  <a:srgbClr val="FFFF00"/>
                </a:highlight>
                <a:sym typeface="Wingdings" panose="05000000000000000000" pitchFamily="2" charset="2"/>
              </a:rPr>
              <a:t>轉入</a:t>
            </a:r>
            <a:r>
              <a:rPr lang="en-US" altLang="zh-TW" sz="2000" b="1" dirty="0">
                <a:highlight>
                  <a:srgbClr val="FFFF00"/>
                </a:highlight>
                <a:sym typeface="Wingdings" panose="05000000000000000000" pitchFamily="2" charset="2"/>
              </a:rPr>
              <a:t>ERP</a:t>
            </a:r>
            <a:r>
              <a:rPr lang="zh-TW" altLang="en-US" sz="2000" b="1" dirty="0">
                <a:highlight>
                  <a:srgbClr val="FFFF00"/>
                </a:highlight>
                <a:sym typeface="Wingdings" panose="05000000000000000000" pitchFamily="2" charset="2"/>
              </a:rPr>
              <a:t>訂單系統</a:t>
            </a:r>
            <a:endParaRPr lang="en-US" altLang="zh-TW" sz="2000" b="1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en-US" altLang="zh-TW" sz="2000" b="1" dirty="0">
                <a:sym typeface="Wingdings" panose="05000000000000000000" pitchFamily="2" charset="2"/>
              </a:rPr>
              <a:t>                                     </a:t>
            </a:r>
            <a:r>
              <a:rPr lang="en-US" altLang="zh-TW" sz="2000" b="1" dirty="0">
                <a:highlight>
                  <a:srgbClr val="FFFF00"/>
                </a:highlight>
                <a:sym typeface="Wingdings" panose="05000000000000000000" pitchFamily="2" charset="2"/>
              </a:rPr>
              <a:t>MAIL</a:t>
            </a:r>
            <a:r>
              <a:rPr lang="zh-TW" altLang="en-US" sz="2000" b="1" dirty="0">
                <a:highlight>
                  <a:srgbClr val="FFFF00"/>
                </a:highlight>
                <a:sym typeface="Wingdings" panose="05000000000000000000" pitchFamily="2" charset="2"/>
              </a:rPr>
              <a:t>通知經銷商</a:t>
            </a:r>
            <a:endParaRPr lang="zh-TW" altLang="en-US" sz="2000" dirty="0">
              <a:highlight>
                <a:srgbClr val="FFFF00"/>
              </a:highlight>
            </a:endParaRPr>
          </a:p>
        </p:txBody>
      </p:sp>
      <p:pic>
        <p:nvPicPr>
          <p:cNvPr id="39" name="圖片 38">
            <a:extLst>
              <a:ext uri="{FF2B5EF4-FFF2-40B4-BE49-F238E27FC236}">
                <a16:creationId xmlns:a16="http://schemas.microsoft.com/office/drawing/2014/main" id="{82D47EE7-078E-B76B-DDB6-E1301B8550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1510867"/>
            <a:ext cx="7772400" cy="178492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cxnSp>
        <p:nvCxnSpPr>
          <p:cNvPr id="40" name="接點: 肘形 6">
            <a:extLst>
              <a:ext uri="{FF2B5EF4-FFF2-40B4-BE49-F238E27FC236}">
                <a16:creationId xmlns:a16="http://schemas.microsoft.com/office/drawing/2014/main" id="{A0C124CD-C4DE-A67E-B41E-2C85EAED3310}"/>
              </a:ext>
            </a:extLst>
          </p:cNvPr>
          <p:cNvCxnSpPr>
            <a:cxnSpLocks/>
            <a:endCxn id="39" idx="2"/>
          </p:cNvCxnSpPr>
          <p:nvPr/>
        </p:nvCxnSpPr>
        <p:spPr>
          <a:xfrm rot="5400000" flipH="1" flipV="1">
            <a:off x="7616531" y="3725977"/>
            <a:ext cx="1119458" cy="259080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44043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31A840-E686-20CE-C614-9CFBC328B0A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4800" y="112395"/>
            <a:ext cx="10515600" cy="1325563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zh-TW" altLang="zh-TW" dirty="0"/>
              <a:t>投影片 ｜後臺–成立訂單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A91C13-531A-CBC6-3D76-5793363F368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04800" y="1437958"/>
            <a:ext cx="11440160" cy="50949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sz="1000" b="0">
                <a:solidFill>
                  <a:srgbClr val="666666"/>
                </a:solidFill>
              </a:rPr>
              <a:t>原文：可透過後台掌握訂單狀態／確認後 mail 通知業務人員／轉入 ERP／MAIL 通知經銷商</a:t>
            </a:r>
          </a:p>
          <a:p>
            <a:endParaRPr sz="1000" b="0">
              <a:solidFill>
                <a:srgbClr val="666666"/>
              </a:solidFill>
            </a:endParaRPr>
          </a:p>
          <a:p>
            <a:r>
              <a:rPr sz="1000" b="1">
                <a:solidFill>
                  <a:srgbClr val="1F6496"/>
                </a:solidFill>
              </a:rPr>
              <a:t>A. 實際使用工具/方式（⚠️ 部分實作）</a:t>
            </a:r>
          </a:p>
          <a:p>
            <a:r>
              <a:rPr sz="1000" b="0">
                <a:solidFill>
                  <a:srgbClr val="1A1A1A"/>
                </a:solidFill>
              </a:rPr>
              <a:t>kenda_order.py + kenda_order_views.xml 後台訂單管理已完成，mail 通知機制和</a:t>
            </a:r>
          </a:p>
          <a:p>
            <a:r>
              <a:rPr sz="1000" b="0">
                <a:solidFill>
                  <a:srgbClr val="1A1A1A"/>
                </a:solidFill>
              </a:rPr>
              <a:t>後台手動成立訂單 API 尚未完成。</a:t>
            </a:r>
          </a:p>
          <a:p>
            <a:endParaRPr sz="1000" b="0">
              <a:solidFill>
                <a:srgbClr val="1A1A1A"/>
              </a:solidFill>
            </a:endParaRPr>
          </a:p>
          <a:p>
            <a:r>
              <a:rPr sz="1000" b="1">
                <a:solidFill>
                  <a:srgbClr val="1F6496"/>
                </a:solidFill>
              </a:rPr>
              <a:t>B. 已實作 / 待辦規格</a:t>
            </a:r>
          </a:p>
          <a:p>
            <a:r>
              <a:rPr sz="1000" b="0">
                <a:solidFill>
                  <a:srgbClr val="1A1A1A"/>
                </a:solidFill>
              </a:rPr>
              <a:t>功能名稱：後台訂單建立與狀態追蹤</a:t>
            </a:r>
          </a:p>
          <a:p>
            <a:r>
              <a:rPr sz="1000" b="0">
                <a:solidFill>
                  <a:srgbClr val="007000"/>
                </a:solidFill>
              </a:rPr>
              <a:t>✅ 已實作：kenda_order.py model，狀態機（draft→confirmed→pushed→acked→error）</a:t>
            </a:r>
          </a:p>
          <a:p>
            <a:r>
              <a:rPr sz="1000" b="0">
                <a:solidFill>
                  <a:srgbClr val="007000"/>
                </a:solidFill>
              </a:rPr>
              <a:t>✅ 已實作：後台訂單列表/表單 UI（kenda_order_views.xml），可查訂單狀態與明細</a:t>
            </a:r>
          </a:p>
          <a:p>
            <a:r>
              <a:rPr sz="1000" b="0">
                <a:solidFill>
                  <a:srgbClr val="007000"/>
                </a:solidFill>
              </a:rPr>
              <a:t>✅ 已實作：前台 /cart/checkout 可建立訂單並推 ERP（best-effort）</a:t>
            </a:r>
          </a:p>
          <a:p>
            <a:r>
              <a:rPr sz="1000" b="0">
                <a:solidFill>
                  <a:srgbClr val="BF5F00"/>
                </a:solidFill>
              </a:rPr>
              <a:t>⚠️ 待補：業務確認後 mail 通知機制</a:t>
            </a:r>
          </a:p>
          <a:p>
            <a:r>
              <a:rPr sz="1000" b="0">
                <a:solidFill>
                  <a:srgbClr val="BF5F00"/>
                </a:solidFill>
              </a:rPr>
              <a:t>⚠️ 待補：後台人員手動成立/確認訂單的 API 路由（POST/PUT /orders/&lt;id&gt;/confirm）</a:t>
            </a:r>
          </a:p>
          <a:p>
            <a:endParaRPr sz="1000" b="0">
              <a:solidFill>
                <a:srgbClr val="BF5F00"/>
              </a:solidFill>
            </a:endParaRPr>
          </a:p>
          <a:p>
            <a:r>
              <a:rPr sz="1000" b="1">
                <a:solidFill>
                  <a:srgbClr val="1F6496"/>
                </a:solidFill>
              </a:rPr>
              <a:t>C. 已確認 / 仍待確認</a:t>
            </a:r>
          </a:p>
          <a:p>
            <a:r>
              <a:rPr sz="1000" b="0">
                <a:solidFill>
                  <a:srgbClr val="BF5F00"/>
                </a:solidFill>
              </a:rPr>
              <a:t>〔人工關卡〕⚠️ 仍待確認：業務確認是否為必要步驟？mail 通知在哪個節點觸發？</a:t>
            </a:r>
          </a:p>
          <a:p>
            <a:r>
              <a:rPr sz="1000" b="0">
                <a:solidFill>
                  <a:srgbClr val="007000"/>
                </a:solidFill>
              </a:rPr>
              <a:t>〔轉ERP時機〕✅ 已確認：/cart/checkout 結帳時即時呼叫 ERP（best-effort）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E6200-6A10-14B4-3C0C-4D9A04213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DFC72AA5-91CB-F7F6-3BB5-7F53799A1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914" y="359196"/>
            <a:ext cx="10515600" cy="1325563"/>
          </a:xfrm>
        </p:spPr>
        <p:txBody>
          <a:bodyPr/>
          <a:lstStyle/>
          <a:p>
            <a:r>
              <a:rPr lang="zh-TW" altLang="en-US" dirty="0"/>
              <a:t>後臺 </a:t>
            </a:r>
            <a:r>
              <a:rPr lang="en-US" altLang="zh-TW" dirty="0"/>
              <a:t>– </a:t>
            </a:r>
            <a:r>
              <a:rPr lang="zh-TW" altLang="en-US" dirty="0"/>
              <a:t>訂單通知經銷商</a:t>
            </a:r>
          </a:p>
        </p:txBody>
      </p:sp>
      <p:pic>
        <p:nvPicPr>
          <p:cNvPr id="44" name="圖片 43">
            <a:extLst>
              <a:ext uri="{FF2B5EF4-FFF2-40B4-BE49-F238E27FC236}">
                <a16:creationId xmlns:a16="http://schemas.microsoft.com/office/drawing/2014/main" id="{91D1822B-0293-7D93-7056-5D3F8077C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927" y="2165404"/>
            <a:ext cx="6832639" cy="413089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45" name="矩形 44">
            <a:extLst>
              <a:ext uri="{FF2B5EF4-FFF2-40B4-BE49-F238E27FC236}">
                <a16:creationId xmlns:a16="http://schemas.microsoft.com/office/drawing/2014/main" id="{BAA2BBC9-D57B-4D5F-57FA-E8017F4AC34A}"/>
              </a:ext>
            </a:extLst>
          </p:cNvPr>
          <p:cNvSpPr/>
          <p:nvPr/>
        </p:nvSpPr>
        <p:spPr>
          <a:xfrm>
            <a:off x="1251548" y="2792474"/>
            <a:ext cx="863748" cy="32427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004D07CA-4F9B-EDB1-D830-D33589A03076}"/>
              </a:ext>
            </a:extLst>
          </p:cNvPr>
          <p:cNvSpPr txBox="1"/>
          <p:nvPr/>
        </p:nvSpPr>
        <p:spPr>
          <a:xfrm>
            <a:off x="1904315" y="3121223"/>
            <a:ext cx="3264767" cy="307777"/>
          </a:xfrm>
          <a:prstGeom prst="rect">
            <a:avLst/>
          </a:prstGeom>
          <a:solidFill>
            <a:srgbClr val="61C1BE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訂單資訊可透過郵件發送給經銷商確認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7" name="圖片 46">
            <a:extLst>
              <a:ext uri="{FF2B5EF4-FFF2-40B4-BE49-F238E27FC236}">
                <a16:creationId xmlns:a16="http://schemas.microsoft.com/office/drawing/2014/main" id="{50726389-EA58-EECF-CCDC-587F317461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7449" y="880707"/>
            <a:ext cx="5898453" cy="489303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cxnSp>
        <p:nvCxnSpPr>
          <p:cNvPr id="51" name="接點: 肘形 6">
            <a:extLst>
              <a:ext uri="{FF2B5EF4-FFF2-40B4-BE49-F238E27FC236}">
                <a16:creationId xmlns:a16="http://schemas.microsoft.com/office/drawing/2014/main" id="{B2FC5165-5887-A18C-7A6F-359FE1F236EB}"/>
              </a:ext>
            </a:extLst>
          </p:cNvPr>
          <p:cNvCxnSpPr>
            <a:cxnSpLocks/>
            <a:stCxn id="45" idx="0"/>
          </p:cNvCxnSpPr>
          <p:nvPr/>
        </p:nvCxnSpPr>
        <p:spPr>
          <a:xfrm rot="5400000" flipH="1" flipV="1">
            <a:off x="3164003" y="309027"/>
            <a:ext cx="1002866" cy="3964029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47178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31A840-E686-20CE-C614-9CFBC328B0A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4800" y="112395"/>
            <a:ext cx="10515600" cy="1325563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zh-TW" altLang="zh-TW" dirty="0"/>
              <a:t>投影片 ｜後臺–訂單通知經銷商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A91C13-531A-CBC6-3D76-5793363F368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04800" y="1437958"/>
            <a:ext cx="11440160" cy="50949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sz="1000" b="0">
                <a:solidFill>
                  <a:srgbClr val="666666"/>
                </a:solidFill>
              </a:rPr>
              <a:t>原文：訂單資訊可透過郵件發送給經銷商確認</a:t>
            </a:r>
          </a:p>
          <a:p>
            <a:endParaRPr sz="1000" b="0">
              <a:solidFill>
                <a:srgbClr val="666666"/>
              </a:solidFill>
            </a:endParaRPr>
          </a:p>
          <a:p>
            <a:r>
              <a:rPr sz="1000" b="1">
                <a:solidFill>
                  <a:srgbClr val="1F6496"/>
                </a:solidFill>
              </a:rPr>
              <a:t>A. 預計使用工具/方式（❌ 尚未開發）</a:t>
            </a:r>
          </a:p>
          <a:p>
            <a:r>
              <a:rPr sz="1000" b="0">
                <a:solidFill>
                  <a:srgbClr val="1A1A1A"/>
                </a:solidFill>
              </a:rPr>
              <a:t>平台後台觸發 Email 通知（SMTP/第三方郵件服務），屬通知模組，不涉及 ERP API。</a:t>
            </a:r>
          </a:p>
          <a:p>
            <a:r>
              <a:rPr sz="1000" b="0">
                <a:solidFill>
                  <a:srgbClr val="1A1A1A"/>
                </a:solidFill>
              </a:rPr>
              <a:t>目前程式碼中無任何 mail 通知邏輯（kenda_salesperson.py 有 salesperson_email 欄位但未被使用）。</a:t>
            </a:r>
          </a:p>
          <a:p>
            <a:endParaRPr sz="1000" b="0">
              <a:solidFill>
                <a:srgbClr val="1A1A1A"/>
              </a:solidFill>
            </a:endParaRPr>
          </a:p>
          <a:p>
            <a:r>
              <a:rPr sz="1000" b="1">
                <a:solidFill>
                  <a:srgbClr val="1F6496"/>
                </a:solidFill>
              </a:rPr>
              <a:t>B. 待開發規格</a:t>
            </a:r>
          </a:p>
          <a:p>
            <a:r>
              <a:rPr sz="1000" b="0">
                <a:solidFill>
                  <a:srgbClr val="1A1A1A"/>
                </a:solidFill>
              </a:rPr>
              <a:t>功能名稱：訂單確認 Mail 通知</a:t>
            </a:r>
          </a:p>
          <a:p>
            <a:r>
              <a:rPr sz="1000" b="0">
                <a:solidFill>
                  <a:srgbClr val="1A1A1A"/>
                </a:solidFill>
              </a:rPr>
              <a:t>描述：訂單狀態變更時自動發送 Email 給經銷商（待開發）</a:t>
            </a:r>
          </a:p>
          <a:p>
            <a:r>
              <a:rPr sz="1000" b="0">
                <a:solidFill>
                  <a:srgbClr val="1A1A1A"/>
                </a:solidFill>
              </a:rPr>
              <a:t>待確認欄位：通知時機點、信件版型、失敗重送機制</a:t>
            </a:r>
          </a:p>
          <a:p>
            <a:endParaRPr sz="1000" b="0">
              <a:solidFill>
                <a:srgbClr val="1A1A1A"/>
              </a:solidFill>
            </a:endParaRPr>
          </a:p>
          <a:p>
            <a:r>
              <a:rPr sz="1000" b="1">
                <a:solidFill>
                  <a:srgbClr val="1F6496"/>
                </a:solidFill>
              </a:rPr>
              <a:t>C. 仍待確認</a:t>
            </a:r>
          </a:p>
          <a:p>
            <a:r>
              <a:rPr sz="1000" b="0">
                <a:solidFill>
                  <a:srgbClr val="BF5F00"/>
                </a:solidFill>
              </a:rPr>
              <a:t>〔觸發時機〕⚠️ 需先確認：Mail 在「經銷商下單」「業務確認」還是「ERP同步成功」哪個節點觸發，</a:t>
            </a:r>
          </a:p>
          <a:p>
            <a:r>
              <a:rPr sz="1000" b="0">
                <a:solidFill>
                  <a:srgbClr val="BF5F00"/>
                </a:solidFill>
              </a:rPr>
              <a:t>  確認後再進行開發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E6200-6A10-14B4-3C0C-4D9A04213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DFC72AA5-91CB-F7F6-3BB5-7F53799A1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914" y="359196"/>
            <a:ext cx="10515600" cy="1325563"/>
          </a:xfrm>
        </p:spPr>
        <p:txBody>
          <a:bodyPr/>
          <a:lstStyle/>
          <a:p>
            <a:r>
              <a:rPr lang="zh-TW" altLang="en-US" dirty="0"/>
              <a:t>後臺 </a:t>
            </a:r>
            <a:r>
              <a:rPr lang="en-US" altLang="zh-TW" dirty="0"/>
              <a:t>– </a:t>
            </a:r>
            <a:r>
              <a:rPr lang="zh-TW" altLang="en-US" dirty="0"/>
              <a:t>與</a:t>
            </a:r>
            <a:r>
              <a:rPr lang="en-US" altLang="zh-TW" dirty="0"/>
              <a:t>ERP</a:t>
            </a:r>
            <a:r>
              <a:rPr lang="zh-TW" altLang="en-US" dirty="0"/>
              <a:t>同步訂單-已完成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15DAA205-CDE7-0A24-964F-154DEB691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054" y="1416219"/>
            <a:ext cx="9053460" cy="524438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EDFAF12-97FA-06BB-8EBA-88F68945DB1F}"/>
              </a:ext>
            </a:extLst>
          </p:cNvPr>
          <p:cNvSpPr/>
          <p:nvPr/>
        </p:nvSpPr>
        <p:spPr>
          <a:xfrm>
            <a:off x="6121784" y="4183985"/>
            <a:ext cx="2200275" cy="101938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5F5EAAE-825E-1DAB-9E9F-4C5171E1F859}"/>
              </a:ext>
            </a:extLst>
          </p:cNvPr>
          <p:cNvSpPr txBox="1"/>
          <p:nvPr/>
        </p:nvSpPr>
        <p:spPr>
          <a:xfrm>
            <a:off x="6121785" y="5537279"/>
            <a:ext cx="2952750" cy="307777"/>
          </a:xfrm>
          <a:prstGeom prst="rect">
            <a:avLst/>
          </a:prstGeom>
          <a:solidFill>
            <a:srgbClr val="61C1BE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確認訂單後，直接同步至 </a:t>
            </a:r>
            <a:r>
              <a:rPr lang="en-US" altLang="zh-TW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ERP </a:t>
            </a: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F3C0B15-28B6-83E8-2198-A287EF259BB9}"/>
              </a:ext>
            </a:extLst>
          </p:cNvPr>
          <p:cNvSpPr txBox="1"/>
          <p:nvPr/>
        </p:nvSpPr>
        <p:spPr>
          <a:xfrm>
            <a:off x="8391320" y="4185384"/>
            <a:ext cx="1366429" cy="3077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此為客製功能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731625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31A840-E686-20CE-C614-9CFBC328B0A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4800" y="112395"/>
            <a:ext cx="10515600" cy="1325563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zh-TW" altLang="zh-TW" dirty="0"/>
              <a:t>投影片 ｜後臺–與ERP同步訂單（此為客製功能）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A91C13-531A-CBC6-3D76-5793363F368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04800" y="1437958"/>
            <a:ext cx="11440160" cy="50949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sz="1000" b="0">
                <a:solidFill>
                  <a:srgbClr val="666666"/>
                </a:solidFill>
              </a:rPr>
              <a:t>原文：確認訂單後，直接同步至ERP系統／此為客製功能</a:t>
            </a:r>
          </a:p>
          <a:p>
            <a:endParaRPr sz="1000" b="0">
              <a:solidFill>
                <a:srgbClr val="666666"/>
              </a:solidFill>
            </a:endParaRPr>
          </a:p>
          <a:p>
            <a:r>
              <a:rPr sz="1000" b="1">
                <a:solidFill>
                  <a:srgbClr val="1F6496"/>
                </a:solidFill>
              </a:rPr>
              <a:t>A. 實際使用工具/方式（✅ 已實作）</a:t>
            </a:r>
          </a:p>
          <a:p>
            <a:r>
              <a:rPr sz="1000" b="0">
                <a:solidFill>
                  <a:srgbClr val="1A1A1A"/>
                </a:solidFill>
              </a:rPr>
              <a:t>erp_client.py create_order() 呼叫 POST /erp/v1/orders，在 /cart/checkout</a:t>
            </a:r>
          </a:p>
          <a:p>
            <a:r>
              <a:rPr sz="1000" b="0">
                <a:solidFill>
                  <a:srgbClr val="1A1A1A"/>
                </a:solidFill>
              </a:rPr>
              <a:t>結帳流程中自動觸發，平台端客製開發。</a:t>
            </a:r>
          </a:p>
          <a:p>
            <a:endParaRPr sz="1000" b="0">
              <a:solidFill>
                <a:srgbClr val="1A1A1A"/>
              </a:solidFill>
            </a:endParaRPr>
          </a:p>
          <a:p>
            <a:r>
              <a:rPr sz="1000" b="1">
                <a:solidFill>
                  <a:srgbClr val="1F6496"/>
                </a:solidFill>
              </a:rPr>
              <a:t>B. 已實作規格</a:t>
            </a:r>
          </a:p>
          <a:p>
            <a:r>
              <a:rPr sz="1000" b="0">
                <a:solidFill>
                  <a:srgbClr val="1A1A1A"/>
                </a:solidFill>
              </a:rPr>
              <a:t>功能名稱：訂單 ERP 同步（客製）</a:t>
            </a:r>
          </a:p>
          <a:p>
            <a:r>
              <a:rPr sz="1000" b="0">
                <a:solidFill>
                  <a:srgbClr val="1A1A1A"/>
                </a:solidFill>
              </a:rPr>
              <a:t>描述：訂單確認後自動推送至 ERP（已完成）</a:t>
            </a:r>
          </a:p>
          <a:p>
            <a:r>
              <a:rPr sz="1000" b="0">
                <a:solidFill>
                  <a:srgbClr val="1A1A1A"/>
                </a:solidFill>
              </a:rPr>
              <a:t>實作：best-effort 推送；ERP 回傳正式訂單編號後寫回 kenda.order</a:t>
            </a:r>
          </a:p>
          <a:p>
            <a:r>
              <a:rPr sz="1000" b="0">
                <a:solidFill>
                  <a:srgbClr val="1A1A1A"/>
                </a:solidFill>
              </a:rPr>
              <a:t>同步日誌：KendaErpSyncLog model 記錄所有 ERP 交互，後台有同步日誌 UI</a:t>
            </a:r>
          </a:p>
          <a:p>
            <a:endParaRPr sz="1000" b="0">
              <a:solidFill>
                <a:srgbClr val="1A1A1A"/>
              </a:solidFill>
            </a:endParaRPr>
          </a:p>
          <a:p>
            <a:r>
              <a:rPr sz="1000" b="1">
                <a:solidFill>
                  <a:srgbClr val="1F6496"/>
                </a:solidFill>
              </a:rPr>
              <a:t>C. 已確認事項</a:t>
            </a:r>
          </a:p>
          <a:p>
            <a:r>
              <a:rPr sz="1000" b="0">
                <a:solidFill>
                  <a:srgbClr val="007000"/>
                </a:solidFill>
              </a:rPr>
              <a:t>〔客製範圍〕✅ 平台端 API 呼叫層已完成（erp_client.create_order）</a:t>
            </a:r>
          </a:p>
          <a:p>
            <a:r>
              <a:rPr sz="1000" b="0">
                <a:solidFill>
                  <a:srgbClr val="1A1A1A"/>
                </a:solidFill>
              </a:rPr>
              <a:t>  建議確認 ERP 端 /erp/v1/orders 介接規格是否已與建大 ERP 團隊完成驗收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A6914-1457-311E-DAD5-5E9571226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22E818-A63B-27A1-2C4B-1219C94D7E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04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D0E552C-9BD7-AF2F-F730-A502E6959B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經銷商個人查詢</a:t>
            </a:r>
            <a:endParaRPr lang="en-US" altLang="zh-TW" dirty="0"/>
          </a:p>
          <a:p>
            <a:r>
              <a:rPr lang="zh-TW" altLang="en-US" dirty="0"/>
              <a:t>訂單</a:t>
            </a:r>
            <a:r>
              <a:rPr lang="en-US" altLang="zh-TW" dirty="0"/>
              <a:t> / </a:t>
            </a:r>
            <a:r>
              <a:rPr lang="zh-TW" altLang="en-US" dirty="0"/>
              <a:t>業績</a:t>
            </a:r>
            <a:r>
              <a:rPr lang="en-US" altLang="zh-TW" dirty="0"/>
              <a:t> /  </a:t>
            </a:r>
            <a:r>
              <a:rPr lang="zh-TW" altLang="en-US" dirty="0"/>
              <a:t>獎金</a:t>
            </a:r>
            <a:r>
              <a:rPr lang="en-US" altLang="zh-TW" dirty="0"/>
              <a:t> /</a:t>
            </a:r>
            <a:r>
              <a:rPr lang="zh-TW" altLang="en-US" dirty="0"/>
              <a:t> 對帳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516244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E6200-6A10-14B4-3C0C-4D9A04213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DFC72AA5-91CB-F7F6-3BB5-7F53799A1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914" y="359196"/>
            <a:ext cx="10515600" cy="1325563"/>
          </a:xfrm>
        </p:spPr>
        <p:txBody>
          <a:bodyPr/>
          <a:lstStyle/>
          <a:p>
            <a:r>
              <a:rPr lang="zh-TW" altLang="en-US" dirty="0"/>
              <a:t>經銷商訂單查詢-已完成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3186F59-F3F1-083D-8F2E-2A3537DF5F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721"/>
          <a:stretch/>
        </p:blipFill>
        <p:spPr>
          <a:xfrm>
            <a:off x="658585" y="1907177"/>
            <a:ext cx="10874829" cy="341943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4064CAB9-18E0-B5D3-61B2-E9C0EA860F99}"/>
              </a:ext>
            </a:extLst>
          </p:cNvPr>
          <p:cNvSpPr txBox="1"/>
          <p:nvPr/>
        </p:nvSpPr>
        <p:spPr>
          <a:xfrm>
            <a:off x="780505" y="4885810"/>
            <a:ext cx="951346" cy="3077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示意畫面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B116BD9-41ED-3F7A-9F3A-1CBD8907F16C}"/>
              </a:ext>
            </a:extLst>
          </p:cNvPr>
          <p:cNvSpPr txBox="1"/>
          <p:nvPr/>
        </p:nvSpPr>
        <p:spPr>
          <a:xfrm>
            <a:off x="1911649" y="4885809"/>
            <a:ext cx="2281527" cy="5232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需依據詳細需求去做規劃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紅字預計</a:t>
            </a:r>
            <a:r>
              <a:rPr lang="en-US" altLang="zh-TW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ERP</a:t>
            </a: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提供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AE3FE643-8ED8-AB4B-5F00-F1A47331FB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5085" y="4227485"/>
            <a:ext cx="5391199" cy="244005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75A88568-B4F0-5D55-F26F-CF95E7CE8486}"/>
              </a:ext>
            </a:extLst>
          </p:cNvPr>
          <p:cNvSpPr/>
          <p:nvPr/>
        </p:nvSpPr>
        <p:spPr>
          <a:xfrm flipV="1">
            <a:off x="6544491" y="5549025"/>
            <a:ext cx="1502229" cy="65583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接點: 肘形 6">
            <a:extLst>
              <a:ext uri="{FF2B5EF4-FFF2-40B4-BE49-F238E27FC236}">
                <a16:creationId xmlns:a16="http://schemas.microsoft.com/office/drawing/2014/main" id="{701B0C2B-12FB-2C29-6A05-7CD1EF33F77B}"/>
              </a:ext>
            </a:extLst>
          </p:cNvPr>
          <p:cNvCxnSpPr>
            <a:cxnSpLocks/>
            <a:stCxn id="11" idx="1"/>
            <a:endCxn id="7" idx="2"/>
          </p:cNvCxnSpPr>
          <p:nvPr/>
        </p:nvCxnSpPr>
        <p:spPr>
          <a:xfrm rot="10800000">
            <a:off x="6096001" y="5326608"/>
            <a:ext cx="448491" cy="550332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93DA24AC-4212-61E3-F2F0-0896E3B69A35}"/>
              </a:ext>
            </a:extLst>
          </p:cNvPr>
          <p:cNvSpPr txBox="1"/>
          <p:nvPr/>
        </p:nvSpPr>
        <p:spPr>
          <a:xfrm>
            <a:off x="2553195" y="5897079"/>
            <a:ext cx="3336966" cy="523220"/>
          </a:xfrm>
          <a:prstGeom prst="rect">
            <a:avLst/>
          </a:prstGeom>
          <a:solidFill>
            <a:srgbClr val="61C1BE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顯示建大「已核准」之正式訂單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僅能查看自己的資料。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56019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31A840-E686-20CE-C614-9CFBC328B0A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4800" y="112395"/>
            <a:ext cx="10515600" cy="1325563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zh-TW" altLang="zh-TW" dirty="0"/>
              <a:t>投影片 ｜經銷商訂單查詢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A91C13-531A-CBC6-3D76-5793363F368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04800" y="1437958"/>
            <a:ext cx="11440160" cy="50949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sz="1000" b="0">
                <a:solidFill>
                  <a:srgbClr val="666666"/>
                </a:solidFill>
              </a:rPr>
              <a:t>原文：示意畫面／顯示建大「已核准」之正式訂單／僅能查看自己的資料</a:t>
            </a:r>
          </a:p>
          <a:p>
            <a:endParaRPr sz="1000" b="0">
              <a:solidFill>
                <a:srgbClr val="666666"/>
              </a:solidFill>
            </a:endParaRPr>
          </a:p>
          <a:p>
            <a:r>
              <a:rPr sz="1000" b="1">
                <a:solidFill>
                  <a:srgbClr val="1F6496"/>
                </a:solidFill>
              </a:rPr>
              <a:t>A. 實際使用工具/方式（✅ 已實作）</a:t>
            </a:r>
          </a:p>
          <a:p>
            <a:r>
              <a:rPr sz="1000" b="0">
                <a:solidFill>
                  <a:srgbClr val="1A1A1A"/>
                </a:solidFill>
              </a:rPr>
              <a:t>orders.py /orders GET 依登入帳號過濾，透過 erp_client.query_order() 即時取得</a:t>
            </a:r>
          </a:p>
          <a:p>
            <a:r>
              <a:rPr sz="1000" b="0">
                <a:solidFill>
                  <a:srgbClr val="1A1A1A"/>
                </a:solidFill>
              </a:rPr>
              <a:t>ERP 最新出貨/餘單/發票資料，平台端開發。</a:t>
            </a:r>
          </a:p>
          <a:p>
            <a:endParaRPr sz="1000" b="0">
              <a:solidFill>
                <a:srgbClr val="1A1A1A"/>
              </a:solidFill>
            </a:endParaRPr>
          </a:p>
          <a:p>
            <a:r>
              <a:rPr sz="1000" b="1">
                <a:solidFill>
                  <a:srgbClr val="1F6496"/>
                </a:solidFill>
              </a:rPr>
              <a:t>B. 已實作規格</a:t>
            </a:r>
          </a:p>
          <a:p>
            <a:r>
              <a:rPr sz="1000" b="0">
                <a:solidFill>
                  <a:srgbClr val="1A1A1A"/>
                </a:solidFill>
              </a:rPr>
              <a:t>功能名稱：經銷商訂單查詢</a:t>
            </a:r>
          </a:p>
          <a:p>
            <a:r>
              <a:rPr sz="1000" b="0">
                <a:solidFill>
                  <a:srgbClr val="1A1A1A"/>
                </a:solidFill>
              </a:rPr>
              <a:t>描述：顯示已核准正式訂單，僅能查看自己資料（已完成）</a:t>
            </a:r>
          </a:p>
          <a:p>
            <a:r>
              <a:rPr sz="1000" b="0">
                <a:solidFill>
                  <a:srgbClr val="1A1A1A"/>
                </a:solidFill>
              </a:rPr>
              <a:t>已實作：依帳號過濾；支援 state（狀態）、ym（年月）篩選</a:t>
            </a:r>
          </a:p>
          <a:p>
            <a:r>
              <a:rPr sz="1000" b="0">
                <a:solidFill>
                  <a:srgbClr val="1A1A1A"/>
                </a:solidFill>
              </a:rPr>
              <a:t>回傳：訂單數/未出貨餘單量/已出貨數/出貨狀態/發票進度</a:t>
            </a:r>
          </a:p>
          <a:p>
            <a:endParaRPr sz="1000" b="0">
              <a:solidFill>
                <a:srgbClr val="1A1A1A"/>
              </a:solidFill>
            </a:endParaRPr>
          </a:p>
          <a:p>
            <a:r>
              <a:rPr sz="1000" b="1">
                <a:solidFill>
                  <a:srgbClr val="1F6496"/>
                </a:solidFill>
              </a:rPr>
              <a:t>C. 已確認事項</a:t>
            </a:r>
          </a:p>
          <a:p>
            <a:r>
              <a:rPr sz="1000" b="0">
                <a:solidFill>
                  <a:srgbClr val="1A1A1A"/>
                </a:solidFill>
              </a:rPr>
              <a:t>〔錯誤訊息呈現〕ERP 擋單或回傳錯誤時，記錄至 KendaErpSyncLog，</a:t>
            </a:r>
          </a:p>
          <a:p>
            <a:r>
              <a:rPr sz="1000" b="0">
                <a:solidFill>
                  <a:srgbClr val="1A1A1A"/>
                </a:solidFill>
              </a:rPr>
              <a:t>  建議補充前台錯誤提示 UI 讓經銷商知悉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E6200-6A10-14B4-3C0C-4D9A04213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DFC72AA5-91CB-F7F6-3BB5-7F53799A1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914" y="359196"/>
            <a:ext cx="10515600" cy="1325563"/>
          </a:xfrm>
        </p:spPr>
        <p:txBody>
          <a:bodyPr/>
          <a:lstStyle/>
          <a:p>
            <a:r>
              <a:rPr lang="zh-TW" altLang="en-US" dirty="0"/>
              <a:t>經銷商業績查詢-已完成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6318C8CE-8209-A76A-F13A-081B2AC5A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235" y="1801621"/>
            <a:ext cx="10379529" cy="456876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2F24ACFE-3DB8-5477-FF16-B23028AB3F50}"/>
              </a:ext>
            </a:extLst>
          </p:cNvPr>
          <p:cNvSpPr txBox="1"/>
          <p:nvPr/>
        </p:nvSpPr>
        <p:spPr>
          <a:xfrm>
            <a:off x="8236478" y="6226213"/>
            <a:ext cx="951346" cy="3077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示意畫面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80BE632-78E2-BF06-8CE1-ADBD9846D0DC}"/>
              </a:ext>
            </a:extLst>
          </p:cNvPr>
          <p:cNvSpPr txBox="1"/>
          <p:nvPr/>
        </p:nvSpPr>
        <p:spPr>
          <a:xfrm>
            <a:off x="9335870" y="6225640"/>
            <a:ext cx="2160330" cy="5232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需依據詳細需求去做規劃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上述資訊由</a:t>
            </a:r>
            <a:r>
              <a:rPr lang="en-US" altLang="zh-TW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ERP</a:t>
            </a: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提供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BDC4E24-9914-999A-7E2B-5AD48444D3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2944"/>
          <a:stretch/>
        </p:blipFill>
        <p:spPr>
          <a:xfrm>
            <a:off x="1073706" y="4703263"/>
            <a:ext cx="10029553" cy="74873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B5FAD7C2-10ED-457C-DA86-647D2F03A741}"/>
              </a:ext>
            </a:extLst>
          </p:cNvPr>
          <p:cNvSpPr txBox="1"/>
          <p:nvPr/>
        </p:nvSpPr>
        <p:spPr>
          <a:xfrm>
            <a:off x="598033" y="4254069"/>
            <a:ext cx="951346" cy="30777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總計</a:t>
            </a:r>
            <a:endParaRPr lang="en-US" altLang="zh-TW" sz="14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38E976F6-5A4B-A000-78B7-14BFC00B7630}"/>
              </a:ext>
            </a:extLst>
          </p:cNvPr>
          <p:cNvSpPr txBox="1"/>
          <p:nvPr/>
        </p:nvSpPr>
        <p:spPr>
          <a:xfrm>
            <a:off x="598033" y="4750334"/>
            <a:ext cx="951346" cy="30777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創點車業</a:t>
            </a:r>
            <a:endParaRPr lang="en-US" altLang="zh-TW" sz="14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C72CD4C8-10B2-C23A-564E-AD7793B291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2944"/>
          <a:stretch/>
        </p:blipFill>
        <p:spPr>
          <a:xfrm>
            <a:off x="1088741" y="5077630"/>
            <a:ext cx="10029553" cy="748735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F0CC3731-D7FA-E362-DF8A-4546078387AF}"/>
              </a:ext>
            </a:extLst>
          </p:cNvPr>
          <p:cNvSpPr txBox="1"/>
          <p:nvPr/>
        </p:nvSpPr>
        <p:spPr>
          <a:xfrm>
            <a:off x="613068" y="5124701"/>
            <a:ext cx="951346" cy="30777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達達車行</a:t>
            </a:r>
            <a:endParaRPr lang="en-US" altLang="zh-TW" sz="14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7A857F7-A9FE-2D73-D7B7-AD234BF76674}"/>
              </a:ext>
            </a:extLst>
          </p:cNvPr>
          <p:cNvSpPr txBox="1"/>
          <p:nvPr/>
        </p:nvSpPr>
        <p:spPr>
          <a:xfrm>
            <a:off x="380010" y="6249949"/>
            <a:ext cx="6847141" cy="523220"/>
          </a:xfrm>
          <a:prstGeom prst="rect">
            <a:avLst/>
          </a:prstGeom>
          <a:solidFill>
            <a:srgbClr val="61C1BE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屬於主要經銷商的帳號，可以查看同一群組內其他經銷商的當期明細與總計資料。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若經銷商未設定任何「經銷商代碼」，則僅能查看自己的資料。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989914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31A840-E686-20CE-C614-9CFBC328B0A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4800" y="112395"/>
            <a:ext cx="10515600" cy="1325563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zh-TW" altLang="zh-TW" dirty="0"/>
              <a:t>投影片 ｜經銷商業績查詢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A91C13-531A-CBC6-3D76-5793363F368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04800" y="1437958"/>
            <a:ext cx="11440160" cy="50949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sz="1000" b="0">
                <a:solidFill>
                  <a:srgbClr val="666666"/>
                </a:solidFill>
              </a:rPr>
              <a:t>原文：示意畫面／上述資訊由ERP API提供／主要經銷商可查看同群組內其他經銷商資料</a:t>
            </a:r>
          </a:p>
          <a:p>
            <a:endParaRPr sz="1000" b="0">
              <a:solidFill>
                <a:srgbClr val="666666"/>
              </a:solidFill>
            </a:endParaRPr>
          </a:p>
          <a:p>
            <a:r>
              <a:rPr sz="1000" b="1">
                <a:solidFill>
                  <a:srgbClr val="1F6496"/>
                </a:solidFill>
              </a:rPr>
              <a:t>A. 實際使用工具/方式（✅ 已實作）</a:t>
            </a:r>
          </a:p>
          <a:p>
            <a:r>
              <a:rPr sz="1000" b="0">
                <a:solidFill>
                  <a:srgbClr val="1A1A1A"/>
                </a:solidFill>
              </a:rPr>
              <a:t>finance.py /performance GET，透過 erp_client.query_performance() 取 ERP 結算後總額，</a:t>
            </a:r>
          </a:p>
          <a:p>
            <a:r>
              <a:rPr sz="1000" b="0">
                <a:solidFill>
                  <a:srgbClr val="1A1A1A"/>
                </a:solidFill>
              </a:rPr>
              <a:t>依 ym（年月）篩選，KendaPerformance model 暫存同步資料，平台端開發。</a:t>
            </a:r>
          </a:p>
          <a:p>
            <a:endParaRPr sz="1000" b="0">
              <a:solidFill>
                <a:srgbClr val="1A1A1A"/>
              </a:solidFill>
            </a:endParaRPr>
          </a:p>
          <a:p>
            <a:r>
              <a:rPr sz="1000" b="1">
                <a:solidFill>
                  <a:srgbClr val="1F6496"/>
                </a:solidFill>
              </a:rPr>
              <a:t>B. 已實作規格</a:t>
            </a:r>
          </a:p>
          <a:p>
            <a:r>
              <a:rPr sz="1000" b="0">
                <a:solidFill>
                  <a:srgbClr val="1A1A1A"/>
                </a:solidFill>
              </a:rPr>
              <a:t>功能名稱：經銷商業績查詢</a:t>
            </a:r>
          </a:p>
          <a:p>
            <a:r>
              <a:rPr sz="1000" b="0">
                <a:solidFill>
                  <a:srgbClr val="1A1A1A"/>
                </a:solidFill>
              </a:rPr>
              <a:t>描述：主要經銷商可查看同群組內其他經銷商當期明細與總計（已完成）</a:t>
            </a:r>
          </a:p>
          <a:p>
            <a:r>
              <a:rPr sz="1000" b="0">
                <a:solidFill>
                  <a:srgbClr val="1A1A1A"/>
                </a:solidFill>
              </a:rPr>
              <a:t>已實作：依 ym 篩選；own（自己）/ group（下線）/ total（合計）三層彙總</a:t>
            </a:r>
          </a:p>
          <a:p>
            <a:r>
              <a:rPr sz="1000" b="0">
                <a:solidFill>
                  <a:srgbClr val="1A1A1A"/>
                </a:solidFill>
              </a:rPr>
              <a:t>群組邏輯：parent_dealer_id 欄位決定上下線關係</a:t>
            </a:r>
          </a:p>
          <a:p>
            <a:endParaRPr sz="1000" b="0">
              <a:solidFill>
                <a:srgbClr val="1A1A1A"/>
              </a:solidFill>
            </a:endParaRPr>
          </a:p>
          <a:p>
            <a:r>
              <a:rPr sz="1000" b="1">
                <a:solidFill>
                  <a:srgbClr val="1F6496"/>
                </a:solidFill>
              </a:rPr>
              <a:t>C. 已確認事項</a:t>
            </a:r>
          </a:p>
          <a:p>
            <a:r>
              <a:rPr sz="1000" b="0">
                <a:solidFill>
                  <a:srgbClr val="1A1A1A"/>
                </a:solidFill>
              </a:rPr>
              <a:t>〔分組維護〕parent_dealer_id 後台可設定，決定群組查詢範圍</a:t>
            </a:r>
          </a:p>
          <a:p>
            <a:r>
              <a:rPr sz="1000" b="0">
                <a:solidFill>
                  <a:srgbClr val="007000"/>
                </a:solidFill>
              </a:rPr>
              <a:t>〔範例名稱〕✅ 已確認：原 PPT「創點車業」「達達車行」為示意名稱，非真實資料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E6200-6A10-14B4-3C0C-4D9A04213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DFC72AA5-91CB-F7F6-3BB5-7F53799A1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914" y="359196"/>
            <a:ext cx="10515600" cy="1325563"/>
          </a:xfrm>
        </p:spPr>
        <p:txBody>
          <a:bodyPr/>
          <a:lstStyle/>
          <a:p>
            <a:r>
              <a:rPr lang="zh-TW" altLang="en-US" dirty="0"/>
              <a:t>經銷商獎金查詢</a:t>
            </a:r>
            <a:r>
              <a:rPr lang="en-US" altLang="zh-TW" dirty="0"/>
              <a:t>&amp;</a:t>
            </a:r>
            <a:endParaRPr lang="zh-TW" altLang="en-US" dirty="0"/>
          </a:p>
        </p:txBody>
      </p:sp>
      <p:pic>
        <p:nvPicPr>
          <p:cNvPr id="5" name="圖片 4" descr="一張含有 文字, 螢幕擷取畫面, 數字, 軟體 的圖片&#10;&#10;AI 產生的內容可能不正確。">
            <a:extLst>
              <a:ext uri="{FF2B5EF4-FFF2-40B4-BE49-F238E27FC236}">
                <a16:creationId xmlns:a16="http://schemas.microsoft.com/office/drawing/2014/main" id="{1035B758-C513-2B28-12A7-6C5BA01D7F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44" y="1329098"/>
            <a:ext cx="8918098" cy="535613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EF2B5AF0-F43D-571D-E26A-82FBDD447525}"/>
              </a:ext>
            </a:extLst>
          </p:cNvPr>
          <p:cNvSpPr txBox="1"/>
          <p:nvPr/>
        </p:nvSpPr>
        <p:spPr>
          <a:xfrm>
            <a:off x="1699917" y="6279598"/>
            <a:ext cx="951346" cy="3077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示意畫面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DF66A72-025D-6F44-E292-78221AF165DC}"/>
              </a:ext>
            </a:extLst>
          </p:cNvPr>
          <p:cNvSpPr txBox="1"/>
          <p:nvPr/>
        </p:nvSpPr>
        <p:spPr>
          <a:xfrm>
            <a:off x="2802701" y="6214283"/>
            <a:ext cx="2160330" cy="5232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需依據詳細需求去做規劃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上述資訊由</a:t>
            </a:r>
            <a:r>
              <a:rPr lang="en-US" altLang="zh-TW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ERP</a:t>
            </a: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提供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BCCB858-837B-1D26-D50B-DEB2363CE405}"/>
              </a:ext>
            </a:extLst>
          </p:cNvPr>
          <p:cNvSpPr txBox="1"/>
          <p:nvPr/>
        </p:nvSpPr>
        <p:spPr>
          <a:xfrm>
            <a:off x="824290" y="3776349"/>
            <a:ext cx="951346" cy="30777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總計</a:t>
            </a:r>
            <a:endParaRPr lang="en-US" altLang="zh-TW" sz="14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6694C55-2C48-C34F-C527-CA4DE6FD780D}"/>
              </a:ext>
            </a:extLst>
          </p:cNvPr>
          <p:cNvSpPr txBox="1"/>
          <p:nvPr/>
        </p:nvSpPr>
        <p:spPr>
          <a:xfrm>
            <a:off x="748571" y="6062961"/>
            <a:ext cx="951346" cy="30777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創點車業</a:t>
            </a:r>
            <a:endParaRPr lang="en-US" altLang="zh-TW" sz="14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940F1B3-20DC-DC68-AE87-AB6C7EC250DD}"/>
              </a:ext>
            </a:extLst>
          </p:cNvPr>
          <p:cNvSpPr txBox="1"/>
          <p:nvPr/>
        </p:nvSpPr>
        <p:spPr>
          <a:xfrm>
            <a:off x="5114469" y="6214283"/>
            <a:ext cx="6847141" cy="523220"/>
          </a:xfrm>
          <a:prstGeom prst="rect">
            <a:avLst/>
          </a:prstGeom>
          <a:solidFill>
            <a:srgbClr val="61C1BE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屬於主要經銷商的帳號，可以查看同一群組內其他經銷商的當期明細與總計資料。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若經銷商未設定任何「經銷商代碼」，則僅能查看自己的資料。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243740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31A840-E686-20CE-C614-9CFBC328B0A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4800" y="112395"/>
            <a:ext cx="10515600" cy="1325563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zh-TW" altLang="zh-TW" dirty="0"/>
              <a:t>投影片 ｜經銷商獎金查詢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A91C13-531A-CBC6-3D76-5793363F368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04800" y="1437958"/>
            <a:ext cx="11440160" cy="50949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sz="1000" b="0">
                <a:solidFill>
                  <a:srgbClr val="666666"/>
                </a:solidFill>
              </a:rPr>
              <a:t>原文：示意畫面／上述資訊由ERP API提供／邏輯同業績查詢</a:t>
            </a:r>
          </a:p>
          <a:p>
            <a:endParaRPr sz="1000" b="0">
              <a:solidFill>
                <a:srgbClr val="666666"/>
              </a:solidFill>
            </a:endParaRPr>
          </a:p>
          <a:p>
            <a:r>
              <a:rPr sz="1000" b="1">
                <a:solidFill>
                  <a:srgbClr val="1F6496"/>
                </a:solidFill>
              </a:rPr>
              <a:t>A. 實際使用工具/方式（✅ 已實作）</a:t>
            </a:r>
          </a:p>
          <a:p>
            <a:r>
              <a:rPr sz="1000" b="0">
                <a:solidFill>
                  <a:srgbClr val="1A1A1A"/>
                </a:solidFill>
              </a:rPr>
              <a:t>finance.py /bonus GET，透過 erp_client.query_bonus() 取 ERP 結算後獎金數字</a:t>
            </a:r>
          </a:p>
          <a:p>
            <a:r>
              <a:rPr sz="1000" b="0">
                <a:solidFill>
                  <a:srgbClr val="1A1A1A"/>
                </a:solidFill>
              </a:rPr>
              <a:t>（不傳細部明細），依 ym 篩選，KendaBonus model 暫存，平台端開發。</a:t>
            </a:r>
          </a:p>
          <a:p>
            <a:endParaRPr sz="1000" b="0">
              <a:solidFill>
                <a:srgbClr val="1A1A1A"/>
              </a:solidFill>
            </a:endParaRPr>
          </a:p>
          <a:p>
            <a:r>
              <a:rPr sz="1000" b="1">
                <a:solidFill>
                  <a:srgbClr val="1F6496"/>
                </a:solidFill>
              </a:rPr>
              <a:t>B. 已實作規格</a:t>
            </a:r>
          </a:p>
          <a:p>
            <a:r>
              <a:rPr sz="1000" b="0">
                <a:solidFill>
                  <a:srgbClr val="1A1A1A"/>
                </a:solidFill>
              </a:rPr>
              <a:t>功能名稱：經銷商獎金查詢</a:t>
            </a:r>
          </a:p>
          <a:p>
            <a:r>
              <a:rPr sz="1000" b="0">
                <a:solidFill>
                  <a:srgbClr val="1A1A1A"/>
                </a:solidFill>
              </a:rPr>
              <a:t>描述：邏輯同業績查詢，主要經銷商可查看群組內明細與總計（已完成）</a:t>
            </a:r>
          </a:p>
          <a:p>
            <a:r>
              <a:rPr sz="1000" b="0">
                <a:solidFill>
                  <a:srgbClr val="1A1A1A"/>
                </a:solidFill>
              </a:rPr>
              <a:t>已實作：依 ym 篩選；支援主帳號+下線查詢；KendaBonus model 暫存</a:t>
            </a:r>
          </a:p>
          <a:p>
            <a:endParaRPr sz="1000" b="0">
              <a:solidFill>
                <a:srgbClr val="1A1A1A"/>
              </a:solidFill>
            </a:endParaRPr>
          </a:p>
          <a:p>
            <a:r>
              <a:rPr sz="1000" b="1">
                <a:solidFill>
                  <a:srgbClr val="1F6496"/>
                </a:solidFill>
              </a:rPr>
              <a:t>C. 已確認事項</a:t>
            </a:r>
          </a:p>
          <a:p>
            <a:r>
              <a:rPr sz="1000" b="0">
                <a:solidFill>
                  <a:srgbClr val="1A1A1A"/>
                </a:solidFill>
              </a:rPr>
              <a:t>〔規則透明度〕ERP 僅回傳最終獎金數字（設計原則，不傳明細），</a:t>
            </a:r>
          </a:p>
          <a:p>
            <a:r>
              <a:rPr sz="1000" b="0">
                <a:solidFill>
                  <a:srgbClr val="1A1A1A"/>
                </a:solidFill>
              </a:rPr>
              <a:t>  若經銷商有疑義，目前需透過業務人工說明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E6200-6A10-14B4-3C0C-4D9A04213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DFC72AA5-91CB-F7F6-3BB5-7F53799A1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914" y="359196"/>
            <a:ext cx="10515600" cy="1325563"/>
          </a:xfrm>
        </p:spPr>
        <p:txBody>
          <a:bodyPr/>
          <a:lstStyle/>
          <a:p>
            <a:r>
              <a:rPr lang="zh-TW" altLang="en-US" dirty="0"/>
              <a:t>經銷商對帳查詢-已完成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5786694F-19BD-B466-CABE-EE68424A0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2120" y="1554130"/>
            <a:ext cx="9066394" cy="505613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686283C9-621C-C1C8-47AC-970FEA892828}"/>
              </a:ext>
            </a:extLst>
          </p:cNvPr>
          <p:cNvSpPr txBox="1"/>
          <p:nvPr/>
        </p:nvSpPr>
        <p:spPr>
          <a:xfrm>
            <a:off x="9576589" y="6203782"/>
            <a:ext cx="951346" cy="3077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示意畫面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B641131-342C-44DE-818D-E967784A07CB}"/>
              </a:ext>
            </a:extLst>
          </p:cNvPr>
          <p:cNvSpPr txBox="1"/>
          <p:nvPr/>
        </p:nvSpPr>
        <p:spPr>
          <a:xfrm>
            <a:off x="7347730" y="6203781"/>
            <a:ext cx="2160330" cy="5232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需依據詳細需求去做規劃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上述資訊由</a:t>
            </a:r>
            <a:r>
              <a:rPr lang="en-US" altLang="zh-TW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ERP</a:t>
            </a: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提供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D512B7F-6BFB-089B-8E7A-2D4DA5518A46}"/>
              </a:ext>
            </a:extLst>
          </p:cNvPr>
          <p:cNvSpPr txBox="1"/>
          <p:nvPr/>
        </p:nvSpPr>
        <p:spPr>
          <a:xfrm>
            <a:off x="380010" y="6249949"/>
            <a:ext cx="6847141" cy="523220"/>
          </a:xfrm>
          <a:prstGeom prst="rect">
            <a:avLst/>
          </a:prstGeom>
          <a:solidFill>
            <a:srgbClr val="61C1BE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屬於主要經銷商的帳號，可以查看同一群組內其他經銷商的當期明細與總計資料。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若經銷商未設定任何「經銷商代碼」，則僅能查看自己的資料。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220DAF6-97A9-0CB3-6C3E-298163351B84}"/>
              </a:ext>
            </a:extLst>
          </p:cNvPr>
          <p:cNvSpPr/>
          <p:nvPr/>
        </p:nvSpPr>
        <p:spPr>
          <a:xfrm>
            <a:off x="3058160" y="3068320"/>
            <a:ext cx="1859280" cy="3606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1C7A713-8252-A750-C48F-2373FBB981A9}"/>
              </a:ext>
            </a:extLst>
          </p:cNvPr>
          <p:cNvSpPr/>
          <p:nvPr/>
        </p:nvSpPr>
        <p:spPr>
          <a:xfrm>
            <a:off x="3058160" y="4973670"/>
            <a:ext cx="1859280" cy="3606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F667B5D-2F4C-B6EA-82FE-32AEFC79475A}"/>
              </a:ext>
            </a:extLst>
          </p:cNvPr>
          <p:cNvSpPr/>
          <p:nvPr/>
        </p:nvSpPr>
        <p:spPr>
          <a:xfrm>
            <a:off x="8341360" y="3037840"/>
            <a:ext cx="1657313" cy="3606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1F6A6C03-E33B-43AC-8B7E-FC6F5B24BA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4537" y="2519013"/>
            <a:ext cx="2759202" cy="36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8626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31A840-E686-20CE-C614-9CFBC328B0A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4800" y="112395"/>
            <a:ext cx="10515600" cy="1325563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zh-TW" altLang="zh-TW" dirty="0"/>
              <a:t>投影片 ｜經銷商對帳查詢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A91C13-531A-CBC6-3D76-5793363F368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04800" y="1437958"/>
            <a:ext cx="11440160" cy="50949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sz="1000" b="0">
                <a:solidFill>
                  <a:srgbClr val="666666"/>
                </a:solidFill>
              </a:rPr>
              <a:t>原文：示意畫面／上述資訊由ERP API提供／回傳對帳金額/當期發票/當期折讓</a:t>
            </a:r>
          </a:p>
          <a:p>
            <a:endParaRPr sz="1000" b="0">
              <a:solidFill>
                <a:srgbClr val="666666"/>
              </a:solidFill>
            </a:endParaRPr>
          </a:p>
          <a:p>
            <a:r>
              <a:rPr sz="1000" b="1">
                <a:solidFill>
                  <a:srgbClr val="1F6496"/>
                </a:solidFill>
              </a:rPr>
              <a:t>A. 實際使用工具/方式（✅ 已實作）</a:t>
            </a:r>
          </a:p>
          <a:p>
            <a:r>
              <a:rPr sz="1000" b="0">
                <a:solidFill>
                  <a:srgbClr val="1A1A1A"/>
                </a:solidFill>
              </a:rPr>
              <a:t>finance.py /reconciliation GET，透過 erp_client.query_reconciliation() 取對帳彙總，</a:t>
            </a:r>
          </a:p>
          <a:p>
            <a:r>
              <a:rPr sz="1000" b="0">
                <a:solidFill>
                  <a:srgbClr val="1A1A1A"/>
                </a:solidFill>
              </a:rPr>
              <a:t>依 ym 篩選，KendaReconciliation model 暫存，平台端開發。</a:t>
            </a:r>
          </a:p>
          <a:p>
            <a:endParaRPr sz="1000" b="0">
              <a:solidFill>
                <a:srgbClr val="1A1A1A"/>
              </a:solidFill>
            </a:endParaRPr>
          </a:p>
          <a:p>
            <a:r>
              <a:rPr sz="1000" b="1">
                <a:solidFill>
                  <a:srgbClr val="1F6496"/>
                </a:solidFill>
              </a:rPr>
              <a:t>B. 已實作規格</a:t>
            </a:r>
          </a:p>
          <a:p>
            <a:r>
              <a:rPr sz="1000" b="0">
                <a:solidFill>
                  <a:srgbClr val="1A1A1A"/>
                </a:solidFill>
              </a:rPr>
              <a:t>功能名稱：經銷商對帳查詢</a:t>
            </a:r>
          </a:p>
          <a:p>
            <a:r>
              <a:rPr sz="1000" b="0">
                <a:solidFill>
                  <a:srgbClr val="1A1A1A"/>
                </a:solidFill>
              </a:rPr>
              <a:t>描述：顯示對帳金額/發票/折讓彙總（已完成）</a:t>
            </a:r>
          </a:p>
          <a:p>
            <a:r>
              <a:rPr sz="1000" b="0">
                <a:solidFill>
                  <a:srgbClr val="1A1A1A"/>
                </a:solidFill>
              </a:rPr>
              <a:t>已實作：recon_amount（對帳金額）、period_invoice（當期發票）、period_allowance（當期折讓）</a:t>
            </a:r>
          </a:p>
          <a:p>
            <a:r>
              <a:rPr sz="1000" b="0">
                <a:solidFill>
                  <a:srgbClr val="1A1A1A"/>
                </a:solidFill>
              </a:rPr>
              <a:t>依 ym 篩選；支援主帳號+下線</a:t>
            </a:r>
          </a:p>
          <a:p>
            <a:endParaRPr sz="1000" b="0">
              <a:solidFill>
                <a:srgbClr val="1A1A1A"/>
              </a:solidFill>
            </a:endParaRPr>
          </a:p>
          <a:p>
            <a:r>
              <a:rPr sz="1000" b="1">
                <a:solidFill>
                  <a:srgbClr val="1F6496"/>
                </a:solidFill>
              </a:rPr>
              <a:t>C. 已確認事項</a:t>
            </a:r>
          </a:p>
          <a:p>
            <a:r>
              <a:rPr sz="1000" b="0">
                <a:solidFill>
                  <a:srgbClr val="1A1A1A"/>
                </a:solidFill>
              </a:rPr>
              <a:t>〔發票明細〕ERP 僅回傳彙總結果（設計原則），逐張明細若需支援需另開功能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A6914-1457-311E-DAD5-5E9571226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22E818-A63B-27A1-2C4B-1219C94D7E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05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D0E552C-9BD7-AF2F-F730-A502E6959B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系統架構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7616967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71E6200-6A10-14B4-3C0C-4D9A04213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圓角矩形 7">
            <a:extLst>
              <a:ext uri="{FF2B5EF4-FFF2-40B4-BE49-F238E27FC236}">
                <a16:creationId xmlns:a16="http://schemas.microsoft.com/office/drawing/2014/main" id="{0390B521-19C5-C7F2-30C5-C7F0683A315F}"/>
              </a:ext>
            </a:extLst>
          </p:cNvPr>
          <p:cNvSpPr/>
          <p:nvPr/>
        </p:nvSpPr>
        <p:spPr>
          <a:xfrm>
            <a:off x="3481137" y="1624785"/>
            <a:ext cx="4427723" cy="5042911"/>
          </a:xfrm>
          <a:prstGeom prst="roundRect">
            <a:avLst>
              <a:gd name="adj" fmla="val 568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9DB7FDD8-A7EA-121B-FF7B-B71A02F84D95}"/>
              </a:ext>
            </a:extLst>
          </p:cNvPr>
          <p:cNvSpPr/>
          <p:nvPr/>
        </p:nvSpPr>
        <p:spPr>
          <a:xfrm>
            <a:off x="8578554" y="1624785"/>
            <a:ext cx="3338792" cy="5042911"/>
          </a:xfrm>
          <a:prstGeom prst="roundRect">
            <a:avLst>
              <a:gd name="adj" fmla="val 5687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3" name="矩形: 圓角 8">
            <a:extLst>
              <a:ext uri="{FF2B5EF4-FFF2-40B4-BE49-F238E27FC236}">
                <a16:creationId xmlns:a16="http://schemas.microsoft.com/office/drawing/2014/main" id="{6B191B45-B226-A405-72CF-925563ED69B0}"/>
              </a:ext>
            </a:extLst>
          </p:cNvPr>
          <p:cNvSpPr/>
          <p:nvPr/>
        </p:nvSpPr>
        <p:spPr>
          <a:xfrm>
            <a:off x="3520074" y="3617697"/>
            <a:ext cx="1944536" cy="40862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經銷商訂單查詢</a:t>
            </a:r>
            <a:endParaRPr kumimoji="0" lang="en-US" altLang="zh-TW" sz="1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16DD418-7DCF-A42F-971D-42D86ADE5EE2}"/>
              </a:ext>
            </a:extLst>
          </p:cNvPr>
          <p:cNvSpPr/>
          <p:nvPr/>
        </p:nvSpPr>
        <p:spPr>
          <a:xfrm>
            <a:off x="9479140" y="1440121"/>
            <a:ext cx="1562100" cy="369330"/>
          </a:xfrm>
          <a:prstGeom prst="rect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建大工業</a:t>
            </a:r>
            <a:r>
              <a:rPr lang="en-US" altLang="zh-TW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ERP</a:t>
            </a: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6011833-3CA9-DD2D-BA93-FF9DA1E55145}"/>
              </a:ext>
            </a:extLst>
          </p:cNvPr>
          <p:cNvSpPr/>
          <p:nvPr/>
        </p:nvSpPr>
        <p:spPr>
          <a:xfrm>
            <a:off x="5526128" y="1455226"/>
            <a:ext cx="1737889" cy="369330"/>
          </a:xfrm>
          <a:prstGeom prst="rect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algn="ctr" hangingPunct="0"/>
            <a:r>
              <a:rPr lang="en-US" altLang="zh-TW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Arial"/>
              </a:rPr>
              <a:t>B2B</a:t>
            </a:r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Arial"/>
              </a:rPr>
              <a:t> 經銷商平台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E3FBECF8-6AAC-43EB-D9BC-CFA301C798C9}"/>
              </a:ext>
            </a:extLst>
          </p:cNvPr>
          <p:cNvSpPr txBox="1"/>
          <p:nvPr/>
        </p:nvSpPr>
        <p:spPr>
          <a:xfrm>
            <a:off x="9036596" y="49789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TW" altLang="en-US" dirty="0">
                <a:latin typeface="Noto Sans TC Light" panose="020B0300000000000000" pitchFamily="34" charset="-128"/>
                <a:ea typeface="Noto Sans TC Light" panose="020B0300000000000000" pitchFamily="34" charset="-128"/>
              </a:rPr>
              <a:t>圖例：</a:t>
            </a:r>
            <a:endParaRPr kumimoji="1" lang="en-US" altLang="zh-TW" dirty="0">
              <a:latin typeface="Noto Sans TC Light" panose="020B0300000000000000" pitchFamily="34" charset="-128"/>
              <a:ea typeface="Noto Sans TC Light" panose="020B0300000000000000" pitchFamily="34" charset="-128"/>
            </a:endParaRPr>
          </a:p>
        </p:txBody>
      </p:sp>
      <p:cxnSp>
        <p:nvCxnSpPr>
          <p:cNvPr id="32" name="直線單箭頭接點 5">
            <a:extLst>
              <a:ext uri="{FF2B5EF4-FFF2-40B4-BE49-F238E27FC236}">
                <a16:creationId xmlns:a16="http://schemas.microsoft.com/office/drawing/2014/main" id="{E6A26AE0-81CD-D654-0745-36F0D386AD42}"/>
              </a:ext>
            </a:extLst>
          </p:cNvPr>
          <p:cNvCxnSpPr>
            <a:cxnSpLocks/>
          </p:cNvCxnSpPr>
          <p:nvPr/>
        </p:nvCxnSpPr>
        <p:spPr>
          <a:xfrm flipH="1">
            <a:off x="9801357" y="456691"/>
            <a:ext cx="706593" cy="0"/>
          </a:xfrm>
          <a:prstGeom prst="straightConnector1">
            <a:avLst/>
          </a:prstGeom>
          <a:ln w="34925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34" name="直線單箭頭接點 5">
            <a:extLst>
              <a:ext uri="{FF2B5EF4-FFF2-40B4-BE49-F238E27FC236}">
                <a16:creationId xmlns:a16="http://schemas.microsoft.com/office/drawing/2014/main" id="{9ED0620D-792F-935C-3F81-42ADB64279DF}"/>
              </a:ext>
            </a:extLst>
          </p:cNvPr>
          <p:cNvCxnSpPr>
            <a:cxnSpLocks/>
          </p:cNvCxnSpPr>
          <p:nvPr/>
        </p:nvCxnSpPr>
        <p:spPr>
          <a:xfrm flipH="1">
            <a:off x="9801357" y="779059"/>
            <a:ext cx="706593" cy="0"/>
          </a:xfrm>
          <a:prstGeom prst="straightConnector1">
            <a:avLst/>
          </a:prstGeom>
          <a:ln w="34925">
            <a:solidFill>
              <a:srgbClr val="38908E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76BBBEA4-9F22-A620-55CD-6983D8E34E0D}"/>
              </a:ext>
            </a:extLst>
          </p:cNvPr>
          <p:cNvSpPr txBox="1"/>
          <p:nvPr/>
        </p:nvSpPr>
        <p:spPr>
          <a:xfrm>
            <a:off x="10484949" y="277954"/>
            <a:ext cx="10406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sz="1400" b="1" dirty="0">
                <a:latin typeface="Noto Sans TC Light" panose="020B0300000000000000" pitchFamily="34" charset="-128"/>
                <a:ea typeface="Noto Sans TC Light" panose="020B0300000000000000" pitchFamily="34" charset="-128"/>
              </a:rPr>
              <a:t>Request </a:t>
            </a:r>
          </a:p>
          <a:p>
            <a:pPr algn="ctr"/>
            <a:endParaRPr kumimoji="1" lang="en-US" altLang="zh-TW" sz="1200" b="1" dirty="0">
              <a:latin typeface="Noto Sans TC Light" panose="020B0300000000000000" pitchFamily="34" charset="-128"/>
              <a:ea typeface="Noto Sans TC Light" panose="020B0300000000000000" pitchFamily="34" charset="-128"/>
            </a:endParaRPr>
          </a:p>
          <a:p>
            <a:pPr algn="ctr"/>
            <a:r>
              <a:rPr kumimoji="1" lang="en-US" altLang="zh-TW" sz="1400" b="1" dirty="0">
                <a:solidFill>
                  <a:srgbClr val="38908E"/>
                </a:solidFill>
                <a:latin typeface="Noto Sans TC Light" panose="020B0300000000000000" pitchFamily="34" charset="-128"/>
                <a:ea typeface="Noto Sans TC Light" panose="020B0300000000000000" pitchFamily="34" charset="-128"/>
              </a:rPr>
              <a:t>Response</a:t>
            </a:r>
            <a:endParaRPr kumimoji="1" lang="zh-TW" altLang="en-US" sz="1400" b="1" dirty="0">
              <a:solidFill>
                <a:srgbClr val="38908E"/>
              </a:solidFill>
              <a:latin typeface="Noto Sans TC Light" panose="020B0300000000000000" pitchFamily="34" charset="-128"/>
              <a:ea typeface="Noto Sans TC Light" panose="020B0300000000000000" pitchFamily="34" charset="-128"/>
            </a:endParaRPr>
          </a:p>
        </p:txBody>
      </p:sp>
      <p:sp>
        <p:nvSpPr>
          <p:cNvPr id="59" name="標題 5">
            <a:extLst>
              <a:ext uri="{FF2B5EF4-FFF2-40B4-BE49-F238E27FC236}">
                <a16:creationId xmlns:a16="http://schemas.microsoft.com/office/drawing/2014/main" id="{8DDB473A-4824-2F2A-D7C1-04BBCC2A9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88" y="99832"/>
            <a:ext cx="10515600" cy="1325563"/>
          </a:xfrm>
        </p:spPr>
        <p:txBody>
          <a:bodyPr/>
          <a:lstStyle/>
          <a:p>
            <a:r>
              <a:rPr lang="zh-TW" altLang="en-US" dirty="0"/>
              <a:t>系統整合架構說明</a:t>
            </a:r>
          </a:p>
        </p:txBody>
      </p:sp>
      <p:grpSp>
        <p:nvGrpSpPr>
          <p:cNvPr id="151" name="群組 150">
            <a:extLst>
              <a:ext uri="{FF2B5EF4-FFF2-40B4-BE49-F238E27FC236}">
                <a16:creationId xmlns:a16="http://schemas.microsoft.com/office/drawing/2014/main" id="{A990C799-77A7-EF02-D975-C40FA3F761F3}"/>
              </a:ext>
            </a:extLst>
          </p:cNvPr>
          <p:cNvGrpSpPr/>
          <p:nvPr/>
        </p:nvGrpSpPr>
        <p:grpSpPr>
          <a:xfrm rot="10800000">
            <a:off x="6955744" y="3728959"/>
            <a:ext cx="1997284" cy="196878"/>
            <a:chOff x="6957025" y="3949780"/>
            <a:chExt cx="1997284" cy="196878"/>
          </a:xfrm>
        </p:grpSpPr>
        <p:cxnSp>
          <p:nvCxnSpPr>
            <p:cNvPr id="17" name="直線單箭頭接點 5">
              <a:extLst>
                <a:ext uri="{FF2B5EF4-FFF2-40B4-BE49-F238E27FC236}">
                  <a16:creationId xmlns:a16="http://schemas.microsoft.com/office/drawing/2014/main" id="{925E2BFC-C53E-C5F1-4893-D2C405A5D5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71130" y="4127555"/>
              <a:ext cx="1983179" cy="19103"/>
            </a:xfrm>
            <a:prstGeom prst="straightConnector1">
              <a:avLst/>
            </a:prstGeom>
            <a:ln w="34925">
              <a:solidFill>
                <a:schemeClr val="accent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64" name="直線單箭頭接點 5">
              <a:extLst>
                <a:ext uri="{FF2B5EF4-FFF2-40B4-BE49-F238E27FC236}">
                  <a16:creationId xmlns:a16="http://schemas.microsoft.com/office/drawing/2014/main" id="{03353463-C88A-E850-FDA8-E37187AC844A}"/>
                </a:ext>
              </a:extLst>
            </p:cNvPr>
            <p:cNvCxnSpPr>
              <a:cxnSpLocks/>
            </p:cNvCxnSpPr>
            <p:nvPr/>
          </p:nvCxnSpPr>
          <p:spPr>
            <a:xfrm>
              <a:off x="6957025" y="3949780"/>
              <a:ext cx="1968417" cy="0"/>
            </a:xfrm>
            <a:prstGeom prst="straightConnector1">
              <a:avLst/>
            </a:prstGeom>
            <a:ln w="34925">
              <a:solidFill>
                <a:srgbClr val="38908E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</p:grpSp>
      <p:sp>
        <p:nvSpPr>
          <p:cNvPr id="67" name="矩形: 圓角 8">
            <a:extLst>
              <a:ext uri="{FF2B5EF4-FFF2-40B4-BE49-F238E27FC236}">
                <a16:creationId xmlns:a16="http://schemas.microsoft.com/office/drawing/2014/main" id="{54EA77E3-73CB-9B90-5FBF-E5A7DA423E09}"/>
              </a:ext>
            </a:extLst>
          </p:cNvPr>
          <p:cNvSpPr/>
          <p:nvPr/>
        </p:nvSpPr>
        <p:spPr>
          <a:xfrm>
            <a:off x="3581592" y="4919809"/>
            <a:ext cx="1944536" cy="40862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經銷商業績查詢</a:t>
            </a:r>
            <a:endParaRPr kumimoji="0" lang="en-US" altLang="zh-TW" sz="1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68" name="矩形: 圓角 9">
            <a:extLst>
              <a:ext uri="{FF2B5EF4-FFF2-40B4-BE49-F238E27FC236}">
                <a16:creationId xmlns:a16="http://schemas.microsoft.com/office/drawing/2014/main" id="{E2B65542-4309-19E3-2443-762306295FAD}"/>
              </a:ext>
            </a:extLst>
          </p:cNvPr>
          <p:cNvSpPr/>
          <p:nvPr/>
        </p:nvSpPr>
        <p:spPr>
          <a:xfrm>
            <a:off x="9256242" y="4919809"/>
            <a:ext cx="1992941" cy="40862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業績</a:t>
            </a:r>
            <a:r>
              <a:rPr kumimoji="0" lang="en-US" altLang="zh-TW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 API</a:t>
            </a: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76" name="圓角矩形 75">
            <a:extLst>
              <a:ext uri="{FF2B5EF4-FFF2-40B4-BE49-F238E27FC236}">
                <a16:creationId xmlns:a16="http://schemas.microsoft.com/office/drawing/2014/main" id="{37A95FAB-B007-E5F1-46A8-315D3F99520C}"/>
              </a:ext>
            </a:extLst>
          </p:cNvPr>
          <p:cNvSpPr/>
          <p:nvPr/>
        </p:nvSpPr>
        <p:spPr>
          <a:xfrm>
            <a:off x="8915466" y="2569978"/>
            <a:ext cx="2576945" cy="2031323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 hangingPunct="0"/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</a:rPr>
              <a:t>訂單資訊</a:t>
            </a:r>
            <a:r>
              <a:rPr lang="en-US" altLang="zh-TW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</a:rPr>
              <a:t>API</a:t>
            </a:r>
          </a:p>
          <a:p>
            <a:pPr algn="ctr" hangingPunct="0"/>
            <a:endParaRPr lang="en-US" altLang="zh-TW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</a:endParaRPr>
          </a:p>
          <a:p>
            <a:pPr algn="ctr" hangingPunct="0"/>
            <a:endParaRPr lang="en-US" altLang="zh-TW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</a:endParaRPr>
          </a:p>
          <a:p>
            <a:pPr algn="ctr" hangingPunct="0"/>
            <a:endParaRPr lang="en-US" altLang="zh-TW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</a:endParaRPr>
          </a:p>
          <a:p>
            <a:pPr algn="ctr" hangingPunct="0"/>
            <a:endParaRPr lang="en-US" altLang="zh-TW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</a:endParaRPr>
          </a:p>
          <a:p>
            <a:pPr algn="ctr" hangingPunct="0"/>
            <a:endParaRPr lang="en-US" altLang="zh-TW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</a:endParaRPr>
          </a:p>
          <a:p>
            <a:pPr algn="ctr" hangingPunct="0"/>
            <a:endParaRPr lang="zh-TW" altLang="en-US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</a:endParaRPr>
          </a:p>
        </p:txBody>
      </p:sp>
      <p:sp>
        <p:nvSpPr>
          <p:cNvPr id="89" name="矩形: 圓角 8">
            <a:extLst>
              <a:ext uri="{FF2B5EF4-FFF2-40B4-BE49-F238E27FC236}">
                <a16:creationId xmlns:a16="http://schemas.microsoft.com/office/drawing/2014/main" id="{B84FFEB6-4A2D-54A6-4534-A9A8A9B1C04F}"/>
              </a:ext>
            </a:extLst>
          </p:cNvPr>
          <p:cNvSpPr/>
          <p:nvPr/>
        </p:nvSpPr>
        <p:spPr>
          <a:xfrm>
            <a:off x="6106612" y="5565513"/>
            <a:ext cx="1248195" cy="40862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獎金暫存</a:t>
            </a:r>
            <a:endParaRPr kumimoji="0" lang="en-US" altLang="zh-TW" sz="1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90" name="矩形: 圓角 9">
            <a:extLst>
              <a:ext uri="{FF2B5EF4-FFF2-40B4-BE49-F238E27FC236}">
                <a16:creationId xmlns:a16="http://schemas.microsoft.com/office/drawing/2014/main" id="{4CC199BF-8A50-A566-0BBA-7B1A4F134639}"/>
              </a:ext>
            </a:extLst>
          </p:cNvPr>
          <p:cNvSpPr/>
          <p:nvPr/>
        </p:nvSpPr>
        <p:spPr>
          <a:xfrm>
            <a:off x="9256242" y="5556506"/>
            <a:ext cx="1992941" cy="40862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獎金</a:t>
            </a:r>
            <a:r>
              <a:rPr kumimoji="0" lang="en-US" altLang="zh-TW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 API</a:t>
            </a: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93" name="矩形: 圓角 8">
            <a:extLst>
              <a:ext uri="{FF2B5EF4-FFF2-40B4-BE49-F238E27FC236}">
                <a16:creationId xmlns:a16="http://schemas.microsoft.com/office/drawing/2014/main" id="{2051150B-086D-2B6F-5DC4-5F126FCF507A}"/>
              </a:ext>
            </a:extLst>
          </p:cNvPr>
          <p:cNvSpPr/>
          <p:nvPr/>
        </p:nvSpPr>
        <p:spPr>
          <a:xfrm>
            <a:off x="6106612" y="6157299"/>
            <a:ext cx="1248195" cy="40862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對帳暫存</a:t>
            </a:r>
            <a:endParaRPr kumimoji="0" lang="en-US" altLang="zh-TW" sz="1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94" name="矩形: 圓角 9">
            <a:extLst>
              <a:ext uri="{FF2B5EF4-FFF2-40B4-BE49-F238E27FC236}">
                <a16:creationId xmlns:a16="http://schemas.microsoft.com/office/drawing/2014/main" id="{71F57A53-951A-914F-ACBD-C16E86DD47BD}"/>
              </a:ext>
            </a:extLst>
          </p:cNvPr>
          <p:cNvSpPr/>
          <p:nvPr/>
        </p:nvSpPr>
        <p:spPr>
          <a:xfrm>
            <a:off x="9256242" y="6148292"/>
            <a:ext cx="1992941" cy="40862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對帳</a:t>
            </a:r>
            <a:r>
              <a:rPr kumimoji="0" lang="en-US" altLang="zh-TW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 API</a:t>
            </a: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03" name="矩形: 圓角 8">
            <a:extLst>
              <a:ext uri="{FF2B5EF4-FFF2-40B4-BE49-F238E27FC236}">
                <a16:creationId xmlns:a16="http://schemas.microsoft.com/office/drawing/2014/main" id="{51C60CC1-699D-C8FB-54BD-DE466685BF41}"/>
              </a:ext>
            </a:extLst>
          </p:cNvPr>
          <p:cNvSpPr/>
          <p:nvPr/>
        </p:nvSpPr>
        <p:spPr>
          <a:xfrm>
            <a:off x="5077931" y="2927828"/>
            <a:ext cx="1944536" cy="40862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後台 </a:t>
            </a:r>
            <a:r>
              <a:rPr kumimoji="0" lang="en-US" altLang="zh-TW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- </a:t>
            </a:r>
            <a:r>
              <a: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訂單同步</a:t>
            </a:r>
            <a:endParaRPr kumimoji="0" lang="en-US" altLang="zh-TW" sz="1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4" name="矩形: 圓角 9">
            <a:extLst>
              <a:ext uri="{FF2B5EF4-FFF2-40B4-BE49-F238E27FC236}">
                <a16:creationId xmlns:a16="http://schemas.microsoft.com/office/drawing/2014/main" id="{6FEDF784-90C2-A5B2-956A-E533E3AB009D}"/>
              </a:ext>
            </a:extLst>
          </p:cNvPr>
          <p:cNvSpPr/>
          <p:nvPr/>
        </p:nvSpPr>
        <p:spPr>
          <a:xfrm>
            <a:off x="9214849" y="2917809"/>
            <a:ext cx="1992941" cy="40862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正式訂單</a:t>
            </a:r>
          </a:p>
        </p:txBody>
      </p:sp>
      <p:cxnSp>
        <p:nvCxnSpPr>
          <p:cNvPr id="69" name="直線單箭頭接點 5">
            <a:extLst>
              <a:ext uri="{FF2B5EF4-FFF2-40B4-BE49-F238E27FC236}">
                <a16:creationId xmlns:a16="http://schemas.microsoft.com/office/drawing/2014/main" id="{5FBAE05E-8DE8-48D3-60AC-63E03FDAE955}"/>
              </a:ext>
            </a:extLst>
          </p:cNvPr>
          <p:cNvCxnSpPr>
            <a:cxnSpLocks/>
            <a:stCxn id="71" idx="0"/>
            <a:endCxn id="14" idx="2"/>
          </p:cNvCxnSpPr>
          <p:nvPr/>
        </p:nvCxnSpPr>
        <p:spPr>
          <a:xfrm flipH="1" flipV="1">
            <a:off x="10211320" y="3326429"/>
            <a:ext cx="4988" cy="162659"/>
          </a:xfrm>
          <a:prstGeom prst="straightConnector1">
            <a:avLst/>
          </a:prstGeom>
          <a:ln w="3492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71" name="矩形: 圓角 9">
            <a:extLst>
              <a:ext uri="{FF2B5EF4-FFF2-40B4-BE49-F238E27FC236}">
                <a16:creationId xmlns:a16="http://schemas.microsoft.com/office/drawing/2014/main" id="{B861CECA-80EA-DE44-FCF0-7C6D60ED910E}"/>
              </a:ext>
            </a:extLst>
          </p:cNvPr>
          <p:cNvSpPr/>
          <p:nvPr/>
        </p:nvSpPr>
        <p:spPr>
          <a:xfrm>
            <a:off x="9219837" y="3489088"/>
            <a:ext cx="1992941" cy="40862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出貨通知單</a:t>
            </a:r>
            <a:r>
              <a:rPr lang="en-US" altLang="zh-TW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/</a:t>
            </a:r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餘單</a:t>
            </a: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72" name="矩形: 圓角 9">
            <a:extLst>
              <a:ext uri="{FF2B5EF4-FFF2-40B4-BE49-F238E27FC236}">
                <a16:creationId xmlns:a16="http://schemas.microsoft.com/office/drawing/2014/main" id="{CAEF6FA0-8688-AB76-C073-6E9B162C5EE6}"/>
              </a:ext>
            </a:extLst>
          </p:cNvPr>
          <p:cNvSpPr/>
          <p:nvPr/>
        </p:nvSpPr>
        <p:spPr>
          <a:xfrm>
            <a:off x="9224826" y="4049701"/>
            <a:ext cx="1992941" cy="40862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出貨</a:t>
            </a:r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單</a:t>
            </a: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cxnSp>
        <p:nvCxnSpPr>
          <p:cNvPr id="80" name="直線單箭頭接點 5">
            <a:extLst>
              <a:ext uri="{FF2B5EF4-FFF2-40B4-BE49-F238E27FC236}">
                <a16:creationId xmlns:a16="http://schemas.microsoft.com/office/drawing/2014/main" id="{A173997E-EF5F-97E6-FCA1-716A1FE2C969}"/>
              </a:ext>
            </a:extLst>
          </p:cNvPr>
          <p:cNvCxnSpPr>
            <a:cxnSpLocks/>
            <a:stCxn id="72" idx="0"/>
            <a:endCxn id="71" idx="2"/>
          </p:cNvCxnSpPr>
          <p:nvPr/>
        </p:nvCxnSpPr>
        <p:spPr>
          <a:xfrm flipH="1" flipV="1">
            <a:off x="10216308" y="3897708"/>
            <a:ext cx="4989" cy="151993"/>
          </a:xfrm>
          <a:prstGeom prst="straightConnector1">
            <a:avLst/>
          </a:prstGeom>
          <a:ln w="3492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111" name="矩形: 圓角 8">
            <a:extLst>
              <a:ext uri="{FF2B5EF4-FFF2-40B4-BE49-F238E27FC236}">
                <a16:creationId xmlns:a16="http://schemas.microsoft.com/office/drawing/2014/main" id="{5624E6FF-588C-F11C-6D34-131477E06C57}"/>
              </a:ext>
            </a:extLst>
          </p:cNvPr>
          <p:cNvSpPr/>
          <p:nvPr/>
        </p:nvSpPr>
        <p:spPr>
          <a:xfrm>
            <a:off x="5012489" y="1994021"/>
            <a:ext cx="1944536" cy="40862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後台</a:t>
            </a:r>
            <a:r>
              <a:rPr kumimoji="0" lang="en-US" altLang="zh-TW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 – </a:t>
            </a:r>
            <a:r>
              <a: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價格表</a:t>
            </a:r>
            <a:endParaRPr kumimoji="0" lang="en-US" altLang="zh-TW" sz="1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12" name="矩形: 圓角 9">
            <a:extLst>
              <a:ext uri="{FF2B5EF4-FFF2-40B4-BE49-F238E27FC236}">
                <a16:creationId xmlns:a16="http://schemas.microsoft.com/office/drawing/2014/main" id="{04272F8D-A7F5-3238-E06A-EB87E9511338}"/>
              </a:ext>
            </a:extLst>
          </p:cNvPr>
          <p:cNvSpPr/>
          <p:nvPr/>
        </p:nvSpPr>
        <p:spPr>
          <a:xfrm>
            <a:off x="9180960" y="1976694"/>
            <a:ext cx="1992941" cy="40862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經銷商報價單 </a:t>
            </a:r>
            <a:r>
              <a:rPr lang="en-US" altLang="zh-TW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API</a:t>
            </a: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grpSp>
        <p:nvGrpSpPr>
          <p:cNvPr id="127" name="群組 126">
            <a:extLst>
              <a:ext uri="{FF2B5EF4-FFF2-40B4-BE49-F238E27FC236}">
                <a16:creationId xmlns:a16="http://schemas.microsoft.com/office/drawing/2014/main" id="{664643A1-7E9E-BAF0-A525-0CE56A87B81C}"/>
              </a:ext>
            </a:extLst>
          </p:cNvPr>
          <p:cNvGrpSpPr/>
          <p:nvPr/>
        </p:nvGrpSpPr>
        <p:grpSpPr>
          <a:xfrm rot="10800000">
            <a:off x="6938414" y="2057278"/>
            <a:ext cx="2242131" cy="259258"/>
            <a:chOff x="5524628" y="2245977"/>
            <a:chExt cx="2242131" cy="259258"/>
          </a:xfrm>
        </p:grpSpPr>
        <p:cxnSp>
          <p:nvCxnSpPr>
            <p:cNvPr id="113" name="直線單箭頭接點 5">
              <a:extLst>
                <a:ext uri="{FF2B5EF4-FFF2-40B4-BE49-F238E27FC236}">
                  <a16:creationId xmlns:a16="http://schemas.microsoft.com/office/drawing/2014/main" id="{B6AD73A7-7069-11AA-E7B7-AD11A044CC35}"/>
                </a:ext>
              </a:extLst>
            </p:cNvPr>
            <p:cNvCxnSpPr>
              <a:cxnSpLocks/>
            </p:cNvCxnSpPr>
            <p:nvPr/>
          </p:nvCxnSpPr>
          <p:spPr>
            <a:xfrm>
              <a:off x="5524628" y="2245977"/>
              <a:ext cx="2223935" cy="0"/>
            </a:xfrm>
            <a:prstGeom prst="straightConnector1">
              <a:avLst/>
            </a:prstGeom>
            <a:ln w="34925">
              <a:solidFill>
                <a:srgbClr val="38908E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14" name="直線單箭頭接點 5">
              <a:extLst>
                <a:ext uri="{FF2B5EF4-FFF2-40B4-BE49-F238E27FC236}">
                  <a16:creationId xmlns:a16="http://schemas.microsoft.com/office/drawing/2014/main" id="{688AE64D-5025-19DF-EDCD-43CCEF71EA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33726" y="2505235"/>
              <a:ext cx="2233033" cy="0"/>
            </a:xfrm>
            <a:prstGeom prst="straightConnector1">
              <a:avLst/>
            </a:prstGeom>
            <a:ln w="34925">
              <a:solidFill>
                <a:schemeClr val="accent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</p:grpSp>
      <p:grpSp>
        <p:nvGrpSpPr>
          <p:cNvPr id="128" name="群組 127">
            <a:extLst>
              <a:ext uri="{FF2B5EF4-FFF2-40B4-BE49-F238E27FC236}">
                <a16:creationId xmlns:a16="http://schemas.microsoft.com/office/drawing/2014/main" id="{3CADCB09-B1DE-334C-9DAA-0619E0405B10}"/>
              </a:ext>
            </a:extLst>
          </p:cNvPr>
          <p:cNvGrpSpPr/>
          <p:nvPr/>
        </p:nvGrpSpPr>
        <p:grpSpPr>
          <a:xfrm>
            <a:off x="7000890" y="3024711"/>
            <a:ext cx="2233033" cy="191994"/>
            <a:chOff x="5524628" y="2053983"/>
            <a:chExt cx="2233033" cy="191994"/>
          </a:xfrm>
        </p:grpSpPr>
        <p:cxnSp>
          <p:nvCxnSpPr>
            <p:cNvPr id="129" name="直線單箭頭接點 5">
              <a:extLst>
                <a:ext uri="{FF2B5EF4-FFF2-40B4-BE49-F238E27FC236}">
                  <a16:creationId xmlns:a16="http://schemas.microsoft.com/office/drawing/2014/main" id="{1775D4BA-D65A-1A5F-7A32-47DF70C62555}"/>
                </a:ext>
              </a:extLst>
            </p:cNvPr>
            <p:cNvCxnSpPr>
              <a:cxnSpLocks/>
            </p:cNvCxnSpPr>
            <p:nvPr/>
          </p:nvCxnSpPr>
          <p:spPr>
            <a:xfrm>
              <a:off x="5524628" y="2245977"/>
              <a:ext cx="2223935" cy="0"/>
            </a:xfrm>
            <a:prstGeom prst="straightConnector1">
              <a:avLst/>
            </a:prstGeom>
            <a:ln w="34925">
              <a:solidFill>
                <a:srgbClr val="38908E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30" name="直線單箭頭接點 5">
              <a:extLst>
                <a:ext uri="{FF2B5EF4-FFF2-40B4-BE49-F238E27FC236}">
                  <a16:creationId xmlns:a16="http://schemas.microsoft.com/office/drawing/2014/main" id="{9D9B6E11-8271-DBBC-E9B5-B1286C1D3B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4628" y="2053983"/>
              <a:ext cx="2233033" cy="0"/>
            </a:xfrm>
            <a:prstGeom prst="straightConnector1">
              <a:avLst/>
            </a:prstGeom>
            <a:ln w="34925">
              <a:solidFill>
                <a:schemeClr val="accent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</p:grpSp>
      <p:grpSp>
        <p:nvGrpSpPr>
          <p:cNvPr id="131" name="群組 130">
            <a:extLst>
              <a:ext uri="{FF2B5EF4-FFF2-40B4-BE49-F238E27FC236}">
                <a16:creationId xmlns:a16="http://schemas.microsoft.com/office/drawing/2014/main" id="{CD7627EB-2EC6-11E3-4ACC-93F949422858}"/>
              </a:ext>
            </a:extLst>
          </p:cNvPr>
          <p:cNvGrpSpPr/>
          <p:nvPr/>
        </p:nvGrpSpPr>
        <p:grpSpPr>
          <a:xfrm rot="10800000">
            <a:off x="7240477" y="5020721"/>
            <a:ext cx="2001321" cy="233904"/>
            <a:chOff x="5524628" y="2245977"/>
            <a:chExt cx="2253461" cy="208597"/>
          </a:xfrm>
        </p:grpSpPr>
        <p:cxnSp>
          <p:nvCxnSpPr>
            <p:cNvPr id="132" name="直線單箭頭接點 5">
              <a:extLst>
                <a:ext uri="{FF2B5EF4-FFF2-40B4-BE49-F238E27FC236}">
                  <a16:creationId xmlns:a16="http://schemas.microsoft.com/office/drawing/2014/main" id="{20F52F27-ACFA-334D-EADD-D3157371DD00}"/>
                </a:ext>
              </a:extLst>
            </p:cNvPr>
            <p:cNvCxnSpPr>
              <a:cxnSpLocks/>
            </p:cNvCxnSpPr>
            <p:nvPr/>
          </p:nvCxnSpPr>
          <p:spPr>
            <a:xfrm>
              <a:off x="5524628" y="2245977"/>
              <a:ext cx="2223935" cy="0"/>
            </a:xfrm>
            <a:prstGeom prst="straightConnector1">
              <a:avLst/>
            </a:prstGeom>
            <a:ln w="34925">
              <a:solidFill>
                <a:srgbClr val="38908E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33" name="直線單箭頭接點 5">
              <a:extLst>
                <a:ext uri="{FF2B5EF4-FFF2-40B4-BE49-F238E27FC236}">
                  <a16:creationId xmlns:a16="http://schemas.microsoft.com/office/drawing/2014/main" id="{E18A9C36-07D8-6AF5-C186-07ED43B2DC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45056" y="2454574"/>
              <a:ext cx="2233033" cy="0"/>
            </a:xfrm>
            <a:prstGeom prst="straightConnector1">
              <a:avLst/>
            </a:prstGeom>
            <a:ln w="34925">
              <a:solidFill>
                <a:schemeClr val="accent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</p:grpSp>
      <p:grpSp>
        <p:nvGrpSpPr>
          <p:cNvPr id="137" name="群組 136">
            <a:extLst>
              <a:ext uri="{FF2B5EF4-FFF2-40B4-BE49-F238E27FC236}">
                <a16:creationId xmlns:a16="http://schemas.microsoft.com/office/drawing/2014/main" id="{50508191-5399-D55C-2286-DD3F0ACA7B6A}"/>
              </a:ext>
            </a:extLst>
          </p:cNvPr>
          <p:cNvGrpSpPr/>
          <p:nvPr/>
        </p:nvGrpSpPr>
        <p:grpSpPr>
          <a:xfrm rot="10800000">
            <a:off x="7346314" y="5644598"/>
            <a:ext cx="1909514" cy="263116"/>
            <a:chOff x="5524628" y="2245977"/>
            <a:chExt cx="2260907" cy="226051"/>
          </a:xfrm>
        </p:grpSpPr>
        <p:cxnSp>
          <p:nvCxnSpPr>
            <p:cNvPr id="138" name="直線單箭頭接點 5">
              <a:extLst>
                <a:ext uri="{FF2B5EF4-FFF2-40B4-BE49-F238E27FC236}">
                  <a16:creationId xmlns:a16="http://schemas.microsoft.com/office/drawing/2014/main" id="{91C0F7B4-7B60-6EF9-547B-BBCA0A741E3B}"/>
                </a:ext>
              </a:extLst>
            </p:cNvPr>
            <p:cNvCxnSpPr>
              <a:cxnSpLocks/>
            </p:cNvCxnSpPr>
            <p:nvPr/>
          </p:nvCxnSpPr>
          <p:spPr>
            <a:xfrm>
              <a:off x="5524628" y="2245977"/>
              <a:ext cx="2223935" cy="0"/>
            </a:xfrm>
            <a:prstGeom prst="straightConnector1">
              <a:avLst/>
            </a:prstGeom>
            <a:ln w="34925">
              <a:solidFill>
                <a:srgbClr val="38908E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39" name="直線單箭頭接點 5">
              <a:extLst>
                <a:ext uri="{FF2B5EF4-FFF2-40B4-BE49-F238E27FC236}">
                  <a16:creationId xmlns:a16="http://schemas.microsoft.com/office/drawing/2014/main" id="{370F4770-865B-84CF-9ECC-247470886E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52502" y="2472028"/>
              <a:ext cx="2233033" cy="0"/>
            </a:xfrm>
            <a:prstGeom prst="straightConnector1">
              <a:avLst/>
            </a:prstGeom>
            <a:ln w="34925">
              <a:solidFill>
                <a:schemeClr val="accent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</p:grpSp>
      <p:grpSp>
        <p:nvGrpSpPr>
          <p:cNvPr id="140" name="群組 139">
            <a:extLst>
              <a:ext uri="{FF2B5EF4-FFF2-40B4-BE49-F238E27FC236}">
                <a16:creationId xmlns:a16="http://schemas.microsoft.com/office/drawing/2014/main" id="{9B175A13-572A-1659-03DF-41343FADE137}"/>
              </a:ext>
            </a:extLst>
          </p:cNvPr>
          <p:cNvGrpSpPr/>
          <p:nvPr/>
        </p:nvGrpSpPr>
        <p:grpSpPr>
          <a:xfrm rot="10800000">
            <a:off x="7346314" y="6229922"/>
            <a:ext cx="1909514" cy="251635"/>
            <a:chOff x="5524628" y="2245977"/>
            <a:chExt cx="2260907" cy="228450"/>
          </a:xfrm>
        </p:grpSpPr>
        <p:cxnSp>
          <p:nvCxnSpPr>
            <p:cNvPr id="141" name="直線單箭頭接點 5">
              <a:extLst>
                <a:ext uri="{FF2B5EF4-FFF2-40B4-BE49-F238E27FC236}">
                  <a16:creationId xmlns:a16="http://schemas.microsoft.com/office/drawing/2014/main" id="{E237FEE1-2788-2FD0-87B4-64618634F019}"/>
                </a:ext>
              </a:extLst>
            </p:cNvPr>
            <p:cNvCxnSpPr>
              <a:cxnSpLocks/>
            </p:cNvCxnSpPr>
            <p:nvPr/>
          </p:nvCxnSpPr>
          <p:spPr>
            <a:xfrm>
              <a:off x="5524628" y="2245977"/>
              <a:ext cx="2223935" cy="0"/>
            </a:xfrm>
            <a:prstGeom prst="straightConnector1">
              <a:avLst/>
            </a:prstGeom>
            <a:ln w="34925">
              <a:solidFill>
                <a:srgbClr val="38908E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42" name="直線單箭頭接點 5">
              <a:extLst>
                <a:ext uri="{FF2B5EF4-FFF2-40B4-BE49-F238E27FC236}">
                  <a16:creationId xmlns:a16="http://schemas.microsoft.com/office/drawing/2014/main" id="{FC9F0B96-8233-3ADB-6C4B-D5F4FDE57F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52502" y="2474427"/>
              <a:ext cx="2233033" cy="0"/>
            </a:xfrm>
            <a:prstGeom prst="straightConnector1">
              <a:avLst/>
            </a:prstGeom>
            <a:ln w="34925">
              <a:solidFill>
                <a:schemeClr val="accent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</p:grpSp>
      <p:sp>
        <p:nvSpPr>
          <p:cNvPr id="145" name="文字方塊 144">
            <a:extLst>
              <a:ext uri="{FF2B5EF4-FFF2-40B4-BE49-F238E27FC236}">
                <a16:creationId xmlns:a16="http://schemas.microsoft.com/office/drawing/2014/main" id="{EE6B08DB-DD3C-61FF-CFD2-A9BA51FE436C}"/>
              </a:ext>
            </a:extLst>
          </p:cNvPr>
          <p:cNvSpPr txBox="1"/>
          <p:nvPr/>
        </p:nvSpPr>
        <p:spPr>
          <a:xfrm>
            <a:off x="5159857" y="299065"/>
            <a:ext cx="3359665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【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註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】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以下作業之前製步驟，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[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商品代號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]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與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[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客戶代號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]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需相同</a:t>
            </a:r>
          </a:p>
        </p:txBody>
      </p:sp>
      <p:sp>
        <p:nvSpPr>
          <p:cNvPr id="148" name="內容版面配置區 12">
            <a:extLst>
              <a:ext uri="{FF2B5EF4-FFF2-40B4-BE49-F238E27FC236}">
                <a16:creationId xmlns:a16="http://schemas.microsoft.com/office/drawing/2014/main" id="{BF2DB74B-4300-1065-FEFC-1E9E4B45AFAD}"/>
              </a:ext>
            </a:extLst>
          </p:cNvPr>
          <p:cNvSpPr txBox="1">
            <a:spLocks/>
          </p:cNvSpPr>
          <p:nvPr/>
        </p:nvSpPr>
        <p:spPr>
          <a:xfrm>
            <a:off x="180531" y="2068709"/>
            <a:ext cx="4813127" cy="4386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TW" altLang="en-US" sz="2800" b="1" kern="120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zh-TW" altLang="en-US" sz="2000" b="1" kern="1200">
                <a:solidFill>
                  <a:schemeClr val="tx1">
                    <a:tint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zh-TW" altLang="en-US" sz="1800" b="1" kern="1200">
                <a:solidFill>
                  <a:schemeClr val="tx1">
                    <a:tint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zh-TW" altLang="en-US" sz="1600" kern="1200">
                <a:solidFill>
                  <a:schemeClr val="tx1">
                    <a:tint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zh-TW" altLang="en-US" sz="1600" kern="1200">
                <a:solidFill>
                  <a:schemeClr val="tx1">
                    <a:tint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將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ERP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之經銷商產品報價同步至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B2B</a:t>
            </a:r>
            <a:endParaRPr lang="zh-TW" altLang="en-US" sz="2000" dirty="0"/>
          </a:p>
          <a:p>
            <a:pPr marL="514350" indent="-514350">
              <a:buFont typeface="+mj-lt"/>
              <a:buAutoNum type="arabicPeriod"/>
            </a:pP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514350" indent="-514350">
              <a:buFont typeface="+mj-lt"/>
              <a:buAutoNum type="arabicPeriod"/>
            </a:pP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將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B2B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正式訂單同步至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ERP</a:t>
            </a:r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514350" indent="-514350">
              <a:buFont typeface="+mj-lt"/>
              <a:buAutoNum type="arabicPeriod"/>
            </a:pPr>
            <a:endParaRPr lang="zh-TW" altLang="en-US" sz="2000" dirty="0"/>
          </a:p>
          <a:p>
            <a:pPr marL="514350" indent="-514350">
              <a:buFont typeface="+mj-lt"/>
              <a:buAutoNum type="arabicPeriod"/>
            </a:pP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提供前台所需訂單資訊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514350" indent="-514350">
              <a:buFont typeface="+mj-lt"/>
              <a:buAutoNum type="arabicPeriod"/>
            </a:pP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514350" indent="-514350">
              <a:buFont typeface="+mj-lt"/>
              <a:buAutoNum type="arabicPeriod"/>
            </a:pP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514350" indent="-514350">
              <a:buFont typeface="+mj-lt"/>
              <a:buAutoNum type="arabicPeriod"/>
            </a:pP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提供前台所需業績資訊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514350" indent="-514350">
              <a:buFont typeface="+mj-lt"/>
              <a:buAutoNum type="arabicPeriod"/>
            </a:pP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提供前台所需獎金資訊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514350" indent="-514350">
              <a:buFont typeface="+mj-lt"/>
              <a:buAutoNum type="arabicPeriod"/>
            </a:pP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提供前台所需對帳資訊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" name="矩形: 圓角 8">
            <a:extLst>
              <a:ext uri="{FF2B5EF4-FFF2-40B4-BE49-F238E27FC236}">
                <a16:creationId xmlns:a16="http://schemas.microsoft.com/office/drawing/2014/main" id="{BFE1F77B-5A98-72A4-4236-B2961AC83C63}"/>
              </a:ext>
            </a:extLst>
          </p:cNvPr>
          <p:cNvSpPr/>
          <p:nvPr/>
        </p:nvSpPr>
        <p:spPr>
          <a:xfrm>
            <a:off x="3705705" y="5536826"/>
            <a:ext cx="1944536" cy="40862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經銷商</a:t>
            </a:r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獎金</a:t>
            </a:r>
            <a:r>
              <a: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查詢</a:t>
            </a:r>
            <a:endParaRPr kumimoji="0" lang="en-US" altLang="zh-TW" sz="1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3" name="矩形: 圓角 8">
            <a:extLst>
              <a:ext uri="{FF2B5EF4-FFF2-40B4-BE49-F238E27FC236}">
                <a16:creationId xmlns:a16="http://schemas.microsoft.com/office/drawing/2014/main" id="{913DE958-9F8F-D889-2E64-8693601C4CFC}"/>
              </a:ext>
            </a:extLst>
          </p:cNvPr>
          <p:cNvSpPr/>
          <p:nvPr/>
        </p:nvSpPr>
        <p:spPr>
          <a:xfrm>
            <a:off x="3705705" y="6128612"/>
            <a:ext cx="1944536" cy="40862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經銷商</a:t>
            </a:r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對帳</a:t>
            </a:r>
            <a:r>
              <a: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查詢</a:t>
            </a:r>
            <a:endParaRPr kumimoji="0" lang="en-US" altLang="zh-TW" sz="1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93D689FC-A1F1-D8D1-1544-4BA7C972919A}"/>
              </a:ext>
            </a:extLst>
          </p:cNvPr>
          <p:cNvGrpSpPr/>
          <p:nvPr/>
        </p:nvGrpSpPr>
        <p:grpSpPr>
          <a:xfrm>
            <a:off x="5688504" y="5651052"/>
            <a:ext cx="386023" cy="187580"/>
            <a:chOff x="5524628" y="2053983"/>
            <a:chExt cx="2233033" cy="191994"/>
          </a:xfrm>
        </p:grpSpPr>
        <p:cxnSp>
          <p:nvCxnSpPr>
            <p:cNvPr id="5" name="直線單箭頭接點 5">
              <a:extLst>
                <a:ext uri="{FF2B5EF4-FFF2-40B4-BE49-F238E27FC236}">
                  <a16:creationId xmlns:a16="http://schemas.microsoft.com/office/drawing/2014/main" id="{3AA215A5-E5F9-1AD0-5F9E-1480F783C11A}"/>
                </a:ext>
              </a:extLst>
            </p:cNvPr>
            <p:cNvCxnSpPr>
              <a:cxnSpLocks/>
            </p:cNvCxnSpPr>
            <p:nvPr/>
          </p:nvCxnSpPr>
          <p:spPr>
            <a:xfrm>
              <a:off x="5524628" y="2245977"/>
              <a:ext cx="2223935" cy="0"/>
            </a:xfrm>
            <a:prstGeom prst="straightConnector1">
              <a:avLst/>
            </a:prstGeom>
            <a:ln w="34925">
              <a:solidFill>
                <a:srgbClr val="38908E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6" name="直線單箭頭接點 5">
              <a:extLst>
                <a:ext uri="{FF2B5EF4-FFF2-40B4-BE49-F238E27FC236}">
                  <a16:creationId xmlns:a16="http://schemas.microsoft.com/office/drawing/2014/main" id="{5D68CCD3-6C4B-062E-3FA8-12DD809D00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4628" y="2053983"/>
              <a:ext cx="2233033" cy="0"/>
            </a:xfrm>
            <a:prstGeom prst="straightConnector1">
              <a:avLst/>
            </a:prstGeom>
            <a:ln w="34925">
              <a:solidFill>
                <a:schemeClr val="accent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</p:grpSp>
      <p:grpSp>
        <p:nvGrpSpPr>
          <p:cNvPr id="7" name="群組 6">
            <a:extLst>
              <a:ext uri="{FF2B5EF4-FFF2-40B4-BE49-F238E27FC236}">
                <a16:creationId xmlns:a16="http://schemas.microsoft.com/office/drawing/2014/main" id="{28A8E755-A121-6868-F22B-513DDE59F3AC}"/>
              </a:ext>
            </a:extLst>
          </p:cNvPr>
          <p:cNvGrpSpPr/>
          <p:nvPr/>
        </p:nvGrpSpPr>
        <p:grpSpPr>
          <a:xfrm>
            <a:off x="5679841" y="6250492"/>
            <a:ext cx="386023" cy="187580"/>
            <a:chOff x="5524628" y="2053983"/>
            <a:chExt cx="2233033" cy="191994"/>
          </a:xfrm>
        </p:grpSpPr>
        <p:cxnSp>
          <p:nvCxnSpPr>
            <p:cNvPr id="10" name="直線單箭頭接點 5">
              <a:extLst>
                <a:ext uri="{FF2B5EF4-FFF2-40B4-BE49-F238E27FC236}">
                  <a16:creationId xmlns:a16="http://schemas.microsoft.com/office/drawing/2014/main" id="{01A68459-A859-A2CB-4313-A04DDA7132A5}"/>
                </a:ext>
              </a:extLst>
            </p:cNvPr>
            <p:cNvCxnSpPr>
              <a:cxnSpLocks/>
            </p:cNvCxnSpPr>
            <p:nvPr/>
          </p:nvCxnSpPr>
          <p:spPr>
            <a:xfrm>
              <a:off x="5524628" y="2245977"/>
              <a:ext cx="2223935" cy="0"/>
            </a:xfrm>
            <a:prstGeom prst="straightConnector1">
              <a:avLst/>
            </a:prstGeom>
            <a:ln w="34925">
              <a:solidFill>
                <a:srgbClr val="38908E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1" name="直線單箭頭接點 5">
              <a:extLst>
                <a:ext uri="{FF2B5EF4-FFF2-40B4-BE49-F238E27FC236}">
                  <a16:creationId xmlns:a16="http://schemas.microsoft.com/office/drawing/2014/main" id="{7040DE26-7142-69EF-ADF2-7D272D52AA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4628" y="2053983"/>
              <a:ext cx="2233033" cy="0"/>
            </a:xfrm>
            <a:prstGeom prst="straightConnector1">
              <a:avLst/>
            </a:prstGeom>
            <a:ln w="34925">
              <a:solidFill>
                <a:schemeClr val="accent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</p:grp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A828602-59F8-E454-11C6-14EDFB406542}"/>
              </a:ext>
            </a:extLst>
          </p:cNvPr>
          <p:cNvSpPr txBox="1"/>
          <p:nvPr/>
        </p:nvSpPr>
        <p:spPr>
          <a:xfrm>
            <a:off x="7999911" y="5529911"/>
            <a:ext cx="697627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kumimoji="1" lang="en-US" altLang="zh-TW" sz="1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ERP</a:t>
            </a:r>
          </a:p>
          <a:p>
            <a:pPr algn="ctr"/>
            <a:r>
              <a:rPr kumimoji="1" lang="zh-TW" altLang="en-US" sz="1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排程同步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4C219EA-284A-F91A-1C1B-4EB7D84267B7}"/>
              </a:ext>
            </a:extLst>
          </p:cNvPr>
          <p:cNvSpPr txBox="1"/>
          <p:nvPr/>
        </p:nvSpPr>
        <p:spPr>
          <a:xfrm>
            <a:off x="7999911" y="6141187"/>
            <a:ext cx="697627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kumimoji="1" lang="en-US" altLang="zh-TW" sz="1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ERP</a:t>
            </a:r>
          </a:p>
          <a:p>
            <a:pPr algn="ctr"/>
            <a:r>
              <a:rPr kumimoji="1" lang="zh-TW" altLang="en-US" sz="1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排程同步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115A7CAF-5BDE-AAA8-68C3-0E4447D6C91D}"/>
              </a:ext>
            </a:extLst>
          </p:cNvPr>
          <p:cNvSpPr txBox="1"/>
          <p:nvPr/>
        </p:nvSpPr>
        <p:spPr>
          <a:xfrm>
            <a:off x="7934510" y="1977715"/>
            <a:ext cx="697627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TW" sz="1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B2B</a:t>
            </a:r>
            <a:r>
              <a:rPr kumimoji="1" lang="zh-TW" altLang="en-US" sz="1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平台</a:t>
            </a:r>
            <a:endParaRPr kumimoji="1" lang="en-US" altLang="zh-TW" sz="1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sz="1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人工同步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44A28524-C515-FC68-BB12-6921CAB6AD9B}"/>
              </a:ext>
            </a:extLst>
          </p:cNvPr>
          <p:cNvSpPr txBox="1"/>
          <p:nvPr/>
        </p:nvSpPr>
        <p:spPr>
          <a:xfrm>
            <a:off x="7957508" y="2906781"/>
            <a:ext cx="697627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TW" sz="1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B2B</a:t>
            </a:r>
            <a:r>
              <a:rPr kumimoji="1" lang="zh-TW" altLang="en-US" sz="1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平台</a:t>
            </a:r>
            <a:endParaRPr kumimoji="1" lang="en-US" altLang="zh-TW" sz="1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sz="1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人工同步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AB0C027-7253-7058-47DE-2D1C5E8361E5}"/>
              </a:ext>
            </a:extLst>
          </p:cNvPr>
          <p:cNvSpPr txBox="1"/>
          <p:nvPr/>
        </p:nvSpPr>
        <p:spPr>
          <a:xfrm>
            <a:off x="7917958" y="4885769"/>
            <a:ext cx="697627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kumimoji="1" lang="en-US" altLang="zh-TW" sz="1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ERP</a:t>
            </a:r>
          </a:p>
          <a:p>
            <a:pPr algn="ctr"/>
            <a:r>
              <a:rPr kumimoji="1" lang="zh-TW" altLang="en-US" sz="1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排程同步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0DE7A75E-B553-9214-01AE-3902046FE1C9}"/>
              </a:ext>
            </a:extLst>
          </p:cNvPr>
          <p:cNvSpPr txBox="1"/>
          <p:nvPr/>
        </p:nvSpPr>
        <p:spPr>
          <a:xfrm>
            <a:off x="7880098" y="3662305"/>
            <a:ext cx="697627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kumimoji="1" lang="en-US" altLang="zh-TW" sz="1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ERP</a:t>
            </a:r>
          </a:p>
          <a:p>
            <a:pPr algn="ctr"/>
            <a:r>
              <a:rPr kumimoji="1" lang="zh-TW" altLang="en-US" sz="1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排程同步</a:t>
            </a:r>
          </a:p>
        </p:txBody>
      </p:sp>
      <p:sp>
        <p:nvSpPr>
          <p:cNvPr id="25" name="矩形: 圓角 8">
            <a:extLst>
              <a:ext uri="{FF2B5EF4-FFF2-40B4-BE49-F238E27FC236}">
                <a16:creationId xmlns:a16="http://schemas.microsoft.com/office/drawing/2014/main" id="{DD7C5782-EC68-7F58-D6AB-440CA79953B0}"/>
              </a:ext>
            </a:extLst>
          </p:cNvPr>
          <p:cNvSpPr/>
          <p:nvPr/>
        </p:nvSpPr>
        <p:spPr>
          <a:xfrm>
            <a:off x="5983761" y="4920657"/>
            <a:ext cx="1248195" cy="40862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業績暫存</a:t>
            </a:r>
            <a:endParaRPr kumimoji="0" lang="en-US" altLang="zh-TW" sz="1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DDD07603-D8EB-F06B-7BAD-F1CA2DF8CAD9}"/>
              </a:ext>
            </a:extLst>
          </p:cNvPr>
          <p:cNvGrpSpPr/>
          <p:nvPr/>
        </p:nvGrpSpPr>
        <p:grpSpPr>
          <a:xfrm>
            <a:off x="5565653" y="5006196"/>
            <a:ext cx="386023" cy="187580"/>
            <a:chOff x="5524628" y="2053983"/>
            <a:chExt cx="2233033" cy="191994"/>
          </a:xfrm>
        </p:grpSpPr>
        <p:cxnSp>
          <p:nvCxnSpPr>
            <p:cNvPr id="27" name="直線單箭頭接點 5">
              <a:extLst>
                <a:ext uri="{FF2B5EF4-FFF2-40B4-BE49-F238E27FC236}">
                  <a16:creationId xmlns:a16="http://schemas.microsoft.com/office/drawing/2014/main" id="{6391F831-1A64-CA4F-BF88-62C34DC31ED2}"/>
                </a:ext>
              </a:extLst>
            </p:cNvPr>
            <p:cNvCxnSpPr>
              <a:cxnSpLocks/>
            </p:cNvCxnSpPr>
            <p:nvPr/>
          </p:nvCxnSpPr>
          <p:spPr>
            <a:xfrm>
              <a:off x="5524628" y="2245977"/>
              <a:ext cx="2223935" cy="0"/>
            </a:xfrm>
            <a:prstGeom prst="straightConnector1">
              <a:avLst/>
            </a:prstGeom>
            <a:ln w="34925">
              <a:solidFill>
                <a:srgbClr val="38908E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28" name="直線單箭頭接點 5">
              <a:extLst>
                <a:ext uri="{FF2B5EF4-FFF2-40B4-BE49-F238E27FC236}">
                  <a16:creationId xmlns:a16="http://schemas.microsoft.com/office/drawing/2014/main" id="{14EF2D46-EDA4-A987-77FD-506D5EFE7C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4628" y="2053983"/>
              <a:ext cx="2233033" cy="0"/>
            </a:xfrm>
            <a:prstGeom prst="straightConnector1">
              <a:avLst/>
            </a:prstGeom>
            <a:ln w="34925">
              <a:solidFill>
                <a:schemeClr val="accent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</p:grpSp>
      <p:sp>
        <p:nvSpPr>
          <p:cNvPr id="29" name="矩形: 圓角 8">
            <a:extLst>
              <a:ext uri="{FF2B5EF4-FFF2-40B4-BE49-F238E27FC236}">
                <a16:creationId xmlns:a16="http://schemas.microsoft.com/office/drawing/2014/main" id="{975C4F0A-0054-0641-A501-41AA9294270F}"/>
              </a:ext>
            </a:extLst>
          </p:cNvPr>
          <p:cNvSpPr/>
          <p:nvPr/>
        </p:nvSpPr>
        <p:spPr>
          <a:xfrm>
            <a:off x="5660239" y="3609076"/>
            <a:ext cx="1248195" cy="40862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後台訂單</a:t>
            </a:r>
            <a:endParaRPr kumimoji="0" lang="en-US" altLang="zh-TW" sz="1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2A354DDD-73BE-2F59-FD19-60985247C81F}"/>
              </a:ext>
            </a:extLst>
          </p:cNvPr>
          <p:cNvGrpSpPr/>
          <p:nvPr/>
        </p:nvGrpSpPr>
        <p:grpSpPr>
          <a:xfrm>
            <a:off x="5363258" y="3736908"/>
            <a:ext cx="386023" cy="187580"/>
            <a:chOff x="5524628" y="2053983"/>
            <a:chExt cx="2233033" cy="191994"/>
          </a:xfrm>
        </p:grpSpPr>
        <p:cxnSp>
          <p:nvCxnSpPr>
            <p:cNvPr id="33" name="直線單箭頭接點 5">
              <a:extLst>
                <a:ext uri="{FF2B5EF4-FFF2-40B4-BE49-F238E27FC236}">
                  <a16:creationId xmlns:a16="http://schemas.microsoft.com/office/drawing/2014/main" id="{7E08EF31-7EFA-C7E6-D812-3EBED0ABA96A}"/>
                </a:ext>
              </a:extLst>
            </p:cNvPr>
            <p:cNvCxnSpPr>
              <a:cxnSpLocks/>
            </p:cNvCxnSpPr>
            <p:nvPr/>
          </p:nvCxnSpPr>
          <p:spPr>
            <a:xfrm>
              <a:off x="5524628" y="2245977"/>
              <a:ext cx="2223935" cy="0"/>
            </a:xfrm>
            <a:prstGeom prst="straightConnector1">
              <a:avLst/>
            </a:prstGeom>
            <a:ln w="34925">
              <a:solidFill>
                <a:srgbClr val="38908E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35" name="直線單箭頭接點 5">
              <a:extLst>
                <a:ext uri="{FF2B5EF4-FFF2-40B4-BE49-F238E27FC236}">
                  <a16:creationId xmlns:a16="http://schemas.microsoft.com/office/drawing/2014/main" id="{5C2B2F59-155D-1D2F-49D7-07FFFACA77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4628" y="2053983"/>
              <a:ext cx="2233033" cy="0"/>
            </a:xfrm>
            <a:prstGeom prst="straightConnector1">
              <a:avLst/>
            </a:prstGeom>
            <a:ln w="34925">
              <a:solidFill>
                <a:schemeClr val="accent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</p:grp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37AAF862-5813-6780-FABA-5475A81C5935}"/>
              </a:ext>
            </a:extLst>
          </p:cNvPr>
          <p:cNvSpPr txBox="1"/>
          <p:nvPr/>
        </p:nvSpPr>
        <p:spPr>
          <a:xfrm>
            <a:off x="6450477" y="4035080"/>
            <a:ext cx="31341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sz="1000" dirty="0">
                <a:highlight>
                  <a:srgbClr val="FFFF00"/>
                </a:highlight>
              </a:rPr>
              <a:t>包括「業績」所需之出貨數量、出貨金額、扣除費用</a:t>
            </a:r>
          </a:p>
        </p:txBody>
      </p: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B5B48EAF-BFD8-616C-7598-C904C7109EE0}"/>
              </a:ext>
            </a:extLst>
          </p:cNvPr>
          <p:cNvCxnSpPr/>
          <p:nvPr/>
        </p:nvCxnSpPr>
        <p:spPr>
          <a:xfrm flipH="1">
            <a:off x="5963703" y="5093206"/>
            <a:ext cx="520807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40" name="群組 39">
            <a:extLst>
              <a:ext uri="{FF2B5EF4-FFF2-40B4-BE49-F238E27FC236}">
                <a16:creationId xmlns:a16="http://schemas.microsoft.com/office/drawing/2014/main" id="{3CBB2785-89B3-72B6-8123-2D8BACF1325F}"/>
              </a:ext>
            </a:extLst>
          </p:cNvPr>
          <p:cNvGrpSpPr/>
          <p:nvPr/>
        </p:nvGrpSpPr>
        <p:grpSpPr>
          <a:xfrm rot="19147165">
            <a:off x="5338259" y="4457417"/>
            <a:ext cx="386023" cy="187580"/>
            <a:chOff x="5524628" y="2053983"/>
            <a:chExt cx="2233033" cy="191994"/>
          </a:xfrm>
        </p:grpSpPr>
        <p:cxnSp>
          <p:nvCxnSpPr>
            <p:cNvPr id="41" name="直線單箭頭接點 5">
              <a:extLst>
                <a:ext uri="{FF2B5EF4-FFF2-40B4-BE49-F238E27FC236}">
                  <a16:creationId xmlns:a16="http://schemas.microsoft.com/office/drawing/2014/main" id="{A52FCCA0-64D7-8D38-6A38-E248BF7AA135}"/>
                </a:ext>
              </a:extLst>
            </p:cNvPr>
            <p:cNvCxnSpPr>
              <a:cxnSpLocks/>
            </p:cNvCxnSpPr>
            <p:nvPr/>
          </p:nvCxnSpPr>
          <p:spPr>
            <a:xfrm>
              <a:off x="5524628" y="2245977"/>
              <a:ext cx="2223935" cy="0"/>
            </a:xfrm>
            <a:prstGeom prst="straightConnector1">
              <a:avLst/>
            </a:prstGeom>
            <a:ln w="34925">
              <a:solidFill>
                <a:srgbClr val="38908E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42" name="直線單箭頭接點 5">
              <a:extLst>
                <a:ext uri="{FF2B5EF4-FFF2-40B4-BE49-F238E27FC236}">
                  <a16:creationId xmlns:a16="http://schemas.microsoft.com/office/drawing/2014/main" id="{C517C85B-1CB2-6FDB-970E-2E810878EA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4628" y="2053983"/>
              <a:ext cx="2233033" cy="0"/>
            </a:xfrm>
            <a:prstGeom prst="straightConnector1">
              <a:avLst/>
            </a:prstGeom>
            <a:ln w="34925">
              <a:solidFill>
                <a:schemeClr val="accent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10935685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E6200-6A10-14B4-3C0C-4D9A04213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圓角矩形 7">
            <a:extLst>
              <a:ext uri="{FF2B5EF4-FFF2-40B4-BE49-F238E27FC236}">
                <a16:creationId xmlns:a16="http://schemas.microsoft.com/office/drawing/2014/main" id="{0390B521-19C5-C7F2-30C5-C7F0683A315F}"/>
              </a:ext>
            </a:extLst>
          </p:cNvPr>
          <p:cNvSpPr/>
          <p:nvPr/>
        </p:nvSpPr>
        <p:spPr>
          <a:xfrm>
            <a:off x="3481137" y="1624785"/>
            <a:ext cx="4427723" cy="5042911"/>
          </a:xfrm>
          <a:prstGeom prst="roundRect">
            <a:avLst>
              <a:gd name="adj" fmla="val 568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9DB7FDD8-A7EA-121B-FF7B-B71A02F84D95}"/>
              </a:ext>
            </a:extLst>
          </p:cNvPr>
          <p:cNvSpPr/>
          <p:nvPr/>
        </p:nvSpPr>
        <p:spPr>
          <a:xfrm>
            <a:off x="8578554" y="1624785"/>
            <a:ext cx="3338792" cy="5042911"/>
          </a:xfrm>
          <a:prstGeom prst="roundRect">
            <a:avLst>
              <a:gd name="adj" fmla="val 5687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3" name="矩形: 圓角 8">
            <a:extLst>
              <a:ext uri="{FF2B5EF4-FFF2-40B4-BE49-F238E27FC236}">
                <a16:creationId xmlns:a16="http://schemas.microsoft.com/office/drawing/2014/main" id="{6B191B45-B226-A405-72CF-925563ED69B0}"/>
              </a:ext>
            </a:extLst>
          </p:cNvPr>
          <p:cNvSpPr/>
          <p:nvPr/>
        </p:nvSpPr>
        <p:spPr>
          <a:xfrm>
            <a:off x="5056354" y="3683098"/>
            <a:ext cx="1944536" cy="40862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經銷商訂單查詢</a:t>
            </a:r>
            <a:endParaRPr kumimoji="0" lang="en-US" altLang="zh-TW" sz="1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16DD418-7DCF-A42F-971D-42D86ADE5EE2}"/>
              </a:ext>
            </a:extLst>
          </p:cNvPr>
          <p:cNvSpPr/>
          <p:nvPr/>
        </p:nvSpPr>
        <p:spPr>
          <a:xfrm>
            <a:off x="9479140" y="1440121"/>
            <a:ext cx="1562100" cy="369330"/>
          </a:xfrm>
          <a:prstGeom prst="rect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建大工業</a:t>
            </a:r>
            <a:r>
              <a:rPr lang="en-US" altLang="zh-TW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ERP</a:t>
            </a: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6011833-3CA9-DD2D-BA93-FF9DA1E55145}"/>
              </a:ext>
            </a:extLst>
          </p:cNvPr>
          <p:cNvSpPr/>
          <p:nvPr/>
        </p:nvSpPr>
        <p:spPr>
          <a:xfrm>
            <a:off x="5526128" y="1455226"/>
            <a:ext cx="1737889" cy="369330"/>
          </a:xfrm>
          <a:prstGeom prst="rect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algn="ctr" hangingPunct="0"/>
            <a:r>
              <a:rPr lang="en-US" altLang="zh-TW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Arial"/>
              </a:rPr>
              <a:t>B2B</a:t>
            </a:r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Arial"/>
              </a:rPr>
              <a:t> 經銷商平台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E3FBECF8-6AAC-43EB-D9BC-CFA301C798C9}"/>
              </a:ext>
            </a:extLst>
          </p:cNvPr>
          <p:cNvSpPr txBox="1"/>
          <p:nvPr/>
        </p:nvSpPr>
        <p:spPr>
          <a:xfrm>
            <a:off x="9036596" y="49789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TW" altLang="en-US" dirty="0">
                <a:latin typeface="Noto Sans TC Light" panose="020B0300000000000000" pitchFamily="34" charset="-128"/>
                <a:ea typeface="Noto Sans TC Light" panose="020B0300000000000000" pitchFamily="34" charset="-128"/>
              </a:rPr>
              <a:t>圖例：</a:t>
            </a:r>
            <a:endParaRPr kumimoji="1" lang="en-US" altLang="zh-TW" dirty="0">
              <a:latin typeface="Noto Sans TC Light" panose="020B0300000000000000" pitchFamily="34" charset="-128"/>
              <a:ea typeface="Noto Sans TC Light" panose="020B0300000000000000" pitchFamily="34" charset="-128"/>
            </a:endParaRPr>
          </a:p>
        </p:txBody>
      </p:sp>
      <p:cxnSp>
        <p:nvCxnSpPr>
          <p:cNvPr id="32" name="直線單箭頭接點 5">
            <a:extLst>
              <a:ext uri="{FF2B5EF4-FFF2-40B4-BE49-F238E27FC236}">
                <a16:creationId xmlns:a16="http://schemas.microsoft.com/office/drawing/2014/main" id="{E6A26AE0-81CD-D654-0745-36F0D386AD42}"/>
              </a:ext>
            </a:extLst>
          </p:cNvPr>
          <p:cNvCxnSpPr>
            <a:cxnSpLocks/>
          </p:cNvCxnSpPr>
          <p:nvPr/>
        </p:nvCxnSpPr>
        <p:spPr>
          <a:xfrm flipH="1">
            <a:off x="9801357" y="456691"/>
            <a:ext cx="706593" cy="0"/>
          </a:xfrm>
          <a:prstGeom prst="straightConnector1">
            <a:avLst/>
          </a:prstGeom>
          <a:ln w="34925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34" name="直線單箭頭接點 5">
            <a:extLst>
              <a:ext uri="{FF2B5EF4-FFF2-40B4-BE49-F238E27FC236}">
                <a16:creationId xmlns:a16="http://schemas.microsoft.com/office/drawing/2014/main" id="{9ED0620D-792F-935C-3F81-42ADB64279DF}"/>
              </a:ext>
            </a:extLst>
          </p:cNvPr>
          <p:cNvCxnSpPr>
            <a:cxnSpLocks/>
          </p:cNvCxnSpPr>
          <p:nvPr/>
        </p:nvCxnSpPr>
        <p:spPr>
          <a:xfrm flipH="1">
            <a:off x="9801357" y="779059"/>
            <a:ext cx="706593" cy="0"/>
          </a:xfrm>
          <a:prstGeom prst="straightConnector1">
            <a:avLst/>
          </a:prstGeom>
          <a:ln w="34925">
            <a:solidFill>
              <a:srgbClr val="38908E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76BBBEA4-9F22-A620-55CD-6983D8E34E0D}"/>
              </a:ext>
            </a:extLst>
          </p:cNvPr>
          <p:cNvSpPr txBox="1"/>
          <p:nvPr/>
        </p:nvSpPr>
        <p:spPr>
          <a:xfrm>
            <a:off x="10484949" y="277954"/>
            <a:ext cx="10406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sz="1400" b="1" dirty="0">
                <a:latin typeface="Noto Sans TC Light" panose="020B0300000000000000" pitchFamily="34" charset="-128"/>
                <a:ea typeface="Noto Sans TC Light" panose="020B0300000000000000" pitchFamily="34" charset="-128"/>
              </a:rPr>
              <a:t>Request </a:t>
            </a:r>
          </a:p>
          <a:p>
            <a:pPr algn="ctr"/>
            <a:endParaRPr kumimoji="1" lang="en-US" altLang="zh-TW" sz="1200" b="1" dirty="0">
              <a:latin typeface="Noto Sans TC Light" panose="020B0300000000000000" pitchFamily="34" charset="-128"/>
              <a:ea typeface="Noto Sans TC Light" panose="020B0300000000000000" pitchFamily="34" charset="-128"/>
            </a:endParaRPr>
          </a:p>
          <a:p>
            <a:pPr algn="ctr"/>
            <a:r>
              <a:rPr kumimoji="1" lang="en-US" altLang="zh-TW" sz="1400" b="1" dirty="0">
                <a:solidFill>
                  <a:srgbClr val="38908E"/>
                </a:solidFill>
                <a:latin typeface="Noto Sans TC Light" panose="020B0300000000000000" pitchFamily="34" charset="-128"/>
                <a:ea typeface="Noto Sans TC Light" panose="020B0300000000000000" pitchFamily="34" charset="-128"/>
              </a:rPr>
              <a:t>Response</a:t>
            </a:r>
            <a:endParaRPr kumimoji="1" lang="zh-TW" altLang="en-US" sz="1400" b="1" dirty="0">
              <a:solidFill>
                <a:srgbClr val="38908E"/>
              </a:solidFill>
              <a:latin typeface="Noto Sans TC Light" panose="020B0300000000000000" pitchFamily="34" charset="-128"/>
              <a:ea typeface="Noto Sans TC Light" panose="020B0300000000000000" pitchFamily="34" charset="-128"/>
            </a:endParaRPr>
          </a:p>
        </p:txBody>
      </p:sp>
      <p:sp>
        <p:nvSpPr>
          <p:cNvPr id="59" name="標題 5">
            <a:extLst>
              <a:ext uri="{FF2B5EF4-FFF2-40B4-BE49-F238E27FC236}">
                <a16:creationId xmlns:a16="http://schemas.microsoft.com/office/drawing/2014/main" id="{8DDB473A-4824-2F2A-D7C1-04BBCC2A9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88" y="99832"/>
            <a:ext cx="10515600" cy="1325563"/>
          </a:xfrm>
        </p:spPr>
        <p:txBody>
          <a:bodyPr/>
          <a:lstStyle/>
          <a:p>
            <a:r>
              <a:rPr lang="zh-TW" altLang="en-US" dirty="0"/>
              <a:t>系統整合架構說明</a:t>
            </a:r>
          </a:p>
        </p:txBody>
      </p:sp>
      <p:grpSp>
        <p:nvGrpSpPr>
          <p:cNvPr id="151" name="群組 150">
            <a:extLst>
              <a:ext uri="{FF2B5EF4-FFF2-40B4-BE49-F238E27FC236}">
                <a16:creationId xmlns:a16="http://schemas.microsoft.com/office/drawing/2014/main" id="{A990C799-77A7-EF02-D975-C40FA3F761F3}"/>
              </a:ext>
            </a:extLst>
          </p:cNvPr>
          <p:cNvGrpSpPr/>
          <p:nvPr/>
        </p:nvGrpSpPr>
        <p:grpSpPr>
          <a:xfrm>
            <a:off x="6957025" y="3795143"/>
            <a:ext cx="1983179" cy="154637"/>
            <a:chOff x="6957025" y="3795143"/>
            <a:chExt cx="1983179" cy="154637"/>
          </a:xfrm>
        </p:grpSpPr>
        <p:cxnSp>
          <p:nvCxnSpPr>
            <p:cNvPr id="17" name="直線單箭頭接點 5">
              <a:extLst>
                <a:ext uri="{FF2B5EF4-FFF2-40B4-BE49-F238E27FC236}">
                  <a16:creationId xmlns:a16="http://schemas.microsoft.com/office/drawing/2014/main" id="{925E2BFC-C53E-C5F1-4893-D2C405A5D5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57025" y="3795143"/>
              <a:ext cx="1983179" cy="19103"/>
            </a:xfrm>
            <a:prstGeom prst="straightConnector1">
              <a:avLst/>
            </a:prstGeom>
            <a:ln w="34925">
              <a:solidFill>
                <a:schemeClr val="accent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64" name="直線單箭頭接點 5">
              <a:extLst>
                <a:ext uri="{FF2B5EF4-FFF2-40B4-BE49-F238E27FC236}">
                  <a16:creationId xmlns:a16="http://schemas.microsoft.com/office/drawing/2014/main" id="{03353463-C88A-E850-FDA8-E37187AC844A}"/>
                </a:ext>
              </a:extLst>
            </p:cNvPr>
            <p:cNvCxnSpPr>
              <a:cxnSpLocks/>
            </p:cNvCxnSpPr>
            <p:nvPr/>
          </p:nvCxnSpPr>
          <p:spPr>
            <a:xfrm>
              <a:off x="6957025" y="3949780"/>
              <a:ext cx="1968417" cy="0"/>
            </a:xfrm>
            <a:prstGeom prst="straightConnector1">
              <a:avLst/>
            </a:prstGeom>
            <a:ln w="34925">
              <a:solidFill>
                <a:srgbClr val="38908E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</p:grpSp>
      <p:sp>
        <p:nvSpPr>
          <p:cNvPr id="67" name="矩形: 圓角 8">
            <a:extLst>
              <a:ext uri="{FF2B5EF4-FFF2-40B4-BE49-F238E27FC236}">
                <a16:creationId xmlns:a16="http://schemas.microsoft.com/office/drawing/2014/main" id="{54EA77E3-73CB-9B90-5FBF-E5A7DA423E09}"/>
              </a:ext>
            </a:extLst>
          </p:cNvPr>
          <p:cNvSpPr/>
          <p:nvPr/>
        </p:nvSpPr>
        <p:spPr>
          <a:xfrm>
            <a:off x="5087771" y="4937136"/>
            <a:ext cx="1944536" cy="40862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經銷商業績查詢</a:t>
            </a:r>
            <a:endParaRPr kumimoji="0" lang="en-US" altLang="zh-TW" sz="1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68" name="矩形: 圓角 9">
            <a:extLst>
              <a:ext uri="{FF2B5EF4-FFF2-40B4-BE49-F238E27FC236}">
                <a16:creationId xmlns:a16="http://schemas.microsoft.com/office/drawing/2014/main" id="{E2B65542-4309-19E3-2443-762306295FAD}"/>
              </a:ext>
            </a:extLst>
          </p:cNvPr>
          <p:cNvSpPr/>
          <p:nvPr/>
        </p:nvSpPr>
        <p:spPr>
          <a:xfrm>
            <a:off x="9256242" y="4919809"/>
            <a:ext cx="1992941" cy="40862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業績</a:t>
            </a:r>
            <a:r>
              <a:rPr kumimoji="0" lang="en-US" altLang="zh-TW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 API</a:t>
            </a: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76" name="圓角矩形 75">
            <a:extLst>
              <a:ext uri="{FF2B5EF4-FFF2-40B4-BE49-F238E27FC236}">
                <a16:creationId xmlns:a16="http://schemas.microsoft.com/office/drawing/2014/main" id="{37A95FAB-B007-E5F1-46A8-315D3F99520C}"/>
              </a:ext>
            </a:extLst>
          </p:cNvPr>
          <p:cNvSpPr/>
          <p:nvPr/>
        </p:nvSpPr>
        <p:spPr>
          <a:xfrm>
            <a:off x="8915466" y="2569978"/>
            <a:ext cx="2576945" cy="2031323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 hangingPunct="0"/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</a:rPr>
              <a:t>訂單資訊</a:t>
            </a:r>
            <a:r>
              <a:rPr lang="en-US" altLang="zh-TW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</a:rPr>
              <a:t>API</a:t>
            </a:r>
          </a:p>
          <a:p>
            <a:pPr algn="ctr" hangingPunct="0"/>
            <a:endParaRPr lang="en-US" altLang="zh-TW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</a:endParaRPr>
          </a:p>
          <a:p>
            <a:pPr algn="ctr" hangingPunct="0"/>
            <a:endParaRPr lang="en-US" altLang="zh-TW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</a:endParaRPr>
          </a:p>
          <a:p>
            <a:pPr algn="ctr" hangingPunct="0"/>
            <a:endParaRPr lang="en-US" altLang="zh-TW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</a:endParaRPr>
          </a:p>
          <a:p>
            <a:pPr algn="ctr" hangingPunct="0"/>
            <a:endParaRPr lang="en-US" altLang="zh-TW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</a:endParaRPr>
          </a:p>
          <a:p>
            <a:pPr algn="ctr" hangingPunct="0"/>
            <a:endParaRPr lang="en-US" altLang="zh-TW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</a:endParaRPr>
          </a:p>
          <a:p>
            <a:pPr algn="ctr" hangingPunct="0"/>
            <a:endParaRPr lang="zh-TW" altLang="en-US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</a:endParaRPr>
          </a:p>
        </p:txBody>
      </p:sp>
      <p:sp>
        <p:nvSpPr>
          <p:cNvPr id="89" name="矩形: 圓角 8">
            <a:extLst>
              <a:ext uri="{FF2B5EF4-FFF2-40B4-BE49-F238E27FC236}">
                <a16:creationId xmlns:a16="http://schemas.microsoft.com/office/drawing/2014/main" id="{B84FFEB6-4A2D-54A6-4534-A9A8A9B1C04F}"/>
              </a:ext>
            </a:extLst>
          </p:cNvPr>
          <p:cNvSpPr/>
          <p:nvPr/>
        </p:nvSpPr>
        <p:spPr>
          <a:xfrm>
            <a:off x="6106612" y="5565513"/>
            <a:ext cx="1248195" cy="40862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獎金暫存</a:t>
            </a:r>
            <a:endParaRPr kumimoji="0" lang="en-US" altLang="zh-TW" sz="1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90" name="矩形: 圓角 9">
            <a:extLst>
              <a:ext uri="{FF2B5EF4-FFF2-40B4-BE49-F238E27FC236}">
                <a16:creationId xmlns:a16="http://schemas.microsoft.com/office/drawing/2014/main" id="{4CC199BF-8A50-A566-0BBA-7B1A4F134639}"/>
              </a:ext>
            </a:extLst>
          </p:cNvPr>
          <p:cNvSpPr/>
          <p:nvPr/>
        </p:nvSpPr>
        <p:spPr>
          <a:xfrm>
            <a:off x="9256242" y="5556506"/>
            <a:ext cx="1992941" cy="40862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獎金</a:t>
            </a:r>
            <a:r>
              <a:rPr kumimoji="0" lang="en-US" altLang="zh-TW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 API</a:t>
            </a: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93" name="矩形: 圓角 8">
            <a:extLst>
              <a:ext uri="{FF2B5EF4-FFF2-40B4-BE49-F238E27FC236}">
                <a16:creationId xmlns:a16="http://schemas.microsoft.com/office/drawing/2014/main" id="{2051150B-086D-2B6F-5DC4-5F126FCF507A}"/>
              </a:ext>
            </a:extLst>
          </p:cNvPr>
          <p:cNvSpPr/>
          <p:nvPr/>
        </p:nvSpPr>
        <p:spPr>
          <a:xfrm>
            <a:off x="6106612" y="6157299"/>
            <a:ext cx="1248195" cy="40862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對帳暫存</a:t>
            </a:r>
            <a:endParaRPr kumimoji="0" lang="en-US" altLang="zh-TW" sz="1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94" name="矩形: 圓角 9">
            <a:extLst>
              <a:ext uri="{FF2B5EF4-FFF2-40B4-BE49-F238E27FC236}">
                <a16:creationId xmlns:a16="http://schemas.microsoft.com/office/drawing/2014/main" id="{71F57A53-951A-914F-ACBD-C16E86DD47BD}"/>
              </a:ext>
            </a:extLst>
          </p:cNvPr>
          <p:cNvSpPr/>
          <p:nvPr/>
        </p:nvSpPr>
        <p:spPr>
          <a:xfrm>
            <a:off x="9256242" y="6148292"/>
            <a:ext cx="1992941" cy="40862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對帳</a:t>
            </a:r>
            <a:r>
              <a:rPr kumimoji="0" lang="en-US" altLang="zh-TW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 API</a:t>
            </a: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03" name="矩形: 圓角 8">
            <a:extLst>
              <a:ext uri="{FF2B5EF4-FFF2-40B4-BE49-F238E27FC236}">
                <a16:creationId xmlns:a16="http://schemas.microsoft.com/office/drawing/2014/main" id="{51C60CC1-699D-C8FB-54BD-DE466685BF41}"/>
              </a:ext>
            </a:extLst>
          </p:cNvPr>
          <p:cNvSpPr/>
          <p:nvPr/>
        </p:nvSpPr>
        <p:spPr>
          <a:xfrm>
            <a:off x="5077931" y="2927828"/>
            <a:ext cx="1944536" cy="40862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後台 </a:t>
            </a:r>
            <a:r>
              <a:rPr kumimoji="0" lang="en-US" altLang="zh-TW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- </a:t>
            </a:r>
            <a:r>
              <a: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訂單同步</a:t>
            </a:r>
            <a:endParaRPr kumimoji="0" lang="en-US" altLang="zh-TW" sz="1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4" name="矩形: 圓角 9">
            <a:extLst>
              <a:ext uri="{FF2B5EF4-FFF2-40B4-BE49-F238E27FC236}">
                <a16:creationId xmlns:a16="http://schemas.microsoft.com/office/drawing/2014/main" id="{6FEDF784-90C2-A5B2-956A-E533E3AB009D}"/>
              </a:ext>
            </a:extLst>
          </p:cNvPr>
          <p:cNvSpPr/>
          <p:nvPr/>
        </p:nvSpPr>
        <p:spPr>
          <a:xfrm>
            <a:off x="9214849" y="2917809"/>
            <a:ext cx="1992941" cy="40862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正式訂單</a:t>
            </a:r>
          </a:p>
        </p:txBody>
      </p:sp>
      <p:cxnSp>
        <p:nvCxnSpPr>
          <p:cNvPr id="69" name="直線單箭頭接點 5">
            <a:extLst>
              <a:ext uri="{FF2B5EF4-FFF2-40B4-BE49-F238E27FC236}">
                <a16:creationId xmlns:a16="http://schemas.microsoft.com/office/drawing/2014/main" id="{5FBAE05E-8DE8-48D3-60AC-63E03FDAE955}"/>
              </a:ext>
            </a:extLst>
          </p:cNvPr>
          <p:cNvCxnSpPr>
            <a:cxnSpLocks/>
            <a:stCxn id="71" idx="0"/>
            <a:endCxn id="14" idx="2"/>
          </p:cNvCxnSpPr>
          <p:nvPr/>
        </p:nvCxnSpPr>
        <p:spPr>
          <a:xfrm flipH="1" flipV="1">
            <a:off x="10211320" y="3326429"/>
            <a:ext cx="4988" cy="162659"/>
          </a:xfrm>
          <a:prstGeom prst="straightConnector1">
            <a:avLst/>
          </a:prstGeom>
          <a:ln w="3492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71" name="矩形: 圓角 9">
            <a:extLst>
              <a:ext uri="{FF2B5EF4-FFF2-40B4-BE49-F238E27FC236}">
                <a16:creationId xmlns:a16="http://schemas.microsoft.com/office/drawing/2014/main" id="{B861CECA-80EA-DE44-FCF0-7C6D60ED910E}"/>
              </a:ext>
            </a:extLst>
          </p:cNvPr>
          <p:cNvSpPr/>
          <p:nvPr/>
        </p:nvSpPr>
        <p:spPr>
          <a:xfrm>
            <a:off x="9219837" y="3489088"/>
            <a:ext cx="1992941" cy="40862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出貨通知單</a:t>
            </a:r>
            <a:r>
              <a:rPr lang="en-US" altLang="zh-TW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/</a:t>
            </a:r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餘單</a:t>
            </a: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72" name="矩形: 圓角 9">
            <a:extLst>
              <a:ext uri="{FF2B5EF4-FFF2-40B4-BE49-F238E27FC236}">
                <a16:creationId xmlns:a16="http://schemas.microsoft.com/office/drawing/2014/main" id="{CAEF6FA0-8688-AB76-C073-6E9B162C5EE6}"/>
              </a:ext>
            </a:extLst>
          </p:cNvPr>
          <p:cNvSpPr/>
          <p:nvPr/>
        </p:nvSpPr>
        <p:spPr>
          <a:xfrm>
            <a:off x="9224826" y="4049701"/>
            <a:ext cx="1992941" cy="40862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出貨</a:t>
            </a:r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單</a:t>
            </a: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cxnSp>
        <p:nvCxnSpPr>
          <p:cNvPr id="80" name="直線單箭頭接點 5">
            <a:extLst>
              <a:ext uri="{FF2B5EF4-FFF2-40B4-BE49-F238E27FC236}">
                <a16:creationId xmlns:a16="http://schemas.microsoft.com/office/drawing/2014/main" id="{A173997E-EF5F-97E6-FCA1-716A1FE2C969}"/>
              </a:ext>
            </a:extLst>
          </p:cNvPr>
          <p:cNvCxnSpPr>
            <a:cxnSpLocks/>
            <a:stCxn id="72" idx="0"/>
            <a:endCxn id="71" idx="2"/>
          </p:cNvCxnSpPr>
          <p:nvPr/>
        </p:nvCxnSpPr>
        <p:spPr>
          <a:xfrm flipH="1" flipV="1">
            <a:off x="10216308" y="3897708"/>
            <a:ext cx="4989" cy="151993"/>
          </a:xfrm>
          <a:prstGeom prst="straightConnector1">
            <a:avLst/>
          </a:prstGeom>
          <a:ln w="3492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111" name="矩形: 圓角 8">
            <a:extLst>
              <a:ext uri="{FF2B5EF4-FFF2-40B4-BE49-F238E27FC236}">
                <a16:creationId xmlns:a16="http://schemas.microsoft.com/office/drawing/2014/main" id="{5624E6FF-588C-F11C-6D34-131477E06C57}"/>
              </a:ext>
            </a:extLst>
          </p:cNvPr>
          <p:cNvSpPr/>
          <p:nvPr/>
        </p:nvSpPr>
        <p:spPr>
          <a:xfrm>
            <a:off x="5012489" y="1994021"/>
            <a:ext cx="1944536" cy="40862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後台</a:t>
            </a:r>
            <a:r>
              <a:rPr kumimoji="0" lang="en-US" altLang="zh-TW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 – </a:t>
            </a:r>
            <a:r>
              <a: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價格表</a:t>
            </a:r>
            <a:endParaRPr kumimoji="0" lang="en-US" altLang="zh-TW" sz="1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12" name="矩形: 圓角 9">
            <a:extLst>
              <a:ext uri="{FF2B5EF4-FFF2-40B4-BE49-F238E27FC236}">
                <a16:creationId xmlns:a16="http://schemas.microsoft.com/office/drawing/2014/main" id="{04272F8D-A7F5-3238-E06A-EB87E9511338}"/>
              </a:ext>
            </a:extLst>
          </p:cNvPr>
          <p:cNvSpPr/>
          <p:nvPr/>
        </p:nvSpPr>
        <p:spPr>
          <a:xfrm>
            <a:off x="9180960" y="1976694"/>
            <a:ext cx="1992941" cy="40862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經銷商報價單 </a:t>
            </a:r>
            <a:r>
              <a:rPr lang="en-US" altLang="zh-TW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API</a:t>
            </a: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grpSp>
        <p:nvGrpSpPr>
          <p:cNvPr id="127" name="群組 126">
            <a:extLst>
              <a:ext uri="{FF2B5EF4-FFF2-40B4-BE49-F238E27FC236}">
                <a16:creationId xmlns:a16="http://schemas.microsoft.com/office/drawing/2014/main" id="{664643A1-7E9E-BAF0-A525-0CE56A87B81C}"/>
              </a:ext>
            </a:extLst>
          </p:cNvPr>
          <p:cNvGrpSpPr/>
          <p:nvPr/>
        </p:nvGrpSpPr>
        <p:grpSpPr>
          <a:xfrm>
            <a:off x="6957025" y="2068709"/>
            <a:ext cx="2233033" cy="191994"/>
            <a:chOff x="5524628" y="2053983"/>
            <a:chExt cx="2233033" cy="191994"/>
          </a:xfrm>
        </p:grpSpPr>
        <p:cxnSp>
          <p:nvCxnSpPr>
            <p:cNvPr id="113" name="直線單箭頭接點 5">
              <a:extLst>
                <a:ext uri="{FF2B5EF4-FFF2-40B4-BE49-F238E27FC236}">
                  <a16:creationId xmlns:a16="http://schemas.microsoft.com/office/drawing/2014/main" id="{B6AD73A7-7069-11AA-E7B7-AD11A044CC35}"/>
                </a:ext>
              </a:extLst>
            </p:cNvPr>
            <p:cNvCxnSpPr>
              <a:cxnSpLocks/>
            </p:cNvCxnSpPr>
            <p:nvPr/>
          </p:nvCxnSpPr>
          <p:spPr>
            <a:xfrm>
              <a:off x="5524628" y="2245977"/>
              <a:ext cx="2223935" cy="0"/>
            </a:xfrm>
            <a:prstGeom prst="straightConnector1">
              <a:avLst/>
            </a:prstGeom>
            <a:ln w="34925">
              <a:solidFill>
                <a:srgbClr val="38908E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14" name="直線單箭頭接點 5">
              <a:extLst>
                <a:ext uri="{FF2B5EF4-FFF2-40B4-BE49-F238E27FC236}">
                  <a16:creationId xmlns:a16="http://schemas.microsoft.com/office/drawing/2014/main" id="{688AE64D-5025-19DF-EDCD-43CCEF71EA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4628" y="2053983"/>
              <a:ext cx="2233033" cy="0"/>
            </a:xfrm>
            <a:prstGeom prst="straightConnector1">
              <a:avLst/>
            </a:prstGeom>
            <a:ln w="34925">
              <a:solidFill>
                <a:schemeClr val="accent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</p:grpSp>
      <p:grpSp>
        <p:nvGrpSpPr>
          <p:cNvPr id="128" name="群組 127">
            <a:extLst>
              <a:ext uri="{FF2B5EF4-FFF2-40B4-BE49-F238E27FC236}">
                <a16:creationId xmlns:a16="http://schemas.microsoft.com/office/drawing/2014/main" id="{3CADCB09-B1DE-334C-9DAA-0619E0405B10}"/>
              </a:ext>
            </a:extLst>
          </p:cNvPr>
          <p:cNvGrpSpPr/>
          <p:nvPr/>
        </p:nvGrpSpPr>
        <p:grpSpPr>
          <a:xfrm>
            <a:off x="7000890" y="3024711"/>
            <a:ext cx="2233033" cy="191994"/>
            <a:chOff x="5524628" y="2053983"/>
            <a:chExt cx="2233033" cy="191994"/>
          </a:xfrm>
        </p:grpSpPr>
        <p:cxnSp>
          <p:nvCxnSpPr>
            <p:cNvPr id="129" name="直線單箭頭接點 5">
              <a:extLst>
                <a:ext uri="{FF2B5EF4-FFF2-40B4-BE49-F238E27FC236}">
                  <a16:creationId xmlns:a16="http://schemas.microsoft.com/office/drawing/2014/main" id="{1775D4BA-D65A-1A5F-7A32-47DF70C62555}"/>
                </a:ext>
              </a:extLst>
            </p:cNvPr>
            <p:cNvCxnSpPr>
              <a:cxnSpLocks/>
            </p:cNvCxnSpPr>
            <p:nvPr/>
          </p:nvCxnSpPr>
          <p:spPr>
            <a:xfrm>
              <a:off x="5524628" y="2245977"/>
              <a:ext cx="2223935" cy="0"/>
            </a:xfrm>
            <a:prstGeom prst="straightConnector1">
              <a:avLst/>
            </a:prstGeom>
            <a:ln w="34925">
              <a:solidFill>
                <a:srgbClr val="38908E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30" name="直線單箭頭接點 5">
              <a:extLst>
                <a:ext uri="{FF2B5EF4-FFF2-40B4-BE49-F238E27FC236}">
                  <a16:creationId xmlns:a16="http://schemas.microsoft.com/office/drawing/2014/main" id="{9D9B6E11-8271-DBBC-E9B5-B1286C1D3B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4628" y="2053983"/>
              <a:ext cx="2233033" cy="0"/>
            </a:xfrm>
            <a:prstGeom prst="straightConnector1">
              <a:avLst/>
            </a:prstGeom>
            <a:ln w="34925">
              <a:solidFill>
                <a:schemeClr val="accent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</p:grpSp>
      <p:grpSp>
        <p:nvGrpSpPr>
          <p:cNvPr id="131" name="群組 130">
            <a:extLst>
              <a:ext uri="{FF2B5EF4-FFF2-40B4-BE49-F238E27FC236}">
                <a16:creationId xmlns:a16="http://schemas.microsoft.com/office/drawing/2014/main" id="{CD7627EB-2EC6-11E3-4ACC-93F949422858}"/>
              </a:ext>
            </a:extLst>
          </p:cNvPr>
          <p:cNvGrpSpPr/>
          <p:nvPr/>
        </p:nvGrpSpPr>
        <p:grpSpPr>
          <a:xfrm>
            <a:off x="7032307" y="5039485"/>
            <a:ext cx="2233033" cy="191994"/>
            <a:chOff x="5524628" y="2053983"/>
            <a:chExt cx="2233033" cy="191994"/>
          </a:xfrm>
        </p:grpSpPr>
        <p:cxnSp>
          <p:nvCxnSpPr>
            <p:cNvPr id="132" name="直線單箭頭接點 5">
              <a:extLst>
                <a:ext uri="{FF2B5EF4-FFF2-40B4-BE49-F238E27FC236}">
                  <a16:creationId xmlns:a16="http://schemas.microsoft.com/office/drawing/2014/main" id="{20F52F27-ACFA-334D-EADD-D3157371DD00}"/>
                </a:ext>
              </a:extLst>
            </p:cNvPr>
            <p:cNvCxnSpPr>
              <a:cxnSpLocks/>
            </p:cNvCxnSpPr>
            <p:nvPr/>
          </p:nvCxnSpPr>
          <p:spPr>
            <a:xfrm>
              <a:off x="5524628" y="2245977"/>
              <a:ext cx="2223935" cy="0"/>
            </a:xfrm>
            <a:prstGeom prst="straightConnector1">
              <a:avLst/>
            </a:prstGeom>
            <a:ln w="34925">
              <a:solidFill>
                <a:srgbClr val="38908E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33" name="直線單箭頭接點 5">
              <a:extLst>
                <a:ext uri="{FF2B5EF4-FFF2-40B4-BE49-F238E27FC236}">
                  <a16:creationId xmlns:a16="http://schemas.microsoft.com/office/drawing/2014/main" id="{E18A9C36-07D8-6AF5-C186-07ED43B2DC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4628" y="2053983"/>
              <a:ext cx="2233033" cy="0"/>
            </a:xfrm>
            <a:prstGeom prst="straightConnector1">
              <a:avLst/>
            </a:prstGeom>
            <a:ln w="34925">
              <a:solidFill>
                <a:schemeClr val="accent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</p:grpSp>
      <p:grpSp>
        <p:nvGrpSpPr>
          <p:cNvPr id="137" name="群組 136">
            <a:extLst>
              <a:ext uri="{FF2B5EF4-FFF2-40B4-BE49-F238E27FC236}">
                <a16:creationId xmlns:a16="http://schemas.microsoft.com/office/drawing/2014/main" id="{50508191-5399-D55C-2286-DD3F0ACA7B6A}"/>
              </a:ext>
            </a:extLst>
          </p:cNvPr>
          <p:cNvGrpSpPr/>
          <p:nvPr/>
        </p:nvGrpSpPr>
        <p:grpSpPr>
          <a:xfrm>
            <a:off x="7379368" y="5646936"/>
            <a:ext cx="1885972" cy="223475"/>
            <a:chOff x="5524628" y="2053983"/>
            <a:chExt cx="2233033" cy="191994"/>
          </a:xfrm>
        </p:grpSpPr>
        <p:cxnSp>
          <p:nvCxnSpPr>
            <p:cNvPr id="138" name="直線單箭頭接點 5">
              <a:extLst>
                <a:ext uri="{FF2B5EF4-FFF2-40B4-BE49-F238E27FC236}">
                  <a16:creationId xmlns:a16="http://schemas.microsoft.com/office/drawing/2014/main" id="{91C0F7B4-7B60-6EF9-547B-BBCA0A741E3B}"/>
                </a:ext>
              </a:extLst>
            </p:cNvPr>
            <p:cNvCxnSpPr>
              <a:cxnSpLocks/>
            </p:cNvCxnSpPr>
            <p:nvPr/>
          </p:nvCxnSpPr>
          <p:spPr>
            <a:xfrm>
              <a:off x="5524628" y="2245977"/>
              <a:ext cx="2223935" cy="0"/>
            </a:xfrm>
            <a:prstGeom prst="straightConnector1">
              <a:avLst/>
            </a:prstGeom>
            <a:ln w="34925">
              <a:solidFill>
                <a:srgbClr val="38908E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39" name="直線單箭頭接點 5">
              <a:extLst>
                <a:ext uri="{FF2B5EF4-FFF2-40B4-BE49-F238E27FC236}">
                  <a16:creationId xmlns:a16="http://schemas.microsoft.com/office/drawing/2014/main" id="{370F4770-865B-84CF-9ECC-247470886E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4628" y="2053983"/>
              <a:ext cx="2233033" cy="0"/>
            </a:xfrm>
            <a:prstGeom prst="straightConnector1">
              <a:avLst/>
            </a:prstGeom>
            <a:ln w="34925">
              <a:solidFill>
                <a:schemeClr val="accent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</p:grpSp>
      <p:grpSp>
        <p:nvGrpSpPr>
          <p:cNvPr id="140" name="群組 139">
            <a:extLst>
              <a:ext uri="{FF2B5EF4-FFF2-40B4-BE49-F238E27FC236}">
                <a16:creationId xmlns:a16="http://schemas.microsoft.com/office/drawing/2014/main" id="{9B175A13-572A-1659-03DF-41343FADE137}"/>
              </a:ext>
            </a:extLst>
          </p:cNvPr>
          <p:cNvGrpSpPr/>
          <p:nvPr/>
        </p:nvGrpSpPr>
        <p:grpSpPr>
          <a:xfrm>
            <a:off x="7379368" y="6243465"/>
            <a:ext cx="1885972" cy="211479"/>
            <a:chOff x="5524628" y="2053983"/>
            <a:chExt cx="2233033" cy="191994"/>
          </a:xfrm>
        </p:grpSpPr>
        <p:cxnSp>
          <p:nvCxnSpPr>
            <p:cNvPr id="141" name="直線單箭頭接點 5">
              <a:extLst>
                <a:ext uri="{FF2B5EF4-FFF2-40B4-BE49-F238E27FC236}">
                  <a16:creationId xmlns:a16="http://schemas.microsoft.com/office/drawing/2014/main" id="{E237FEE1-2788-2FD0-87B4-64618634F019}"/>
                </a:ext>
              </a:extLst>
            </p:cNvPr>
            <p:cNvCxnSpPr>
              <a:cxnSpLocks/>
            </p:cNvCxnSpPr>
            <p:nvPr/>
          </p:nvCxnSpPr>
          <p:spPr>
            <a:xfrm>
              <a:off x="5524628" y="2245977"/>
              <a:ext cx="2223935" cy="0"/>
            </a:xfrm>
            <a:prstGeom prst="straightConnector1">
              <a:avLst/>
            </a:prstGeom>
            <a:ln w="34925">
              <a:solidFill>
                <a:srgbClr val="38908E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42" name="直線單箭頭接點 5">
              <a:extLst>
                <a:ext uri="{FF2B5EF4-FFF2-40B4-BE49-F238E27FC236}">
                  <a16:creationId xmlns:a16="http://schemas.microsoft.com/office/drawing/2014/main" id="{FC9F0B96-8233-3ADB-6C4B-D5F4FDE57F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4628" y="2053983"/>
              <a:ext cx="2233033" cy="0"/>
            </a:xfrm>
            <a:prstGeom prst="straightConnector1">
              <a:avLst/>
            </a:prstGeom>
            <a:ln w="34925">
              <a:solidFill>
                <a:schemeClr val="accent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</p:grpSp>
      <p:sp>
        <p:nvSpPr>
          <p:cNvPr id="145" name="文字方塊 144">
            <a:extLst>
              <a:ext uri="{FF2B5EF4-FFF2-40B4-BE49-F238E27FC236}">
                <a16:creationId xmlns:a16="http://schemas.microsoft.com/office/drawing/2014/main" id="{EE6B08DB-DD3C-61FF-CFD2-A9BA51FE436C}"/>
              </a:ext>
            </a:extLst>
          </p:cNvPr>
          <p:cNvSpPr txBox="1"/>
          <p:nvPr/>
        </p:nvSpPr>
        <p:spPr>
          <a:xfrm>
            <a:off x="5159857" y="299065"/>
            <a:ext cx="3359665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【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註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】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以下作業之前製步驟，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[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商品代號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]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與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[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客戶代號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]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需相同</a:t>
            </a:r>
          </a:p>
        </p:txBody>
      </p:sp>
      <p:sp>
        <p:nvSpPr>
          <p:cNvPr id="148" name="內容版面配置區 12">
            <a:extLst>
              <a:ext uri="{FF2B5EF4-FFF2-40B4-BE49-F238E27FC236}">
                <a16:creationId xmlns:a16="http://schemas.microsoft.com/office/drawing/2014/main" id="{BF2DB74B-4300-1065-FEFC-1E9E4B45AFAD}"/>
              </a:ext>
            </a:extLst>
          </p:cNvPr>
          <p:cNvSpPr txBox="1">
            <a:spLocks/>
          </p:cNvSpPr>
          <p:nvPr/>
        </p:nvSpPr>
        <p:spPr>
          <a:xfrm>
            <a:off x="180531" y="2068709"/>
            <a:ext cx="4813127" cy="4386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TW" altLang="en-US" sz="2800" b="1" kern="120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zh-TW" altLang="en-US" sz="2000" b="1" kern="1200">
                <a:solidFill>
                  <a:schemeClr val="tx1">
                    <a:tint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zh-TW" altLang="en-US" sz="1800" b="1" kern="1200">
                <a:solidFill>
                  <a:schemeClr val="tx1">
                    <a:tint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zh-TW" altLang="en-US" sz="1600" kern="1200">
                <a:solidFill>
                  <a:schemeClr val="tx1">
                    <a:tint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zh-TW" altLang="en-US" sz="1600" kern="1200">
                <a:solidFill>
                  <a:schemeClr val="tx1">
                    <a:tint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將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ERP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之經銷商產品報價同步至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B2B</a:t>
            </a:r>
            <a:endParaRPr lang="zh-TW" altLang="en-US" sz="2000" dirty="0"/>
          </a:p>
          <a:p>
            <a:pPr marL="514350" indent="-514350">
              <a:buFont typeface="+mj-lt"/>
              <a:buAutoNum type="arabicPeriod"/>
            </a:pP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514350" indent="-514350">
              <a:buFont typeface="+mj-lt"/>
              <a:buAutoNum type="arabicPeriod"/>
            </a:pP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將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B2B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正式訂單同步至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ERP</a:t>
            </a:r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514350" indent="-514350">
              <a:buFont typeface="+mj-lt"/>
              <a:buAutoNum type="arabicPeriod"/>
            </a:pPr>
            <a:endParaRPr lang="zh-TW" altLang="en-US" sz="2000" dirty="0"/>
          </a:p>
          <a:p>
            <a:pPr marL="514350" indent="-514350">
              <a:buFont typeface="+mj-lt"/>
              <a:buAutoNum type="arabicPeriod"/>
            </a:pP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提供前台所需訂單資訊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514350" indent="-514350">
              <a:buFont typeface="+mj-lt"/>
              <a:buAutoNum type="arabicPeriod"/>
            </a:pP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514350" indent="-514350">
              <a:buFont typeface="+mj-lt"/>
              <a:buAutoNum type="arabicPeriod"/>
            </a:pP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514350" indent="-514350">
              <a:buFont typeface="+mj-lt"/>
              <a:buAutoNum type="arabicPeriod"/>
            </a:pP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提供前台所需業績資訊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514350" indent="-514350">
              <a:buFont typeface="+mj-lt"/>
              <a:buAutoNum type="arabicPeriod"/>
            </a:pP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提供前台所需獎金資訊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514350" indent="-514350">
              <a:buFont typeface="+mj-lt"/>
              <a:buAutoNum type="arabicPeriod"/>
            </a:pP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提供前台所需對帳資訊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" name="矩形: 圓角 8">
            <a:extLst>
              <a:ext uri="{FF2B5EF4-FFF2-40B4-BE49-F238E27FC236}">
                <a16:creationId xmlns:a16="http://schemas.microsoft.com/office/drawing/2014/main" id="{BFE1F77B-5A98-72A4-4236-B2961AC83C63}"/>
              </a:ext>
            </a:extLst>
          </p:cNvPr>
          <p:cNvSpPr/>
          <p:nvPr/>
        </p:nvSpPr>
        <p:spPr>
          <a:xfrm>
            <a:off x="3705705" y="5536826"/>
            <a:ext cx="1944536" cy="40862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經銷商</a:t>
            </a:r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獎金</a:t>
            </a:r>
            <a:r>
              <a: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查詢</a:t>
            </a:r>
            <a:endParaRPr kumimoji="0" lang="en-US" altLang="zh-TW" sz="1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3" name="矩形: 圓角 8">
            <a:extLst>
              <a:ext uri="{FF2B5EF4-FFF2-40B4-BE49-F238E27FC236}">
                <a16:creationId xmlns:a16="http://schemas.microsoft.com/office/drawing/2014/main" id="{913DE958-9F8F-D889-2E64-8693601C4CFC}"/>
              </a:ext>
            </a:extLst>
          </p:cNvPr>
          <p:cNvSpPr/>
          <p:nvPr/>
        </p:nvSpPr>
        <p:spPr>
          <a:xfrm>
            <a:off x="3705705" y="6128612"/>
            <a:ext cx="1944536" cy="40862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經銷商</a:t>
            </a:r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對帳</a:t>
            </a:r>
            <a:r>
              <a: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查詢</a:t>
            </a:r>
            <a:endParaRPr kumimoji="0" lang="en-US" altLang="zh-TW" sz="1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93D689FC-A1F1-D8D1-1544-4BA7C972919A}"/>
              </a:ext>
            </a:extLst>
          </p:cNvPr>
          <p:cNvGrpSpPr/>
          <p:nvPr/>
        </p:nvGrpSpPr>
        <p:grpSpPr>
          <a:xfrm>
            <a:off x="5688504" y="5651052"/>
            <a:ext cx="386023" cy="187580"/>
            <a:chOff x="5524628" y="2053983"/>
            <a:chExt cx="2233033" cy="191994"/>
          </a:xfrm>
        </p:grpSpPr>
        <p:cxnSp>
          <p:nvCxnSpPr>
            <p:cNvPr id="5" name="直線單箭頭接點 5">
              <a:extLst>
                <a:ext uri="{FF2B5EF4-FFF2-40B4-BE49-F238E27FC236}">
                  <a16:creationId xmlns:a16="http://schemas.microsoft.com/office/drawing/2014/main" id="{3AA215A5-E5F9-1AD0-5F9E-1480F783C11A}"/>
                </a:ext>
              </a:extLst>
            </p:cNvPr>
            <p:cNvCxnSpPr>
              <a:cxnSpLocks/>
            </p:cNvCxnSpPr>
            <p:nvPr/>
          </p:nvCxnSpPr>
          <p:spPr>
            <a:xfrm>
              <a:off x="5524628" y="2245977"/>
              <a:ext cx="2223935" cy="0"/>
            </a:xfrm>
            <a:prstGeom prst="straightConnector1">
              <a:avLst/>
            </a:prstGeom>
            <a:ln w="34925">
              <a:solidFill>
                <a:srgbClr val="38908E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6" name="直線單箭頭接點 5">
              <a:extLst>
                <a:ext uri="{FF2B5EF4-FFF2-40B4-BE49-F238E27FC236}">
                  <a16:creationId xmlns:a16="http://schemas.microsoft.com/office/drawing/2014/main" id="{5D68CCD3-6C4B-062E-3FA8-12DD809D00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4628" y="2053983"/>
              <a:ext cx="2233033" cy="0"/>
            </a:xfrm>
            <a:prstGeom prst="straightConnector1">
              <a:avLst/>
            </a:prstGeom>
            <a:ln w="34925">
              <a:solidFill>
                <a:schemeClr val="accent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</p:grpSp>
      <p:grpSp>
        <p:nvGrpSpPr>
          <p:cNvPr id="7" name="群組 6">
            <a:extLst>
              <a:ext uri="{FF2B5EF4-FFF2-40B4-BE49-F238E27FC236}">
                <a16:creationId xmlns:a16="http://schemas.microsoft.com/office/drawing/2014/main" id="{28A8E755-A121-6868-F22B-513DDE59F3AC}"/>
              </a:ext>
            </a:extLst>
          </p:cNvPr>
          <p:cNvGrpSpPr/>
          <p:nvPr/>
        </p:nvGrpSpPr>
        <p:grpSpPr>
          <a:xfrm>
            <a:off x="5679841" y="6250492"/>
            <a:ext cx="386023" cy="187580"/>
            <a:chOff x="5524628" y="2053983"/>
            <a:chExt cx="2233033" cy="191994"/>
          </a:xfrm>
        </p:grpSpPr>
        <p:cxnSp>
          <p:nvCxnSpPr>
            <p:cNvPr id="10" name="直線單箭頭接點 5">
              <a:extLst>
                <a:ext uri="{FF2B5EF4-FFF2-40B4-BE49-F238E27FC236}">
                  <a16:creationId xmlns:a16="http://schemas.microsoft.com/office/drawing/2014/main" id="{01A68459-A859-A2CB-4313-A04DDA7132A5}"/>
                </a:ext>
              </a:extLst>
            </p:cNvPr>
            <p:cNvCxnSpPr>
              <a:cxnSpLocks/>
            </p:cNvCxnSpPr>
            <p:nvPr/>
          </p:nvCxnSpPr>
          <p:spPr>
            <a:xfrm>
              <a:off x="5524628" y="2245977"/>
              <a:ext cx="2223935" cy="0"/>
            </a:xfrm>
            <a:prstGeom prst="straightConnector1">
              <a:avLst/>
            </a:prstGeom>
            <a:ln w="34925">
              <a:solidFill>
                <a:srgbClr val="38908E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1" name="直線單箭頭接點 5">
              <a:extLst>
                <a:ext uri="{FF2B5EF4-FFF2-40B4-BE49-F238E27FC236}">
                  <a16:creationId xmlns:a16="http://schemas.microsoft.com/office/drawing/2014/main" id="{7040DE26-7142-69EF-ADF2-7D272D52AA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4628" y="2053983"/>
              <a:ext cx="2233033" cy="0"/>
            </a:xfrm>
            <a:prstGeom prst="straightConnector1">
              <a:avLst/>
            </a:prstGeom>
            <a:ln w="34925">
              <a:solidFill>
                <a:schemeClr val="accent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</p:grp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A828602-59F8-E454-11C6-14EDFB406542}"/>
              </a:ext>
            </a:extLst>
          </p:cNvPr>
          <p:cNvSpPr txBox="1"/>
          <p:nvPr/>
        </p:nvSpPr>
        <p:spPr>
          <a:xfrm>
            <a:off x="7999911" y="5529911"/>
            <a:ext cx="441146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zh-TW" altLang="en-US" sz="1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月結</a:t>
            </a:r>
            <a:endParaRPr kumimoji="1" lang="en-US" altLang="zh-TW" sz="1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sz="1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同步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4C219EA-284A-F91A-1C1B-4EB7D84267B7}"/>
              </a:ext>
            </a:extLst>
          </p:cNvPr>
          <p:cNvSpPr txBox="1"/>
          <p:nvPr/>
        </p:nvSpPr>
        <p:spPr>
          <a:xfrm>
            <a:off x="7999911" y="6141187"/>
            <a:ext cx="441146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zh-TW" altLang="en-US" sz="1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月結</a:t>
            </a:r>
            <a:endParaRPr kumimoji="1" lang="en-US" altLang="zh-TW" sz="1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sz="1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同步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115A7CAF-5BDE-AAA8-68C3-0E4447D6C91D}"/>
              </a:ext>
            </a:extLst>
          </p:cNvPr>
          <p:cNvSpPr txBox="1"/>
          <p:nvPr/>
        </p:nvSpPr>
        <p:spPr>
          <a:xfrm>
            <a:off x="7999911" y="1976694"/>
            <a:ext cx="441146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zh-TW" altLang="en-US" sz="1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人工</a:t>
            </a:r>
            <a:endParaRPr kumimoji="1" lang="en-US" altLang="zh-TW" sz="1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sz="1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同步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44A28524-C515-FC68-BB12-6921CAB6AD9B}"/>
              </a:ext>
            </a:extLst>
          </p:cNvPr>
          <p:cNvSpPr txBox="1"/>
          <p:nvPr/>
        </p:nvSpPr>
        <p:spPr>
          <a:xfrm>
            <a:off x="8022909" y="2905760"/>
            <a:ext cx="441146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zh-TW" altLang="en-US" sz="1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人工</a:t>
            </a:r>
            <a:endParaRPr kumimoji="1" lang="en-US" altLang="zh-TW" sz="1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sz="1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同步</a:t>
            </a:r>
          </a:p>
        </p:txBody>
      </p:sp>
    </p:spTree>
    <p:extLst>
      <p:ext uri="{BB962C8B-B14F-4D97-AF65-F5344CB8AC3E}">
        <p14:creationId xmlns:p14="http://schemas.microsoft.com/office/powerpoint/2010/main" val="40000211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E6200-6A10-14B4-3C0C-4D9A04213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標題 5">
            <a:extLst>
              <a:ext uri="{FF2B5EF4-FFF2-40B4-BE49-F238E27FC236}">
                <a16:creationId xmlns:a16="http://schemas.microsoft.com/office/drawing/2014/main" id="{8DDB473A-4824-2F2A-D7C1-04BBCC2A9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88" y="99832"/>
            <a:ext cx="10515600" cy="1325563"/>
          </a:xfrm>
        </p:spPr>
        <p:txBody>
          <a:bodyPr/>
          <a:lstStyle/>
          <a:p>
            <a:r>
              <a:rPr lang="zh-TW" altLang="en-US" dirty="0"/>
              <a:t>系統整合架構說明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D534A31-FE47-D0B8-A811-6A99394E434D}"/>
              </a:ext>
            </a:extLst>
          </p:cNvPr>
          <p:cNvSpPr txBox="1"/>
          <p:nvPr/>
        </p:nvSpPr>
        <p:spPr>
          <a:xfrm>
            <a:off x="75210" y="1813190"/>
            <a:ext cx="12041579" cy="4527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zh-TW" altLang="zh-TW" sz="3200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一、 核心開發原則與邏輯架構</a:t>
            </a:r>
            <a:endParaRPr lang="zh-TW" altLang="zh-TW" sz="3200" b="1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17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zh-TW" altLang="zh-TW" sz="1800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邏輯運算在</a:t>
            </a:r>
            <a:r>
              <a:rPr lang="en-US" altLang="zh-TW" sz="1800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 ERP </a:t>
            </a:r>
            <a:r>
              <a:rPr lang="zh-TW" altLang="zh-TW" sz="1800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端完成，僅回傳最終結果</a:t>
            </a:r>
            <a:r>
              <a:rPr lang="zh-TW" altLang="zh-TW" sz="1800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：為確保傳輸效率並避免雙方系統邏輯不一致，</a:t>
            </a:r>
            <a:r>
              <a:rPr lang="zh-TW" altLang="zh-TW" sz="1800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請在</a:t>
            </a:r>
            <a:r>
              <a:rPr lang="en-US" altLang="zh-TW" sz="1800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 ERP </a:t>
            </a:r>
            <a:r>
              <a:rPr lang="zh-TW" altLang="zh-TW" sz="1800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端處理完核心業務邏輯</a:t>
            </a:r>
            <a:r>
              <a:rPr lang="zh-TW" altLang="zh-TW" sz="1800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。例如「業績與獎金」或「未出貨餘單量」，因牽涉到</a:t>
            </a:r>
            <a:r>
              <a:rPr lang="en-US" altLang="zh-TW" sz="1800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 ERP </a:t>
            </a:r>
            <a:r>
              <a:rPr lang="zh-TW" altLang="zh-TW" sz="1800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內部的複雜運算與會計原則，</a:t>
            </a:r>
            <a:r>
              <a:rPr lang="en-US" altLang="zh-TW" sz="1800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API </a:t>
            </a:r>
            <a:r>
              <a:rPr lang="zh-TW" altLang="zh-TW" sz="1800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應直接回傳</a:t>
            </a:r>
            <a:r>
              <a:rPr lang="en-US" altLang="zh-TW" sz="1800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 ERP </a:t>
            </a:r>
            <a:r>
              <a:rPr lang="zh-TW" altLang="zh-TW" sz="1800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計算完成的「最終數值」，請勿將整批原始出貨明細丟給平台端自行運算比對。</a:t>
            </a:r>
            <a:endParaRPr lang="zh-TW" altLang="zh-TW" sz="1800" dirty="0">
              <a:effectLst/>
              <a:latin typeface="新細明體" panose="02020500000000000000" pitchFamily="18" charset="-120"/>
              <a:ea typeface="新細明體" panose="02020500000000000000" pitchFamily="18" charset="-120"/>
              <a:cs typeface="新細明體" panose="02020500000000000000" pitchFamily="18" charset="-120"/>
            </a:endParaRPr>
          </a:p>
          <a:p>
            <a:pPr marL="342900" lvl="0" indent="-342900">
              <a:lnSpc>
                <a:spcPts val="17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zh-TW" altLang="zh-TW" sz="1800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產單回傳唯一識別碼（單號綁定）</a:t>
            </a:r>
            <a:r>
              <a:rPr lang="zh-TW" altLang="zh-TW" sz="1800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：當平台呼叫</a:t>
            </a:r>
            <a:r>
              <a:rPr lang="en-US" altLang="zh-TW" sz="1800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 API </a:t>
            </a:r>
            <a:r>
              <a:rPr lang="zh-TW" altLang="zh-TW" sz="1800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將下單資料（如客戶代號、成代、數量等）拋轉給</a:t>
            </a:r>
            <a:r>
              <a:rPr lang="en-US" altLang="zh-TW" sz="1800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 ERP </a:t>
            </a:r>
            <a:r>
              <a:rPr lang="zh-TW" altLang="zh-TW" sz="1800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時，</a:t>
            </a:r>
            <a:r>
              <a:rPr lang="en-US" altLang="zh-TW" sz="1800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ERP </a:t>
            </a:r>
            <a:r>
              <a:rPr lang="zh-TW" altLang="zh-TW" sz="1800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在成功建立訂單後，必須回傳其生成的「正式訂單編號」</a:t>
            </a:r>
            <a:r>
              <a:rPr lang="zh-TW" altLang="zh-TW" sz="1800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，讓平台端能夠進行雙向綁定，作為未來查詢或更新該筆訂單狀態的依據。</a:t>
            </a:r>
            <a:endParaRPr lang="zh-TW" altLang="zh-TW" sz="1800" dirty="0">
              <a:effectLst/>
              <a:latin typeface="新細明體" panose="02020500000000000000" pitchFamily="18" charset="-120"/>
              <a:ea typeface="新細明體" panose="02020500000000000000" pitchFamily="18" charset="-120"/>
              <a:cs typeface="新細明體" panose="02020500000000000000" pitchFamily="18" charset="-120"/>
            </a:endParaRPr>
          </a:p>
          <a:p>
            <a:pPr marL="342900" lvl="0" indent="-342900">
              <a:lnSpc>
                <a:spcPts val="17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zh-TW" altLang="zh-TW" sz="1800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即時資料檢核與擋單機制</a:t>
            </a:r>
            <a:r>
              <a:rPr lang="zh-TW" altLang="zh-TW" sz="1800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：當平台拋轉資料時，</a:t>
            </a:r>
            <a:r>
              <a:rPr lang="en-US" altLang="zh-TW" sz="1800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ERP </a:t>
            </a:r>
            <a:r>
              <a:rPr lang="zh-TW" altLang="zh-TW" sz="1800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端若檢核到異常（例如：報價單號已失效、客戶權限不符等），請</a:t>
            </a:r>
            <a:r>
              <a:rPr lang="zh-TW" altLang="zh-TW" sz="1800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直接阻擋產單並回傳明確的「錯誤提示訊息」</a:t>
            </a:r>
            <a:r>
              <a:rPr lang="zh-TW" altLang="zh-TW" sz="1800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，讓平台端可以直接將該訊息顯示給經銷商或業務查看。</a:t>
            </a:r>
            <a:endParaRPr lang="zh-TW" altLang="zh-TW" sz="1800" dirty="0">
              <a:effectLst/>
              <a:latin typeface="新細明體" panose="02020500000000000000" pitchFamily="18" charset="-120"/>
              <a:ea typeface="新細明體" panose="02020500000000000000" pitchFamily="18" charset="-120"/>
              <a:cs typeface="新細明體" panose="02020500000000000000" pitchFamily="18" charset="-120"/>
            </a:endParaRPr>
          </a:p>
          <a:p>
            <a:pPr>
              <a:lnSpc>
                <a:spcPts val="1700"/>
              </a:lnSpc>
              <a:spcAft>
                <a:spcPts val="800"/>
              </a:spcAft>
            </a:pPr>
            <a:r>
              <a:rPr lang="en-US" altLang="zh-TW" sz="1800" dirty="0">
                <a:effectLst/>
                <a:latin typeface="微軟正黑體" panose="020B0604030504040204" pitchFamily="34" charset="-120"/>
                <a:ea typeface="新細明體" panose="02020500000000000000" pitchFamily="18" charset="-120"/>
                <a:cs typeface="新細明體" panose="02020500000000000000" pitchFamily="18" charset="-120"/>
              </a:rPr>
              <a:t> </a:t>
            </a:r>
            <a:endParaRPr lang="zh-TW" altLang="zh-TW" sz="1800" dirty="0">
              <a:effectLst/>
              <a:latin typeface="新細明體" panose="02020500000000000000" pitchFamily="18" charset="-120"/>
              <a:ea typeface="新細明體" panose="02020500000000000000" pitchFamily="18" charset="-120"/>
              <a:cs typeface="新細明體" panose="02020500000000000000" pitchFamily="18" charset="-120"/>
            </a:endParaRP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zh-TW" altLang="zh-TW" sz="3200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二、 本次專案</a:t>
            </a:r>
            <a:r>
              <a:rPr lang="zh-TW" altLang="zh-TW" sz="3200" b="1" u="sng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排除</a:t>
            </a:r>
            <a:r>
              <a:rPr lang="en-US" altLang="zh-TW" sz="3200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API </a:t>
            </a:r>
            <a:r>
              <a:rPr lang="zh-TW" altLang="zh-TW" sz="3200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項目（不走</a:t>
            </a:r>
            <a:r>
              <a:rPr lang="en-US" altLang="zh-TW" sz="3200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API </a:t>
            </a:r>
            <a:r>
              <a:rPr lang="zh-TW" altLang="zh-TW" sz="3200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串接）</a:t>
            </a:r>
            <a:endParaRPr lang="zh-TW" altLang="zh-TW" sz="3200" b="1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>
              <a:lnSpc>
                <a:spcPts val="1700"/>
              </a:lnSpc>
            </a:pPr>
            <a:r>
              <a:rPr lang="zh-TW" altLang="zh-TW" sz="1800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為加速專案上線並降低初期介接複雜度，以下項目經確認</a:t>
            </a:r>
            <a:r>
              <a:rPr lang="zh-TW" altLang="zh-TW" sz="1800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不開發</a:t>
            </a:r>
            <a:r>
              <a:rPr lang="en-US" altLang="zh-TW" sz="1800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 API</a:t>
            </a:r>
            <a:r>
              <a:rPr lang="zh-TW" altLang="zh-TW" sz="1800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：</a:t>
            </a:r>
            <a:endParaRPr lang="zh-TW" altLang="zh-TW" sz="1800" dirty="0">
              <a:effectLst/>
              <a:latin typeface="新細明體" panose="02020500000000000000" pitchFamily="18" charset="-120"/>
              <a:ea typeface="新細明體" panose="02020500000000000000" pitchFamily="18" charset="-120"/>
              <a:cs typeface="新細明體" panose="02020500000000000000" pitchFamily="18" charset="-120"/>
            </a:endParaRPr>
          </a:p>
          <a:p>
            <a:pPr marL="342900" lvl="0" indent="-342900">
              <a:lnSpc>
                <a:spcPts val="17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zh-TW" altLang="zh-TW" sz="1800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客戶主檔</a:t>
            </a:r>
            <a:r>
              <a:rPr lang="zh-TW" altLang="zh-TW" sz="1800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：不走</a:t>
            </a:r>
            <a:r>
              <a:rPr lang="en-US" altLang="zh-TW" sz="1800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 API </a:t>
            </a:r>
            <a:r>
              <a:rPr lang="zh-TW" altLang="zh-TW" sz="1800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即時同步，將於系統上線時以 </a:t>
            </a:r>
            <a:r>
              <a:rPr lang="en-US" altLang="zh-TW" sz="1800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Excel </a:t>
            </a:r>
            <a:r>
              <a:rPr lang="zh-TW" altLang="zh-TW" sz="1800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一次性開帳匯入</a:t>
            </a:r>
            <a:r>
              <a:rPr lang="zh-TW" altLang="zh-TW" sz="1800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，後續若有新增亦透過平台手動匯入維護。</a:t>
            </a:r>
            <a:endParaRPr lang="zh-TW" altLang="zh-TW" sz="1800" dirty="0">
              <a:effectLst/>
              <a:latin typeface="新細明體" panose="02020500000000000000" pitchFamily="18" charset="-120"/>
              <a:ea typeface="新細明體" panose="02020500000000000000" pitchFamily="18" charset="-120"/>
              <a:cs typeface="新細明體" panose="02020500000000000000" pitchFamily="18" charset="-120"/>
            </a:endParaRPr>
          </a:p>
          <a:p>
            <a:pPr marL="342900" lvl="0" indent="-342900">
              <a:lnSpc>
                <a:spcPts val="17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zh-TW" altLang="zh-TW" sz="1800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產品主檔（成代）</a:t>
            </a:r>
            <a:r>
              <a:rPr lang="zh-TW" altLang="zh-TW" sz="1800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：不走</a:t>
            </a:r>
            <a:r>
              <a:rPr lang="en-US" altLang="zh-TW" sz="1800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 API </a:t>
            </a:r>
            <a:r>
              <a:rPr lang="zh-TW" altLang="zh-TW" sz="1800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即時同步，同樣透過 </a:t>
            </a:r>
            <a:r>
              <a:rPr lang="en-US" altLang="zh-TW" sz="1800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Excel </a:t>
            </a:r>
            <a:r>
              <a:rPr lang="zh-TW" altLang="zh-TW" sz="1800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一次性開帳匯入</a:t>
            </a:r>
            <a:r>
              <a:rPr lang="zh-TW" altLang="zh-TW" sz="1800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與維護。</a:t>
            </a:r>
            <a:endParaRPr lang="zh-TW" altLang="zh-TW" sz="1800" dirty="0">
              <a:effectLst/>
              <a:latin typeface="新細明體" panose="02020500000000000000" pitchFamily="18" charset="-120"/>
              <a:ea typeface="新細明體" panose="02020500000000000000" pitchFamily="18" charset="-120"/>
              <a:cs typeface="新細明體" panose="02020500000000000000" pitchFamily="18" charset="-120"/>
            </a:endParaRPr>
          </a:p>
          <a:p>
            <a:pPr marL="342900" lvl="0" indent="-342900">
              <a:lnSpc>
                <a:spcPts val="17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zh-TW" altLang="zh-TW" sz="1800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庫存查詢</a:t>
            </a:r>
            <a:r>
              <a:rPr lang="zh-TW" altLang="zh-TW" sz="1800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：本次專案</a:t>
            </a:r>
            <a:r>
              <a:rPr lang="zh-TW" altLang="zh-TW" sz="1800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取消</a:t>
            </a:r>
            <a:r>
              <a:rPr lang="zh-TW" altLang="zh-TW" sz="1800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庫存水位的即時連動</a:t>
            </a:r>
            <a:r>
              <a:rPr lang="en-US" altLang="zh-TW" sz="1800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 API</a:t>
            </a:r>
            <a:r>
              <a:rPr lang="zh-TW" altLang="zh-TW" sz="1800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。</a:t>
            </a:r>
            <a:endParaRPr lang="zh-TW" altLang="zh-TW" sz="1800" dirty="0">
              <a:effectLst/>
              <a:latin typeface="新細明體" panose="02020500000000000000" pitchFamily="18" charset="-120"/>
              <a:ea typeface="新細明體" panose="02020500000000000000" pitchFamily="18" charset="-120"/>
              <a:cs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621834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E6200-6A10-14B4-3C0C-4D9A04213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標題 5">
            <a:extLst>
              <a:ext uri="{FF2B5EF4-FFF2-40B4-BE49-F238E27FC236}">
                <a16:creationId xmlns:a16="http://schemas.microsoft.com/office/drawing/2014/main" id="{8DDB473A-4824-2F2A-D7C1-04BBCC2A9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88" y="99832"/>
            <a:ext cx="10515600" cy="1325563"/>
          </a:xfrm>
        </p:spPr>
        <p:txBody>
          <a:bodyPr/>
          <a:lstStyle/>
          <a:p>
            <a:r>
              <a:rPr lang="zh-TW" altLang="en-US" dirty="0"/>
              <a:t>系統整合架構說明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49E8E58-DD2C-5A68-F8A9-C3C662DB58F4}"/>
              </a:ext>
            </a:extLst>
          </p:cNvPr>
          <p:cNvSpPr txBox="1"/>
          <p:nvPr/>
        </p:nvSpPr>
        <p:spPr>
          <a:xfrm>
            <a:off x="308758" y="1741693"/>
            <a:ext cx="11174681" cy="2995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zh-TW" altLang="zh-TW" sz="3200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三、 </a:t>
            </a:r>
            <a:r>
              <a:rPr lang="en-US" altLang="zh-TW" sz="3200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ERP</a:t>
            </a:r>
            <a:r>
              <a:rPr lang="zh-TW" altLang="zh-TW" sz="3200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系統：預計需開發的</a:t>
            </a:r>
            <a:r>
              <a:rPr lang="en-US" altLang="zh-TW" sz="3200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API </a:t>
            </a:r>
            <a:r>
              <a:rPr lang="zh-TW" altLang="zh-TW" sz="3200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項目與回傳預期</a:t>
            </a:r>
            <a:endParaRPr lang="zh-TW" altLang="zh-TW" sz="3200" b="1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17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zh-TW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產生正式訂單</a:t>
            </a:r>
            <a:r>
              <a:rPr lang="en-US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 API</a:t>
            </a:r>
            <a:r>
              <a:rPr lang="zh-TW" altLang="zh-TW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：（本次討論新增）</a:t>
            </a:r>
            <a:endParaRPr lang="zh-TW" altLang="zh-TW" dirty="0">
              <a:effectLst/>
              <a:latin typeface="新細明體" panose="02020500000000000000" pitchFamily="18" charset="-120"/>
              <a:ea typeface="新細明體" panose="02020500000000000000" pitchFamily="18" charset="-120"/>
              <a:cs typeface="新細明體" panose="02020500000000000000" pitchFamily="18" charset="-120"/>
            </a:endParaRPr>
          </a:p>
          <a:p>
            <a:pPr marL="742950" lvl="1" indent="-285750">
              <a:lnSpc>
                <a:spcPts val="17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zh-TW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艾創點</a:t>
            </a:r>
            <a:r>
              <a:rPr lang="en-US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B2B</a:t>
            </a:r>
            <a:r>
              <a:rPr lang="zh-TW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平台提供</a:t>
            </a:r>
            <a:r>
              <a:rPr lang="zh-TW" altLang="zh-TW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：經銷商代號、成代（產品代號）、數量、金額等下單資訊。</a:t>
            </a:r>
            <a:endParaRPr lang="zh-TW" altLang="zh-TW" dirty="0">
              <a:effectLst/>
              <a:latin typeface="新細明體" panose="02020500000000000000" pitchFamily="18" charset="-12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ts val="17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zh-TW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建大</a:t>
            </a:r>
            <a:r>
              <a:rPr lang="en-US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ERP API </a:t>
            </a:r>
            <a:r>
              <a:rPr lang="zh-TW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回傳要求</a:t>
            </a:r>
            <a:r>
              <a:rPr lang="zh-TW" altLang="zh-TW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en-US" altLang="zh-TW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ERP </a:t>
            </a:r>
            <a:r>
              <a:rPr lang="zh-TW" altLang="zh-TW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成功建立訂單的結果，並</a:t>
            </a:r>
            <a:r>
              <a:rPr lang="zh-TW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回傳</a:t>
            </a:r>
            <a:r>
              <a:rPr lang="en-US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ERP </a:t>
            </a:r>
            <a:r>
              <a:rPr lang="zh-TW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端正式的訂單單號</a:t>
            </a:r>
            <a:r>
              <a:rPr lang="zh-TW" altLang="zh-TW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zh-TW" altLang="en-US" dirty="0">
              <a:effectLst/>
              <a:latin typeface="新細明體" panose="02020500000000000000" pitchFamily="18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17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US" altLang="zh-TW" b="1" dirty="0">
              <a:effectLst/>
              <a:latin typeface="新細明體" panose="02020500000000000000" pitchFamily="18" charset="-120"/>
              <a:ea typeface="微軟正黑體" panose="020B0604030504040204" pitchFamily="34" charset="-120"/>
              <a:cs typeface="新細明體" panose="02020500000000000000" pitchFamily="18" charset="-120"/>
            </a:endParaRPr>
          </a:p>
          <a:p>
            <a:pPr marL="342900" lvl="0" indent="-342900">
              <a:lnSpc>
                <a:spcPts val="17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zh-TW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報價單與價格檔同步</a:t>
            </a:r>
            <a:r>
              <a:rPr lang="en-US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 API</a:t>
            </a:r>
            <a:r>
              <a:rPr lang="zh-TW" altLang="zh-TW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：（本次討論新增）</a:t>
            </a:r>
            <a:endParaRPr lang="zh-TW" altLang="zh-TW" dirty="0">
              <a:effectLst/>
              <a:latin typeface="新細明體" panose="02020500000000000000" pitchFamily="18" charset="-120"/>
              <a:ea typeface="新細明體" panose="02020500000000000000" pitchFamily="18" charset="-120"/>
              <a:cs typeface="新細明體" panose="02020500000000000000" pitchFamily="18" charset="-120"/>
            </a:endParaRPr>
          </a:p>
          <a:p>
            <a:pPr marL="742950" lvl="1" indent="-285750">
              <a:lnSpc>
                <a:spcPts val="17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zh-TW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艾創點</a:t>
            </a:r>
            <a:r>
              <a:rPr lang="en-US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B2B</a:t>
            </a:r>
            <a:r>
              <a:rPr lang="zh-TW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平台提供</a:t>
            </a:r>
            <a:r>
              <a:rPr lang="zh-TW" altLang="zh-TW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：經銷商代號。</a:t>
            </a:r>
            <a:endParaRPr lang="zh-TW" altLang="zh-TW" dirty="0">
              <a:effectLst/>
              <a:latin typeface="新細明體" panose="02020500000000000000" pitchFamily="18" charset="-12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ts val="17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zh-TW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建大</a:t>
            </a:r>
            <a:r>
              <a:rPr lang="en-US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ERP API </a:t>
            </a:r>
            <a:r>
              <a:rPr lang="zh-TW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回傳要求</a:t>
            </a:r>
            <a:r>
              <a:rPr lang="zh-TW" altLang="zh-TW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：提供最新的報價單號與對應單價，確保前台顯示價格與</a:t>
            </a:r>
            <a:r>
              <a:rPr lang="en-US" altLang="zh-TW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ERP </a:t>
            </a:r>
            <a:r>
              <a:rPr lang="zh-TW" altLang="zh-TW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內部一致，避免人工維護的時間差</a:t>
            </a:r>
            <a:endParaRPr lang="zh-TW" altLang="zh-TW" dirty="0">
              <a:effectLst/>
              <a:latin typeface="新細明體" panose="02020500000000000000" pitchFamily="18" charset="-12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06075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E6200-6A10-14B4-3C0C-4D9A04213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標題 5">
            <a:extLst>
              <a:ext uri="{FF2B5EF4-FFF2-40B4-BE49-F238E27FC236}">
                <a16:creationId xmlns:a16="http://schemas.microsoft.com/office/drawing/2014/main" id="{8DDB473A-4824-2F2A-D7C1-04BBCC2A9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88" y="-18919"/>
            <a:ext cx="10515600" cy="1325563"/>
          </a:xfrm>
        </p:spPr>
        <p:txBody>
          <a:bodyPr/>
          <a:lstStyle/>
          <a:p>
            <a:r>
              <a:rPr lang="zh-TW" altLang="en-US" dirty="0"/>
              <a:t>系統整合架構說明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49E8E58-DD2C-5A68-F8A9-C3C662DB58F4}"/>
              </a:ext>
            </a:extLst>
          </p:cNvPr>
          <p:cNvSpPr txBox="1"/>
          <p:nvPr/>
        </p:nvSpPr>
        <p:spPr>
          <a:xfrm>
            <a:off x="166254" y="1231054"/>
            <a:ext cx="11859491" cy="5778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zh-TW" altLang="zh-TW" sz="3200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三、 </a:t>
            </a:r>
            <a:r>
              <a:rPr lang="en-US" altLang="zh-TW" sz="3200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ERP</a:t>
            </a:r>
            <a:r>
              <a:rPr lang="zh-TW" altLang="zh-TW" sz="3200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系統：預計需開發的</a:t>
            </a:r>
            <a:r>
              <a:rPr lang="en-US" altLang="zh-TW" sz="3200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API </a:t>
            </a:r>
            <a:r>
              <a:rPr lang="zh-TW" altLang="zh-TW" sz="3200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項目與回傳預期</a:t>
            </a:r>
            <a:endParaRPr lang="zh-TW" altLang="zh-TW" sz="3200" b="1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17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zh-TW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訂單資訊查詢</a:t>
            </a:r>
            <a:r>
              <a:rPr lang="en-US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 API</a:t>
            </a:r>
            <a:r>
              <a:rPr lang="zh-TW" altLang="zh-TW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：</a:t>
            </a:r>
            <a:endParaRPr lang="zh-TW" altLang="zh-TW" dirty="0">
              <a:effectLst/>
              <a:latin typeface="新細明體" panose="02020500000000000000" pitchFamily="18" charset="-120"/>
              <a:ea typeface="新細明體" panose="02020500000000000000" pitchFamily="18" charset="-120"/>
              <a:cs typeface="新細明體" panose="02020500000000000000" pitchFamily="18" charset="-120"/>
            </a:endParaRPr>
          </a:p>
          <a:p>
            <a:pPr marL="742950" lvl="1" indent="-285750">
              <a:lnSpc>
                <a:spcPts val="17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zh-TW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艾創點</a:t>
            </a:r>
            <a:r>
              <a:rPr lang="en-US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B2B</a:t>
            </a:r>
            <a:r>
              <a:rPr lang="zh-TW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平台提供</a:t>
            </a:r>
            <a:r>
              <a:rPr lang="zh-TW" altLang="zh-TW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en-US" altLang="zh-TW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ERP</a:t>
            </a:r>
            <a:r>
              <a:rPr lang="zh-TW" altLang="zh-TW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訂單單號。</a:t>
            </a:r>
            <a:endParaRPr lang="zh-TW" altLang="zh-TW" dirty="0">
              <a:effectLst/>
              <a:latin typeface="新細明體" panose="02020500000000000000" pitchFamily="18" charset="-12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ts val="17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zh-TW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建大</a:t>
            </a:r>
            <a:r>
              <a:rPr lang="en-US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ERP API </a:t>
            </a:r>
            <a:r>
              <a:rPr lang="zh-TW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回傳要求</a:t>
            </a:r>
            <a:r>
              <a:rPr lang="zh-TW" altLang="zh-TW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：該張訂單目前的狀態、已出貨數量，以及</a:t>
            </a:r>
            <a:r>
              <a:rPr lang="zh-TW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精算後的「訂單數」、「未出貨餘單量」、「已出貨數」、「出貨狀態（例：已出貨）」、「發票進度（例：未開發票）」</a:t>
            </a:r>
            <a:r>
              <a:rPr lang="zh-TW" altLang="zh-TW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en-US" altLang="zh-TW" dirty="0">
              <a:effectLst/>
              <a:latin typeface="新細明體" panose="02020500000000000000" pitchFamily="18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1">
              <a:lnSpc>
                <a:spcPts val="17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endParaRPr lang="zh-TW" altLang="zh-TW" dirty="0">
              <a:effectLst/>
              <a:latin typeface="新細明體" panose="02020500000000000000" pitchFamily="18" charset="-12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17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zh-TW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業績查詢</a:t>
            </a:r>
            <a:r>
              <a:rPr lang="en-US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 API</a:t>
            </a:r>
            <a:r>
              <a:rPr lang="zh-TW" altLang="zh-TW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：</a:t>
            </a:r>
            <a:endParaRPr lang="zh-TW" altLang="zh-TW" dirty="0">
              <a:effectLst/>
              <a:latin typeface="新細明體" panose="02020500000000000000" pitchFamily="18" charset="-120"/>
              <a:ea typeface="新細明體" panose="02020500000000000000" pitchFamily="18" charset="-120"/>
              <a:cs typeface="新細明體" panose="02020500000000000000" pitchFamily="18" charset="-120"/>
            </a:endParaRPr>
          </a:p>
          <a:p>
            <a:pPr marL="742950" lvl="1" indent="-285750">
              <a:lnSpc>
                <a:spcPts val="17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zh-TW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艾創點</a:t>
            </a:r>
            <a:r>
              <a:rPr lang="en-US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B2B</a:t>
            </a:r>
            <a:r>
              <a:rPr lang="zh-TW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平台提供</a:t>
            </a:r>
            <a:r>
              <a:rPr lang="zh-TW" altLang="zh-TW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：經銷商代號、查詢年月。</a:t>
            </a:r>
            <a:r>
              <a:rPr lang="zh-TW" altLang="en-US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（支援多組）</a:t>
            </a:r>
            <a:endParaRPr lang="zh-TW" altLang="zh-TW" dirty="0">
              <a:effectLst/>
              <a:latin typeface="新細明體" panose="02020500000000000000" pitchFamily="18" charset="-12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ts val="17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zh-TW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建大</a:t>
            </a:r>
            <a:r>
              <a:rPr lang="en-US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ERP API </a:t>
            </a:r>
            <a:r>
              <a:rPr lang="zh-TW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回傳要求</a:t>
            </a:r>
            <a:r>
              <a:rPr lang="zh-TW" altLang="zh-TW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：直接回傳該區間內</a:t>
            </a:r>
            <a:r>
              <a:rPr lang="zh-TW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結算完畢的「業績總額」結果</a:t>
            </a:r>
            <a:r>
              <a:rPr lang="zh-TW" altLang="zh-TW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，不需傳送細部單據明細。</a:t>
            </a:r>
            <a:endParaRPr lang="en-US" altLang="zh-TW" dirty="0">
              <a:effectLst/>
              <a:latin typeface="新細明體" panose="02020500000000000000" pitchFamily="18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1">
              <a:lnSpc>
                <a:spcPts val="17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endParaRPr lang="zh-TW" altLang="zh-TW" dirty="0">
              <a:effectLst/>
              <a:latin typeface="新細明體" panose="02020500000000000000" pitchFamily="18" charset="-12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17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zh-TW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獎金查詢</a:t>
            </a:r>
            <a:r>
              <a:rPr lang="en-US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 API</a:t>
            </a:r>
            <a:r>
              <a:rPr lang="zh-TW" altLang="zh-TW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：</a:t>
            </a:r>
            <a:endParaRPr lang="zh-TW" altLang="zh-TW" dirty="0">
              <a:effectLst/>
              <a:latin typeface="新細明體" panose="02020500000000000000" pitchFamily="18" charset="-120"/>
              <a:ea typeface="新細明體" panose="02020500000000000000" pitchFamily="18" charset="-120"/>
              <a:cs typeface="新細明體" panose="02020500000000000000" pitchFamily="18" charset="-120"/>
            </a:endParaRPr>
          </a:p>
          <a:p>
            <a:pPr marL="742950" lvl="1" indent="-285750">
              <a:lnSpc>
                <a:spcPts val="17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zh-TW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艾創點</a:t>
            </a:r>
            <a:r>
              <a:rPr lang="en-US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B2B</a:t>
            </a:r>
            <a:r>
              <a:rPr lang="zh-TW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平台提供</a:t>
            </a:r>
            <a:r>
              <a:rPr lang="zh-TW" altLang="zh-TW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：經銷商代號、查詢年月。</a:t>
            </a:r>
            <a:r>
              <a:rPr lang="zh-TW" altLang="en-US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（支援多組）</a:t>
            </a:r>
            <a:endParaRPr lang="zh-TW" altLang="zh-TW" dirty="0">
              <a:effectLst/>
              <a:latin typeface="新細明體" panose="02020500000000000000" pitchFamily="18" charset="-12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ts val="17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zh-TW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建大</a:t>
            </a:r>
            <a:r>
              <a:rPr lang="en-US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ERP API </a:t>
            </a:r>
            <a:r>
              <a:rPr lang="zh-TW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回傳要求</a:t>
            </a:r>
            <a:r>
              <a:rPr lang="zh-TW" altLang="zh-TW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：直接回傳該區間內</a:t>
            </a:r>
            <a:r>
              <a:rPr lang="zh-TW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結算完畢的「獎金數字」結果</a:t>
            </a:r>
            <a:r>
              <a:rPr lang="zh-TW" altLang="zh-TW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，不需傳送細部單據明細。</a:t>
            </a:r>
            <a:endParaRPr lang="en-US" altLang="zh-TW" dirty="0">
              <a:effectLst/>
              <a:latin typeface="新細明體" panose="02020500000000000000" pitchFamily="18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ts val="17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zh-TW" altLang="zh-TW" dirty="0">
              <a:effectLst/>
              <a:latin typeface="新細明體" panose="02020500000000000000" pitchFamily="18" charset="-12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17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zh-TW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對帳查詢</a:t>
            </a:r>
            <a:r>
              <a:rPr lang="en-US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 API</a:t>
            </a:r>
            <a:r>
              <a:rPr lang="zh-TW" altLang="zh-TW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：</a:t>
            </a:r>
            <a:endParaRPr lang="zh-TW" altLang="zh-TW" dirty="0">
              <a:effectLst/>
              <a:latin typeface="新細明體" panose="02020500000000000000" pitchFamily="18" charset="-120"/>
              <a:ea typeface="新細明體" panose="02020500000000000000" pitchFamily="18" charset="-120"/>
              <a:cs typeface="新細明體" panose="02020500000000000000" pitchFamily="18" charset="-120"/>
            </a:endParaRPr>
          </a:p>
          <a:p>
            <a:pPr marL="742950" lvl="1" indent="-285750">
              <a:lnSpc>
                <a:spcPts val="17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zh-TW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艾創點</a:t>
            </a:r>
            <a:r>
              <a:rPr lang="en-US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B2B</a:t>
            </a:r>
            <a:r>
              <a:rPr lang="zh-TW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平台提供</a:t>
            </a:r>
            <a:r>
              <a:rPr lang="zh-TW" altLang="zh-TW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：經銷商代號、查詢年月。</a:t>
            </a:r>
            <a:r>
              <a:rPr lang="zh-TW" altLang="en-US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（支援多組）</a:t>
            </a:r>
            <a:endParaRPr lang="zh-TW" altLang="zh-TW" dirty="0">
              <a:effectLst/>
              <a:latin typeface="新細明體" panose="02020500000000000000" pitchFamily="18" charset="-12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ts val="17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zh-TW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建大</a:t>
            </a:r>
            <a:r>
              <a:rPr lang="en-US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ERP API </a:t>
            </a:r>
            <a:r>
              <a:rPr lang="zh-TW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回傳要求</a:t>
            </a:r>
            <a:r>
              <a:rPr lang="zh-TW" altLang="zh-TW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：直接回傳該區間內</a:t>
            </a:r>
            <a:r>
              <a:rPr lang="zh-TW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「對帳金額」</a:t>
            </a:r>
            <a:r>
              <a:rPr lang="zh-TW" altLang="zh-TW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、</a:t>
            </a:r>
            <a:r>
              <a:rPr lang="zh-TW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「當期發票」</a:t>
            </a:r>
            <a:r>
              <a:rPr lang="zh-TW" altLang="zh-TW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、</a:t>
            </a:r>
            <a:r>
              <a:rPr lang="zh-TW" altLang="zh-TW" b="1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「當期折讓」結果</a:t>
            </a:r>
            <a:r>
              <a:rPr lang="zh-TW" altLang="zh-TW" dirty="0">
                <a:effectLst/>
                <a:latin typeface="新細明體" panose="02020500000000000000" pitchFamily="18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，不需傳送細部單據明細。</a:t>
            </a:r>
            <a:endParaRPr lang="zh-TW" altLang="zh-TW" dirty="0">
              <a:effectLst/>
              <a:latin typeface="新細明體" panose="02020500000000000000" pitchFamily="18" charset="-12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720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06800FF9-E750-225D-7616-52BE7FDA6BE4}"/>
              </a:ext>
            </a:extLst>
          </p:cNvPr>
          <p:cNvSpPr txBox="1">
            <a:spLocks/>
          </p:cNvSpPr>
          <p:nvPr/>
        </p:nvSpPr>
        <p:spPr>
          <a:xfrm>
            <a:off x="3369871" y="2606399"/>
            <a:ext cx="5379522" cy="192769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TW" altLang="en-US" sz="3600" b="1" kern="1200" dirty="0" smtClean="0">
                <a:solidFill>
                  <a:srgbClr val="61C1B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kumimoji="1" lang="en-US" altLang="zh-TW" spc="750" dirty="0">
                <a:latin typeface="Avenir LT Std 65 Medium" panose="020B0603020203020204" pitchFamily="34" charset="0"/>
              </a:rPr>
              <a:t>THANK YOU FOR</a:t>
            </a:r>
          </a:p>
          <a:p>
            <a:pPr algn="ctr">
              <a:lnSpc>
                <a:spcPct val="150000"/>
              </a:lnSpc>
            </a:pPr>
            <a:r>
              <a:rPr kumimoji="1" lang="en-US" altLang="zh-TW" spc="750" dirty="0">
                <a:latin typeface="Avenir LT Std 65 Medium" panose="020B0603020203020204" pitchFamily="34" charset="0"/>
              </a:rPr>
              <a:t>LISTENING</a:t>
            </a:r>
          </a:p>
        </p:txBody>
      </p:sp>
      <p:pic>
        <p:nvPicPr>
          <p:cNvPr id="8" name="圖片 7" descr="一張含有 字型, 文字, 螢幕擷取畫面, 圖形 的圖片&#10;&#10;自動產生的描述">
            <a:extLst>
              <a:ext uri="{FF2B5EF4-FFF2-40B4-BE49-F238E27FC236}">
                <a16:creationId xmlns:a16="http://schemas.microsoft.com/office/drawing/2014/main" id="{E802F05E-B884-12D5-96BD-A855EEB794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057" y="1256687"/>
            <a:ext cx="3825886" cy="790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0628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2B636D8F-78FB-4862-2E29-9184BE0FF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174" y="-128876"/>
            <a:ext cx="10515600" cy="1325563"/>
          </a:xfrm>
        </p:spPr>
        <p:txBody>
          <a:bodyPr/>
          <a:lstStyle/>
          <a:p>
            <a:r>
              <a:rPr kumimoji="1" lang="zh-TW" altLang="en-US" dirty="0"/>
              <a:t>專案時程預估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E9EDFF81-933A-A9ED-00F3-F75C92EB14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507179"/>
              </p:ext>
            </p:extLst>
          </p:nvPr>
        </p:nvGraphicFramePr>
        <p:xfrm>
          <a:off x="597018" y="1973328"/>
          <a:ext cx="10416297" cy="1745431"/>
        </p:xfrm>
        <a:graphic>
          <a:graphicData uri="http://schemas.openxmlformats.org/drawingml/2006/table">
            <a:tbl>
              <a:tblPr firstRow="1" firstCol="1"/>
              <a:tblGrid>
                <a:gridCol w="960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7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77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77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377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37700">
                  <a:extLst>
                    <a:ext uri="{9D8B030D-6E8A-4147-A177-3AD203B41FA5}">
                      <a16:colId xmlns:a16="http://schemas.microsoft.com/office/drawing/2014/main" val="2247047956"/>
                    </a:ext>
                  </a:extLst>
                </a:gridCol>
                <a:gridCol w="337700">
                  <a:extLst>
                    <a:ext uri="{9D8B030D-6E8A-4147-A177-3AD203B41FA5}">
                      <a16:colId xmlns:a16="http://schemas.microsoft.com/office/drawing/2014/main" val="4089281220"/>
                    </a:ext>
                  </a:extLst>
                </a:gridCol>
                <a:gridCol w="337700">
                  <a:extLst>
                    <a:ext uri="{9D8B030D-6E8A-4147-A177-3AD203B41FA5}">
                      <a16:colId xmlns:a16="http://schemas.microsoft.com/office/drawing/2014/main" val="2573154090"/>
                    </a:ext>
                  </a:extLst>
                </a:gridCol>
                <a:gridCol w="337700">
                  <a:extLst>
                    <a:ext uri="{9D8B030D-6E8A-4147-A177-3AD203B41FA5}">
                      <a16:colId xmlns:a16="http://schemas.microsoft.com/office/drawing/2014/main" val="3699593346"/>
                    </a:ext>
                  </a:extLst>
                </a:gridCol>
                <a:gridCol w="337700">
                  <a:extLst>
                    <a:ext uri="{9D8B030D-6E8A-4147-A177-3AD203B41FA5}">
                      <a16:colId xmlns:a16="http://schemas.microsoft.com/office/drawing/2014/main" val="70155925"/>
                    </a:ext>
                  </a:extLst>
                </a:gridCol>
                <a:gridCol w="337700">
                  <a:extLst>
                    <a:ext uri="{9D8B030D-6E8A-4147-A177-3AD203B41FA5}">
                      <a16:colId xmlns:a16="http://schemas.microsoft.com/office/drawing/2014/main" val="758638393"/>
                    </a:ext>
                  </a:extLst>
                </a:gridCol>
                <a:gridCol w="337700">
                  <a:extLst>
                    <a:ext uri="{9D8B030D-6E8A-4147-A177-3AD203B41FA5}">
                      <a16:colId xmlns:a16="http://schemas.microsoft.com/office/drawing/2014/main" val="2847953081"/>
                    </a:ext>
                  </a:extLst>
                </a:gridCol>
                <a:gridCol w="337700">
                  <a:extLst>
                    <a:ext uri="{9D8B030D-6E8A-4147-A177-3AD203B41FA5}">
                      <a16:colId xmlns:a16="http://schemas.microsoft.com/office/drawing/2014/main" val="1501153840"/>
                    </a:ext>
                  </a:extLst>
                </a:gridCol>
                <a:gridCol w="337700">
                  <a:extLst>
                    <a:ext uri="{9D8B030D-6E8A-4147-A177-3AD203B41FA5}">
                      <a16:colId xmlns:a16="http://schemas.microsoft.com/office/drawing/2014/main" val="3682211469"/>
                    </a:ext>
                  </a:extLst>
                </a:gridCol>
                <a:gridCol w="337700">
                  <a:extLst>
                    <a:ext uri="{9D8B030D-6E8A-4147-A177-3AD203B41FA5}">
                      <a16:colId xmlns:a16="http://schemas.microsoft.com/office/drawing/2014/main" val="1694605515"/>
                    </a:ext>
                  </a:extLst>
                </a:gridCol>
                <a:gridCol w="337700">
                  <a:extLst>
                    <a:ext uri="{9D8B030D-6E8A-4147-A177-3AD203B41FA5}">
                      <a16:colId xmlns:a16="http://schemas.microsoft.com/office/drawing/2014/main" val="4044604972"/>
                    </a:ext>
                  </a:extLst>
                </a:gridCol>
                <a:gridCol w="337700">
                  <a:extLst>
                    <a:ext uri="{9D8B030D-6E8A-4147-A177-3AD203B41FA5}">
                      <a16:colId xmlns:a16="http://schemas.microsoft.com/office/drawing/2014/main" val="43018370"/>
                    </a:ext>
                  </a:extLst>
                </a:gridCol>
                <a:gridCol w="337700">
                  <a:extLst>
                    <a:ext uri="{9D8B030D-6E8A-4147-A177-3AD203B41FA5}">
                      <a16:colId xmlns:a16="http://schemas.microsoft.com/office/drawing/2014/main" val="2792320997"/>
                    </a:ext>
                  </a:extLst>
                </a:gridCol>
                <a:gridCol w="337700">
                  <a:extLst>
                    <a:ext uri="{9D8B030D-6E8A-4147-A177-3AD203B41FA5}">
                      <a16:colId xmlns:a16="http://schemas.microsoft.com/office/drawing/2014/main" val="2473507545"/>
                    </a:ext>
                  </a:extLst>
                </a:gridCol>
                <a:gridCol w="337700">
                  <a:extLst>
                    <a:ext uri="{9D8B030D-6E8A-4147-A177-3AD203B41FA5}">
                      <a16:colId xmlns:a16="http://schemas.microsoft.com/office/drawing/2014/main" val="255201487"/>
                    </a:ext>
                  </a:extLst>
                </a:gridCol>
                <a:gridCol w="337700">
                  <a:extLst>
                    <a:ext uri="{9D8B030D-6E8A-4147-A177-3AD203B41FA5}">
                      <a16:colId xmlns:a16="http://schemas.microsoft.com/office/drawing/2014/main" val="1866045422"/>
                    </a:ext>
                  </a:extLst>
                </a:gridCol>
                <a:gridCol w="337700">
                  <a:extLst>
                    <a:ext uri="{9D8B030D-6E8A-4147-A177-3AD203B41FA5}">
                      <a16:colId xmlns:a16="http://schemas.microsoft.com/office/drawing/2014/main" val="1704671799"/>
                    </a:ext>
                  </a:extLst>
                </a:gridCol>
                <a:gridCol w="337700">
                  <a:extLst>
                    <a:ext uri="{9D8B030D-6E8A-4147-A177-3AD203B41FA5}">
                      <a16:colId xmlns:a16="http://schemas.microsoft.com/office/drawing/2014/main" val="3307668155"/>
                    </a:ext>
                  </a:extLst>
                </a:gridCol>
                <a:gridCol w="337700">
                  <a:extLst>
                    <a:ext uri="{9D8B030D-6E8A-4147-A177-3AD203B41FA5}">
                      <a16:colId xmlns:a16="http://schemas.microsoft.com/office/drawing/2014/main" val="3109754102"/>
                    </a:ext>
                  </a:extLst>
                </a:gridCol>
                <a:gridCol w="337700">
                  <a:extLst>
                    <a:ext uri="{9D8B030D-6E8A-4147-A177-3AD203B41FA5}">
                      <a16:colId xmlns:a16="http://schemas.microsoft.com/office/drawing/2014/main" val="1428313114"/>
                    </a:ext>
                  </a:extLst>
                </a:gridCol>
                <a:gridCol w="337700">
                  <a:extLst>
                    <a:ext uri="{9D8B030D-6E8A-4147-A177-3AD203B41FA5}">
                      <a16:colId xmlns:a16="http://schemas.microsoft.com/office/drawing/2014/main" val="2819196408"/>
                    </a:ext>
                  </a:extLst>
                </a:gridCol>
                <a:gridCol w="337700">
                  <a:extLst>
                    <a:ext uri="{9D8B030D-6E8A-4147-A177-3AD203B41FA5}">
                      <a16:colId xmlns:a16="http://schemas.microsoft.com/office/drawing/2014/main" val="2351733763"/>
                    </a:ext>
                  </a:extLst>
                </a:gridCol>
                <a:gridCol w="337700">
                  <a:extLst>
                    <a:ext uri="{9D8B030D-6E8A-4147-A177-3AD203B41FA5}">
                      <a16:colId xmlns:a16="http://schemas.microsoft.com/office/drawing/2014/main" val="4169087671"/>
                    </a:ext>
                  </a:extLst>
                </a:gridCol>
                <a:gridCol w="337700">
                  <a:extLst>
                    <a:ext uri="{9D8B030D-6E8A-4147-A177-3AD203B41FA5}">
                      <a16:colId xmlns:a16="http://schemas.microsoft.com/office/drawing/2014/main" val="2344862012"/>
                    </a:ext>
                  </a:extLst>
                </a:gridCol>
              </a:tblGrid>
              <a:tr h="248143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 rtl="0" fontAlgn="t"/>
                      <a:r>
                        <a:rPr lang="zh-TW" altLang="en-US" sz="180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工作項目</a:t>
                      </a:r>
                      <a:endParaRPr lang="zh-TW" alt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6944" marR="6944" marT="6944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E1E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微軟正黑體"/>
                          <a:cs typeface="Calibri" panose="020F0502020204030204" pitchFamily="34" charset="0"/>
                        </a:rPr>
                        <a:t>2026/04</a:t>
                      </a:r>
                    </a:p>
                  </a:txBody>
                  <a:tcPr marL="6944" marR="6944" marT="6944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E1E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800" b="1" i="0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微軟正黑體"/>
                        <a:cs typeface="Calibri" panose="020F0502020204030204" pitchFamily="34" charset="0"/>
                      </a:endParaRPr>
                    </a:p>
                  </a:txBody>
                  <a:tcPr marL="6944" marR="6944" marT="6944" marB="0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800" b="1" i="0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微軟正黑體"/>
                        <a:cs typeface="Calibri" panose="020F0502020204030204" pitchFamily="34" charset="0"/>
                      </a:endParaRPr>
                    </a:p>
                  </a:txBody>
                  <a:tcPr marL="6944" marR="6944" marT="6944" marB="0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800" b="1" i="0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微軟正黑體"/>
                        <a:cs typeface="Calibri" panose="020F0502020204030204" pitchFamily="34" charset="0"/>
                      </a:endParaRPr>
                    </a:p>
                  </a:txBody>
                  <a:tcPr marL="6944" marR="6944" marT="6944" marB="0" anchor="ctr"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微軟正黑體"/>
                          <a:cs typeface="Calibri" panose="020F0502020204030204" pitchFamily="34" charset="0"/>
                        </a:rPr>
                        <a:t>2026/05</a:t>
                      </a:r>
                    </a:p>
                  </a:txBody>
                  <a:tcPr marL="6944" marR="6944" marT="6944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E1E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800" b="1" i="0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微軟正黑體"/>
                        <a:cs typeface="Calibri" panose="020F0502020204030204" pitchFamily="34" charset="0"/>
                      </a:endParaRPr>
                    </a:p>
                  </a:txBody>
                  <a:tcPr marL="6944" marR="6944" marT="6944" marB="0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800" b="1" i="0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微軟正黑體"/>
                        <a:cs typeface="Calibri" panose="020F0502020204030204" pitchFamily="34" charset="0"/>
                      </a:endParaRPr>
                    </a:p>
                  </a:txBody>
                  <a:tcPr marL="6944" marR="6944" marT="6944" marB="0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800" b="1" i="0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微軟正黑體"/>
                        <a:cs typeface="Calibri" panose="020F0502020204030204" pitchFamily="34" charset="0"/>
                      </a:endParaRPr>
                    </a:p>
                  </a:txBody>
                  <a:tcPr marL="6944" marR="6944" marT="6944" marB="0" anchor="ctr"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微軟正黑體"/>
                          <a:cs typeface="Calibri" panose="020F0502020204030204" pitchFamily="34" charset="0"/>
                        </a:rPr>
                        <a:t>2026/06</a:t>
                      </a:r>
                    </a:p>
                  </a:txBody>
                  <a:tcPr marL="6944" marR="6944" marT="6944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E1E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800" b="1" i="0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微軟正黑體"/>
                        <a:cs typeface="Calibri" panose="020F0502020204030204" pitchFamily="34" charset="0"/>
                      </a:endParaRPr>
                    </a:p>
                  </a:txBody>
                  <a:tcPr marL="6944" marR="6944" marT="6944" marB="0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800" b="1" i="0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微軟正黑體"/>
                        <a:cs typeface="Calibri" panose="020F0502020204030204" pitchFamily="34" charset="0"/>
                      </a:endParaRPr>
                    </a:p>
                  </a:txBody>
                  <a:tcPr marL="6944" marR="6944" marT="6944" marB="0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800" b="1" i="0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微軟正黑體"/>
                        <a:cs typeface="Calibri" panose="020F0502020204030204" pitchFamily="34" charset="0"/>
                      </a:endParaRPr>
                    </a:p>
                  </a:txBody>
                  <a:tcPr marL="6944" marR="6944" marT="694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4848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微軟正黑體"/>
                          <a:cs typeface="Calibri" panose="020F0502020204030204" pitchFamily="34" charset="0"/>
                        </a:rPr>
                        <a:t>2026/07</a:t>
                      </a:r>
                    </a:p>
                  </a:txBody>
                  <a:tcPr marL="6944" marR="6944" marT="6944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E1E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8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微軟正黑體"/>
                        <a:cs typeface="Calibri" panose="020F0502020204030204" pitchFamily="34" charset="0"/>
                      </a:endParaRPr>
                    </a:p>
                  </a:txBody>
                  <a:tcPr marL="6944" marR="6944" marT="6944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8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微軟正黑體"/>
                        <a:cs typeface="Calibri" panose="020F0502020204030204" pitchFamily="34" charset="0"/>
                      </a:endParaRPr>
                    </a:p>
                  </a:txBody>
                  <a:tcPr marL="6944" marR="6944" marT="6944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8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微軟正黑體"/>
                        <a:cs typeface="Calibri" panose="020F0502020204030204" pitchFamily="34" charset="0"/>
                      </a:endParaRPr>
                    </a:p>
                  </a:txBody>
                  <a:tcPr marL="6944" marR="6944" marT="6944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/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121911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  <a:ea typeface="微軟正黑體"/>
                        </a:defRPr>
                      </a:lvl1pPr>
                      <a:lvl2pPr marL="609555" algn="l" defTabSz="121911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  <a:ea typeface="微軟正黑體"/>
                        </a:defRPr>
                      </a:lvl2pPr>
                      <a:lvl3pPr marL="1219110" algn="l" defTabSz="121911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  <a:ea typeface="微軟正黑體"/>
                        </a:defRPr>
                      </a:lvl3pPr>
                      <a:lvl4pPr marL="1828664" algn="l" defTabSz="121911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  <a:ea typeface="微軟正黑體"/>
                        </a:defRPr>
                      </a:lvl4pPr>
                      <a:lvl5pPr marL="2438218" algn="l" defTabSz="121911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  <a:ea typeface="微軟正黑體"/>
                        </a:defRPr>
                      </a:lvl5pPr>
                      <a:lvl6pPr marL="3047772" algn="l" defTabSz="121911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  <a:ea typeface="微軟正黑體"/>
                        </a:defRPr>
                      </a:lvl6pPr>
                      <a:lvl7pPr marL="3657327" algn="l" defTabSz="121911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  <a:ea typeface="微軟正黑體"/>
                        </a:defRPr>
                      </a:lvl7pPr>
                      <a:lvl8pPr marL="4266880" algn="l" defTabSz="121911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  <a:ea typeface="微軟正黑體"/>
                        </a:defRPr>
                      </a:lvl8pPr>
                      <a:lvl9pPr marL="4876435" algn="l" defTabSz="121911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  <a:ea typeface="微軟正黑體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微軟正黑體"/>
                          <a:cs typeface="Calibri" panose="020F0502020204030204" pitchFamily="34" charset="0"/>
                        </a:rPr>
                        <a:t>2026/08</a:t>
                      </a:r>
                    </a:p>
                  </a:txBody>
                  <a:tcPr marL="6944" marR="6944" marT="6944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E1E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400" b="1" i="0" u="none" strike="noStrike" kern="1200" dirty="0">
                        <a:solidFill>
                          <a:schemeClr val="bg1"/>
                        </a:solidFill>
                        <a:effectLst/>
                        <a:latin typeface="Arial"/>
                        <a:ea typeface="微軟正黑體"/>
                        <a:cs typeface="+mn-cs"/>
                      </a:endParaRPr>
                    </a:p>
                  </a:txBody>
                  <a:tcPr marL="6944" marR="6944" marT="6944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400" b="1" i="0" u="none" strike="noStrike" kern="1200" dirty="0">
                        <a:solidFill>
                          <a:schemeClr val="bg1"/>
                        </a:solidFill>
                        <a:effectLst/>
                        <a:latin typeface="Arial"/>
                        <a:ea typeface="微軟正黑體"/>
                        <a:cs typeface="+mn-cs"/>
                      </a:endParaRPr>
                    </a:p>
                  </a:txBody>
                  <a:tcPr marL="6944" marR="6944" marT="6944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400" b="1" i="0" u="none" strike="noStrike" kern="1200" dirty="0">
                        <a:solidFill>
                          <a:schemeClr val="bg1"/>
                        </a:solidFill>
                        <a:effectLst/>
                        <a:latin typeface="Arial"/>
                        <a:ea typeface="微軟正黑體"/>
                        <a:cs typeface="+mn-cs"/>
                      </a:endParaRPr>
                    </a:p>
                  </a:txBody>
                  <a:tcPr marL="6944" marR="6944" marT="6944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/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121911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  <a:ea typeface="微軟正黑體"/>
                        </a:defRPr>
                      </a:lvl1pPr>
                      <a:lvl2pPr marL="609555" algn="l" defTabSz="121911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  <a:ea typeface="微軟正黑體"/>
                        </a:defRPr>
                      </a:lvl2pPr>
                      <a:lvl3pPr marL="1219110" algn="l" defTabSz="121911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  <a:ea typeface="微軟正黑體"/>
                        </a:defRPr>
                      </a:lvl3pPr>
                      <a:lvl4pPr marL="1828664" algn="l" defTabSz="121911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  <a:ea typeface="微軟正黑體"/>
                        </a:defRPr>
                      </a:lvl4pPr>
                      <a:lvl5pPr marL="2438218" algn="l" defTabSz="121911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  <a:ea typeface="微軟正黑體"/>
                        </a:defRPr>
                      </a:lvl5pPr>
                      <a:lvl6pPr marL="3047772" algn="l" defTabSz="121911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  <a:ea typeface="微軟正黑體"/>
                        </a:defRPr>
                      </a:lvl6pPr>
                      <a:lvl7pPr marL="3657327" algn="l" defTabSz="121911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  <a:ea typeface="微軟正黑體"/>
                        </a:defRPr>
                      </a:lvl7pPr>
                      <a:lvl8pPr marL="4266880" algn="l" defTabSz="121911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  <a:ea typeface="微軟正黑體"/>
                        </a:defRPr>
                      </a:lvl8pPr>
                      <a:lvl9pPr marL="4876435" algn="l" defTabSz="121911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  <a:ea typeface="微軟正黑體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微軟正黑體"/>
                          <a:cs typeface="Calibri" panose="020F0502020204030204" pitchFamily="34" charset="0"/>
                        </a:rPr>
                        <a:t>2026/09</a:t>
                      </a:r>
                    </a:p>
                  </a:txBody>
                  <a:tcPr marL="6944" marR="6944" marT="6944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E1E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400" b="1" i="0" u="none" strike="noStrike" kern="1200" dirty="0">
                        <a:solidFill>
                          <a:schemeClr val="bg1"/>
                        </a:solidFill>
                        <a:effectLst/>
                        <a:latin typeface="Arial"/>
                        <a:ea typeface="微軟正黑體"/>
                        <a:cs typeface="+mn-cs"/>
                      </a:endParaRPr>
                    </a:p>
                  </a:txBody>
                  <a:tcPr marL="6944" marR="6944" marT="6944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400" b="1" i="0" u="none" strike="noStrike" kern="1200" dirty="0">
                        <a:solidFill>
                          <a:schemeClr val="bg1"/>
                        </a:solidFill>
                        <a:effectLst/>
                        <a:latin typeface="Arial"/>
                        <a:ea typeface="微軟正黑體"/>
                        <a:cs typeface="+mn-cs"/>
                      </a:endParaRPr>
                    </a:p>
                  </a:txBody>
                  <a:tcPr marL="6944" marR="6944" marT="6944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4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/>
                      </a:endParaRPr>
                    </a:p>
                  </a:txBody>
                  <a:tcPr marL="6944" marR="6944" marT="6944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微軟正黑體"/>
                          <a:cs typeface="Calibri" panose="020F0502020204030204" pitchFamily="34" charset="0"/>
                        </a:rPr>
                        <a:t>2026/10</a:t>
                      </a:r>
                    </a:p>
                  </a:txBody>
                  <a:tcPr marL="6944" marR="6944" marT="6944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E1E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8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微軟正黑體"/>
                        <a:cs typeface="Calibri" panose="020F0502020204030204" pitchFamily="34" charset="0"/>
                      </a:endParaRPr>
                    </a:p>
                  </a:txBody>
                  <a:tcPr marL="6944" marR="6944" marT="6944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E1E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8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微軟正黑體"/>
                        <a:cs typeface="Calibri" panose="020F0502020204030204" pitchFamily="34" charset="0"/>
                      </a:endParaRPr>
                    </a:p>
                  </a:txBody>
                  <a:tcPr marL="6944" marR="6944" marT="6944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E1E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8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微軟正黑體"/>
                        <a:cs typeface="Calibri" panose="020F0502020204030204" pitchFamily="34" charset="0"/>
                      </a:endParaRPr>
                    </a:p>
                  </a:txBody>
                  <a:tcPr marL="6944" marR="6944" marT="6944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E1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584">
                <a:tc v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l" rtl="0" fontAlgn="t"/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6944" marR="6944" marT="694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 rtl="0" fontAlgn="ctr"/>
                      <a:r>
                        <a:rPr lang="en-US" sz="160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W1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6944" marR="6944" marT="6944" marB="0"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 rtl="0" fontAlgn="ctr"/>
                      <a:r>
                        <a:rPr lang="en-US" sz="160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W2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6944" marR="6944" marT="6944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 rtl="0" fontAlgn="ctr"/>
                      <a:r>
                        <a:rPr lang="en-US" sz="160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W3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6944" marR="6944" marT="6944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 rtl="0" fontAlgn="ctr"/>
                      <a:r>
                        <a:rPr lang="en-US" sz="160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W4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6944" marR="6944" marT="6944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 rtl="0" fontAlgn="ctr"/>
                      <a:r>
                        <a:rPr lang="en-US" sz="160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W1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6944" marR="6944" marT="6944" marB="0"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 rtl="0" fontAlgn="ctr"/>
                      <a:r>
                        <a:rPr lang="en-US" sz="160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W2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6944" marR="6944" marT="6944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 rtl="0" fontAlgn="ctr"/>
                      <a:r>
                        <a:rPr lang="en-US" sz="160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W3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6944" marR="6944" marT="6944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 rtl="0" fontAlgn="ctr"/>
                      <a:r>
                        <a:rPr lang="en-US" sz="160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W4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6944" marR="6944" marT="6944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j-ea"/>
                          <a:cs typeface="Calibri" panose="020F0502020204030204" pitchFamily="34" charset="0"/>
                        </a:rPr>
                        <a:t>W1</a:t>
                      </a:r>
                    </a:p>
                  </a:txBody>
                  <a:tcPr marL="6944" marR="6944" marT="6944" marB="0"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j-ea"/>
                          <a:cs typeface="Calibri" panose="020F0502020204030204" pitchFamily="34" charset="0"/>
                        </a:rPr>
                        <a:t>W2</a:t>
                      </a:r>
                    </a:p>
                  </a:txBody>
                  <a:tcPr marL="6944" marR="6944" marT="6944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j-ea"/>
                          <a:cs typeface="Calibri" panose="020F0502020204030204" pitchFamily="34" charset="0"/>
                        </a:rPr>
                        <a:t>W3</a:t>
                      </a:r>
                    </a:p>
                  </a:txBody>
                  <a:tcPr marL="6944" marR="6944" marT="6944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j-ea"/>
                          <a:cs typeface="Calibri" panose="020F0502020204030204" pitchFamily="34" charset="0"/>
                        </a:rPr>
                        <a:t>W4</a:t>
                      </a:r>
                    </a:p>
                  </a:txBody>
                  <a:tcPr marL="6944" marR="6944" marT="6944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j-ea"/>
                          <a:cs typeface="Calibri" panose="020F0502020204030204" pitchFamily="34" charset="0"/>
                        </a:rPr>
                        <a:t>W1</a:t>
                      </a:r>
                    </a:p>
                  </a:txBody>
                  <a:tcPr marL="6944" marR="6944" marT="6944" marB="0"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j-ea"/>
                          <a:cs typeface="Calibri" panose="020F0502020204030204" pitchFamily="34" charset="0"/>
                        </a:rPr>
                        <a:t>W2</a:t>
                      </a:r>
                    </a:p>
                  </a:txBody>
                  <a:tcPr marL="6944" marR="6944" marT="6944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j-ea"/>
                          <a:cs typeface="Calibri" panose="020F0502020204030204" pitchFamily="34" charset="0"/>
                        </a:rPr>
                        <a:t>W3</a:t>
                      </a:r>
                    </a:p>
                  </a:txBody>
                  <a:tcPr marL="6944" marR="6944" marT="6944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j-ea"/>
                          <a:cs typeface="Calibri" panose="020F0502020204030204" pitchFamily="34" charset="0"/>
                        </a:rPr>
                        <a:t>W4</a:t>
                      </a:r>
                    </a:p>
                  </a:txBody>
                  <a:tcPr marL="6944" marR="6944" marT="6944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 rtl="0" fontAlgn="ctr"/>
                      <a:r>
                        <a:rPr lang="en-US" sz="160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W1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6944" marR="6944" marT="6944" marB="0"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 rtl="0" fontAlgn="ctr"/>
                      <a:r>
                        <a:rPr lang="en-US" sz="160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W2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6944" marR="6944" marT="6944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 rtl="0" fontAlgn="ctr"/>
                      <a:r>
                        <a:rPr lang="en-US" sz="160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W3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6944" marR="6944" marT="6944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 rtl="0" fontAlgn="ctr"/>
                      <a:r>
                        <a:rPr lang="en-US" sz="160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W4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6944" marR="6944" marT="6944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 rtl="0" fontAlgn="ctr"/>
                      <a:r>
                        <a:rPr lang="en-US" sz="160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W1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6944" marR="6944" marT="69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 rtl="0" fontAlgn="ctr"/>
                      <a:r>
                        <a:rPr lang="en-US" sz="160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W2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6944" marR="6944" marT="6944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 rtl="0" fontAlgn="ctr"/>
                      <a:r>
                        <a:rPr lang="en-US" sz="160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W3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6944" marR="6944" marT="6944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 rtl="0" fontAlgn="ctr"/>
                      <a:r>
                        <a:rPr lang="en-US" sz="160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W4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6944" marR="6944" marT="6944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j-ea"/>
                          <a:cs typeface="Calibri" panose="020F0502020204030204" pitchFamily="34" charset="0"/>
                        </a:rPr>
                        <a:t>W1</a:t>
                      </a:r>
                    </a:p>
                  </a:txBody>
                  <a:tcPr marL="6944" marR="6944" marT="69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j-ea"/>
                          <a:cs typeface="Calibri" panose="020F0502020204030204" pitchFamily="34" charset="0"/>
                        </a:rPr>
                        <a:t>W2</a:t>
                      </a:r>
                    </a:p>
                  </a:txBody>
                  <a:tcPr marL="6944" marR="6944" marT="6944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 rtl="0" fontAlgn="ctr"/>
                      <a:r>
                        <a:rPr lang="en-US" sz="160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W3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6944" marR="6944" marT="6944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 rtl="0" fontAlgn="ctr"/>
                      <a:r>
                        <a:rPr lang="en-US" sz="160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W4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6944" marR="6944" marT="6944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5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marL="0" marR="0" lvl="0" indent="0" algn="ctr" defTabSz="8001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35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kern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專案時程</a:t>
                      </a:r>
                      <a:endParaRPr lang="en-US" altLang="zh-TW" sz="1600" kern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E1E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endParaRPr lang="zh-TW" alt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endParaRPr lang="zh-TW" alt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endParaRPr lang="zh-TW" alt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endParaRPr lang="zh-TW" alt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endParaRPr lang="zh-TW" alt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endParaRPr lang="zh-TW" alt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endParaRPr lang="zh-TW" alt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endParaRPr lang="zh-TW" alt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endParaRPr lang="zh-TW" alt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endParaRPr lang="zh-TW" alt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endParaRPr lang="zh-TW" alt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endParaRPr lang="zh-TW" alt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endParaRPr lang="zh-TW" alt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endParaRPr lang="zh-TW" alt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endParaRPr lang="zh-TW" alt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endParaRPr lang="zh-TW" alt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1pPr>
                      <a:lvl2pPr marL="609555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2pPr>
                      <a:lvl3pPr marL="1219110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3pPr>
                      <a:lvl4pPr marL="1828664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4pPr>
                      <a:lvl5pPr marL="2438218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5pPr>
                      <a:lvl6pPr marL="3047772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6pPr>
                      <a:lvl7pPr marL="3657327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7pPr>
                      <a:lvl8pPr marL="4266880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8pPr>
                      <a:lvl9pPr marL="4876435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9pPr>
                    </a:lstStyle>
                    <a:p>
                      <a:pPr algn="ctr" rtl="0" fontAlgn="t"/>
                      <a:endParaRPr lang="zh-TW" alt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1pPr>
                      <a:lvl2pPr marL="609555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2pPr>
                      <a:lvl3pPr marL="1219110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3pPr>
                      <a:lvl4pPr marL="1828664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4pPr>
                      <a:lvl5pPr marL="2438218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5pPr>
                      <a:lvl6pPr marL="3047772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6pPr>
                      <a:lvl7pPr marL="3657327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7pPr>
                      <a:lvl8pPr marL="4266880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8pPr>
                      <a:lvl9pPr marL="4876435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9pPr>
                    </a:lstStyle>
                    <a:p>
                      <a:pPr algn="ctr" rtl="0" fontAlgn="t"/>
                      <a:endParaRPr lang="zh-TW" alt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1pPr>
                      <a:lvl2pPr marL="609555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2pPr>
                      <a:lvl3pPr marL="1219110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3pPr>
                      <a:lvl4pPr marL="1828664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4pPr>
                      <a:lvl5pPr marL="2438218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5pPr>
                      <a:lvl6pPr marL="3047772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6pPr>
                      <a:lvl7pPr marL="3657327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7pPr>
                      <a:lvl8pPr marL="4266880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8pPr>
                      <a:lvl9pPr marL="4876435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9pPr>
                    </a:lstStyle>
                    <a:p>
                      <a:pPr algn="ctr" rtl="0" fontAlgn="t"/>
                      <a:endParaRPr lang="zh-TW" alt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1pPr>
                      <a:lvl2pPr marL="609555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2pPr>
                      <a:lvl3pPr marL="1219110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3pPr>
                      <a:lvl4pPr marL="1828664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4pPr>
                      <a:lvl5pPr marL="2438218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5pPr>
                      <a:lvl6pPr marL="3047772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6pPr>
                      <a:lvl7pPr marL="3657327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7pPr>
                      <a:lvl8pPr marL="4266880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8pPr>
                      <a:lvl9pPr marL="4876435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9pPr>
                    </a:lstStyle>
                    <a:p>
                      <a:pPr algn="ctr" rtl="0" fontAlgn="t"/>
                      <a:endParaRPr lang="zh-TW" alt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1pPr>
                      <a:lvl2pPr marL="609555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2pPr>
                      <a:lvl3pPr marL="1219110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3pPr>
                      <a:lvl4pPr marL="1828664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4pPr>
                      <a:lvl5pPr marL="2438218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5pPr>
                      <a:lvl6pPr marL="3047772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6pPr>
                      <a:lvl7pPr marL="3657327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7pPr>
                      <a:lvl8pPr marL="4266880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8pPr>
                      <a:lvl9pPr marL="4876435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9pPr>
                    </a:lstStyle>
                    <a:p>
                      <a:pPr algn="ctr" rtl="0" fontAlgn="t"/>
                      <a:endParaRPr lang="zh-TW" alt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1pPr>
                      <a:lvl2pPr marL="609555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2pPr>
                      <a:lvl3pPr marL="1219110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3pPr>
                      <a:lvl4pPr marL="1828664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4pPr>
                      <a:lvl5pPr marL="2438218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5pPr>
                      <a:lvl6pPr marL="3047772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6pPr>
                      <a:lvl7pPr marL="3657327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7pPr>
                      <a:lvl8pPr marL="4266880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8pPr>
                      <a:lvl9pPr marL="4876435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9pPr>
                    </a:lstStyle>
                    <a:p>
                      <a:pPr algn="ctr" rtl="0" fontAlgn="t"/>
                      <a:endParaRPr lang="zh-TW" alt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1pPr>
                      <a:lvl2pPr marL="609555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2pPr>
                      <a:lvl3pPr marL="1219110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3pPr>
                      <a:lvl4pPr marL="1828664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4pPr>
                      <a:lvl5pPr marL="2438218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5pPr>
                      <a:lvl6pPr marL="3047772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6pPr>
                      <a:lvl7pPr marL="3657327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7pPr>
                      <a:lvl8pPr marL="4266880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8pPr>
                      <a:lvl9pPr marL="4876435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9pPr>
                    </a:lstStyle>
                    <a:p>
                      <a:pPr algn="ctr" rtl="0" fontAlgn="t"/>
                      <a:endParaRPr lang="zh-TW" alt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1pPr>
                      <a:lvl2pPr marL="609555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2pPr>
                      <a:lvl3pPr marL="1219110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3pPr>
                      <a:lvl4pPr marL="1828664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4pPr>
                      <a:lvl5pPr marL="2438218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5pPr>
                      <a:lvl6pPr marL="3047772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6pPr>
                      <a:lvl7pPr marL="3657327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7pPr>
                      <a:lvl8pPr marL="4266880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8pPr>
                      <a:lvl9pPr marL="4876435" algn="l" defTabSz="121911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  <a:ea typeface="微軟正黑體"/>
                        </a:defRPr>
                      </a:lvl9pPr>
                    </a:lstStyle>
                    <a:p>
                      <a:pPr algn="ctr" rtl="0" fontAlgn="t"/>
                      <a:endParaRPr lang="zh-TW" alt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endParaRPr lang="zh-TW" alt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endParaRPr lang="zh-TW" alt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endParaRPr lang="zh-TW" alt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endParaRPr lang="zh-TW" alt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Pentagon 4">
            <a:extLst>
              <a:ext uri="{FF2B5EF4-FFF2-40B4-BE49-F238E27FC236}">
                <a16:creationId xmlns:a16="http://schemas.microsoft.com/office/drawing/2014/main" id="{6159AA12-0F8D-4F97-A37E-7BCC51CA0406}"/>
              </a:ext>
            </a:extLst>
          </p:cNvPr>
          <p:cNvSpPr/>
          <p:nvPr/>
        </p:nvSpPr>
        <p:spPr>
          <a:xfrm>
            <a:off x="1616096" y="2759334"/>
            <a:ext cx="1292284" cy="669666"/>
          </a:xfrm>
          <a:prstGeom prst="homePlate">
            <a:avLst>
              <a:gd name="adj" fmla="val 20706"/>
            </a:avLst>
          </a:prstGeom>
          <a:solidFill>
            <a:srgbClr val="0594FF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lIns="36000" tIns="72000" rIns="36000" bIns="88900" rtlCol="0" anchor="ctr"/>
          <a:lstStyle/>
          <a:p>
            <a:pPr algn="ctr">
              <a:defRPr/>
            </a:pPr>
            <a:r>
              <a:rPr lang="zh-TW" altLang="en-US" sz="1600" kern="0" dirty="0">
                <a:solidFill>
                  <a:prstClr val="white"/>
                </a:solidFill>
                <a:latin typeface="PingFang SC Medium" panose="020B0400000000000000" pitchFamily="34" charset="-122"/>
                <a:ea typeface="PingFang SC Medium" panose="020B0400000000000000" pitchFamily="34" charset="-122"/>
                <a:cs typeface="Calibri" panose="020F0502020204030204" pitchFamily="34" charset="0"/>
              </a:rPr>
              <a:t>需求了解與</a:t>
            </a:r>
            <a:r>
              <a:rPr lang="en-US" altLang="zh-TW" sz="1600" kern="0" dirty="0">
                <a:solidFill>
                  <a:prstClr val="white"/>
                </a:solidFill>
                <a:latin typeface="PingFang SC Medium" panose="020B0400000000000000" pitchFamily="34" charset="-122"/>
                <a:ea typeface="PingFang SC Medium" panose="020B0400000000000000" pitchFamily="34" charset="-122"/>
                <a:cs typeface="Calibri" panose="020F0502020204030204" pitchFamily="34" charset="0"/>
              </a:rPr>
              <a:t>SA</a:t>
            </a:r>
            <a:endParaRPr lang="zh-TW" altLang="en-US" sz="1600" kern="0" dirty="0">
              <a:solidFill>
                <a:prstClr val="white"/>
              </a:solidFill>
              <a:latin typeface="PingFang SC Medium" panose="020B0400000000000000" pitchFamily="34" charset="-122"/>
              <a:ea typeface="PingFang SC Medium" panose="020B0400000000000000" pitchFamily="34" charset="-122"/>
              <a:cs typeface="Calibri" panose="020F0502020204030204" pitchFamily="34" charset="0"/>
            </a:endParaRPr>
          </a:p>
        </p:txBody>
      </p:sp>
      <p:sp>
        <p:nvSpPr>
          <p:cNvPr id="10" name="Chevron 6">
            <a:extLst>
              <a:ext uri="{FF2B5EF4-FFF2-40B4-BE49-F238E27FC236}">
                <a16:creationId xmlns:a16="http://schemas.microsoft.com/office/drawing/2014/main" id="{D3406F64-1F70-B384-4D4B-0D3887FEC975}"/>
              </a:ext>
            </a:extLst>
          </p:cNvPr>
          <p:cNvSpPr/>
          <p:nvPr/>
        </p:nvSpPr>
        <p:spPr>
          <a:xfrm>
            <a:off x="4268724" y="3491197"/>
            <a:ext cx="3258747" cy="669666"/>
          </a:xfrm>
          <a:prstGeom prst="chevron">
            <a:avLst>
              <a:gd name="adj" fmla="val 29700"/>
            </a:avLst>
          </a:prstGeom>
          <a:solidFill>
            <a:srgbClr val="3E57C4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lIns="36000" tIns="72000" rIns="36000" bIns="88900" rtlCol="0" anchor="ctr"/>
          <a:lstStyle/>
          <a:p>
            <a:pPr lvl="0" algn="ctr">
              <a:defRPr/>
            </a:pPr>
            <a:r>
              <a:rPr lang="zh-TW" altLang="en-US" sz="1600" kern="0" dirty="0">
                <a:solidFill>
                  <a:prstClr val="whit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Calibri" panose="020F0502020204030204" pitchFamily="34" charset="0"/>
              </a:rPr>
              <a:t>程式開發</a:t>
            </a:r>
            <a:endParaRPr lang="en-US" altLang="zh-TW" sz="1600" kern="0" dirty="0">
              <a:solidFill>
                <a:prstClr val="white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Calibri" panose="020F0502020204030204" pitchFamily="34" charset="0"/>
            </a:endParaRPr>
          </a:p>
        </p:txBody>
      </p:sp>
      <p:sp>
        <p:nvSpPr>
          <p:cNvPr id="15" name="Chevron 6">
            <a:extLst>
              <a:ext uri="{FF2B5EF4-FFF2-40B4-BE49-F238E27FC236}">
                <a16:creationId xmlns:a16="http://schemas.microsoft.com/office/drawing/2014/main" id="{CE66405C-CCC4-9D52-A0FE-B3D8A7CC1AAF}"/>
              </a:ext>
            </a:extLst>
          </p:cNvPr>
          <p:cNvSpPr/>
          <p:nvPr/>
        </p:nvSpPr>
        <p:spPr>
          <a:xfrm>
            <a:off x="9013371" y="2759334"/>
            <a:ext cx="1996349" cy="669666"/>
          </a:xfrm>
          <a:prstGeom prst="chevron">
            <a:avLst>
              <a:gd name="adj" fmla="val 22623"/>
            </a:avLst>
          </a:prstGeom>
          <a:solidFill>
            <a:srgbClr val="082A8F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lIns="72000" tIns="72000" rIns="88900" bIns="88900" rtlCol="0" anchor="ctr"/>
          <a:lstStyle/>
          <a:p>
            <a:pPr lvl="0" algn="ctr">
              <a:defRPr/>
            </a:pPr>
            <a:r>
              <a:rPr lang="zh-TW" altLang="en-US" sz="1600" kern="0" dirty="0">
                <a:solidFill>
                  <a:prstClr val="whit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Calibri" panose="020F0502020204030204" pitchFamily="34" charset="0"/>
              </a:rPr>
              <a:t>測試驗收</a:t>
            </a:r>
            <a:endParaRPr lang="en-US" altLang="zh-TW" sz="1600" kern="0" dirty="0">
              <a:solidFill>
                <a:prstClr val="white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zh-TW" altLang="en-US" sz="1600" kern="0" dirty="0">
                <a:solidFill>
                  <a:prstClr val="whit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Calibri" panose="020F0502020204030204" pitchFamily="34" charset="0"/>
              </a:rPr>
              <a:t>教育訓練</a:t>
            </a:r>
            <a:endParaRPr lang="en-US" altLang="zh-TW" sz="1600" kern="0" dirty="0">
              <a:solidFill>
                <a:prstClr val="white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Calibri" panose="020F0502020204030204" pitchFamily="34" charset="0"/>
            </a:endParaRPr>
          </a:p>
        </p:txBody>
      </p:sp>
      <p:sp>
        <p:nvSpPr>
          <p:cNvPr id="33" name="Pentagon 4">
            <a:extLst>
              <a:ext uri="{FF2B5EF4-FFF2-40B4-BE49-F238E27FC236}">
                <a16:creationId xmlns:a16="http://schemas.microsoft.com/office/drawing/2014/main" id="{10AAD1A7-462C-D72F-57AC-764E682F9479}"/>
              </a:ext>
            </a:extLst>
          </p:cNvPr>
          <p:cNvSpPr/>
          <p:nvPr/>
        </p:nvSpPr>
        <p:spPr>
          <a:xfrm>
            <a:off x="2974505" y="2769237"/>
            <a:ext cx="1996349" cy="669666"/>
          </a:xfrm>
          <a:prstGeom prst="homePlate">
            <a:avLst>
              <a:gd name="adj" fmla="val 20706"/>
            </a:avLst>
          </a:prstGeom>
          <a:solidFill>
            <a:srgbClr val="0594FF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lIns="36000" tIns="72000" rIns="36000" bIns="88900" rtlCol="0" anchor="ctr"/>
          <a:lstStyle/>
          <a:p>
            <a:pPr algn="ctr">
              <a:defRPr/>
            </a:pPr>
            <a:r>
              <a:rPr lang="zh-TW" altLang="en-US" sz="1600" kern="0" dirty="0">
                <a:solidFill>
                  <a:prstClr val="white"/>
                </a:solidFill>
                <a:latin typeface="PingFang SC Medium" panose="020B0400000000000000" pitchFamily="34" charset="-122"/>
                <a:ea typeface="PingFang SC Medium" panose="020B0400000000000000" pitchFamily="34" charset="-122"/>
                <a:cs typeface="Calibri" panose="020F0502020204030204" pitchFamily="34" charset="0"/>
              </a:rPr>
              <a:t>規格開立與確認</a:t>
            </a:r>
          </a:p>
        </p:txBody>
      </p:sp>
      <p:sp>
        <p:nvSpPr>
          <p:cNvPr id="36" name="Chevron 6">
            <a:extLst>
              <a:ext uri="{FF2B5EF4-FFF2-40B4-BE49-F238E27FC236}">
                <a16:creationId xmlns:a16="http://schemas.microsoft.com/office/drawing/2014/main" id="{84ADB4C7-E4B1-1AF4-C666-8C43BB0C2520}"/>
              </a:ext>
            </a:extLst>
          </p:cNvPr>
          <p:cNvSpPr/>
          <p:nvPr/>
        </p:nvSpPr>
        <p:spPr>
          <a:xfrm>
            <a:off x="7697132" y="2759334"/>
            <a:ext cx="1312644" cy="669666"/>
          </a:xfrm>
          <a:prstGeom prst="chevron">
            <a:avLst>
              <a:gd name="adj" fmla="val 29700"/>
            </a:avLst>
          </a:prstGeom>
          <a:solidFill>
            <a:srgbClr val="3E57C4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lIns="36000" tIns="72000" rIns="36000" bIns="88900" rtlCol="0" anchor="ctr"/>
          <a:lstStyle/>
          <a:p>
            <a:pPr lvl="0" algn="ctr">
              <a:defRPr/>
            </a:pPr>
            <a:r>
              <a:rPr lang="zh-TW" altLang="en-US" sz="1600" kern="0" dirty="0">
                <a:solidFill>
                  <a:prstClr val="whit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Calibri" panose="020F0502020204030204" pitchFamily="34" charset="0"/>
              </a:rPr>
              <a:t>流程整測</a:t>
            </a:r>
            <a:endParaRPr lang="en-US" altLang="zh-TW" sz="1600" kern="0" dirty="0">
              <a:solidFill>
                <a:prstClr val="white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Calibri" panose="020F0502020204030204" pitchFamily="34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C62F892-6F33-983D-BDCF-C17F408F05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375401"/>
              </p:ext>
            </p:extLst>
          </p:nvPr>
        </p:nvGraphicFramePr>
        <p:xfrm>
          <a:off x="597018" y="4445148"/>
          <a:ext cx="2311497" cy="1745431"/>
        </p:xfrm>
        <a:graphic>
          <a:graphicData uri="http://schemas.openxmlformats.org/drawingml/2006/table">
            <a:tbl>
              <a:tblPr firstRow="1" firstCol="1"/>
              <a:tblGrid>
                <a:gridCol w="960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7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77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77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377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48143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 rtl="0" fontAlgn="t"/>
                      <a:r>
                        <a:rPr lang="zh-TW" altLang="en-US" sz="180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工作項目</a:t>
                      </a:r>
                      <a:endParaRPr lang="zh-TW" alt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6944" marR="6944" marT="6944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E1E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微軟正黑體"/>
                          <a:cs typeface="Calibri" panose="020F0502020204030204" pitchFamily="34" charset="0"/>
                        </a:rPr>
                        <a:t>2026/11</a:t>
                      </a:r>
                    </a:p>
                  </a:txBody>
                  <a:tcPr marL="6944" marR="6944" marT="6944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E1E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800" b="1" i="0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微軟正黑體"/>
                        <a:cs typeface="Calibri" panose="020F0502020204030204" pitchFamily="34" charset="0"/>
                      </a:endParaRPr>
                    </a:p>
                  </a:txBody>
                  <a:tcPr marL="6944" marR="6944" marT="6944" marB="0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800" b="1" i="0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微軟正黑體"/>
                        <a:cs typeface="Calibri" panose="020F0502020204030204" pitchFamily="34" charset="0"/>
                      </a:endParaRPr>
                    </a:p>
                  </a:txBody>
                  <a:tcPr marL="6944" marR="6944" marT="6944" marB="0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800" b="1" i="0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微軟正黑體"/>
                        <a:cs typeface="Calibri" panose="020F0502020204030204" pitchFamily="34" charset="0"/>
                      </a:endParaRPr>
                    </a:p>
                  </a:txBody>
                  <a:tcPr marL="6944" marR="6944" marT="6944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584">
                <a:tc v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l" rtl="0" fontAlgn="t"/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6944" marR="6944" marT="694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 rtl="0" fontAlgn="ctr"/>
                      <a:r>
                        <a:rPr lang="en-US" sz="160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W1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6944" marR="6944" marT="6944" marB="0"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 rtl="0" fontAlgn="ctr"/>
                      <a:r>
                        <a:rPr lang="en-US" sz="160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W2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6944" marR="6944" marT="6944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 rtl="0" fontAlgn="ctr"/>
                      <a:r>
                        <a:rPr lang="en-US" sz="160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W3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6944" marR="6944" marT="6944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 rtl="0" fontAlgn="ctr"/>
                      <a:r>
                        <a:rPr lang="en-US" sz="160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W4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6944" marR="6944" marT="6944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5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marL="0" marR="0" lvl="0" indent="0" algn="ctr" defTabSz="8001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35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kern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專案時程</a:t>
                      </a:r>
                      <a:endParaRPr lang="en-US" altLang="zh-TW" sz="1600" kern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E1E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endParaRPr lang="zh-TW" alt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endParaRPr lang="zh-TW" alt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endParaRPr lang="zh-TW" alt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endParaRPr lang="zh-TW" alt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169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Chevron 6">
            <a:extLst>
              <a:ext uri="{FF2B5EF4-FFF2-40B4-BE49-F238E27FC236}">
                <a16:creationId xmlns:a16="http://schemas.microsoft.com/office/drawing/2014/main" id="{3F7BA207-B7FF-A854-E385-522D63058459}"/>
              </a:ext>
            </a:extLst>
          </p:cNvPr>
          <p:cNvSpPr/>
          <p:nvPr/>
        </p:nvSpPr>
        <p:spPr>
          <a:xfrm>
            <a:off x="1577259" y="5317863"/>
            <a:ext cx="1319825" cy="669666"/>
          </a:xfrm>
          <a:prstGeom prst="chevron">
            <a:avLst>
              <a:gd name="adj" fmla="val 22623"/>
            </a:avLst>
          </a:prstGeom>
          <a:solidFill>
            <a:srgbClr val="002060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lIns="72000" tIns="72000" rIns="88900" bIns="88900" rtlCol="0" anchor="ctr"/>
          <a:lstStyle/>
          <a:p>
            <a:pPr lvl="0" algn="ctr">
              <a:defRPr/>
            </a:pPr>
            <a:r>
              <a:rPr lang="en-US" altLang="zh-TW" sz="1600" kern="0" dirty="0">
                <a:solidFill>
                  <a:prstClr val="whit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Calibri" panose="020F0502020204030204" pitchFamily="34" charset="0"/>
              </a:rPr>
              <a:t>Go Live</a:t>
            </a:r>
            <a:endParaRPr lang="zh-TW" altLang="en-US" sz="1600" kern="0" dirty="0">
              <a:solidFill>
                <a:prstClr val="white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358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41385</TotalTime>
  <Words>4602</Words>
  <Application>Microsoft Office PowerPoint</Application>
  <PresentationFormat>寬螢幕</PresentationFormat>
  <Paragraphs>657</Paragraphs>
  <Slides>50</Slides>
  <Notes>24</Notes>
  <HiddenSlides>1</HiddenSlides>
  <MMClips>0</MMClips>
  <ScaleCrop>false</ScaleCrop>
  <HeadingPairs>
    <vt:vector size="6" baseType="variant">
      <vt:variant>
        <vt:lpstr>使用字型</vt:lpstr>
      </vt:variant>
      <vt:variant>
        <vt:i4>16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50</vt:i4>
      </vt:variant>
    </vt:vector>
  </HeadingPairs>
  <TitlesOfParts>
    <vt:vector size="67" baseType="lpstr">
      <vt:lpstr>Avenir LT Std 65 Medium</vt:lpstr>
      <vt:lpstr>Noto Sans TC</vt:lpstr>
      <vt:lpstr>Noto Sans TC Light</vt:lpstr>
      <vt:lpstr>Noto Sans TC Medium</vt:lpstr>
      <vt:lpstr>PingFang SC</vt:lpstr>
      <vt:lpstr>PingFang SC Medium</vt:lpstr>
      <vt:lpstr>Microsoft JhengHei</vt:lpstr>
      <vt:lpstr>Microsoft JhengHei</vt:lpstr>
      <vt:lpstr>新細明體</vt:lpstr>
      <vt:lpstr>Aptos</vt:lpstr>
      <vt:lpstr>Aptos Display</vt:lpstr>
      <vt:lpstr>Arial</vt:lpstr>
      <vt:lpstr>Calibri</vt:lpstr>
      <vt:lpstr>Courier New</vt:lpstr>
      <vt:lpstr>Symbol</vt:lpstr>
      <vt:lpstr>Wingdings</vt:lpstr>
      <vt:lpstr>Office 佈景主題</vt:lpstr>
      <vt:lpstr>PowerPoint 簡報</vt:lpstr>
      <vt:lpstr>Agenda</vt:lpstr>
      <vt:lpstr>經銷商網站建置</vt:lpstr>
      <vt:lpstr>01</vt:lpstr>
      <vt:lpstr>經銷商帳號管理-已完成</vt:lpstr>
      <vt:lpstr>投影片 ｜經銷商帳號管理</vt:lpstr>
      <vt:lpstr>前台個人帳號管理-已完成</vt:lpstr>
      <vt:lpstr>投影片 ｜前台個人帳號管理 原文：經銷商可自行更新個人資訊</vt:lpstr>
      <vt:lpstr>02</vt:lpstr>
      <vt:lpstr>最新消息-已完成</vt:lpstr>
      <vt:lpstr>“原始-最新消息”公佈欄</vt:lpstr>
      <vt:lpstr>投影片 ｜最新消息 原文：公告內文排版與圖片可自主調整／支援文章分類管理</vt:lpstr>
      <vt:lpstr>店招申請-申請書</vt:lpstr>
      <vt:lpstr>“原始-店招”</vt:lpstr>
      <vt:lpstr>投影片 10｜店招申請-申請書 原文：示意畫面，需依詳細需求規劃／依後台設定帶出經銷商所屬台灣區施工項目／填寫完後系統通知建大營業單位、後台成立任務清單／顯示經銷商名稱（不可改）／依所在國家選擇State</vt:lpstr>
      <vt:lpstr>店招申請-合約書</vt:lpstr>
      <vt:lpstr>投影片 ｜店招申請-合約書 原文：示意畫面，需依詳細需求規劃／合約清單表格（PCR簽約店銷售合約書、建大輪胎店招牌製作申請書、建豐輪胎店招牌維修申請書）／依後台設定帶出台灣區域施工項目／提供下載連結</vt:lpstr>
      <vt:lpstr>店招申請-店招到期列表-已完成</vt:lpstr>
      <vt:lpstr>投影片 ｜店招申請-店招到期列表 原文：示意畫面，需依詳細需求規劃／僅顯示已完成店招申請之項目</vt:lpstr>
      <vt:lpstr>店招申請-進度查詢-已完成</vt:lpstr>
      <vt:lpstr>投影片｜店招申請-進度查詢 原文：示意畫面，需依詳細需求規劃／表格示例（達欣車行、達達車業、創點車行 + 地區/項目/異動日）／申請進度：處理中/完成／僅顯示未完成項目／後台提供行銷人員更新狀態</vt:lpstr>
      <vt:lpstr>03</vt:lpstr>
      <vt:lpstr>訂單 – 產品選品-已完成</vt:lpstr>
      <vt:lpstr>投影片 15｜訂單 – 產品選品原文：透過產品分類以及搜尋、排序功能，能快速找到目標產品／花紋／規格</vt:lpstr>
      <vt:lpstr>PowerPoint 簡報</vt:lpstr>
      <vt:lpstr>訂單 – 產品選品</vt:lpstr>
      <vt:lpstr>投影片 ｜訂單–產品選品（規格/花紋/加入數量）</vt:lpstr>
      <vt:lpstr>後臺 – 成立訂單</vt:lpstr>
      <vt:lpstr>投影片 ｜後臺–成立訂單</vt:lpstr>
      <vt:lpstr>後臺 – 訂單通知經銷商</vt:lpstr>
      <vt:lpstr>投影片 ｜後臺–訂單通知經銷商</vt:lpstr>
      <vt:lpstr>後臺 – 與ERP同步訂單-已完成</vt:lpstr>
      <vt:lpstr>投影片 ｜後臺–與ERP同步訂單（此為客製功能）</vt:lpstr>
      <vt:lpstr>04</vt:lpstr>
      <vt:lpstr>經銷商訂單查詢-已完成</vt:lpstr>
      <vt:lpstr>投影片 ｜經銷商訂單查詢</vt:lpstr>
      <vt:lpstr>經銷商業績查詢-已完成</vt:lpstr>
      <vt:lpstr>投影片 ｜經銷商業績查詢</vt:lpstr>
      <vt:lpstr>經銷商獎金查詢&amp;</vt:lpstr>
      <vt:lpstr>投影片 ｜經銷商獎金查詢</vt:lpstr>
      <vt:lpstr>經銷商對帳查詢-已完成</vt:lpstr>
      <vt:lpstr>投影片 ｜經銷商對帳查詢</vt:lpstr>
      <vt:lpstr>05</vt:lpstr>
      <vt:lpstr>系統整合架構說明</vt:lpstr>
      <vt:lpstr>系統整合架構說明</vt:lpstr>
      <vt:lpstr>系統整合架構說明</vt:lpstr>
      <vt:lpstr>系統整合架構說明</vt:lpstr>
      <vt:lpstr>系統整合架構說明</vt:lpstr>
      <vt:lpstr>PowerPoint 簡報</vt:lpstr>
      <vt:lpstr>專案時程預估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</dc:title>
  <dc:creator>志宇 蕭</dc:creator>
  <cp:lastModifiedBy>盧晏臻Jenny</cp:lastModifiedBy>
  <cp:revision>535</cp:revision>
  <cp:lastPrinted>2024-10-17T07:14:36Z</cp:lastPrinted>
  <dcterms:created xsi:type="dcterms:W3CDTF">2023-03-25T08:21:47Z</dcterms:created>
  <dcterms:modified xsi:type="dcterms:W3CDTF">2026-07-07T01:22:48Z</dcterms:modified>
</cp:coreProperties>
</file>