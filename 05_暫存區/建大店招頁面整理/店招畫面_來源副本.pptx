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72" r:id="rId3"/>
    <p:sldId id="276" r:id="rId4"/>
    <p:sldId id="273" r:id="rId5"/>
    <p:sldId id="266" r:id="rId6"/>
    <p:sldId id="271" r:id="rId7"/>
    <p:sldId id="267" r:id="rId8"/>
    <p:sldId id="270" r:id="rId9"/>
    <p:sldId id="274" r:id="rId10"/>
    <p:sldId id="268" r:id="rId11"/>
    <p:sldId id="275" r:id="rId12"/>
  </p:sldIdLst>
  <p:sldSz cx="16200438"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1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95" autoAdjust="0"/>
    <p:restoredTop sz="94660"/>
  </p:normalViewPr>
  <p:slideViewPr>
    <p:cSldViewPr snapToGrid="0" snapToObjects="1">
      <p:cViewPr varScale="1">
        <p:scale>
          <a:sx n="99" d="100"/>
          <a:sy n="99" d="100"/>
        </p:scale>
        <p:origin x="75" y="24"/>
      </p:cViewPr>
      <p:guideLst>
        <p:guide orient="horz" pos="2160"/>
        <p:guide pos="51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6BD9B85D-EE71-4935-97CA-5DC98F3BE4E6}" type="datetimeFigureOut">
              <a:rPr lang="zh-TW" altLang="en-US" smtClean="0"/>
              <a:t>2026/6/4</a:t>
            </a:fld>
            <a:endParaRPr lang="zh-TW" altLang="en-US"/>
          </a:p>
        </p:txBody>
      </p:sp>
      <p:sp>
        <p:nvSpPr>
          <p:cNvPr id="4" name="投影片影像版面配置區 3"/>
          <p:cNvSpPr>
            <a:spLocks noGrp="1" noRot="1" noChangeAspect="1"/>
          </p:cNvSpPr>
          <p:nvPr>
            <p:ph type="sldImg" idx="2"/>
          </p:nvPr>
        </p:nvSpPr>
        <p:spPr>
          <a:xfrm>
            <a:off x="-557213" y="1241425"/>
            <a:ext cx="7912101" cy="334962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28D65AAA-47B7-495F-93BC-F703CEE4DA71}" type="slidenum">
              <a:rPr lang="zh-TW" altLang="en-US" smtClean="0"/>
              <a:t>‹#›</a:t>
            </a:fld>
            <a:endParaRPr lang="zh-TW" altLang="en-US"/>
          </a:p>
        </p:txBody>
      </p:sp>
    </p:spTree>
    <p:extLst>
      <p:ext uri="{BB962C8B-B14F-4D97-AF65-F5344CB8AC3E}">
        <p14:creationId xmlns:p14="http://schemas.microsoft.com/office/powerpoint/2010/main" val="199071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557213" y="1241425"/>
            <a:ext cx="7912101" cy="3349625"/>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8D65AAA-47B7-495F-93BC-F703CEE4DA71}" type="slidenum">
              <a:rPr lang="zh-TW" altLang="en-US" smtClean="0"/>
              <a:t>1</a:t>
            </a:fld>
            <a:endParaRPr lang="zh-TW" altLang="en-US"/>
          </a:p>
        </p:txBody>
      </p:sp>
    </p:spTree>
    <p:extLst>
      <p:ext uri="{BB962C8B-B14F-4D97-AF65-F5344CB8AC3E}">
        <p14:creationId xmlns:p14="http://schemas.microsoft.com/office/powerpoint/2010/main" val="2290070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557213" y="1241425"/>
            <a:ext cx="7912101" cy="3349625"/>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8D65AAA-47B7-495F-93BC-F703CEE4DA71}" type="slidenum">
              <a:rPr lang="zh-TW" altLang="en-US" smtClean="0"/>
              <a:t>7</a:t>
            </a:fld>
            <a:endParaRPr lang="zh-TW" altLang="en-US"/>
          </a:p>
        </p:txBody>
      </p:sp>
    </p:spTree>
    <p:extLst>
      <p:ext uri="{BB962C8B-B14F-4D97-AF65-F5344CB8AC3E}">
        <p14:creationId xmlns:p14="http://schemas.microsoft.com/office/powerpoint/2010/main" val="1359650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557213" y="1241425"/>
            <a:ext cx="7912101" cy="3349625"/>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8D65AAA-47B7-495F-93BC-F703CEE4DA71}" type="slidenum">
              <a:rPr lang="zh-TW" altLang="en-US" smtClean="0"/>
              <a:t>8</a:t>
            </a:fld>
            <a:endParaRPr lang="zh-TW" altLang="en-US"/>
          </a:p>
        </p:txBody>
      </p:sp>
    </p:spTree>
    <p:extLst>
      <p:ext uri="{BB962C8B-B14F-4D97-AF65-F5344CB8AC3E}">
        <p14:creationId xmlns:p14="http://schemas.microsoft.com/office/powerpoint/2010/main" val="1408209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557213" y="1241425"/>
            <a:ext cx="7912101" cy="3349625"/>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8D65AAA-47B7-495F-93BC-F703CEE4DA71}" type="slidenum">
              <a:rPr lang="zh-TW" altLang="en-US" smtClean="0"/>
              <a:t>11</a:t>
            </a:fld>
            <a:endParaRPr lang="zh-TW" altLang="en-US"/>
          </a:p>
        </p:txBody>
      </p:sp>
    </p:spTree>
    <p:extLst>
      <p:ext uri="{BB962C8B-B14F-4D97-AF65-F5344CB8AC3E}">
        <p14:creationId xmlns:p14="http://schemas.microsoft.com/office/powerpoint/2010/main" val="393664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15033" y="2130429"/>
            <a:ext cx="13770372" cy="1470025"/>
          </a:xfrm>
        </p:spPr>
        <p:txBody>
          <a:bodyPr/>
          <a:lstStyle/>
          <a:p>
            <a:r>
              <a:rPr lang="en-US"/>
              <a:t>Click to edit Master title style</a:t>
            </a:r>
          </a:p>
        </p:txBody>
      </p:sp>
      <p:sp>
        <p:nvSpPr>
          <p:cNvPr id="3" name="Subtitle 2"/>
          <p:cNvSpPr>
            <a:spLocks noGrp="1"/>
          </p:cNvSpPr>
          <p:nvPr>
            <p:ph type="subTitle" idx="1"/>
          </p:nvPr>
        </p:nvSpPr>
        <p:spPr>
          <a:xfrm>
            <a:off x="2430067" y="3886200"/>
            <a:ext cx="11340307" cy="1752600"/>
          </a:xfrm>
        </p:spPr>
        <p:txBody>
          <a:bodyPr/>
          <a:lstStyle>
            <a:lvl1pPr marL="0" indent="0" algn="ctr">
              <a:buNone/>
              <a:defRPr>
                <a:solidFill>
                  <a:schemeClr val="tx1">
                    <a:tint val="75000"/>
                  </a:schemeClr>
                </a:solidFill>
              </a:defRPr>
            </a:lvl1pPr>
            <a:lvl2pPr marL="457225" indent="0" algn="ctr">
              <a:buNone/>
              <a:defRPr>
                <a:solidFill>
                  <a:schemeClr val="tx1">
                    <a:tint val="75000"/>
                  </a:schemeClr>
                </a:solidFill>
              </a:defRPr>
            </a:lvl2pPr>
            <a:lvl3pPr marL="914450" indent="0" algn="ctr">
              <a:buNone/>
              <a:defRPr>
                <a:solidFill>
                  <a:schemeClr val="tx1">
                    <a:tint val="75000"/>
                  </a:schemeClr>
                </a:solidFill>
              </a:defRPr>
            </a:lvl3pPr>
            <a:lvl4pPr marL="1371675" indent="0" algn="ctr">
              <a:buNone/>
              <a:defRPr>
                <a:solidFill>
                  <a:schemeClr val="tx1">
                    <a:tint val="75000"/>
                  </a:schemeClr>
                </a:solidFill>
              </a:defRPr>
            </a:lvl4pPr>
            <a:lvl5pPr marL="1828900" indent="0" algn="ctr">
              <a:buNone/>
              <a:defRPr>
                <a:solidFill>
                  <a:schemeClr val="tx1">
                    <a:tint val="75000"/>
                  </a:schemeClr>
                </a:solidFill>
              </a:defRPr>
            </a:lvl5pPr>
            <a:lvl6pPr marL="2286126" indent="0" algn="ctr">
              <a:buNone/>
              <a:defRPr>
                <a:solidFill>
                  <a:schemeClr val="tx1">
                    <a:tint val="75000"/>
                  </a:schemeClr>
                </a:solidFill>
              </a:defRPr>
            </a:lvl6pPr>
            <a:lvl7pPr marL="2743350" indent="0" algn="ctr">
              <a:buNone/>
              <a:defRPr>
                <a:solidFill>
                  <a:schemeClr val="tx1">
                    <a:tint val="75000"/>
                  </a:schemeClr>
                </a:solidFill>
              </a:defRPr>
            </a:lvl7pPr>
            <a:lvl8pPr marL="3200576" indent="0" algn="ctr">
              <a:buNone/>
              <a:defRPr>
                <a:solidFill>
                  <a:schemeClr val="tx1">
                    <a:tint val="75000"/>
                  </a:schemeClr>
                </a:solidFill>
              </a:defRPr>
            </a:lvl8pPr>
            <a:lvl9pPr marL="365780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9723" y="4406904"/>
            <a:ext cx="13770372"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279723" y="2906713"/>
            <a:ext cx="13770372" cy="1500187"/>
          </a:xfrm>
        </p:spPr>
        <p:txBody>
          <a:bodyPr anchor="b"/>
          <a:lstStyle>
            <a:lvl1pPr marL="0" indent="0">
              <a:buNone/>
              <a:defRPr sz="2000">
                <a:solidFill>
                  <a:schemeClr val="tx1">
                    <a:tint val="75000"/>
                  </a:schemeClr>
                </a:solidFill>
              </a:defRPr>
            </a:lvl1pPr>
            <a:lvl2pPr marL="457225" indent="0">
              <a:buNone/>
              <a:defRPr sz="1800">
                <a:solidFill>
                  <a:schemeClr val="tx1">
                    <a:tint val="75000"/>
                  </a:schemeClr>
                </a:solidFill>
              </a:defRPr>
            </a:lvl2pPr>
            <a:lvl3pPr marL="914450" indent="0">
              <a:buNone/>
              <a:defRPr sz="1600">
                <a:solidFill>
                  <a:schemeClr val="tx1">
                    <a:tint val="75000"/>
                  </a:schemeClr>
                </a:solidFill>
              </a:defRPr>
            </a:lvl3pPr>
            <a:lvl4pPr marL="1371675" indent="0">
              <a:buNone/>
              <a:defRPr sz="1400">
                <a:solidFill>
                  <a:schemeClr val="tx1">
                    <a:tint val="75000"/>
                  </a:schemeClr>
                </a:solidFill>
              </a:defRPr>
            </a:lvl4pPr>
            <a:lvl5pPr marL="1828900" indent="0">
              <a:buNone/>
              <a:defRPr sz="1400">
                <a:solidFill>
                  <a:schemeClr val="tx1">
                    <a:tint val="75000"/>
                  </a:schemeClr>
                </a:solidFill>
              </a:defRPr>
            </a:lvl5pPr>
            <a:lvl6pPr marL="2286126" indent="0">
              <a:buNone/>
              <a:defRPr sz="1400">
                <a:solidFill>
                  <a:schemeClr val="tx1">
                    <a:tint val="75000"/>
                  </a:schemeClr>
                </a:solidFill>
              </a:defRPr>
            </a:lvl6pPr>
            <a:lvl7pPr marL="2743350" indent="0">
              <a:buNone/>
              <a:defRPr sz="1400">
                <a:solidFill>
                  <a:schemeClr val="tx1">
                    <a:tint val="75000"/>
                  </a:schemeClr>
                </a:solidFill>
              </a:defRPr>
            </a:lvl7pPr>
            <a:lvl8pPr marL="3200576" indent="0">
              <a:buNone/>
              <a:defRPr sz="1400">
                <a:solidFill>
                  <a:schemeClr val="tx1">
                    <a:tint val="75000"/>
                  </a:schemeClr>
                </a:solidFill>
              </a:defRPr>
            </a:lvl8pPr>
            <a:lvl9pPr marL="3657801"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0022" y="1600204"/>
            <a:ext cx="715519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35223" y="1600204"/>
            <a:ext cx="715519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0024" y="1535113"/>
            <a:ext cx="7158006" cy="639762"/>
          </a:xfrm>
        </p:spPr>
        <p:txBody>
          <a:bodyPr anchor="b"/>
          <a:lstStyle>
            <a:lvl1pPr marL="0" indent="0">
              <a:buNone/>
              <a:defRPr sz="2400" b="1"/>
            </a:lvl1pPr>
            <a:lvl2pPr marL="457225" indent="0">
              <a:buNone/>
              <a:defRPr sz="2000" b="1"/>
            </a:lvl2pPr>
            <a:lvl3pPr marL="914450" indent="0">
              <a:buNone/>
              <a:defRPr sz="1800" b="1"/>
            </a:lvl3pPr>
            <a:lvl4pPr marL="1371675" indent="0">
              <a:buNone/>
              <a:defRPr sz="1600" b="1"/>
            </a:lvl4pPr>
            <a:lvl5pPr marL="1828900" indent="0">
              <a:buNone/>
              <a:defRPr sz="1600" b="1"/>
            </a:lvl5pPr>
            <a:lvl6pPr marL="2286126" indent="0">
              <a:buNone/>
              <a:defRPr sz="1600" b="1"/>
            </a:lvl6pPr>
            <a:lvl7pPr marL="2743350" indent="0">
              <a:buNone/>
              <a:defRPr sz="1600" b="1"/>
            </a:lvl7pPr>
            <a:lvl8pPr marL="3200576" indent="0">
              <a:buNone/>
              <a:defRPr sz="1600" b="1"/>
            </a:lvl8pPr>
            <a:lvl9pPr marL="3657801" indent="0">
              <a:buNone/>
              <a:defRPr sz="1600" b="1"/>
            </a:lvl9pPr>
          </a:lstStyle>
          <a:p>
            <a:pPr lvl="0"/>
            <a:r>
              <a:rPr lang="en-US"/>
              <a:t>Click to edit Master text styles</a:t>
            </a:r>
          </a:p>
        </p:txBody>
      </p:sp>
      <p:sp>
        <p:nvSpPr>
          <p:cNvPr id="4" name="Content Placeholder 3"/>
          <p:cNvSpPr>
            <a:spLocks noGrp="1"/>
          </p:cNvSpPr>
          <p:nvPr>
            <p:ph sz="half" idx="2"/>
          </p:nvPr>
        </p:nvSpPr>
        <p:spPr>
          <a:xfrm>
            <a:off x="810024" y="2174875"/>
            <a:ext cx="715800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229600" y="1535113"/>
            <a:ext cx="7160818" cy="639762"/>
          </a:xfrm>
        </p:spPr>
        <p:txBody>
          <a:bodyPr anchor="b"/>
          <a:lstStyle>
            <a:lvl1pPr marL="0" indent="0">
              <a:buNone/>
              <a:defRPr sz="2400" b="1"/>
            </a:lvl1pPr>
            <a:lvl2pPr marL="457225" indent="0">
              <a:buNone/>
              <a:defRPr sz="2000" b="1"/>
            </a:lvl2pPr>
            <a:lvl3pPr marL="914450" indent="0">
              <a:buNone/>
              <a:defRPr sz="1800" b="1"/>
            </a:lvl3pPr>
            <a:lvl4pPr marL="1371675" indent="0">
              <a:buNone/>
              <a:defRPr sz="1600" b="1"/>
            </a:lvl4pPr>
            <a:lvl5pPr marL="1828900" indent="0">
              <a:buNone/>
              <a:defRPr sz="1600" b="1"/>
            </a:lvl5pPr>
            <a:lvl6pPr marL="2286126" indent="0">
              <a:buNone/>
              <a:defRPr sz="1600" b="1"/>
            </a:lvl6pPr>
            <a:lvl7pPr marL="2743350" indent="0">
              <a:buNone/>
              <a:defRPr sz="1600" b="1"/>
            </a:lvl7pPr>
            <a:lvl8pPr marL="3200576" indent="0">
              <a:buNone/>
              <a:defRPr sz="1600" b="1"/>
            </a:lvl8pPr>
            <a:lvl9pPr marL="365780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8229600" y="2174875"/>
            <a:ext cx="71608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23" y="273050"/>
            <a:ext cx="5329832"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6333923" y="273054"/>
            <a:ext cx="905649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0023" y="1435103"/>
            <a:ext cx="5329832" cy="4691063"/>
          </a:xfrm>
        </p:spPr>
        <p:txBody>
          <a:bodyPr/>
          <a:lstStyle>
            <a:lvl1pPr marL="0" indent="0">
              <a:buNone/>
              <a:defRPr sz="1400"/>
            </a:lvl1pPr>
            <a:lvl2pPr marL="457225" indent="0">
              <a:buNone/>
              <a:defRPr sz="1200"/>
            </a:lvl2pPr>
            <a:lvl3pPr marL="914450" indent="0">
              <a:buNone/>
              <a:defRPr sz="1000"/>
            </a:lvl3pPr>
            <a:lvl4pPr marL="1371675" indent="0">
              <a:buNone/>
              <a:defRPr sz="900"/>
            </a:lvl4pPr>
            <a:lvl5pPr marL="1828900" indent="0">
              <a:buNone/>
              <a:defRPr sz="900"/>
            </a:lvl5pPr>
            <a:lvl6pPr marL="2286126" indent="0">
              <a:buNone/>
              <a:defRPr sz="900"/>
            </a:lvl6pPr>
            <a:lvl7pPr marL="2743350" indent="0">
              <a:buNone/>
              <a:defRPr sz="900"/>
            </a:lvl7pPr>
            <a:lvl8pPr marL="3200576" indent="0">
              <a:buNone/>
              <a:defRPr sz="900"/>
            </a:lvl8pPr>
            <a:lvl9pPr marL="365780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75400" y="4800600"/>
            <a:ext cx="972026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3175400" y="612775"/>
            <a:ext cx="9720263" cy="4114800"/>
          </a:xfrm>
        </p:spPr>
        <p:txBody>
          <a:bodyPr/>
          <a:lstStyle>
            <a:lvl1pPr marL="0" indent="0">
              <a:buNone/>
              <a:defRPr sz="3200"/>
            </a:lvl1pPr>
            <a:lvl2pPr marL="457225" indent="0">
              <a:buNone/>
              <a:defRPr sz="2800"/>
            </a:lvl2pPr>
            <a:lvl3pPr marL="914450" indent="0">
              <a:buNone/>
              <a:defRPr sz="2400"/>
            </a:lvl3pPr>
            <a:lvl4pPr marL="1371675" indent="0">
              <a:buNone/>
              <a:defRPr sz="2000"/>
            </a:lvl4pPr>
            <a:lvl5pPr marL="1828900" indent="0">
              <a:buNone/>
              <a:defRPr sz="2000"/>
            </a:lvl5pPr>
            <a:lvl6pPr marL="2286126" indent="0">
              <a:buNone/>
              <a:defRPr sz="2000"/>
            </a:lvl6pPr>
            <a:lvl7pPr marL="2743350" indent="0">
              <a:buNone/>
              <a:defRPr sz="2000"/>
            </a:lvl7pPr>
            <a:lvl8pPr marL="3200576" indent="0">
              <a:buNone/>
              <a:defRPr sz="2000"/>
            </a:lvl8pPr>
            <a:lvl9pPr marL="3657801" indent="0">
              <a:buNone/>
              <a:defRPr sz="2000"/>
            </a:lvl9pPr>
          </a:lstStyle>
          <a:p>
            <a:endParaRPr lang="en-US"/>
          </a:p>
        </p:txBody>
      </p:sp>
      <p:sp>
        <p:nvSpPr>
          <p:cNvPr id="4" name="Text Placeholder 3"/>
          <p:cNvSpPr>
            <a:spLocks noGrp="1"/>
          </p:cNvSpPr>
          <p:nvPr>
            <p:ph type="body" sz="half" idx="2"/>
          </p:nvPr>
        </p:nvSpPr>
        <p:spPr>
          <a:xfrm>
            <a:off x="3175400" y="5367338"/>
            <a:ext cx="9720263" cy="804862"/>
          </a:xfrm>
        </p:spPr>
        <p:txBody>
          <a:bodyPr/>
          <a:lstStyle>
            <a:lvl1pPr marL="0" indent="0">
              <a:buNone/>
              <a:defRPr sz="1400"/>
            </a:lvl1pPr>
            <a:lvl2pPr marL="457225" indent="0">
              <a:buNone/>
              <a:defRPr sz="1200"/>
            </a:lvl2pPr>
            <a:lvl3pPr marL="914450" indent="0">
              <a:buNone/>
              <a:defRPr sz="1000"/>
            </a:lvl3pPr>
            <a:lvl4pPr marL="1371675" indent="0">
              <a:buNone/>
              <a:defRPr sz="900"/>
            </a:lvl4pPr>
            <a:lvl5pPr marL="1828900" indent="0">
              <a:buNone/>
              <a:defRPr sz="900"/>
            </a:lvl5pPr>
            <a:lvl6pPr marL="2286126" indent="0">
              <a:buNone/>
              <a:defRPr sz="900"/>
            </a:lvl6pPr>
            <a:lvl7pPr marL="2743350" indent="0">
              <a:buNone/>
              <a:defRPr sz="900"/>
            </a:lvl7pPr>
            <a:lvl8pPr marL="3200576" indent="0">
              <a:buNone/>
              <a:defRPr sz="900"/>
            </a:lvl8pPr>
            <a:lvl9pPr marL="365780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45317" y="274642"/>
            <a:ext cx="3645099"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22" y="274642"/>
            <a:ext cx="10665288"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22" y="274638"/>
            <a:ext cx="1458039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10022" y="1600204"/>
            <a:ext cx="1458039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10022" y="6356354"/>
            <a:ext cx="378010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5535151" y="6356354"/>
            <a:ext cx="513013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610314" y="6356354"/>
            <a:ext cx="378010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25" rtl="0" eaLnBrk="1" latinLnBrk="0" hangingPunct="1">
        <a:spcBef>
          <a:spcPct val="0"/>
        </a:spcBef>
        <a:buNone/>
        <a:defRPr sz="4400" kern="1200">
          <a:solidFill>
            <a:schemeClr val="tx1"/>
          </a:solidFill>
          <a:latin typeface="+mj-lt"/>
          <a:ea typeface="+mj-ea"/>
          <a:cs typeface="+mj-cs"/>
        </a:defRPr>
      </a:lvl1pPr>
    </p:titleStyle>
    <p:bodyStyle>
      <a:lvl1pPr marL="342919" indent="-342919" algn="l" defTabSz="457225" rtl="0" eaLnBrk="1" latinLnBrk="0" hangingPunct="1">
        <a:spcBef>
          <a:spcPct val="20000"/>
        </a:spcBef>
        <a:buFont typeface="Arial"/>
        <a:buChar char="•"/>
        <a:defRPr sz="3200" kern="1200">
          <a:solidFill>
            <a:schemeClr val="tx1"/>
          </a:solidFill>
          <a:latin typeface="+mn-lt"/>
          <a:ea typeface="+mn-ea"/>
          <a:cs typeface="+mn-cs"/>
        </a:defRPr>
      </a:lvl1pPr>
      <a:lvl2pPr marL="742991" indent="-285766" algn="l" defTabSz="457225" rtl="0" eaLnBrk="1" latinLnBrk="0" hangingPunct="1">
        <a:spcBef>
          <a:spcPct val="20000"/>
        </a:spcBef>
        <a:buFont typeface="Arial"/>
        <a:buChar char="–"/>
        <a:defRPr sz="2800" kern="1200">
          <a:solidFill>
            <a:schemeClr val="tx1"/>
          </a:solidFill>
          <a:latin typeface="+mn-lt"/>
          <a:ea typeface="+mn-ea"/>
          <a:cs typeface="+mn-cs"/>
        </a:defRPr>
      </a:lvl2pPr>
      <a:lvl3pPr marL="1143062" indent="-228613" algn="l" defTabSz="457225" rtl="0" eaLnBrk="1" latinLnBrk="0" hangingPunct="1">
        <a:spcBef>
          <a:spcPct val="20000"/>
        </a:spcBef>
        <a:buFont typeface="Arial"/>
        <a:buChar char="•"/>
        <a:defRPr sz="2400" kern="1200">
          <a:solidFill>
            <a:schemeClr val="tx1"/>
          </a:solidFill>
          <a:latin typeface="+mn-lt"/>
          <a:ea typeface="+mn-ea"/>
          <a:cs typeface="+mn-cs"/>
        </a:defRPr>
      </a:lvl3pPr>
      <a:lvl4pPr marL="1600288" indent="-228613" algn="l" defTabSz="457225" rtl="0" eaLnBrk="1" latinLnBrk="0" hangingPunct="1">
        <a:spcBef>
          <a:spcPct val="20000"/>
        </a:spcBef>
        <a:buFont typeface="Arial"/>
        <a:buChar char="–"/>
        <a:defRPr sz="2000" kern="1200">
          <a:solidFill>
            <a:schemeClr val="tx1"/>
          </a:solidFill>
          <a:latin typeface="+mn-lt"/>
          <a:ea typeface="+mn-ea"/>
          <a:cs typeface="+mn-cs"/>
        </a:defRPr>
      </a:lvl4pPr>
      <a:lvl5pPr marL="2057513" indent="-228613" algn="l" defTabSz="457225" rtl="0" eaLnBrk="1" latinLnBrk="0" hangingPunct="1">
        <a:spcBef>
          <a:spcPct val="20000"/>
        </a:spcBef>
        <a:buFont typeface="Arial"/>
        <a:buChar char="»"/>
        <a:defRPr sz="2000" kern="1200">
          <a:solidFill>
            <a:schemeClr val="tx1"/>
          </a:solidFill>
          <a:latin typeface="+mn-lt"/>
          <a:ea typeface="+mn-ea"/>
          <a:cs typeface="+mn-cs"/>
        </a:defRPr>
      </a:lvl5pPr>
      <a:lvl6pPr marL="2514738" indent="-228613" algn="l" defTabSz="457225" rtl="0" eaLnBrk="1" latinLnBrk="0" hangingPunct="1">
        <a:spcBef>
          <a:spcPct val="20000"/>
        </a:spcBef>
        <a:buFont typeface="Arial"/>
        <a:buChar char="•"/>
        <a:defRPr sz="2000" kern="1200">
          <a:solidFill>
            <a:schemeClr val="tx1"/>
          </a:solidFill>
          <a:latin typeface="+mn-lt"/>
          <a:ea typeface="+mn-ea"/>
          <a:cs typeface="+mn-cs"/>
        </a:defRPr>
      </a:lvl6pPr>
      <a:lvl7pPr marL="2971963" indent="-228613" algn="l" defTabSz="457225" rtl="0" eaLnBrk="1" latinLnBrk="0" hangingPunct="1">
        <a:spcBef>
          <a:spcPct val="20000"/>
        </a:spcBef>
        <a:buFont typeface="Arial"/>
        <a:buChar char="•"/>
        <a:defRPr sz="2000" kern="1200">
          <a:solidFill>
            <a:schemeClr val="tx1"/>
          </a:solidFill>
          <a:latin typeface="+mn-lt"/>
          <a:ea typeface="+mn-ea"/>
          <a:cs typeface="+mn-cs"/>
        </a:defRPr>
      </a:lvl7pPr>
      <a:lvl8pPr marL="3429188" indent="-228613" algn="l" defTabSz="457225" rtl="0" eaLnBrk="1" latinLnBrk="0" hangingPunct="1">
        <a:spcBef>
          <a:spcPct val="20000"/>
        </a:spcBef>
        <a:buFont typeface="Arial"/>
        <a:buChar char="•"/>
        <a:defRPr sz="2000" kern="1200">
          <a:solidFill>
            <a:schemeClr val="tx1"/>
          </a:solidFill>
          <a:latin typeface="+mn-lt"/>
          <a:ea typeface="+mn-ea"/>
          <a:cs typeface="+mn-cs"/>
        </a:defRPr>
      </a:lvl8pPr>
      <a:lvl9pPr marL="3886414" indent="-228613" algn="l" defTabSz="457225"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25" rtl="0" eaLnBrk="1" latinLnBrk="0" hangingPunct="1">
        <a:defRPr sz="1800" kern="1200">
          <a:solidFill>
            <a:schemeClr val="tx1"/>
          </a:solidFill>
          <a:latin typeface="+mn-lt"/>
          <a:ea typeface="+mn-ea"/>
          <a:cs typeface="+mn-cs"/>
        </a:defRPr>
      </a:lvl1pPr>
      <a:lvl2pPr marL="457225" algn="l" defTabSz="457225" rtl="0" eaLnBrk="1" latinLnBrk="0" hangingPunct="1">
        <a:defRPr sz="1800" kern="1200">
          <a:solidFill>
            <a:schemeClr val="tx1"/>
          </a:solidFill>
          <a:latin typeface="+mn-lt"/>
          <a:ea typeface="+mn-ea"/>
          <a:cs typeface="+mn-cs"/>
        </a:defRPr>
      </a:lvl2pPr>
      <a:lvl3pPr marL="914450" algn="l" defTabSz="457225" rtl="0" eaLnBrk="1" latinLnBrk="0" hangingPunct="1">
        <a:defRPr sz="1800" kern="1200">
          <a:solidFill>
            <a:schemeClr val="tx1"/>
          </a:solidFill>
          <a:latin typeface="+mn-lt"/>
          <a:ea typeface="+mn-ea"/>
          <a:cs typeface="+mn-cs"/>
        </a:defRPr>
      </a:lvl3pPr>
      <a:lvl4pPr marL="1371675" algn="l" defTabSz="457225" rtl="0" eaLnBrk="1" latinLnBrk="0" hangingPunct="1">
        <a:defRPr sz="1800" kern="1200">
          <a:solidFill>
            <a:schemeClr val="tx1"/>
          </a:solidFill>
          <a:latin typeface="+mn-lt"/>
          <a:ea typeface="+mn-ea"/>
          <a:cs typeface="+mn-cs"/>
        </a:defRPr>
      </a:lvl4pPr>
      <a:lvl5pPr marL="1828900" algn="l" defTabSz="457225" rtl="0" eaLnBrk="1" latinLnBrk="0" hangingPunct="1">
        <a:defRPr sz="1800" kern="1200">
          <a:solidFill>
            <a:schemeClr val="tx1"/>
          </a:solidFill>
          <a:latin typeface="+mn-lt"/>
          <a:ea typeface="+mn-ea"/>
          <a:cs typeface="+mn-cs"/>
        </a:defRPr>
      </a:lvl5pPr>
      <a:lvl6pPr marL="2286126" algn="l" defTabSz="457225" rtl="0" eaLnBrk="1" latinLnBrk="0" hangingPunct="1">
        <a:defRPr sz="1800" kern="1200">
          <a:solidFill>
            <a:schemeClr val="tx1"/>
          </a:solidFill>
          <a:latin typeface="+mn-lt"/>
          <a:ea typeface="+mn-ea"/>
          <a:cs typeface="+mn-cs"/>
        </a:defRPr>
      </a:lvl6pPr>
      <a:lvl7pPr marL="2743350" algn="l" defTabSz="457225" rtl="0" eaLnBrk="1" latinLnBrk="0" hangingPunct="1">
        <a:defRPr sz="1800" kern="1200">
          <a:solidFill>
            <a:schemeClr val="tx1"/>
          </a:solidFill>
          <a:latin typeface="+mn-lt"/>
          <a:ea typeface="+mn-ea"/>
          <a:cs typeface="+mn-cs"/>
        </a:defRPr>
      </a:lvl7pPr>
      <a:lvl8pPr marL="3200576" algn="l" defTabSz="457225" rtl="0" eaLnBrk="1" latinLnBrk="0" hangingPunct="1">
        <a:defRPr sz="1800" kern="1200">
          <a:solidFill>
            <a:schemeClr val="tx1"/>
          </a:solidFill>
          <a:latin typeface="+mn-lt"/>
          <a:ea typeface="+mn-ea"/>
          <a:cs typeface="+mn-cs"/>
        </a:defRPr>
      </a:lvl8pPr>
      <a:lvl9pPr marL="3657801" algn="l" defTabSz="45722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5419" y="24139"/>
            <a:ext cx="2492990" cy="553998"/>
          </a:xfrm>
          <a:prstGeom prst="rect">
            <a:avLst/>
          </a:prstGeom>
          <a:noFill/>
        </p:spPr>
        <p:txBody>
          <a:bodyPr wrap="none">
            <a:spAutoFit/>
          </a:bodyPr>
          <a:lstStyle/>
          <a:p>
            <a:r>
              <a:rPr lang="zh-TW" altLang="en-US" sz="3000" b="1" dirty="0">
                <a:latin typeface="微軟正黑體" panose="020B0604030504040204" pitchFamily="34" charset="-120"/>
                <a:ea typeface="微軟正黑體" panose="020B0604030504040204" pitchFamily="34" charset="-120"/>
              </a:rPr>
              <a:t>店招製作申請</a:t>
            </a:r>
            <a:endParaRPr sz="3000" b="1" dirty="0">
              <a:latin typeface="微軟正黑體" panose="020B0604030504040204" pitchFamily="34" charset="-120"/>
              <a:ea typeface="微軟正黑體" panose="020B0604030504040204" pitchFamily="34" charset="-120"/>
            </a:endParaRPr>
          </a:p>
        </p:txBody>
      </p:sp>
      <p:sp>
        <p:nvSpPr>
          <p:cNvPr id="3" name="Rectangle 2"/>
          <p:cNvSpPr/>
          <p:nvPr/>
        </p:nvSpPr>
        <p:spPr>
          <a:xfrm>
            <a:off x="7535032" y="343960"/>
            <a:ext cx="4750122" cy="6336842"/>
          </a:xfrm>
          <a:prstGeom prst="rect">
            <a:avLst/>
          </a:prstGeom>
          <a:solidFill>
            <a:srgbClr val="F5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2259700" y="343960"/>
            <a:ext cx="3934432" cy="6336842"/>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ounded Rectangle 4"/>
          <p:cNvSpPr/>
          <p:nvPr/>
        </p:nvSpPr>
        <p:spPr>
          <a:xfrm>
            <a:off x="3799837" y="513520"/>
            <a:ext cx="3604537" cy="47567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建大工業股份有限公司</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四輪網路下單系統</a:t>
            </a:r>
            <a:endParaRPr sz="1200" b="1" dirty="0">
              <a:solidFill>
                <a:srgbClr val="FFFFFF"/>
              </a:solidFill>
              <a:latin typeface="微軟正黑體" panose="020B0604030504040204" pitchFamily="34" charset="-120"/>
              <a:ea typeface="微軟正黑體" panose="020B0604030504040204" pitchFamily="34" charset="-120"/>
            </a:endParaRPr>
          </a:p>
          <a:p>
            <a:pPr algn="ctr"/>
            <a:r>
              <a:rPr lang="en-US" altLang="zh-TW" sz="1000" dirty="0"/>
              <a:t>https://b2b.kenda.com.tw/cdr/EDTB/pcr/</a:t>
            </a:r>
            <a:endParaRPr sz="1000" b="1" dirty="0">
              <a:solidFill>
                <a:srgbClr val="FFFFFF"/>
              </a:solidFill>
            </a:endParaRPr>
          </a:p>
        </p:txBody>
      </p:sp>
      <p:sp>
        <p:nvSpPr>
          <p:cNvPr id="17" name="文字方塊 16">
            <a:extLst>
              <a:ext uri="{FF2B5EF4-FFF2-40B4-BE49-F238E27FC236}">
                <a16:creationId xmlns:a16="http://schemas.microsoft.com/office/drawing/2014/main" id="{6E892977-97AC-42D5-BEBB-C1B3A909F660}"/>
              </a:ext>
            </a:extLst>
          </p:cNvPr>
          <p:cNvSpPr txBox="1"/>
          <p:nvPr/>
        </p:nvSpPr>
        <p:spPr>
          <a:xfrm>
            <a:off x="12343724" y="542354"/>
            <a:ext cx="3622314" cy="1400383"/>
          </a:xfrm>
          <a:prstGeom prst="rect">
            <a:avLst/>
          </a:prstGeom>
          <a:noFill/>
        </p:spPr>
        <p:txBody>
          <a:bodyPr wrap="square" rtlCol="0">
            <a:spAutoFit/>
          </a:bodyPr>
          <a:lstStyle/>
          <a:p>
            <a:r>
              <a:rPr lang="en-US" altLang="zh-TW" sz="1300" b="1" dirty="0">
                <a:solidFill>
                  <a:schemeClr val="bg1"/>
                </a:solidFill>
                <a:highlight>
                  <a:srgbClr val="008080"/>
                </a:highlight>
                <a:latin typeface="微軟正黑體" panose="020B0604030504040204" pitchFamily="34" charset="-120"/>
                <a:ea typeface="微軟正黑體" panose="020B0604030504040204" pitchFamily="34" charset="-120"/>
              </a:rPr>
              <a:t>* (</a:t>
            </a:r>
            <a:r>
              <a:rPr lang="zh-TW" altLang="en-US" sz="1300" b="1" dirty="0">
                <a:solidFill>
                  <a:schemeClr val="bg1"/>
                </a:solidFill>
                <a:highlight>
                  <a:srgbClr val="008080"/>
                </a:highlight>
                <a:latin typeface="微軟正黑體" panose="020B0604030504040204" pitchFamily="34" charset="-120"/>
                <a:ea typeface="微軟正黑體" panose="020B0604030504040204" pitchFamily="34" charset="-120"/>
              </a:rPr>
              <a:t>廣告資產編號取號關卡</a:t>
            </a:r>
            <a:r>
              <a:rPr lang="en-US" altLang="zh-TW" sz="1300" b="1" dirty="0">
                <a:solidFill>
                  <a:schemeClr val="bg1"/>
                </a:solidFill>
                <a:highlight>
                  <a:srgbClr val="008080"/>
                </a:highlight>
                <a:latin typeface="微軟正黑體" panose="020B0604030504040204" pitchFamily="34" charset="-120"/>
                <a:ea typeface="微軟正黑體" panose="020B0604030504040204" pitchFamily="34" charset="-120"/>
              </a:rPr>
              <a:t>) </a:t>
            </a:r>
            <a:r>
              <a:rPr lang="zh-TW" altLang="en-US" sz="1300" b="1"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1000" b="1" dirty="0">
                <a:solidFill>
                  <a:schemeClr val="bg1"/>
                </a:solidFill>
                <a:highlight>
                  <a:srgbClr val="008080"/>
                </a:highlight>
                <a:latin typeface="微軟正黑體" panose="020B0604030504040204" pitchFamily="34" charset="-120"/>
                <a:ea typeface="微軟正黑體" panose="020B0604030504040204" pitchFamily="34" charset="-120"/>
              </a:rPr>
              <a:t>由程式統一自動產生</a:t>
            </a:r>
            <a:r>
              <a:rPr lang="zh-TW" altLang="en-US" sz="800" b="1" dirty="0">
                <a:solidFill>
                  <a:schemeClr val="bg1"/>
                </a:solidFill>
                <a:highlight>
                  <a:srgbClr val="008080"/>
                </a:highlight>
                <a:latin typeface="微軟正黑體" panose="020B0604030504040204" pitchFamily="34" charset="-120"/>
                <a:ea typeface="微軟正黑體" panose="020B0604030504040204" pitchFamily="34" charset="-120"/>
              </a:rPr>
              <a:t>流水編最大號</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b="1" dirty="0">
                <a:solidFill>
                  <a:srgbClr val="92D050"/>
                </a:solidFill>
                <a:highlight>
                  <a:srgbClr val="008080"/>
                </a:highlight>
                <a:latin typeface="微軟正黑體" panose="020B0604030504040204" pitchFamily="34" charset="-120"/>
                <a:ea typeface="微軟正黑體" panose="020B0604030504040204" pitchFamily="34" charset="-120"/>
              </a:rPr>
              <a:t>由建大資訊處理 </a:t>
            </a:r>
            <a:r>
              <a:rPr lang="en-US" altLang="zh-TW" sz="800" b="1" dirty="0">
                <a:solidFill>
                  <a:srgbClr val="92D050"/>
                </a:solidFill>
                <a:highlight>
                  <a:srgbClr val="008080"/>
                </a:highlight>
                <a:latin typeface="微軟正黑體" panose="020B0604030504040204" pitchFamily="34" charset="-120"/>
                <a:ea typeface="微軟正黑體" panose="020B0604030504040204" pitchFamily="34" charset="-120"/>
              </a:rPr>
              <a:t>(</a:t>
            </a:r>
            <a:r>
              <a:rPr lang="zh-TW" altLang="en-US" sz="800" b="1" dirty="0">
                <a:highlight>
                  <a:srgbClr val="00FFFF"/>
                </a:highlight>
                <a:latin typeface="微軟正黑體" panose="020B0604030504040204" pitchFamily="34" charset="-120"/>
                <a:ea typeface="微軟正黑體" panose="020B0604030504040204" pitchFamily="34" charset="-120"/>
              </a:rPr>
              <a:t>會在經銷商入口網站申請後，進入建大</a:t>
            </a:r>
            <a:r>
              <a:rPr lang="en-US" altLang="zh-TW" sz="800" b="1" dirty="0">
                <a:highlight>
                  <a:srgbClr val="00FFFF"/>
                </a:highlight>
                <a:latin typeface="微軟正黑體" panose="020B0604030504040204" pitchFamily="34" charset="-120"/>
                <a:ea typeface="微軟正黑體" panose="020B0604030504040204" pitchFamily="34" charset="-120"/>
              </a:rPr>
              <a:t>bpm</a:t>
            </a:r>
            <a:r>
              <a:rPr lang="zh-TW" altLang="en-US" sz="800" b="1" dirty="0">
                <a:highlight>
                  <a:srgbClr val="00FFFF"/>
                </a:highlight>
                <a:latin typeface="微軟正黑體" panose="020B0604030504040204" pitchFamily="34" charset="-120"/>
                <a:ea typeface="微軟正黑體" panose="020B0604030504040204" pitchFamily="34" charset="-120"/>
              </a:rPr>
              <a:t>程式，主辦送出，主辦主管簽核同意後才產出</a:t>
            </a:r>
            <a:r>
              <a:rPr lang="en-US" altLang="zh-TW" sz="800" b="1" dirty="0">
                <a:highlight>
                  <a:srgbClr val="00FFFF"/>
                </a:highlight>
                <a:latin typeface="微軟正黑體" panose="020B0604030504040204" pitchFamily="34" charset="-120"/>
                <a:ea typeface="微軟正黑體" panose="020B0604030504040204" pitchFamily="34" charset="-120"/>
              </a:rPr>
              <a:t>)</a:t>
            </a:r>
          </a:p>
          <a:p>
            <a:r>
              <a:rPr lang="zh-TW" altLang="en-US" sz="800" b="1" dirty="0">
                <a:solidFill>
                  <a:schemeClr val="bg1"/>
                </a:solidFill>
                <a:highlight>
                  <a:srgbClr val="008080"/>
                </a:highlight>
                <a:latin typeface="微軟正黑體" panose="020B0604030504040204" pitchFamily="34" charset="-120"/>
                <a:ea typeface="微軟正黑體" panose="020B0604030504040204" pitchFamily="34" charset="-120"/>
              </a:rPr>
              <a:t>廣告編號原則</a:t>
            </a:r>
            <a:r>
              <a:rPr lang="en-US" altLang="zh-TW" sz="800" b="1" dirty="0">
                <a:solidFill>
                  <a:schemeClr val="bg1"/>
                </a:solidFill>
                <a:highlight>
                  <a:srgbClr val="008080"/>
                </a:highlight>
                <a:latin typeface="微軟正黑體" panose="020B0604030504040204" pitchFamily="34" charset="-120"/>
                <a:ea typeface="微軟正黑體" panose="020B0604030504040204" pitchFamily="34" charset="-120"/>
              </a:rPr>
              <a:t>: (</a:t>
            </a:r>
            <a:r>
              <a:rPr lang="zh-TW" altLang="en-US" sz="800" b="1" dirty="0">
                <a:solidFill>
                  <a:schemeClr val="bg1"/>
                </a:solidFill>
                <a:highlight>
                  <a:srgbClr val="008080"/>
                </a:highlight>
                <a:latin typeface="微軟正黑體" panose="020B0604030504040204" pitchFamily="34" charset="-120"/>
                <a:ea typeface="微軟正黑體" panose="020B0604030504040204" pitchFamily="34" charset="-120"/>
              </a:rPr>
              <a:t>程式自動產生</a:t>
            </a:r>
            <a:r>
              <a:rPr lang="zh-TW" altLang="en-US" sz="800" b="1" dirty="0">
                <a:solidFill>
                  <a:schemeClr val="bg1"/>
                </a:solidFill>
                <a:highlight>
                  <a:srgbClr val="008080"/>
                </a:highlight>
                <a:latin typeface="微軟正黑體" panose="020B0604030504040204" pitchFamily="34" charset="-120"/>
                <a:ea typeface="微軟正黑體" panose="020B0604030504040204" pitchFamily="34" charset="-120"/>
                <a:sym typeface="Wingdings" panose="05000000000000000000" pitchFamily="2" charset="2"/>
              </a:rPr>
              <a:t>，集團同步</a:t>
            </a:r>
            <a:r>
              <a:rPr lang="en-US" altLang="zh-TW" sz="800" b="1" dirty="0">
                <a:solidFill>
                  <a:schemeClr val="bg1"/>
                </a:solidFill>
                <a:highlight>
                  <a:srgbClr val="008080"/>
                </a:highlight>
                <a:latin typeface="微軟正黑體" panose="020B0604030504040204" pitchFamily="34" charset="-120"/>
                <a:ea typeface="微軟正黑體" panose="020B0604030504040204" pitchFamily="34" charset="-120"/>
              </a:rPr>
              <a:t>)</a:t>
            </a:r>
          </a:p>
          <a:p>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第一碼項目分類，第二、三碼為西元年未二碼，後四碼為自動流水號</a:t>
            </a:r>
            <a:endPar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endParaRPr>
          </a:p>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因有海外廠也會共用程式，注意流水號可能會同時申請，注意排除同號，不可重覆</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a:t>
            </a:r>
            <a:endPar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endParaRPr>
          </a:p>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 </a:t>
            </a:r>
          </a:p>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F</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開頭 </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 </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形象店     </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開頭</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直、橫招     </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C</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開頭</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車體彩繪</a:t>
            </a:r>
            <a:endPar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endParaRPr>
          </a:p>
          <a:p>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範例如</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2026</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年形象店，為</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F260001</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，範例如</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2026</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年直招，為</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A260001</a:t>
            </a:r>
          </a:p>
        </p:txBody>
      </p:sp>
      <p:sp>
        <p:nvSpPr>
          <p:cNvPr id="79" name="文字方塊 78">
            <a:extLst>
              <a:ext uri="{FF2B5EF4-FFF2-40B4-BE49-F238E27FC236}">
                <a16:creationId xmlns:a16="http://schemas.microsoft.com/office/drawing/2014/main" id="{F0DD8DC0-BAC6-4E2A-9B45-A0DC40C975B9}"/>
              </a:ext>
            </a:extLst>
          </p:cNvPr>
          <p:cNvSpPr txBox="1"/>
          <p:nvPr/>
        </p:nvSpPr>
        <p:spPr>
          <a:xfrm>
            <a:off x="12320182" y="1932279"/>
            <a:ext cx="3701969" cy="707886"/>
          </a:xfrm>
          <a:prstGeom prst="rect">
            <a:avLst/>
          </a:prstGeom>
          <a:noFill/>
        </p:spPr>
        <p:txBody>
          <a:bodyPr wrap="square" rtlCol="0">
            <a:spAutoFit/>
          </a:bodyPr>
          <a:lstStyle/>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 BPM</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表單內或給位置，供下載店招申請書</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pdf</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 </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b="1" dirty="0">
                <a:solidFill>
                  <a:srgbClr val="92D050"/>
                </a:solidFill>
                <a:highlight>
                  <a:srgbClr val="008080"/>
                </a:highlight>
                <a:latin typeface="微軟正黑體" panose="020B0604030504040204" pitchFamily="34" charset="-120"/>
                <a:ea typeface="微軟正黑體" panose="020B0604030504040204" pitchFamily="34" charset="-120"/>
              </a:rPr>
              <a:t>由建大資訊處理</a:t>
            </a:r>
            <a:endParaRPr lang="en-US" altLang="zh-TW" sz="800" b="1" dirty="0">
              <a:solidFill>
                <a:srgbClr val="92D050"/>
              </a:solidFill>
              <a:highlight>
                <a:srgbClr val="008080"/>
              </a:highlight>
              <a:latin typeface="微軟正黑體" panose="020B0604030504040204" pitchFamily="34" charset="-120"/>
              <a:ea typeface="微軟正黑體" panose="020B0604030504040204" pitchFamily="34" charset="-120"/>
            </a:endParaRPr>
          </a:p>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程式自動撈資料產生內容同現狀抓取</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SCH010</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欄位資訊，檔名最後</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7</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碼為該廣告物資產編號</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p>
          <a:p>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 </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工作委託單由建大業務手動提出不在</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BPM/</a:t>
            </a:r>
            <a:r>
              <a:rPr lang="zh-TW" altLang="en-US" sz="800" dirty="0">
                <a:solidFill>
                  <a:schemeClr val="bg1"/>
                </a:solidFill>
                <a:highlight>
                  <a:srgbClr val="008080"/>
                </a:highlight>
                <a:latin typeface="微軟正黑體" panose="020B0604030504040204" pitchFamily="34" charset="-120"/>
                <a:ea typeface="微軟正黑體" panose="020B0604030504040204" pitchFamily="34" charset="-120"/>
              </a:rPr>
              <a:t>艾創點作業處理</a:t>
            </a:r>
            <a:r>
              <a:rPr lang="en-US" altLang="zh-TW" sz="800" dirty="0">
                <a:solidFill>
                  <a:schemeClr val="bg1"/>
                </a:solidFill>
                <a:highlight>
                  <a:srgbClr val="008080"/>
                </a:highlight>
                <a:latin typeface="微軟正黑體" panose="020B0604030504040204" pitchFamily="34" charset="-120"/>
                <a:ea typeface="微軟正黑體" panose="020B0604030504040204" pitchFamily="34" charset="-120"/>
              </a:rPr>
              <a:t>--------</a:t>
            </a:r>
            <a:r>
              <a:rPr lang="zh-TW" altLang="en-US" sz="800" b="1" dirty="0">
                <a:solidFill>
                  <a:srgbClr val="92D050"/>
                </a:solidFill>
                <a:highlight>
                  <a:srgbClr val="008080"/>
                </a:highlight>
                <a:latin typeface="微軟正黑體" panose="020B0604030504040204" pitchFamily="34" charset="-120"/>
                <a:ea typeface="微軟正黑體" panose="020B0604030504040204" pitchFamily="34" charset="-120"/>
              </a:rPr>
              <a:t>由建大業務處理</a:t>
            </a:r>
            <a:endParaRPr lang="en-US" altLang="zh-TW" sz="800" b="1" dirty="0">
              <a:solidFill>
                <a:srgbClr val="92D050"/>
              </a:solidFill>
              <a:highlight>
                <a:srgbClr val="008080"/>
              </a:highlight>
              <a:latin typeface="微軟正黑體" panose="020B0604030504040204" pitchFamily="34" charset="-120"/>
              <a:ea typeface="微軟正黑體" panose="020B0604030504040204" pitchFamily="34" charset="-120"/>
            </a:endParaRPr>
          </a:p>
        </p:txBody>
      </p:sp>
      <p:sp>
        <p:nvSpPr>
          <p:cNvPr id="108" name="矩形 107">
            <a:extLst>
              <a:ext uri="{FF2B5EF4-FFF2-40B4-BE49-F238E27FC236}">
                <a16:creationId xmlns:a16="http://schemas.microsoft.com/office/drawing/2014/main" id="{4C557580-CECD-4B2F-B613-B929BC7CC211}"/>
              </a:ext>
            </a:extLst>
          </p:cNvPr>
          <p:cNvSpPr/>
          <p:nvPr/>
        </p:nvSpPr>
        <p:spPr>
          <a:xfrm>
            <a:off x="12328761" y="2624559"/>
            <a:ext cx="3622314" cy="584775"/>
          </a:xfrm>
          <a:prstGeom prst="rect">
            <a:avLst/>
          </a:prstGeom>
        </p:spPr>
        <p:txBody>
          <a:bodyPr wrap="square">
            <a:spAutoFit/>
          </a:bodyPr>
          <a:lstStyle/>
          <a:p>
            <a:r>
              <a:rPr lang="zh-TW" altLang="en-US" sz="800" b="1" dirty="0">
                <a:highlight>
                  <a:srgbClr val="FFFF00"/>
                </a:highlight>
                <a:latin typeface="微軟正黑體" panose="020B0604030504040204" pitchFamily="34" charset="-120"/>
                <a:ea typeface="微軟正黑體" panose="020B0604030504040204" pitchFamily="34" charset="-120"/>
              </a:rPr>
              <a:t>施工項目</a:t>
            </a:r>
            <a:r>
              <a:rPr lang="en-US" altLang="zh-TW" sz="800" b="1" dirty="0">
                <a:highlight>
                  <a:srgbClr val="FFFF00"/>
                </a:highlight>
                <a:latin typeface="微軟正黑體" panose="020B0604030504040204" pitchFamily="34" charset="-120"/>
                <a:ea typeface="微軟正黑體" panose="020B0604030504040204" pitchFamily="34" charset="-120"/>
              </a:rPr>
              <a:t> </a:t>
            </a:r>
            <a:r>
              <a:rPr lang="en-US" altLang="zh-TW" sz="8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8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後台人員維護項目，集團同步</a:t>
            </a:r>
            <a:r>
              <a:rPr lang="en-US" altLang="zh-TW" sz="8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p>
          <a:p>
            <a:r>
              <a:rPr lang="zh-TW" altLang="en-US" sz="800" dirty="0">
                <a:highlight>
                  <a:srgbClr val="FFFF00"/>
                </a:highlight>
                <a:latin typeface="微軟正黑體" panose="020B0604030504040204" pitchFamily="34" charset="-120"/>
                <a:ea typeface="微軟正黑體" panose="020B0604030504040204" pitchFamily="34" charset="-120"/>
              </a:rPr>
              <a:t>形象店</a:t>
            </a:r>
            <a:r>
              <a:rPr lang="en-US" altLang="zh-TW" sz="800" dirty="0">
                <a:highlight>
                  <a:srgbClr val="FFFF00"/>
                </a:highlight>
                <a:latin typeface="微軟正黑體" panose="020B0604030504040204" pitchFamily="34" charset="-120"/>
                <a:ea typeface="微軟正黑體" panose="020B0604030504040204" pitchFamily="34" charset="-120"/>
              </a:rPr>
              <a:t>/</a:t>
            </a:r>
            <a:r>
              <a:rPr lang="zh-TW" altLang="en-US" sz="800" dirty="0">
                <a:highlight>
                  <a:srgbClr val="FFFF00"/>
                </a:highlight>
                <a:latin typeface="微軟正黑體" panose="020B0604030504040204" pitchFamily="34" charset="-120"/>
                <a:ea typeface="微軟正黑體" panose="020B0604030504040204" pitchFamily="34" charset="-120"/>
              </a:rPr>
              <a:t>特約服務中心</a:t>
            </a:r>
            <a:r>
              <a:rPr lang="en-US" altLang="zh-TW" sz="800" dirty="0">
                <a:highlight>
                  <a:srgbClr val="FFFF00"/>
                </a:highlight>
                <a:latin typeface="微軟正黑體" panose="020B0604030504040204" pitchFamily="34" charset="-120"/>
                <a:ea typeface="微軟正黑體" panose="020B0604030504040204" pitchFamily="34" charset="-120"/>
              </a:rPr>
              <a:t>/</a:t>
            </a:r>
            <a:r>
              <a:rPr lang="zh-TW" altLang="en-US" sz="800" dirty="0">
                <a:highlight>
                  <a:srgbClr val="FFFF00"/>
                </a:highlight>
                <a:latin typeface="微軟正黑體" panose="020B0604030504040204" pitchFamily="34" charset="-120"/>
                <a:ea typeface="微軟正黑體" panose="020B0604030504040204" pitchFamily="34" charset="-120"/>
              </a:rPr>
              <a:t>一般店</a:t>
            </a:r>
            <a:r>
              <a:rPr lang="en-US" altLang="zh-TW" sz="800" dirty="0">
                <a:highlight>
                  <a:srgbClr val="FFFF00"/>
                </a:highlight>
                <a:latin typeface="微軟正黑體" panose="020B0604030504040204" pitchFamily="34" charset="-120"/>
                <a:ea typeface="微軟正黑體" panose="020B0604030504040204" pitchFamily="34" charset="-120"/>
              </a:rPr>
              <a:t>/</a:t>
            </a:r>
            <a:r>
              <a:rPr lang="zh-TW" altLang="en-US" sz="800" dirty="0">
                <a:highlight>
                  <a:srgbClr val="FFFF00"/>
                </a:highlight>
                <a:latin typeface="微軟正黑體" panose="020B0604030504040204" pitchFamily="34" charset="-120"/>
                <a:ea typeface="微軟正黑體" panose="020B0604030504040204" pitchFamily="34" charset="-120"/>
              </a:rPr>
              <a:t>車體彩繪</a:t>
            </a:r>
            <a:endParaRPr lang="en-US" altLang="zh-TW" sz="800" dirty="0">
              <a:highlight>
                <a:srgbClr val="FFFF00"/>
              </a:highlight>
              <a:latin typeface="微軟正黑體" panose="020B0604030504040204" pitchFamily="34" charset="-120"/>
              <a:ea typeface="微軟正黑體" panose="020B0604030504040204" pitchFamily="34" charset="-120"/>
            </a:endParaRPr>
          </a:p>
          <a:p>
            <a:endParaRPr lang="en-US" altLang="zh-TW" sz="800" dirty="0">
              <a:highlight>
                <a:srgbClr val="FFFF00"/>
              </a:highlight>
              <a:latin typeface="微軟正黑體" panose="020B0604030504040204" pitchFamily="34" charset="-120"/>
              <a:ea typeface="微軟正黑體" panose="020B0604030504040204" pitchFamily="34" charset="-120"/>
            </a:endParaRPr>
          </a:p>
          <a:p>
            <a:r>
              <a:rPr lang="zh-TW" altLang="en-US" sz="800" b="1" dirty="0">
                <a:solidFill>
                  <a:srgbClr val="FF0000"/>
                </a:solidFill>
                <a:highlight>
                  <a:srgbClr val="FFFF00"/>
                </a:highlight>
                <a:latin typeface="微軟正黑體" panose="020B0604030504040204" pitchFamily="34" charset="-120"/>
                <a:ea typeface="微軟正黑體" panose="020B0604030504040204" pitchFamily="34" charset="-120"/>
              </a:rPr>
              <a:t>增加總公司人員在後台自行維護後，可在前台項目出現</a:t>
            </a:r>
            <a:r>
              <a:rPr lang="en-US" altLang="zh-TW" sz="800" b="1"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800" b="1" dirty="0">
                <a:solidFill>
                  <a:srgbClr val="FF0000"/>
                </a:solidFill>
                <a:highlight>
                  <a:srgbClr val="FFFF00"/>
                </a:highlight>
                <a:latin typeface="微軟正黑體" panose="020B0604030504040204" pitchFamily="34" charset="-120"/>
                <a:ea typeface="微軟正黑體" panose="020B0604030504040204" pitchFamily="34" charset="-120"/>
              </a:rPr>
              <a:t>保留彈性</a:t>
            </a:r>
            <a:r>
              <a:rPr lang="en-US" altLang="zh-TW" sz="800" b="1" dirty="0">
                <a:solidFill>
                  <a:srgbClr val="FF0000"/>
                </a:solidFill>
                <a:highlight>
                  <a:srgbClr val="FFFF00"/>
                </a:highlight>
                <a:latin typeface="微軟正黑體" panose="020B0604030504040204" pitchFamily="34" charset="-120"/>
                <a:ea typeface="微軟正黑體" panose="020B0604030504040204" pitchFamily="34" charset="-120"/>
              </a:rPr>
              <a:t>)</a:t>
            </a:r>
          </a:p>
        </p:txBody>
      </p:sp>
      <p:graphicFrame>
        <p:nvGraphicFramePr>
          <p:cNvPr id="8" name="表格 7">
            <a:extLst>
              <a:ext uri="{FF2B5EF4-FFF2-40B4-BE49-F238E27FC236}">
                <a16:creationId xmlns:a16="http://schemas.microsoft.com/office/drawing/2014/main" id="{15664BE4-D43D-41E9-AB33-EBFE65D2DFBE}"/>
              </a:ext>
            </a:extLst>
          </p:cNvPr>
          <p:cNvGraphicFramePr>
            <a:graphicFrameLocks noGrp="1"/>
          </p:cNvGraphicFramePr>
          <p:nvPr>
            <p:extLst>
              <p:ext uri="{D42A27DB-BD31-4B8C-83A1-F6EECF244321}">
                <p14:modId xmlns:p14="http://schemas.microsoft.com/office/powerpoint/2010/main" val="1127614284"/>
              </p:ext>
            </p:extLst>
          </p:nvPr>
        </p:nvGraphicFramePr>
        <p:xfrm>
          <a:off x="7568572" y="1273170"/>
          <a:ext cx="4798668" cy="5349044"/>
        </p:xfrm>
        <a:graphic>
          <a:graphicData uri="http://schemas.openxmlformats.org/drawingml/2006/table">
            <a:tbl>
              <a:tblPr/>
              <a:tblGrid>
                <a:gridCol w="2966950">
                  <a:extLst>
                    <a:ext uri="{9D8B030D-6E8A-4147-A177-3AD203B41FA5}">
                      <a16:colId xmlns:a16="http://schemas.microsoft.com/office/drawing/2014/main" val="3605578800"/>
                    </a:ext>
                  </a:extLst>
                </a:gridCol>
                <a:gridCol w="1831718">
                  <a:extLst>
                    <a:ext uri="{9D8B030D-6E8A-4147-A177-3AD203B41FA5}">
                      <a16:colId xmlns:a16="http://schemas.microsoft.com/office/drawing/2014/main" val="2759310369"/>
                    </a:ext>
                  </a:extLst>
                </a:gridCol>
              </a:tblGrid>
              <a:tr h="274948">
                <a:tc gridSpan="2">
                  <a:txBody>
                    <a:bodyPr/>
                    <a:lstStyle/>
                    <a:p>
                      <a:r>
                        <a:rPr lang="zh-TW" altLang="en-US" sz="1200" dirty="0">
                          <a:effectLst/>
                          <a:latin typeface="微軟正黑體" panose="020B0604030504040204" pitchFamily="34" charset="-120"/>
                          <a:ea typeface="微軟正黑體" panose="020B0604030504040204" pitchFamily="34" charset="-120"/>
                        </a:rPr>
                        <a:t>建大輪胎店招牌製作申請書 </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extLst>
                  <a:ext uri="{0D108BD9-81ED-4DB2-BD59-A6C34878D82A}">
                    <a16:rowId xmlns:a16="http://schemas.microsoft.com/office/drawing/2014/main" val="524597337"/>
                  </a:ext>
                </a:extLst>
              </a:tr>
              <a:tr h="458455">
                <a:tc>
                  <a:txBody>
                    <a:bodyPr/>
                    <a:lstStyle/>
                    <a:p>
                      <a:r>
                        <a:rPr lang="zh-TW" altLang="en-US" sz="1200" dirty="0">
                          <a:effectLst/>
                          <a:latin typeface="微軟正黑體" panose="020B0604030504040204" pitchFamily="34" charset="-120"/>
                          <a:ea typeface="微軟正黑體" panose="020B0604030504040204" pitchFamily="34" charset="-120"/>
                        </a:rPr>
                        <a:t>經銷商</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effectLst/>
                          <a:highlight>
                            <a:srgbClr val="FFFF00"/>
                          </a:highlight>
                          <a:latin typeface="微軟正黑體" panose="020B0604030504040204" pitchFamily="34" charset="-120"/>
                          <a:ea typeface="微軟正黑體" panose="020B0604030504040204" pitchFamily="34" charset="-120"/>
                        </a:rPr>
                        <a:t>樺陞 </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帳號登入自動帶該經銷商簡稱</a:t>
                      </a:r>
                      <a:r>
                        <a:rPr lang="en-US" altLang="zh-TW" sz="1200" dirty="0">
                          <a:effectLst/>
                          <a:latin typeface="微軟正黑體" panose="020B0604030504040204" pitchFamily="34" charset="-120"/>
                          <a:ea typeface="微軟正黑體" panose="020B0604030504040204" pitchFamily="34" charset="-120"/>
                        </a:rPr>
                        <a:t>)</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zh-TW" altLang="en-US" sz="1700" dirty="0">
                          <a:effectLst/>
                          <a:latin typeface="微軟正黑體" panose="020B0604030504040204" pitchFamily="34" charset="-120"/>
                          <a:ea typeface="微軟正黑體" panose="020B0604030504040204" pitchFamily="34" charset="-120"/>
                        </a:rPr>
                        <a:t>施 工 項 目 </a:t>
                      </a:r>
                      <a:endParaRPr lang="zh-TW" altLang="en-US" sz="18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3212443"/>
                  </a:ext>
                </a:extLst>
              </a:tr>
              <a:tr h="458455">
                <a:tc>
                  <a:txBody>
                    <a:bodyPr/>
                    <a:lstStyle/>
                    <a:p>
                      <a:r>
                        <a:rPr lang="zh-TW" altLang="en-US" sz="1200" dirty="0">
                          <a:effectLst/>
                          <a:latin typeface="微軟正黑體" panose="020B0604030504040204" pitchFamily="34" charset="-120"/>
                          <a:ea typeface="微軟正黑體" panose="020B0604030504040204" pitchFamily="34" charset="-120"/>
                        </a:rPr>
                        <a:t>廣告編號</a:t>
                      </a:r>
                      <a:r>
                        <a:rPr lang="en-US" altLang="zh-TW" sz="1200" dirty="0">
                          <a:effectLst/>
                          <a:latin typeface="微軟正黑體" panose="020B0604030504040204" pitchFamily="34" charset="-120"/>
                          <a:ea typeface="微軟正黑體" panose="020B0604030504040204" pitchFamily="34" charset="-120"/>
                        </a:rPr>
                        <a:t>: </a:t>
                      </a:r>
                      <a:r>
                        <a:rPr lang="en-US" altLang="zh-TW" sz="1200" dirty="0">
                          <a:solidFill>
                            <a:srgbClr val="FF0000"/>
                          </a:solidFill>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若有申請過，可輸入廣告編號按查詢自動帶出資料</a:t>
                      </a:r>
                      <a:r>
                        <a:rPr lang="en-US" altLang="zh-TW" sz="1200" dirty="0">
                          <a:solidFill>
                            <a:srgbClr val="FF0000"/>
                          </a:solidFill>
                          <a:effectLst/>
                          <a:latin typeface="微軟正黑體" panose="020B0604030504040204" pitchFamily="34" charset="-120"/>
                          <a:ea typeface="微軟正黑體" panose="020B0604030504040204" pitchFamily="34" charset="-120"/>
                        </a:rPr>
                        <a:t>)</a:t>
                      </a:r>
                      <a:endParaRPr lang="zh-TW" altLang="en-US" sz="1200" dirty="0">
                        <a:solidFill>
                          <a:srgbClr val="FF0000"/>
                        </a:solidFill>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r>
                        <a:rPr lang="zh-TW" altLang="en-US" sz="1000" dirty="0">
                          <a:effectLst/>
                          <a:latin typeface="微軟正黑體" panose="020B0604030504040204" pitchFamily="34" charset="-120"/>
                          <a:ea typeface="微軟正黑體" panose="020B0604030504040204" pitchFamily="34" charset="-120"/>
                        </a:rPr>
                        <a:t>   </a:t>
                      </a:r>
                      <a:r>
                        <a:rPr lang="zh-TW" altLang="en-US" sz="900" dirty="0">
                          <a:effectLst/>
                          <a:latin typeface="微軟正黑體" panose="020B0604030504040204" pitchFamily="34" charset="-120"/>
                          <a:ea typeface="微軟正黑體" panose="020B0604030504040204" pitchFamily="34" charset="-120"/>
                        </a:rPr>
                        <a:t>新增      修改     作廢移招</a:t>
                      </a:r>
                      <a:endParaRPr lang="en-US" altLang="zh-TW" sz="900" dirty="0">
                        <a:effectLst/>
                        <a:latin typeface="微軟正黑體" panose="020B0604030504040204" pitchFamily="34" charset="-120"/>
                        <a:ea typeface="微軟正黑體" panose="020B0604030504040204" pitchFamily="34" charset="-120"/>
                      </a:endParaRPr>
                    </a:p>
                    <a:p>
                      <a:r>
                        <a:rPr lang="zh-TW" altLang="en-US" sz="900" dirty="0">
                          <a:effectLst/>
                          <a:latin typeface="微軟正黑體" panose="020B0604030504040204" pitchFamily="34" charset="-120"/>
                          <a:ea typeface="微軟正黑體" panose="020B0604030504040204" pitchFamily="34" charset="-120"/>
                        </a:rPr>
                        <a:t>   </a:t>
                      </a:r>
                      <a:r>
                        <a:rPr lang="zh-TW" altLang="en-US" sz="900" dirty="0">
                          <a:effectLst/>
                          <a:highlight>
                            <a:srgbClr val="00FFFF"/>
                          </a:highlight>
                          <a:latin typeface="微軟正黑體" panose="020B0604030504040204" pitchFamily="34" charset="-120"/>
                          <a:ea typeface="微軟正黑體" panose="020B0604030504040204" pitchFamily="34" charset="-120"/>
                        </a:rPr>
                        <a:t>盤點      續約     作廢資產轉移</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2123155"/>
                  </a:ext>
                </a:extLst>
              </a:tr>
              <a:tr h="673400">
                <a:tc>
                  <a:txBody>
                    <a:bodyPr/>
                    <a:lstStyle/>
                    <a:p>
                      <a:r>
                        <a:rPr lang="zh-TW" altLang="en-US" sz="1200" dirty="0">
                          <a:effectLst/>
                          <a:latin typeface="微軟正黑體" panose="020B0604030504040204" pitchFamily="34" charset="-120"/>
                          <a:ea typeface="微軟正黑體" panose="020B0604030504040204" pitchFamily="34" charset="-120"/>
                        </a:rPr>
                        <a:t>輪胎行</a:t>
                      </a:r>
                      <a:r>
                        <a:rPr lang="en-US" altLang="zh-TW" sz="1200" dirty="0">
                          <a:effectLst/>
                          <a:latin typeface="微軟正黑體" panose="020B0604030504040204" pitchFamily="34" charset="-120"/>
                          <a:ea typeface="微軟正黑體" panose="020B0604030504040204" pitchFamily="34" charset="-120"/>
                        </a:rPr>
                        <a:t>:</a:t>
                      </a:r>
                      <a:r>
                        <a:rPr lang="zh-TW" altLang="en-US" sz="1200" b="0" dirty="0">
                          <a:effectLst/>
                          <a:highlight>
                            <a:srgbClr val="FFFF00"/>
                          </a:highlight>
                          <a:latin typeface="微軟正黑體" panose="020B0604030504040204" pitchFamily="34" charset="-120"/>
                          <a:ea typeface="微軟正黑體" panose="020B0604030504040204" pitchFamily="34" charset="-120"/>
                        </a:rPr>
                        <a:t>協成汽車保養廠 </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申請者填寫，</a:t>
                      </a:r>
                      <a:r>
                        <a:rPr lang="zh-TW" altLang="en-US" sz="1200" b="1" dirty="0">
                          <a:solidFill>
                            <a:srgbClr val="FF0000"/>
                          </a:solidFill>
                          <a:effectLst/>
                          <a:latin typeface="微軟正黑體" panose="020B0604030504040204" pitchFamily="34" charset="-120"/>
                          <a:ea typeface="微軟正黑體" panose="020B0604030504040204" pitchFamily="34" charset="-120"/>
                        </a:rPr>
                        <a:t>若要維修時，申請者可打入廣告資料編號可自帶歷史資訊</a:t>
                      </a:r>
                      <a:r>
                        <a:rPr lang="en-US" altLang="zh-TW" sz="1200" dirty="0">
                          <a:effectLst/>
                          <a:latin typeface="微軟正黑體" panose="020B0604030504040204" pitchFamily="34" charset="-120"/>
                          <a:ea typeface="微軟正黑體" panose="020B0604030504040204" pitchFamily="34" charset="-120"/>
                        </a:rPr>
                        <a:t>) </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rowSpan="4">
                  <a:txBody>
                    <a:bodyPr/>
                    <a:lstStyle/>
                    <a:p>
                      <a:r>
                        <a:rPr lang="zh-TW" altLang="en-US" sz="1000" dirty="0">
                          <a:effectLst/>
                          <a:latin typeface="微軟正黑體" panose="020B0604030504040204" pitchFamily="34" charset="-120"/>
                          <a:ea typeface="微軟正黑體" panose="020B0604030504040204" pitchFamily="34" charset="-120"/>
                        </a:rPr>
                        <a:t>形象店</a:t>
                      </a:r>
                      <a:endParaRPr lang="en-US" altLang="zh-TW" sz="1000" dirty="0">
                        <a:effectLst/>
                        <a:latin typeface="微軟正黑體" panose="020B0604030504040204" pitchFamily="34" charset="-120"/>
                        <a:ea typeface="微軟正黑體" panose="020B0604030504040204" pitchFamily="34" charset="-120"/>
                      </a:endParaRPr>
                    </a:p>
                    <a:p>
                      <a:r>
                        <a:rPr lang="zh-TW" altLang="en-US" sz="1000" dirty="0">
                          <a:effectLst/>
                          <a:latin typeface="微軟正黑體" panose="020B0604030504040204" pitchFamily="34" charset="-120"/>
                          <a:ea typeface="微軟正黑體" panose="020B0604030504040204" pitchFamily="34" charset="-120"/>
                        </a:rPr>
                        <a:t>       專案討論</a:t>
                      </a:r>
                      <a:endParaRPr lang="en-US" altLang="zh-TW" sz="1000" dirty="0">
                        <a:effectLst/>
                        <a:latin typeface="微軟正黑體" panose="020B0604030504040204" pitchFamily="34" charset="-120"/>
                        <a:ea typeface="微軟正黑體" panose="020B0604030504040204"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TW" sz="1000" dirty="0">
                        <a:effectLst/>
                        <a:latin typeface="微軟正黑體" panose="020B0604030504040204" pitchFamily="34" charset="-120"/>
                        <a:ea typeface="微軟正黑體" panose="020B0604030504040204"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TW" altLang="en-US" sz="1000" dirty="0">
                          <a:effectLst/>
                          <a:latin typeface="微軟正黑體" panose="020B0604030504040204" pitchFamily="34" charset="-120"/>
                          <a:ea typeface="微軟正黑體" panose="020B0604030504040204" pitchFamily="34" charset="-120"/>
                        </a:rPr>
                        <a:t>形象店特約服務中心</a:t>
                      </a:r>
                      <a:endParaRPr lang="en-US" altLang="zh-TW" sz="1000" dirty="0">
                        <a:effectLst/>
                        <a:latin typeface="微軟正黑體" panose="020B0604030504040204" pitchFamily="34" charset="-120"/>
                        <a:ea typeface="微軟正黑體" panose="020B0604030504040204" pitchFamily="34" charset="-120"/>
                      </a:endParaRPr>
                    </a:p>
                    <a:p>
                      <a:r>
                        <a:rPr lang="en-US" altLang="zh-TW" sz="1000" dirty="0">
                          <a:effectLst/>
                          <a:highlight>
                            <a:srgbClr val="FFFF00"/>
                          </a:highlight>
                          <a:latin typeface="微軟正黑體" panose="020B0604030504040204" pitchFamily="34" charset="-120"/>
                          <a:ea typeface="微軟正黑體" panose="020B0604030504040204" pitchFamily="34" charset="-120"/>
                        </a:rPr>
                        <a:t>          </a:t>
                      </a:r>
                      <a:r>
                        <a:rPr lang="zh-TW" altLang="en-US" sz="1000" dirty="0">
                          <a:effectLst/>
                          <a:highlight>
                            <a:srgbClr val="FFFF00"/>
                          </a:highlight>
                          <a:latin typeface="微軟正黑體" panose="020B0604030504040204" pitchFamily="34" charset="-120"/>
                          <a:ea typeface="微軟正黑體" panose="020B0604030504040204" pitchFamily="34" charset="-120"/>
                        </a:rPr>
                        <a:t>鐵門油漆、橫招</a:t>
                      </a:r>
                      <a:endParaRPr lang="en-US" altLang="zh-TW" sz="1000" dirty="0">
                        <a:effectLst/>
                        <a:highlight>
                          <a:srgbClr val="FFFF00"/>
                        </a:highlight>
                        <a:latin typeface="微軟正黑體" panose="020B0604030504040204" pitchFamily="34" charset="-120"/>
                        <a:ea typeface="微軟正黑體" panose="020B0604030504040204" pitchFamily="34" charset="-120"/>
                      </a:endParaRPr>
                    </a:p>
                    <a:p>
                      <a:r>
                        <a:rPr lang="en-US" altLang="zh-TW" sz="1000" dirty="0">
                          <a:solidFill>
                            <a:srgbClr val="FF0000"/>
                          </a:solidFill>
                          <a:effectLst/>
                          <a:highlight>
                            <a:srgbClr val="FFFF00"/>
                          </a:highlight>
                          <a:latin typeface="微軟正黑體" panose="020B0604030504040204" pitchFamily="34" charset="-120"/>
                          <a:ea typeface="微軟正黑體" panose="020B0604030504040204" pitchFamily="34" charset="-120"/>
                        </a:rPr>
                        <a:t>(</a:t>
                      </a:r>
                      <a:r>
                        <a:rPr lang="zh-TW" altLang="en-US" sz="1000" dirty="0">
                          <a:solidFill>
                            <a:srgbClr val="FF0000"/>
                          </a:solidFill>
                          <a:effectLst/>
                          <a:highlight>
                            <a:srgbClr val="FFFF00"/>
                          </a:highlight>
                          <a:latin typeface="微軟正黑體" panose="020B0604030504040204" pitchFamily="34" charset="-120"/>
                          <a:ea typeface="微軟正黑體" panose="020B0604030504040204" pitchFamily="34" charset="-120"/>
                        </a:rPr>
                        <a:t>可由申請者自行填寫</a:t>
                      </a:r>
                      <a:r>
                        <a:rPr lang="en-US" altLang="zh-TW" sz="1000" dirty="0">
                          <a:solidFill>
                            <a:srgbClr val="FF0000"/>
                          </a:solidFill>
                          <a:effectLst/>
                          <a:highlight>
                            <a:srgbClr val="FFFF00"/>
                          </a:highlight>
                          <a:latin typeface="微軟正黑體" panose="020B0604030504040204" pitchFamily="34" charset="-120"/>
                          <a:ea typeface="微軟正黑體" panose="020B0604030504040204" pitchFamily="34" charset="-120"/>
                        </a:rPr>
                        <a:t>)</a:t>
                      </a:r>
                      <a:endParaRPr lang="en-US" altLang="zh-TW" sz="1000" dirty="0">
                        <a:effectLst/>
                        <a:latin typeface="微軟正黑體" panose="020B0604030504040204" pitchFamily="34" charset="-120"/>
                        <a:ea typeface="微軟正黑體" panose="020B0604030504040204" pitchFamily="34" charset="-120"/>
                      </a:endParaRPr>
                    </a:p>
                    <a:p>
                      <a:r>
                        <a:rPr lang="zh-TW" altLang="en-US"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範圍項目有</a:t>
                      </a:r>
                      <a:r>
                        <a:rPr lang="en-US" altLang="zh-TW"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 </a:t>
                      </a:r>
                      <a:r>
                        <a:rPr lang="zh-TW" altLang="en-US"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直、橫招</a:t>
                      </a:r>
                      <a:r>
                        <a:rPr lang="en-US" altLang="zh-TW"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平面</a:t>
                      </a:r>
                      <a:r>
                        <a:rPr lang="en-US" altLang="zh-TW"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、刷墻、鐵門油漆、包柱子、燈箱廣告</a:t>
                      </a:r>
                      <a:endParaRPr lang="en-US" altLang="zh-TW" sz="1000" b="0" i="0" u="none" strike="noStrike" kern="1200" dirty="0">
                        <a:solidFill>
                          <a:schemeClr val="tx1"/>
                        </a:solidFill>
                        <a:effectLst/>
                        <a:latin typeface="微軟正黑體" panose="020B0604030504040204" pitchFamily="34" charset="-120"/>
                        <a:ea typeface="微軟正黑體" panose="020B0604030504040204" pitchFamily="34" charset="-120"/>
                        <a:cs typeface="+mn-cs"/>
                      </a:endParaRPr>
                    </a:p>
                    <a:p>
                      <a:endParaRPr lang="en-US" altLang="zh-TW" sz="1000" dirty="0">
                        <a:effectLst/>
                        <a:latin typeface="微軟正黑體" panose="020B0604030504040204" pitchFamily="34" charset="-120"/>
                        <a:ea typeface="微軟正黑體" panose="020B0604030504040204" pitchFamily="34" charset="-120"/>
                      </a:endParaRPr>
                    </a:p>
                    <a:p>
                      <a:r>
                        <a:rPr lang="zh-TW" altLang="en-US" sz="1000" dirty="0">
                          <a:effectLst/>
                          <a:latin typeface="微軟正黑體" panose="020B0604030504040204" pitchFamily="34" charset="-120"/>
                          <a:ea typeface="微軟正黑體" panose="020B0604030504040204" pitchFamily="34" charset="-120"/>
                        </a:rPr>
                        <a:t>一般店</a:t>
                      </a:r>
                      <a:r>
                        <a:rPr lang="en-US" altLang="zh-TW" sz="1000" dirty="0">
                          <a:effectLst/>
                          <a:latin typeface="微軟正黑體" panose="020B0604030504040204" pitchFamily="34" charset="-120"/>
                          <a:ea typeface="微軟正黑體" panose="020B0604030504040204" pitchFamily="34" charset="-120"/>
                        </a:rPr>
                        <a:t>: </a:t>
                      </a:r>
                    </a:p>
                    <a:p>
                      <a:r>
                        <a:rPr lang="en-US" altLang="zh-TW" sz="1000" dirty="0">
                          <a:effectLst/>
                          <a:latin typeface="微軟正黑體" panose="020B0604030504040204" pitchFamily="34" charset="-120"/>
                          <a:ea typeface="微軟正黑體" panose="020B0604030504040204" pitchFamily="34" charset="-120"/>
                        </a:rPr>
                        <a:t>        </a:t>
                      </a:r>
                      <a:r>
                        <a:rPr lang="zh-TW" altLang="en-US" sz="1000" dirty="0">
                          <a:effectLst/>
                          <a:latin typeface="微軟正黑體" panose="020B0604030504040204" pitchFamily="34" charset="-120"/>
                          <a:ea typeface="微軟正黑體" panose="020B0604030504040204" pitchFamily="34" charset="-120"/>
                        </a:rPr>
                        <a:t>直招         橫招</a:t>
                      </a:r>
                      <a:endParaRPr lang="en-US" altLang="zh-TW" sz="1000" dirty="0">
                        <a:effectLst/>
                        <a:latin typeface="微軟正黑體" panose="020B0604030504040204" pitchFamily="34" charset="-120"/>
                        <a:ea typeface="微軟正黑體" panose="020B0604030504040204" pitchFamily="34" charset="-120"/>
                      </a:endParaRPr>
                    </a:p>
                    <a:p>
                      <a:r>
                        <a:rPr lang="en-US" altLang="zh-TW" sz="1000" dirty="0">
                          <a:effectLst/>
                          <a:latin typeface="微軟正黑體" panose="020B0604030504040204" pitchFamily="34" charset="-120"/>
                          <a:ea typeface="微軟正黑體" panose="020B0604030504040204" pitchFamily="34" charset="-120"/>
                        </a:rPr>
                        <a:t>       </a:t>
                      </a:r>
                      <a:r>
                        <a:rPr lang="zh-TW" altLang="en-US" sz="1000" dirty="0">
                          <a:effectLst/>
                          <a:latin typeface="微軟正黑體" panose="020B0604030504040204" pitchFamily="34" charset="-120"/>
                          <a:ea typeface="微軟正黑體" panose="020B0604030504040204" pitchFamily="34" charset="-120"/>
                        </a:rPr>
                        <a:t>車體彩繪</a:t>
                      </a:r>
                      <a:endParaRPr lang="en-US" altLang="zh-TW" sz="1000" dirty="0">
                        <a:effectLst/>
                        <a:latin typeface="微軟正黑體" panose="020B0604030504040204" pitchFamily="34" charset="-120"/>
                        <a:ea typeface="微軟正黑體" panose="020B0604030504040204"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zh-TW" altLang="en-US" sz="1000" dirty="0">
                          <a:effectLst/>
                          <a:highlight>
                            <a:srgbClr val="FFFF00"/>
                          </a:highlight>
                          <a:latin typeface="微軟正黑體" panose="020B0604030504040204" pitchFamily="34" charset="-120"/>
                          <a:ea typeface="微軟正黑體" panose="020B0604030504040204" pitchFamily="34" charset="-120"/>
                        </a:rPr>
                        <a:t>       其他</a:t>
                      </a:r>
                      <a:r>
                        <a:rPr lang="en-US" altLang="zh-TW" sz="1000" dirty="0">
                          <a:effectLst/>
                          <a:highlight>
                            <a:srgbClr val="FFFF00"/>
                          </a:highlight>
                          <a:latin typeface="微軟正黑體" panose="020B0604030504040204" pitchFamily="34" charset="-120"/>
                          <a:ea typeface="微軟正黑體" panose="020B0604030504040204" pitchFamily="34" charset="-120"/>
                        </a:rPr>
                        <a:t>(</a:t>
                      </a:r>
                      <a:r>
                        <a:rPr lang="zh-TW" altLang="en-US" sz="1000" dirty="0">
                          <a:solidFill>
                            <a:srgbClr val="FF0000"/>
                          </a:solidFill>
                          <a:effectLst/>
                          <a:highlight>
                            <a:srgbClr val="FFFF00"/>
                          </a:highlight>
                          <a:latin typeface="微軟正黑體" panose="020B0604030504040204" pitchFamily="34" charset="-120"/>
                          <a:ea typeface="微軟正黑體" panose="020B0604030504040204" pitchFamily="34" charset="-120"/>
                        </a:rPr>
                        <a:t>申請者可自行填寫</a:t>
                      </a:r>
                      <a:r>
                        <a:rPr lang="en-US" altLang="zh-TW" sz="1000" dirty="0">
                          <a:solidFill>
                            <a:srgbClr val="FF0000"/>
                          </a:solidFill>
                          <a:effectLst/>
                          <a:highlight>
                            <a:srgbClr val="FFFF00"/>
                          </a:highlight>
                          <a:latin typeface="微軟正黑體" panose="020B0604030504040204" pitchFamily="34" charset="-120"/>
                          <a:ea typeface="微軟正黑體" panose="020B0604030504040204" pitchFamily="34" charset="-120"/>
                        </a:rPr>
                        <a:t>)</a:t>
                      </a:r>
                      <a:endParaRPr lang="en-US" altLang="zh-TW" sz="1000" dirty="0">
                        <a:effectLst/>
                        <a:highlight>
                          <a:srgbClr val="FFFF00"/>
                        </a:highlight>
                        <a:latin typeface="微軟正黑體" panose="020B0604030504040204" pitchFamily="34" charset="-120"/>
                        <a:ea typeface="微軟正黑體" panose="020B0604030504040204"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zh-TW" sz="1200" dirty="0">
                        <a:effectLst/>
                        <a:highlight>
                          <a:srgbClr val="FFFF00"/>
                        </a:highligh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6358656"/>
                  </a:ext>
                </a:extLst>
              </a:tr>
              <a:tr h="673400">
                <a:tc>
                  <a:txBody>
                    <a:bodyPr/>
                    <a:lstStyle/>
                    <a:p>
                      <a:r>
                        <a:rPr lang="zh-TW" altLang="en-US" sz="1200" dirty="0">
                          <a:effectLst/>
                          <a:latin typeface="微軟正黑體" panose="020B0604030504040204" pitchFamily="34" charset="-120"/>
                          <a:ea typeface="微軟正黑體" panose="020B0604030504040204" pitchFamily="34" charset="-120"/>
                        </a:rPr>
                        <a:t>聯絡人</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effectLst/>
                          <a:highlight>
                            <a:srgbClr val="FFFF00"/>
                          </a:highlight>
                          <a:latin typeface="微軟正黑體" panose="020B0604030504040204" pitchFamily="34" charset="-120"/>
                          <a:ea typeface="微軟正黑體" panose="020B0604030504040204" pitchFamily="34" charset="-120"/>
                        </a:rPr>
                        <a:t>謝秋燕 </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申請者登入填寫，</a:t>
                      </a:r>
                      <a:r>
                        <a:rPr lang="zh-TW" altLang="en-US" sz="1200" b="1" dirty="0">
                          <a:solidFill>
                            <a:srgbClr val="FF0000"/>
                          </a:solidFill>
                          <a:effectLst/>
                          <a:latin typeface="微軟正黑體" panose="020B0604030504040204" pitchFamily="34" charset="-120"/>
                          <a:ea typeface="微軟正黑體" panose="020B0604030504040204" pitchFamily="34" charset="-120"/>
                        </a:rPr>
                        <a:t>若維修打廣告資料編號可自帶歷史資訊</a:t>
                      </a:r>
                      <a:r>
                        <a:rPr lang="en-US" altLang="zh-TW" sz="1200" dirty="0">
                          <a:effectLst/>
                          <a:latin typeface="微軟正黑體" panose="020B0604030504040204" pitchFamily="34" charset="-120"/>
                          <a:ea typeface="微軟正黑體" panose="020B0604030504040204" pitchFamily="34" charset="-120"/>
                        </a:rPr>
                        <a:t>)</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extLst>
                  <a:ext uri="{0D108BD9-81ED-4DB2-BD59-A6C34878D82A}">
                    <a16:rowId xmlns:a16="http://schemas.microsoft.com/office/drawing/2014/main" val="341385196"/>
                  </a:ext>
                </a:extLst>
              </a:tr>
              <a:tr h="288600">
                <a:tc>
                  <a:txBody>
                    <a:bodyPr/>
                    <a:lstStyle/>
                    <a:p>
                      <a:r>
                        <a:rPr lang="zh-TW" altLang="en-US" sz="1200" dirty="0">
                          <a:effectLst/>
                          <a:latin typeface="微軟正黑體" panose="020B0604030504040204" pitchFamily="34" charset="-120"/>
                          <a:ea typeface="微軟正黑體" panose="020B0604030504040204" pitchFamily="34" charset="-120"/>
                        </a:rPr>
                        <a:t>電 話</a:t>
                      </a:r>
                      <a:r>
                        <a:rPr lang="en-US" altLang="zh-TW" sz="1200" dirty="0">
                          <a:effectLst/>
                          <a:latin typeface="微軟正黑體" panose="020B0604030504040204" pitchFamily="34" charset="-120"/>
                          <a:ea typeface="微軟正黑體" panose="020B0604030504040204" pitchFamily="34" charset="-120"/>
                        </a:rPr>
                        <a:t>:</a:t>
                      </a:r>
                      <a:r>
                        <a:rPr lang="en-US" altLang="zh-TW" sz="1200" dirty="0">
                          <a:effectLst/>
                          <a:highlight>
                            <a:srgbClr val="FFFF00"/>
                          </a:highlight>
                          <a:latin typeface="微軟正黑體" panose="020B0604030504040204" pitchFamily="34" charset="-120"/>
                          <a:ea typeface="微軟正黑體" panose="020B0604030504040204" pitchFamily="34" charset="-120"/>
                        </a:rPr>
                        <a:t>04-7788480</a:t>
                      </a:r>
                      <a:r>
                        <a:rPr lang="en-US" altLang="zh-TW" sz="1200" dirty="0">
                          <a:effectLst/>
                          <a:latin typeface="微軟正黑體" panose="020B0604030504040204" pitchFamily="34" charset="-120"/>
                          <a:ea typeface="微軟正黑體" panose="020B0604030504040204" pitchFamily="34" charset="-120"/>
                        </a:rPr>
                        <a:t> </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extLst>
                  <a:ext uri="{0D108BD9-81ED-4DB2-BD59-A6C34878D82A}">
                    <a16:rowId xmlns:a16="http://schemas.microsoft.com/office/drawing/2014/main" val="369390923"/>
                  </a:ext>
                </a:extLst>
              </a:tr>
              <a:tr h="8227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TW" altLang="en-US" sz="1200" dirty="0">
                          <a:effectLst/>
                          <a:latin typeface="微軟正黑體" panose="020B0604030504040204" pitchFamily="34" charset="-120"/>
                          <a:ea typeface="微軟正黑體" panose="020B0604030504040204" pitchFamily="34" charset="-120"/>
                        </a:rPr>
                        <a:t>廣告物所在縣市</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effectLst/>
                          <a:latin typeface="微軟正黑體" panose="020B0604030504040204" pitchFamily="34" charset="-120"/>
                          <a:ea typeface="微軟正黑體" panose="020B0604030504040204" pitchFamily="34" charset="-120"/>
                        </a:rPr>
                        <a:t>彰化縣</a:t>
                      </a:r>
                      <a:r>
                        <a:rPr lang="en-US" altLang="zh-TW" sz="1200" dirty="0">
                          <a:effectLst/>
                          <a:latin typeface="微軟正黑體" panose="020B0604030504040204" pitchFamily="34" charset="-120"/>
                          <a:ea typeface="微軟正黑體" panose="020B0604030504040204" pitchFamily="34" charset="-120"/>
                        </a:rPr>
                        <a:t> </a:t>
                      </a:r>
                      <a:r>
                        <a:rPr lang="en-US" altLang="zh-TW" sz="1200" dirty="0">
                          <a:solidFill>
                            <a:srgbClr val="FF0000"/>
                          </a:solidFill>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依各廠下經銷商帳號所在國的縣市用下拉式選單</a:t>
                      </a:r>
                      <a:r>
                        <a:rPr lang="en-US" altLang="zh-TW" sz="1200" dirty="0">
                          <a:effectLst/>
                          <a:latin typeface="微軟正黑體" panose="020B0604030504040204" pitchFamily="34" charset="-120"/>
                          <a:ea typeface="微軟正黑體" panose="020B0604030504040204" pitchFamily="34" charset="-120"/>
                        </a:rPr>
                        <a:t>)</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extLst>
                  <a:ext uri="{0D108BD9-81ED-4DB2-BD59-A6C34878D82A}">
                    <a16:rowId xmlns:a16="http://schemas.microsoft.com/office/drawing/2014/main" val="3566747141"/>
                  </a:ext>
                </a:extLst>
              </a:tr>
              <a:tr h="458455">
                <a:tc gridSpan="2">
                  <a:txBody>
                    <a:bodyPr/>
                    <a:lstStyle/>
                    <a:p>
                      <a:r>
                        <a:rPr lang="zh-TW" altLang="en-US" sz="1200" dirty="0">
                          <a:effectLst/>
                          <a:latin typeface="微軟正黑體" panose="020B0604030504040204" pitchFamily="34" charset="-120"/>
                          <a:ea typeface="微軟正黑體" panose="020B0604030504040204" pitchFamily="34" charset="-120"/>
                        </a:rPr>
                        <a:t>住 址</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effectLst/>
                          <a:highlight>
                            <a:srgbClr val="FFFF00"/>
                          </a:highlight>
                          <a:latin typeface="微軟正黑體" panose="020B0604030504040204" pitchFamily="34" charset="-120"/>
                          <a:ea typeface="微軟正黑體" panose="020B0604030504040204" pitchFamily="34" charset="-120"/>
                        </a:rPr>
                        <a:t>福興鄉秀厝村秀安二街</a:t>
                      </a:r>
                      <a:r>
                        <a:rPr lang="en-US" altLang="zh-TW" sz="1200" dirty="0">
                          <a:effectLst/>
                          <a:highlight>
                            <a:srgbClr val="FFFF00"/>
                          </a:highlight>
                          <a:latin typeface="微軟正黑體" panose="020B0604030504040204" pitchFamily="34" charset="-120"/>
                          <a:ea typeface="微軟正黑體" panose="020B0604030504040204" pitchFamily="34" charset="-120"/>
                        </a:rPr>
                        <a:t>112</a:t>
                      </a:r>
                      <a:r>
                        <a:rPr lang="zh-TW" altLang="en-US" sz="1200" dirty="0">
                          <a:effectLst/>
                          <a:highlight>
                            <a:srgbClr val="FFFF00"/>
                          </a:highlight>
                          <a:latin typeface="微軟正黑體" panose="020B0604030504040204" pitchFamily="34" charset="-120"/>
                          <a:ea typeface="微軟正黑體" panose="020B0604030504040204" pitchFamily="34" charset="-120"/>
                        </a:rPr>
                        <a:t>巷</a:t>
                      </a:r>
                      <a:r>
                        <a:rPr lang="en-US" altLang="zh-TW" sz="1200" dirty="0">
                          <a:effectLst/>
                          <a:highlight>
                            <a:srgbClr val="FFFF00"/>
                          </a:highlight>
                          <a:latin typeface="微軟正黑體" panose="020B0604030504040204" pitchFamily="34" charset="-120"/>
                          <a:ea typeface="微軟正黑體" panose="020B0604030504040204" pitchFamily="34" charset="-120"/>
                        </a:rPr>
                        <a:t>61</a:t>
                      </a:r>
                      <a:r>
                        <a:rPr lang="zh-TW" altLang="en-US" sz="1200" dirty="0">
                          <a:effectLst/>
                          <a:highlight>
                            <a:srgbClr val="FFFF00"/>
                          </a:highlight>
                          <a:latin typeface="微軟正黑體" panose="020B0604030504040204" pitchFamily="34" charset="-120"/>
                          <a:ea typeface="微軟正黑體" panose="020B0604030504040204" pitchFamily="34" charset="-120"/>
                        </a:rPr>
                        <a:t>號 </a:t>
                      </a:r>
                      <a:endParaRPr lang="en-US" altLang="zh-TW" sz="1200" dirty="0">
                        <a:effectLst/>
                        <a:highlight>
                          <a:srgbClr val="FFFF00"/>
                        </a:highlight>
                        <a:latin typeface="微軟正黑體" panose="020B0604030504040204" pitchFamily="34" charset="-120"/>
                        <a:ea typeface="微軟正黑體" panose="020B0604030504040204" pitchFamily="34" charset="-120"/>
                      </a:endParaRPr>
                    </a:p>
                    <a:p>
                      <a:r>
                        <a:rPr lang="en-US" altLang="zh-TW" sz="1200" dirty="0">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申請者填寫，</a:t>
                      </a:r>
                      <a:r>
                        <a:rPr lang="zh-TW" altLang="en-US" sz="1200" b="1" dirty="0">
                          <a:solidFill>
                            <a:srgbClr val="FF0000"/>
                          </a:solidFill>
                          <a:effectLst/>
                          <a:latin typeface="微軟正黑體" panose="020B0604030504040204" pitchFamily="34" charset="-120"/>
                          <a:ea typeface="微軟正黑體" panose="020B0604030504040204" pitchFamily="34" charset="-120"/>
                        </a:rPr>
                        <a:t>若維修打廣告資料編號可自帶歷史資訊</a:t>
                      </a:r>
                      <a:r>
                        <a:rPr lang="en-US" altLang="zh-TW" sz="1200" dirty="0">
                          <a:effectLst/>
                          <a:latin typeface="微軟正黑體" panose="020B0604030504040204" pitchFamily="34" charset="-120"/>
                          <a:ea typeface="微軟正黑體" panose="020B0604030504040204" pitchFamily="34" charset="-120"/>
                        </a:rPr>
                        <a:t>)</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extLst>
                  <a:ext uri="{0D108BD9-81ED-4DB2-BD59-A6C34878D82A}">
                    <a16:rowId xmlns:a16="http://schemas.microsoft.com/office/drawing/2014/main" val="1856079434"/>
                  </a:ext>
                </a:extLst>
              </a:tr>
              <a:tr h="274948">
                <a:tc gridSpan="2">
                  <a:txBody>
                    <a:bodyPr/>
                    <a:lstStyle/>
                    <a:p>
                      <a:r>
                        <a:rPr lang="zh-TW" altLang="en-US" sz="1200" dirty="0">
                          <a:effectLst/>
                          <a:latin typeface="微軟正黑體" panose="020B0604030504040204" pitchFamily="34" charset="-120"/>
                          <a:ea typeface="微軟正黑體" panose="020B0604030504040204" pitchFamily="34" charset="-120"/>
                        </a:rPr>
                        <a:t>備註</a:t>
                      </a:r>
                      <a:r>
                        <a:rPr lang="en-US" altLang="zh-TW" sz="1200" dirty="0">
                          <a:effectLst/>
                          <a:latin typeface="微軟正黑體" panose="020B0604030504040204" pitchFamily="34" charset="-120"/>
                          <a:ea typeface="微軟正黑體" panose="020B0604030504040204" pitchFamily="34" charset="-120"/>
                        </a:rPr>
                        <a:t>: (</a:t>
                      </a:r>
                      <a:r>
                        <a:rPr lang="zh-TW" altLang="en-US" sz="1200" dirty="0">
                          <a:solidFill>
                            <a:srgbClr val="FF0000"/>
                          </a:solidFill>
                          <a:effectLst/>
                          <a:latin typeface="微軟正黑體" panose="020B0604030504040204" pitchFamily="34" charset="-120"/>
                          <a:ea typeface="微軟正黑體" panose="020B0604030504040204" pitchFamily="34" charset="-120"/>
                        </a:rPr>
                        <a:t>申請者填寫</a:t>
                      </a:r>
                      <a:r>
                        <a:rPr lang="en-US" altLang="zh-TW" sz="1200" dirty="0">
                          <a:effectLst/>
                          <a:latin typeface="微軟正黑體" panose="020B0604030504040204" pitchFamily="34" charset="-120"/>
                          <a:ea typeface="微軟正黑體" panose="020B0604030504040204" pitchFamily="34" charset="-120"/>
                        </a:rPr>
                        <a:t>) </a:t>
                      </a:r>
                      <a:r>
                        <a:rPr lang="en-US" altLang="zh-TW" sz="1200" dirty="0">
                          <a:effectLst/>
                          <a:highlight>
                            <a:srgbClr val="FFFF00"/>
                          </a:highlight>
                          <a:latin typeface="微軟正黑體" panose="020B0604030504040204" pitchFamily="34" charset="-120"/>
                          <a:ea typeface="微軟正黑體" panose="020B0604030504040204" pitchFamily="34" charset="-120"/>
                        </a:rPr>
                        <a:t>        </a:t>
                      </a:r>
                      <a:r>
                        <a:rPr lang="en-US" altLang="zh-TW" sz="1200" dirty="0">
                          <a:effectLst/>
                          <a:latin typeface="微軟正黑體" panose="020B0604030504040204" pitchFamily="34" charset="-120"/>
                          <a:ea typeface="微軟正黑體" panose="020B0604030504040204" pitchFamily="34" charset="-120"/>
                        </a:rPr>
                        <a:t>  </a:t>
                      </a:r>
                      <a:endParaRPr lang="zh-TW" altLang="en-US"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hMerge="1">
                  <a:txBody>
                    <a:bodyPr/>
                    <a:lstStyle/>
                    <a:p>
                      <a:endParaRPr lang="zh-TW" altLang="en-US"/>
                    </a:p>
                  </a:txBody>
                  <a:tcPr/>
                </a:tc>
                <a:extLst>
                  <a:ext uri="{0D108BD9-81ED-4DB2-BD59-A6C34878D82A}">
                    <a16:rowId xmlns:a16="http://schemas.microsoft.com/office/drawing/2014/main" val="746045136"/>
                  </a:ext>
                </a:extLst>
              </a:tr>
              <a:tr h="965682">
                <a:tc gridSpan="2">
                  <a:txBody>
                    <a:bodyPr/>
                    <a:lstStyle/>
                    <a:p>
                      <a:r>
                        <a:rPr lang="zh-TW" altLang="en-US" sz="1200" dirty="0">
                          <a:effectLst/>
                          <a:latin typeface="微軟正黑體" panose="020B0604030504040204" pitchFamily="34" charset="-120"/>
                          <a:ea typeface="微軟正黑體" panose="020B0604030504040204" pitchFamily="34" charset="-120"/>
                        </a:rPr>
                        <a:t>合約書起始日</a:t>
                      </a:r>
                      <a:r>
                        <a:rPr lang="en-US" altLang="zh-TW" sz="1200" dirty="0">
                          <a:effectLst/>
                          <a:latin typeface="微軟正黑體" panose="020B0604030504040204" pitchFamily="34" charset="-120"/>
                          <a:ea typeface="微軟正黑體" panose="020B0604030504040204" pitchFamily="34" charset="-120"/>
                        </a:rPr>
                        <a:t>(</a:t>
                      </a:r>
                      <a:r>
                        <a:rPr lang="zh-TW" altLang="en-US" sz="1200" dirty="0">
                          <a:solidFill>
                            <a:srgbClr val="FF0000"/>
                          </a:solidFill>
                          <a:effectLst/>
                          <a:latin typeface="微軟正黑體" panose="020B0604030504040204" pitchFamily="34" charset="-120"/>
                          <a:ea typeface="微軟正黑體" panose="020B0604030504040204" pitchFamily="34" charset="-120"/>
                        </a:rPr>
                        <a:t>申請者填寫，若沒有可後面上載</a:t>
                      </a:r>
                      <a:r>
                        <a:rPr lang="en-US" altLang="zh-TW" sz="1200" dirty="0">
                          <a:solidFill>
                            <a:srgbClr val="FF0000"/>
                          </a:solidFill>
                          <a:effectLst/>
                          <a:latin typeface="微軟正黑體" panose="020B0604030504040204" pitchFamily="34" charset="-120"/>
                          <a:ea typeface="微軟正黑體" panose="020B0604030504040204" pitchFamily="34" charset="-120"/>
                        </a:rPr>
                        <a:t>excel</a:t>
                      </a:r>
                      <a:r>
                        <a:rPr lang="zh-TW" altLang="en-US" sz="1200" dirty="0">
                          <a:solidFill>
                            <a:srgbClr val="FF0000"/>
                          </a:solidFill>
                          <a:effectLst/>
                          <a:latin typeface="微軟正黑體" panose="020B0604030504040204" pitchFamily="34" charset="-120"/>
                          <a:ea typeface="微軟正黑體" panose="020B0604030504040204" pitchFamily="34" charset="-120"/>
                        </a:rPr>
                        <a:t>表時補入</a:t>
                      </a:r>
                      <a:r>
                        <a:rPr lang="en-US" altLang="zh-TW" sz="1200" dirty="0">
                          <a:effectLst/>
                          <a:latin typeface="微軟正黑體" panose="020B0604030504040204" pitchFamily="34" charset="-120"/>
                          <a:ea typeface="微軟正黑體" panose="020B0604030504040204" pitchFamily="34" charset="-120"/>
                        </a:rPr>
                        <a:t>) </a:t>
                      </a:r>
                    </a:p>
                    <a:p>
                      <a:r>
                        <a:rPr lang="en-US" altLang="zh-TW" sz="1200" dirty="0">
                          <a:solidFill>
                            <a:srgbClr val="FF0000"/>
                          </a:solidFill>
                          <a:effectLst/>
                          <a:latin typeface="微軟正黑體" panose="020B0604030504040204" pitchFamily="34" charset="-120"/>
                          <a:ea typeface="微軟正黑體" panose="020B0604030504040204" pitchFamily="34" charset="-120"/>
                        </a:rPr>
                        <a:t>2026</a:t>
                      </a:r>
                      <a:r>
                        <a:rPr lang="en-US" altLang="zh-TW" sz="1200" dirty="0">
                          <a:effectLst/>
                          <a:latin typeface="微軟正黑體" panose="020B0604030504040204" pitchFamily="34" charset="-120"/>
                          <a:ea typeface="微軟正黑體" panose="020B0604030504040204" pitchFamily="34" charset="-120"/>
                        </a:rPr>
                        <a:t> </a:t>
                      </a:r>
                      <a:r>
                        <a:rPr lang="zh-TW" altLang="en-US" sz="1200" dirty="0">
                          <a:effectLst/>
                          <a:latin typeface="微軟正黑體" panose="020B0604030504040204" pitchFamily="34" charset="-120"/>
                          <a:ea typeface="微軟正黑體" panose="020B0604030504040204" pitchFamily="34" charset="-120"/>
                        </a:rPr>
                        <a:t>年   </a:t>
                      </a:r>
                      <a:r>
                        <a:rPr lang="en-US" altLang="zh-TW" sz="1200" dirty="0">
                          <a:solidFill>
                            <a:srgbClr val="FF0000"/>
                          </a:solidFill>
                          <a:effectLst/>
                          <a:latin typeface="微軟正黑體" panose="020B0604030504040204" pitchFamily="34" charset="-120"/>
                          <a:ea typeface="微軟正黑體" panose="020B0604030504040204" pitchFamily="34" charset="-120"/>
                        </a:rPr>
                        <a:t>4</a:t>
                      </a:r>
                      <a:r>
                        <a:rPr lang="zh-TW" altLang="en-US" sz="1200" dirty="0">
                          <a:effectLst/>
                          <a:latin typeface="微軟正黑體" panose="020B0604030504040204" pitchFamily="34" charset="-120"/>
                          <a:ea typeface="微軟正黑體" panose="020B0604030504040204" pitchFamily="34" charset="-120"/>
                        </a:rPr>
                        <a:t>月   </a:t>
                      </a:r>
                      <a:r>
                        <a:rPr lang="en-US" altLang="zh-TW" sz="1200" dirty="0">
                          <a:solidFill>
                            <a:srgbClr val="FF0000"/>
                          </a:solidFill>
                          <a:effectLst/>
                          <a:latin typeface="微軟正黑體" panose="020B0604030504040204" pitchFamily="34" charset="-120"/>
                          <a:ea typeface="微軟正黑體" panose="020B0604030504040204" pitchFamily="34" charset="-120"/>
                        </a:rPr>
                        <a:t>16</a:t>
                      </a:r>
                      <a:r>
                        <a:rPr lang="zh-TW" altLang="en-US" sz="1200" dirty="0">
                          <a:effectLst/>
                          <a:latin typeface="微軟正黑體" panose="020B0604030504040204" pitchFamily="34" charset="-120"/>
                          <a:ea typeface="微軟正黑體" panose="020B0604030504040204" pitchFamily="34" charset="-120"/>
                        </a:rPr>
                        <a:t>日</a:t>
                      </a:r>
                      <a:endParaRPr lang="en-US" altLang="zh-TW" sz="1200" dirty="0">
                        <a:effectLst/>
                        <a:latin typeface="微軟正黑體" panose="020B0604030504040204" pitchFamily="34" charset="-120"/>
                        <a:ea typeface="微軟正黑體" panose="020B0604030504040204" pitchFamily="34" charset="-120"/>
                      </a:endParaRPr>
                    </a:p>
                    <a:p>
                      <a:r>
                        <a:rPr lang="zh-TW" altLang="en-US" sz="1200" dirty="0">
                          <a:effectLst/>
                          <a:latin typeface="微軟正黑體" panose="020B0604030504040204" pitchFamily="34" charset="-120"/>
                          <a:ea typeface="微軟正黑體" panose="020B0604030504040204" pitchFamily="34" charset="-120"/>
                        </a:rPr>
                        <a:t>合約書到期日</a:t>
                      </a:r>
                      <a:endParaRPr lang="en-US" altLang="zh-TW" sz="1200" dirty="0">
                        <a:effectLst/>
                        <a:latin typeface="微軟正黑體" panose="020B0604030504040204" pitchFamily="34" charset="-120"/>
                        <a:ea typeface="微軟正黑體" panose="020B0604030504040204"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sz="1200" dirty="0">
                          <a:solidFill>
                            <a:srgbClr val="FF0000"/>
                          </a:solidFill>
                          <a:effectLst/>
                          <a:latin typeface="微軟正黑體" panose="020B0604030504040204" pitchFamily="34" charset="-120"/>
                          <a:ea typeface="微軟正黑體" panose="020B0604030504040204" pitchFamily="34" charset="-120"/>
                        </a:rPr>
                        <a:t>2029 </a:t>
                      </a:r>
                      <a:r>
                        <a:rPr lang="zh-TW" altLang="en-US" sz="1200" dirty="0">
                          <a:effectLst/>
                          <a:latin typeface="微軟正黑體" panose="020B0604030504040204" pitchFamily="34" charset="-120"/>
                          <a:ea typeface="微軟正黑體" panose="020B0604030504040204" pitchFamily="34" charset="-120"/>
                        </a:rPr>
                        <a:t>年   </a:t>
                      </a:r>
                      <a:r>
                        <a:rPr lang="en-US" altLang="zh-TW" sz="1200" dirty="0">
                          <a:solidFill>
                            <a:srgbClr val="FF0000"/>
                          </a:solidFill>
                          <a:effectLst/>
                          <a:latin typeface="微軟正黑體" panose="020B0604030504040204" pitchFamily="34" charset="-120"/>
                          <a:ea typeface="微軟正黑體" panose="020B0604030504040204" pitchFamily="34" charset="-120"/>
                        </a:rPr>
                        <a:t>4</a:t>
                      </a:r>
                      <a:r>
                        <a:rPr lang="zh-TW" altLang="en-US" sz="1200" dirty="0">
                          <a:effectLst/>
                          <a:latin typeface="微軟正黑體" panose="020B0604030504040204" pitchFamily="34" charset="-120"/>
                          <a:ea typeface="微軟正黑體" panose="020B0604030504040204" pitchFamily="34" charset="-120"/>
                        </a:rPr>
                        <a:t>月  </a:t>
                      </a:r>
                      <a:r>
                        <a:rPr lang="zh-TW" altLang="en-US" sz="1200" dirty="0">
                          <a:solidFill>
                            <a:srgbClr val="FF0000"/>
                          </a:solidFill>
                          <a:effectLst/>
                          <a:latin typeface="微軟正黑體" panose="020B0604030504040204" pitchFamily="34" charset="-120"/>
                          <a:ea typeface="微軟正黑體" panose="020B0604030504040204" pitchFamily="34" charset="-120"/>
                        </a:rPr>
                        <a:t> </a:t>
                      </a:r>
                      <a:r>
                        <a:rPr lang="en-US" altLang="zh-TW" sz="1200" dirty="0">
                          <a:solidFill>
                            <a:srgbClr val="FF0000"/>
                          </a:solidFill>
                          <a:effectLst/>
                          <a:latin typeface="微軟正黑體" panose="020B0604030504040204" pitchFamily="34" charset="-120"/>
                          <a:ea typeface="微軟正黑體" panose="020B0604030504040204" pitchFamily="34" charset="-120"/>
                        </a:rPr>
                        <a:t>15</a:t>
                      </a:r>
                      <a:r>
                        <a:rPr lang="zh-TW" altLang="en-US" sz="1200" dirty="0">
                          <a:effectLst/>
                          <a:latin typeface="微軟正黑體" panose="020B0604030504040204" pitchFamily="34" charset="-120"/>
                          <a:ea typeface="微軟正黑體" panose="020B0604030504040204" pitchFamily="34" charset="-120"/>
                        </a:rPr>
                        <a:t>日</a:t>
                      </a:r>
                      <a:endParaRPr lang="en-US" altLang="zh-TW" sz="1200" dirty="0">
                        <a:effectLst/>
                        <a:latin typeface="微軟正黑體" panose="020B0604030504040204" pitchFamily="34" charset="-120"/>
                        <a:ea typeface="微軟正黑體" panose="020B0604030504040204" pitchFamily="34"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hMerge="1">
                  <a:txBody>
                    <a:bodyPr/>
                    <a:lstStyle/>
                    <a:p>
                      <a:endParaRPr lang="zh-TW" altLang="en-US"/>
                    </a:p>
                  </a:txBody>
                  <a:tcPr/>
                </a:tc>
                <a:extLst>
                  <a:ext uri="{0D108BD9-81ED-4DB2-BD59-A6C34878D82A}">
                    <a16:rowId xmlns:a16="http://schemas.microsoft.com/office/drawing/2014/main" val="3829789160"/>
                  </a:ext>
                </a:extLst>
              </a:tr>
            </a:tbl>
          </a:graphicData>
        </a:graphic>
      </p:graphicFrame>
      <p:sp>
        <p:nvSpPr>
          <p:cNvPr id="32" name="文字方塊 31">
            <a:extLst>
              <a:ext uri="{FF2B5EF4-FFF2-40B4-BE49-F238E27FC236}">
                <a16:creationId xmlns:a16="http://schemas.microsoft.com/office/drawing/2014/main" id="{A095C5A4-1206-4231-BC9B-95C96C5997B4}"/>
              </a:ext>
            </a:extLst>
          </p:cNvPr>
          <p:cNvSpPr txBox="1"/>
          <p:nvPr/>
        </p:nvSpPr>
        <p:spPr>
          <a:xfrm>
            <a:off x="10428729" y="8847"/>
            <a:ext cx="814127"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前台</a:t>
            </a:r>
          </a:p>
        </p:txBody>
      </p:sp>
      <p:sp>
        <p:nvSpPr>
          <p:cNvPr id="33" name="文字方塊 32">
            <a:extLst>
              <a:ext uri="{FF2B5EF4-FFF2-40B4-BE49-F238E27FC236}">
                <a16:creationId xmlns:a16="http://schemas.microsoft.com/office/drawing/2014/main" id="{6DABA07C-0210-48F8-8041-EF50E2A49D41}"/>
              </a:ext>
            </a:extLst>
          </p:cNvPr>
          <p:cNvSpPr txBox="1"/>
          <p:nvPr/>
        </p:nvSpPr>
        <p:spPr>
          <a:xfrm>
            <a:off x="12894024" y="8847"/>
            <a:ext cx="1392993" cy="400110"/>
          </a:xfrm>
          <a:prstGeom prst="rect">
            <a:avLst/>
          </a:prstGeom>
          <a:noFill/>
        </p:spPr>
        <p:txBody>
          <a:bodyPr wrap="square" rtlCol="0">
            <a:spAutoFit/>
          </a:bodyPr>
          <a:lstStyle/>
          <a:p>
            <a:r>
              <a:rPr lang="zh-TW" altLang="en-US" sz="2000" b="1" dirty="0">
                <a:latin typeface="微軟正黑體" panose="020B0604030504040204" pitchFamily="34" charset="-120"/>
                <a:ea typeface="微軟正黑體" panose="020B0604030504040204" pitchFamily="34" charset="-120"/>
              </a:rPr>
              <a:t>後台</a:t>
            </a:r>
          </a:p>
        </p:txBody>
      </p:sp>
      <p:sp>
        <p:nvSpPr>
          <p:cNvPr id="34" name="Rounded Rectangle 4">
            <a:extLst>
              <a:ext uri="{FF2B5EF4-FFF2-40B4-BE49-F238E27FC236}">
                <a16:creationId xmlns:a16="http://schemas.microsoft.com/office/drawing/2014/main" id="{144BCF4C-06BC-46BD-88AF-91AD330829CF}"/>
              </a:ext>
            </a:extLst>
          </p:cNvPr>
          <p:cNvSpPr/>
          <p:nvPr/>
        </p:nvSpPr>
        <p:spPr>
          <a:xfrm>
            <a:off x="12410694" y="3503591"/>
            <a:ext cx="3494181" cy="201791"/>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1000" b="1" dirty="0">
                <a:solidFill>
                  <a:srgbClr val="FF0000"/>
                </a:solidFill>
                <a:latin typeface="微軟正黑體" panose="020B0604030504040204" pitchFamily="34" charset="-120"/>
                <a:ea typeface="微軟正黑體" panose="020B0604030504040204" pitchFamily="34" charset="-120"/>
              </a:rPr>
              <a:t>Q1</a:t>
            </a:r>
            <a:r>
              <a:rPr lang="zh-TW" altLang="en-US" sz="1000" b="1" dirty="0">
                <a:solidFill>
                  <a:srgbClr val="FF0000"/>
                </a:solidFill>
                <a:latin typeface="微軟正黑體" panose="020B0604030504040204" pitchFamily="34" charset="-120"/>
                <a:ea typeface="微軟正黑體" panose="020B0604030504040204" pitchFamily="34" charset="-120"/>
              </a:rPr>
              <a:t>艾創點</a:t>
            </a:r>
            <a:r>
              <a:rPr lang="en-US" altLang="zh-TW" sz="1000" b="1" dirty="0">
                <a:solidFill>
                  <a:srgbClr val="FF0000"/>
                </a:solidFill>
                <a:latin typeface="微軟正黑體" panose="020B0604030504040204" pitchFamily="34" charset="-120"/>
                <a:ea typeface="微軟正黑體" panose="020B0604030504040204" pitchFamily="34" charset="-120"/>
              </a:rPr>
              <a:t>: </a:t>
            </a:r>
            <a:r>
              <a:rPr lang="zh-TW" altLang="en-US" sz="1000" b="1" dirty="0">
                <a:solidFill>
                  <a:srgbClr val="FF0000"/>
                </a:solidFill>
                <a:latin typeface="微軟正黑體" panose="020B0604030504040204" pitchFamily="34" charset="-120"/>
                <a:ea typeface="微軟正黑體" panose="020B0604030504040204" pitchFamily="34" charset="-120"/>
              </a:rPr>
              <a:t>若打廣告編號在前台能自動帶出歷資料嗎？</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sp>
        <p:nvSpPr>
          <p:cNvPr id="7" name="矩形 6">
            <a:extLst>
              <a:ext uri="{FF2B5EF4-FFF2-40B4-BE49-F238E27FC236}">
                <a16:creationId xmlns:a16="http://schemas.microsoft.com/office/drawing/2014/main" id="{DEC99BB8-C604-4A95-B083-AB068EA2B0F3}"/>
              </a:ext>
            </a:extLst>
          </p:cNvPr>
          <p:cNvSpPr/>
          <p:nvPr/>
        </p:nvSpPr>
        <p:spPr>
          <a:xfrm>
            <a:off x="10703828" y="3110809"/>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C6BE7433-5E12-4E3F-8D43-8F3F20BC8147}"/>
              </a:ext>
            </a:extLst>
          </p:cNvPr>
          <p:cNvSpPr/>
          <p:nvPr/>
        </p:nvSpPr>
        <p:spPr>
          <a:xfrm>
            <a:off x="10690321" y="4541144"/>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EDFA436E-A4E6-4EEB-8983-01BD9DB879F2}"/>
              </a:ext>
            </a:extLst>
          </p:cNvPr>
          <p:cNvSpPr/>
          <p:nvPr/>
        </p:nvSpPr>
        <p:spPr>
          <a:xfrm>
            <a:off x="11190296" y="4183756"/>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10" name="直線接點 9">
            <a:extLst>
              <a:ext uri="{FF2B5EF4-FFF2-40B4-BE49-F238E27FC236}">
                <a16:creationId xmlns:a16="http://schemas.microsoft.com/office/drawing/2014/main" id="{D8C8284E-4C50-4E17-8F42-C626F5AA3A5A}"/>
              </a:ext>
            </a:extLst>
          </p:cNvPr>
          <p:cNvCxnSpPr/>
          <p:nvPr/>
        </p:nvCxnSpPr>
        <p:spPr>
          <a:xfrm>
            <a:off x="10928353" y="3302976"/>
            <a:ext cx="988866" cy="0"/>
          </a:xfrm>
          <a:prstGeom prst="line">
            <a:avLst/>
          </a:prstGeom>
          <a:ln/>
        </p:spPr>
        <p:style>
          <a:lnRef idx="1">
            <a:schemeClr val="dk1"/>
          </a:lnRef>
          <a:fillRef idx="0">
            <a:schemeClr val="dk1"/>
          </a:fillRef>
          <a:effectRef idx="0">
            <a:schemeClr val="dk1"/>
          </a:effectRef>
          <a:fontRef idx="minor">
            <a:schemeClr val="tx1"/>
          </a:fontRef>
        </p:style>
      </p:cxnSp>
      <p:sp>
        <p:nvSpPr>
          <p:cNvPr id="20" name="矩形 19">
            <a:extLst>
              <a:ext uri="{FF2B5EF4-FFF2-40B4-BE49-F238E27FC236}">
                <a16:creationId xmlns:a16="http://schemas.microsoft.com/office/drawing/2014/main" id="{EB01F6F7-4093-4311-8A91-3E48CE953369}"/>
              </a:ext>
            </a:extLst>
          </p:cNvPr>
          <p:cNvSpPr/>
          <p:nvPr/>
        </p:nvSpPr>
        <p:spPr>
          <a:xfrm>
            <a:off x="10700194" y="2712735"/>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35F616CA-0199-432D-9846-327D9F0A7A45}"/>
              </a:ext>
            </a:extLst>
          </p:cNvPr>
          <p:cNvSpPr/>
          <p:nvPr/>
        </p:nvSpPr>
        <p:spPr>
          <a:xfrm>
            <a:off x="12355197" y="3152971"/>
            <a:ext cx="3792124" cy="400110"/>
          </a:xfrm>
          <a:prstGeom prst="rect">
            <a:avLst/>
          </a:prstGeom>
        </p:spPr>
        <p:txBody>
          <a:bodyPr wrap="square">
            <a:spAutoFit/>
          </a:bodyPr>
          <a:lstStyle/>
          <a:p>
            <a:r>
              <a:rPr lang="zh-TW" altLang="en-US" sz="1000" dirty="0">
                <a:latin typeface="微軟正黑體" panose="020B0604030504040204" pitchFamily="34" charset="-120"/>
                <a:ea typeface="微軟正黑體" panose="020B0604030504040204" pitchFamily="34" charset="-120"/>
              </a:rPr>
              <a:t>功能</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要讓人員維護項目，前台在黃色塊可勾選或自填</a:t>
            </a:r>
            <a:endParaRPr lang="en-US" altLang="zh-TW" sz="1000" dirty="0">
              <a:latin typeface="微軟正黑體" panose="020B0604030504040204" pitchFamily="34" charset="-120"/>
              <a:ea typeface="微軟正黑體" panose="020B0604030504040204" pitchFamily="34" charset="-120"/>
            </a:endParaRPr>
          </a:p>
          <a:p>
            <a:r>
              <a:rPr lang="zh-TW" altLang="en-US" sz="1000" dirty="0">
                <a:latin typeface="微軟正黑體" panose="020B0604030504040204" pitchFamily="34" charset="-120"/>
                <a:ea typeface="微軟正黑體" panose="020B0604030504040204" pitchFamily="34" charset="-120"/>
              </a:rPr>
              <a:t>外觀請幫忙美化</a:t>
            </a:r>
            <a:endParaRPr lang="en-US" altLang="zh-TW" sz="1000" dirty="0">
              <a:latin typeface="微軟正黑體" panose="020B0604030504040204" pitchFamily="34" charset="-120"/>
              <a:ea typeface="微軟正黑體" panose="020B0604030504040204" pitchFamily="34" charset="-120"/>
            </a:endParaRPr>
          </a:p>
        </p:txBody>
      </p:sp>
      <p:sp>
        <p:nvSpPr>
          <p:cNvPr id="23" name="矩形 22">
            <a:extLst>
              <a:ext uri="{FF2B5EF4-FFF2-40B4-BE49-F238E27FC236}">
                <a16:creationId xmlns:a16="http://schemas.microsoft.com/office/drawing/2014/main" id="{7FD01AB7-352F-405B-B54C-BBC084F2C4A0}"/>
              </a:ext>
            </a:extLst>
          </p:cNvPr>
          <p:cNvSpPr/>
          <p:nvPr/>
        </p:nvSpPr>
        <p:spPr>
          <a:xfrm>
            <a:off x="10689111" y="4363832"/>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FB0301B4-8239-46B6-A628-EB265D63E145}"/>
              </a:ext>
            </a:extLst>
          </p:cNvPr>
          <p:cNvSpPr/>
          <p:nvPr/>
        </p:nvSpPr>
        <p:spPr>
          <a:xfrm>
            <a:off x="10689111" y="4181711"/>
            <a:ext cx="177338" cy="155171"/>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cxnSp>
        <p:nvCxnSpPr>
          <p:cNvPr id="26" name="直線接點 25">
            <a:extLst>
              <a:ext uri="{FF2B5EF4-FFF2-40B4-BE49-F238E27FC236}">
                <a16:creationId xmlns:a16="http://schemas.microsoft.com/office/drawing/2014/main" id="{06F08CF9-22BB-4197-9775-2EFCD770E37D}"/>
              </a:ext>
            </a:extLst>
          </p:cNvPr>
          <p:cNvCxnSpPr/>
          <p:nvPr/>
        </p:nvCxnSpPr>
        <p:spPr>
          <a:xfrm>
            <a:off x="10866449" y="4696797"/>
            <a:ext cx="988866" cy="0"/>
          </a:xfrm>
          <a:prstGeom prst="line">
            <a:avLst/>
          </a:prstGeom>
          <a:ln/>
        </p:spPr>
        <p:style>
          <a:lnRef idx="1">
            <a:schemeClr val="dk1"/>
          </a:lnRef>
          <a:fillRef idx="0">
            <a:schemeClr val="dk1"/>
          </a:fillRef>
          <a:effectRef idx="0">
            <a:schemeClr val="dk1"/>
          </a:effectRef>
          <a:fontRef idx="minor">
            <a:schemeClr val="tx1"/>
          </a:fontRef>
        </p:style>
      </p:cxnSp>
      <p:cxnSp>
        <p:nvCxnSpPr>
          <p:cNvPr id="27" name="直線接點 26">
            <a:extLst>
              <a:ext uri="{FF2B5EF4-FFF2-40B4-BE49-F238E27FC236}">
                <a16:creationId xmlns:a16="http://schemas.microsoft.com/office/drawing/2014/main" id="{E56C5A5F-B683-46FD-AA70-64729EF093D9}"/>
              </a:ext>
            </a:extLst>
          </p:cNvPr>
          <p:cNvCxnSpPr>
            <a:cxnSpLocks/>
          </p:cNvCxnSpPr>
          <p:nvPr/>
        </p:nvCxnSpPr>
        <p:spPr>
          <a:xfrm>
            <a:off x="7687689" y="6128885"/>
            <a:ext cx="355100" cy="0"/>
          </a:xfrm>
          <a:prstGeom prst="line">
            <a:avLst/>
          </a:prstGeom>
          <a:ln/>
        </p:spPr>
        <p:style>
          <a:lnRef idx="1">
            <a:schemeClr val="dk1"/>
          </a:lnRef>
          <a:fillRef idx="0">
            <a:schemeClr val="dk1"/>
          </a:fillRef>
          <a:effectRef idx="0">
            <a:schemeClr val="dk1"/>
          </a:effectRef>
          <a:fontRef idx="minor">
            <a:schemeClr val="tx1"/>
          </a:fontRef>
        </p:style>
      </p:cxnSp>
      <p:cxnSp>
        <p:nvCxnSpPr>
          <p:cNvPr id="29" name="直線接點 28">
            <a:extLst>
              <a:ext uri="{FF2B5EF4-FFF2-40B4-BE49-F238E27FC236}">
                <a16:creationId xmlns:a16="http://schemas.microsoft.com/office/drawing/2014/main" id="{0E952DF3-29CC-4E8D-886D-5CCC083FAF2B}"/>
              </a:ext>
            </a:extLst>
          </p:cNvPr>
          <p:cNvCxnSpPr>
            <a:cxnSpLocks/>
          </p:cNvCxnSpPr>
          <p:nvPr/>
        </p:nvCxnSpPr>
        <p:spPr>
          <a:xfrm>
            <a:off x="8297918" y="6128885"/>
            <a:ext cx="132801" cy="0"/>
          </a:xfrm>
          <a:prstGeom prst="line">
            <a:avLst/>
          </a:prstGeom>
          <a:ln/>
        </p:spPr>
        <p:style>
          <a:lnRef idx="1">
            <a:schemeClr val="dk1"/>
          </a:lnRef>
          <a:fillRef idx="0">
            <a:schemeClr val="dk1"/>
          </a:fillRef>
          <a:effectRef idx="0">
            <a:schemeClr val="dk1"/>
          </a:effectRef>
          <a:fontRef idx="minor">
            <a:schemeClr val="tx1"/>
          </a:fontRef>
        </p:style>
      </p:cxnSp>
      <p:cxnSp>
        <p:nvCxnSpPr>
          <p:cNvPr id="31" name="直線接點 30">
            <a:extLst>
              <a:ext uri="{FF2B5EF4-FFF2-40B4-BE49-F238E27FC236}">
                <a16:creationId xmlns:a16="http://schemas.microsoft.com/office/drawing/2014/main" id="{BB6D50F0-6E7D-4218-A7A8-397032A4B77C}"/>
              </a:ext>
            </a:extLst>
          </p:cNvPr>
          <p:cNvCxnSpPr>
            <a:cxnSpLocks/>
          </p:cNvCxnSpPr>
          <p:nvPr/>
        </p:nvCxnSpPr>
        <p:spPr>
          <a:xfrm>
            <a:off x="8705844" y="6128885"/>
            <a:ext cx="173412" cy="0"/>
          </a:xfrm>
          <a:prstGeom prst="line">
            <a:avLst/>
          </a:prstGeom>
          <a:ln/>
        </p:spPr>
        <p:style>
          <a:lnRef idx="1">
            <a:schemeClr val="dk1"/>
          </a:lnRef>
          <a:fillRef idx="0">
            <a:schemeClr val="dk1"/>
          </a:fillRef>
          <a:effectRef idx="0">
            <a:schemeClr val="dk1"/>
          </a:effectRef>
          <a:fontRef idx="minor">
            <a:schemeClr val="tx1"/>
          </a:fontRef>
        </p:style>
      </p:cxnSp>
      <p:cxnSp>
        <p:nvCxnSpPr>
          <p:cNvPr id="37" name="直線接點 36">
            <a:extLst>
              <a:ext uri="{FF2B5EF4-FFF2-40B4-BE49-F238E27FC236}">
                <a16:creationId xmlns:a16="http://schemas.microsoft.com/office/drawing/2014/main" id="{3719F321-6F23-4876-A662-DA113E3BE469}"/>
              </a:ext>
            </a:extLst>
          </p:cNvPr>
          <p:cNvCxnSpPr>
            <a:cxnSpLocks/>
          </p:cNvCxnSpPr>
          <p:nvPr/>
        </p:nvCxnSpPr>
        <p:spPr>
          <a:xfrm>
            <a:off x="7696003" y="6514040"/>
            <a:ext cx="355100" cy="0"/>
          </a:xfrm>
          <a:prstGeom prst="line">
            <a:avLst/>
          </a:prstGeom>
          <a:ln/>
        </p:spPr>
        <p:style>
          <a:lnRef idx="1">
            <a:schemeClr val="dk1"/>
          </a:lnRef>
          <a:fillRef idx="0">
            <a:schemeClr val="dk1"/>
          </a:fillRef>
          <a:effectRef idx="0">
            <a:schemeClr val="dk1"/>
          </a:effectRef>
          <a:fontRef idx="minor">
            <a:schemeClr val="tx1"/>
          </a:fontRef>
        </p:style>
      </p:cxnSp>
      <p:cxnSp>
        <p:nvCxnSpPr>
          <p:cNvPr id="38" name="直線接點 37">
            <a:extLst>
              <a:ext uri="{FF2B5EF4-FFF2-40B4-BE49-F238E27FC236}">
                <a16:creationId xmlns:a16="http://schemas.microsoft.com/office/drawing/2014/main" id="{9013564C-F2A2-4411-81EA-799BD6770641}"/>
              </a:ext>
            </a:extLst>
          </p:cNvPr>
          <p:cNvCxnSpPr>
            <a:cxnSpLocks/>
          </p:cNvCxnSpPr>
          <p:nvPr/>
        </p:nvCxnSpPr>
        <p:spPr>
          <a:xfrm>
            <a:off x="8306232" y="6514040"/>
            <a:ext cx="132801" cy="0"/>
          </a:xfrm>
          <a:prstGeom prst="line">
            <a:avLst/>
          </a:prstGeom>
          <a:ln/>
        </p:spPr>
        <p:style>
          <a:lnRef idx="1">
            <a:schemeClr val="dk1"/>
          </a:lnRef>
          <a:fillRef idx="0">
            <a:schemeClr val="dk1"/>
          </a:fillRef>
          <a:effectRef idx="0">
            <a:schemeClr val="dk1"/>
          </a:effectRef>
          <a:fontRef idx="minor">
            <a:schemeClr val="tx1"/>
          </a:fontRef>
        </p:style>
      </p:cxnSp>
      <p:cxnSp>
        <p:nvCxnSpPr>
          <p:cNvPr id="39" name="直線接點 38">
            <a:extLst>
              <a:ext uri="{FF2B5EF4-FFF2-40B4-BE49-F238E27FC236}">
                <a16:creationId xmlns:a16="http://schemas.microsoft.com/office/drawing/2014/main" id="{5FA378B1-162C-47B9-9022-90A689CF037C}"/>
              </a:ext>
            </a:extLst>
          </p:cNvPr>
          <p:cNvCxnSpPr>
            <a:cxnSpLocks/>
          </p:cNvCxnSpPr>
          <p:nvPr/>
        </p:nvCxnSpPr>
        <p:spPr>
          <a:xfrm>
            <a:off x="8714158" y="6514040"/>
            <a:ext cx="173412" cy="0"/>
          </a:xfrm>
          <a:prstGeom prst="line">
            <a:avLst/>
          </a:prstGeom>
          <a:ln/>
        </p:spPr>
        <p:style>
          <a:lnRef idx="1">
            <a:schemeClr val="dk1"/>
          </a:lnRef>
          <a:fillRef idx="0">
            <a:schemeClr val="dk1"/>
          </a:fillRef>
          <a:effectRef idx="0">
            <a:schemeClr val="dk1"/>
          </a:effectRef>
          <a:fontRef idx="minor">
            <a:schemeClr val="tx1"/>
          </a:fontRef>
        </p:style>
      </p:cxnSp>
      <p:sp>
        <p:nvSpPr>
          <p:cNvPr id="36" name="矩形 35">
            <a:extLst>
              <a:ext uri="{FF2B5EF4-FFF2-40B4-BE49-F238E27FC236}">
                <a16:creationId xmlns:a16="http://schemas.microsoft.com/office/drawing/2014/main" id="{265C8113-D1E7-49D3-9568-DC36EF36D498}"/>
              </a:ext>
            </a:extLst>
          </p:cNvPr>
          <p:cNvSpPr/>
          <p:nvPr/>
        </p:nvSpPr>
        <p:spPr>
          <a:xfrm>
            <a:off x="10952454" y="2242650"/>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6196E301-B568-4604-999C-FF53B42BCCAF}"/>
              </a:ext>
            </a:extLst>
          </p:cNvPr>
          <p:cNvSpPr/>
          <p:nvPr/>
        </p:nvSpPr>
        <p:spPr>
          <a:xfrm>
            <a:off x="10546913" y="2242407"/>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34FA81BB-3D4F-4968-A7AB-0E79F6B1813A}"/>
              </a:ext>
            </a:extLst>
          </p:cNvPr>
          <p:cNvSpPr/>
          <p:nvPr/>
        </p:nvSpPr>
        <p:spPr>
          <a:xfrm>
            <a:off x="11337576" y="2237300"/>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7086CAE1-3541-4F28-A33E-EF4397448B39}"/>
              </a:ext>
            </a:extLst>
          </p:cNvPr>
          <p:cNvSpPr/>
          <p:nvPr/>
        </p:nvSpPr>
        <p:spPr>
          <a:xfrm>
            <a:off x="11337576" y="2078026"/>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99FB2FF3-291B-48C3-A97D-8EDB452DF265}"/>
              </a:ext>
            </a:extLst>
          </p:cNvPr>
          <p:cNvSpPr/>
          <p:nvPr/>
        </p:nvSpPr>
        <p:spPr>
          <a:xfrm>
            <a:off x="10947298" y="2089804"/>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48" name="矩形 47">
            <a:extLst>
              <a:ext uri="{FF2B5EF4-FFF2-40B4-BE49-F238E27FC236}">
                <a16:creationId xmlns:a16="http://schemas.microsoft.com/office/drawing/2014/main" id="{EB8419F9-D297-435D-A3F7-0F524C3CA8BC}"/>
              </a:ext>
            </a:extLst>
          </p:cNvPr>
          <p:cNvSpPr/>
          <p:nvPr/>
        </p:nvSpPr>
        <p:spPr>
          <a:xfrm>
            <a:off x="10534480" y="2078026"/>
            <a:ext cx="156914" cy="134298"/>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43D0C18C-4B03-4F42-A008-A5B8B78F5413}"/>
              </a:ext>
            </a:extLst>
          </p:cNvPr>
          <p:cNvSpPr/>
          <p:nvPr/>
        </p:nvSpPr>
        <p:spPr>
          <a:xfrm>
            <a:off x="12330260" y="3777644"/>
            <a:ext cx="3833397" cy="461665"/>
          </a:xfrm>
          <a:prstGeom prst="rect">
            <a:avLst/>
          </a:prstGeom>
        </p:spPr>
        <p:txBody>
          <a:bodyPr wrap="square">
            <a:spAutoFit/>
          </a:bodyPr>
          <a:lstStyle/>
          <a:p>
            <a:r>
              <a:rPr lang="en-US" altLang="zh-TW" sz="800" b="1" dirty="0">
                <a:solidFill>
                  <a:srgbClr val="FF0000"/>
                </a:solidFill>
                <a:highlight>
                  <a:srgbClr val="00FFFF"/>
                </a:highlight>
                <a:latin typeface="微軟正黑體" panose="020B0604030504040204" pitchFamily="34" charset="-120"/>
                <a:ea typeface="微軟正黑體" panose="020B0604030504040204" pitchFamily="34" charset="-120"/>
              </a:rPr>
              <a:t>To </a:t>
            </a:r>
            <a:r>
              <a:rPr lang="zh-TW" altLang="en-US" sz="800" b="1" dirty="0">
                <a:solidFill>
                  <a:srgbClr val="FF0000"/>
                </a:solidFill>
                <a:highlight>
                  <a:srgbClr val="00FFFF"/>
                </a:highlight>
                <a:latin typeface="微軟正黑體" panose="020B0604030504040204" pitchFamily="34" charset="-120"/>
                <a:ea typeface="微軟正黑體" panose="020B0604030504040204" pitchFamily="34" charset="-120"/>
              </a:rPr>
              <a:t>艾創點</a:t>
            </a:r>
            <a:r>
              <a:rPr lang="en-US" altLang="zh-TW" sz="800" b="1" dirty="0">
                <a:solidFill>
                  <a:srgbClr val="FF0000"/>
                </a:solidFill>
                <a:highlight>
                  <a:srgbClr val="00FFFF"/>
                </a:highlight>
                <a:latin typeface="微軟正黑體" panose="020B0604030504040204" pitchFamily="34" charset="-120"/>
                <a:ea typeface="微軟正黑體" panose="020B0604030504040204" pitchFamily="34" charset="-120"/>
              </a:rPr>
              <a:t>: </a:t>
            </a:r>
            <a:r>
              <a:rPr lang="zh-TW" altLang="en-US" sz="800" b="1" dirty="0">
                <a:solidFill>
                  <a:srgbClr val="FF0000"/>
                </a:solidFill>
                <a:highlight>
                  <a:srgbClr val="00FFFF"/>
                </a:highlight>
                <a:latin typeface="微軟正黑體" panose="020B0604030504040204" pitchFamily="34" charset="-120"/>
                <a:ea typeface="微軟正黑體" panose="020B0604030504040204" pitchFamily="34" charset="-120"/>
              </a:rPr>
              <a:t>續約、盤點、作廢資產轉移申請，原是從另一支程式申請未來是從</a:t>
            </a:r>
            <a:r>
              <a:rPr lang="en-US" altLang="zh-TW" sz="800" b="1" dirty="0">
                <a:solidFill>
                  <a:srgbClr val="FF0000"/>
                </a:solidFill>
                <a:highlight>
                  <a:srgbClr val="00FFFF"/>
                </a:highlight>
                <a:latin typeface="微軟正黑體" panose="020B0604030504040204" pitchFamily="34" charset="-120"/>
                <a:ea typeface="微軟正黑體" panose="020B0604030504040204" pitchFamily="34" charset="-120"/>
              </a:rPr>
              <a:t>bpm</a:t>
            </a:r>
            <a:r>
              <a:rPr lang="zh-TW" altLang="en-US" sz="800" b="1" dirty="0">
                <a:solidFill>
                  <a:srgbClr val="FF0000"/>
                </a:solidFill>
                <a:highlight>
                  <a:srgbClr val="00FFFF"/>
                </a:highlight>
                <a:latin typeface="微軟正黑體" panose="020B0604030504040204" pitchFamily="34" charset="-120"/>
                <a:ea typeface="微軟正黑體" panose="020B0604030504040204" pitchFamily="34" charset="-120"/>
              </a:rPr>
              <a:t>申請，不是在經銷商入口網站，但怕未來改變，故想要能自行調整變成一個選單看要不要開放可勾選</a:t>
            </a:r>
            <a:endParaRPr lang="en-US" altLang="zh-TW" sz="800" b="1" dirty="0">
              <a:solidFill>
                <a:srgbClr val="FF0000"/>
              </a:solidFill>
              <a:highlight>
                <a:srgbClr val="00FFFF"/>
              </a:highlight>
              <a:latin typeface="微軟正黑體" panose="020B0604030504040204" pitchFamily="34" charset="-120"/>
              <a:ea typeface="微軟正黑體" panose="020B0604030504040204" pitchFamily="34" charset="-120"/>
            </a:endParaRPr>
          </a:p>
        </p:txBody>
      </p:sp>
      <p:pic>
        <p:nvPicPr>
          <p:cNvPr id="4098" name="Picture 2" descr="image003">
            <a:extLst>
              <a:ext uri="{FF2B5EF4-FFF2-40B4-BE49-F238E27FC236}">
                <a16:creationId xmlns:a16="http://schemas.microsoft.com/office/drawing/2014/main" id="{23C7F5EC-ED70-4530-8E7F-EAAD29C5B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2" y="1171926"/>
            <a:ext cx="3700473" cy="554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a:extLst>
              <a:ext uri="{FF2B5EF4-FFF2-40B4-BE49-F238E27FC236}">
                <a16:creationId xmlns:a16="http://schemas.microsoft.com/office/drawing/2014/main" id="{23287620-8B20-498D-B685-4576205F1842}"/>
              </a:ext>
            </a:extLst>
          </p:cNvPr>
          <p:cNvSpPr/>
          <p:nvPr/>
        </p:nvSpPr>
        <p:spPr>
          <a:xfrm>
            <a:off x="3871913" y="2151004"/>
            <a:ext cx="1414462"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41" name="矩形 40">
            <a:extLst>
              <a:ext uri="{FF2B5EF4-FFF2-40B4-BE49-F238E27FC236}">
                <a16:creationId xmlns:a16="http://schemas.microsoft.com/office/drawing/2014/main" id="{5AE9D197-FBE4-4C38-8B0F-7E2B458402E5}"/>
              </a:ext>
            </a:extLst>
          </p:cNvPr>
          <p:cNvSpPr/>
          <p:nvPr/>
        </p:nvSpPr>
        <p:spPr>
          <a:xfrm>
            <a:off x="5593244" y="2710743"/>
            <a:ext cx="1414462"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9386C399-2CDD-4904-B0F9-0B3F067598FA}"/>
              </a:ext>
            </a:extLst>
          </p:cNvPr>
          <p:cNvSpPr/>
          <p:nvPr/>
        </p:nvSpPr>
        <p:spPr>
          <a:xfrm>
            <a:off x="3849079" y="2705980"/>
            <a:ext cx="1414462"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C4072114-02CB-4369-82D1-5CCD4C1D0845}"/>
              </a:ext>
            </a:extLst>
          </p:cNvPr>
          <p:cNvSpPr/>
          <p:nvPr/>
        </p:nvSpPr>
        <p:spPr>
          <a:xfrm>
            <a:off x="3890532" y="4331642"/>
            <a:ext cx="1414462"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37D79C2B-20E6-424F-AEDB-3EC817123732}"/>
              </a:ext>
            </a:extLst>
          </p:cNvPr>
          <p:cNvSpPr txBox="1"/>
          <p:nvPr/>
        </p:nvSpPr>
        <p:spPr>
          <a:xfrm>
            <a:off x="238929" y="1271017"/>
            <a:ext cx="3076497" cy="707886"/>
          </a:xfrm>
          <a:prstGeom prst="rect">
            <a:avLst/>
          </a:prstGeom>
          <a:noFill/>
        </p:spPr>
        <p:txBody>
          <a:bodyPr wrap="square" rtlCol="0">
            <a:spAutoFit/>
          </a:bodyPr>
          <a:lstStyle/>
          <a:p>
            <a:pPr marL="228600" lvl="0" indent="-228600">
              <a:buFont typeface="Arial" panose="020B0604020202020204" pitchFamily="34" charset="0"/>
              <a:buChar char="•"/>
            </a:pPr>
            <a:r>
              <a:rPr lang="zh-TW" altLang="zh-TW" sz="1000" dirty="0">
                <a:latin typeface="微軟正黑體" panose="020B0604030504040204" pitchFamily="34" charset="-120"/>
                <a:ea typeface="微軟正黑體" panose="020B0604030504040204" pitchFamily="34" charset="-120"/>
              </a:rPr>
              <a:t>申請人</a:t>
            </a:r>
            <a:r>
              <a:rPr lang="zh-TW" altLang="en-US" sz="1000" dirty="0">
                <a:latin typeface="微軟正黑體" panose="020B0604030504040204" pitchFamily="34" charset="-120"/>
                <a:ea typeface="微軟正黑體" panose="020B0604030504040204" pitchFamily="34" charset="-120"/>
              </a:rPr>
              <a:t>、國家</a:t>
            </a:r>
            <a:r>
              <a:rPr lang="zh-TW" altLang="zh-TW" sz="1000" dirty="0">
                <a:latin typeface="微軟正黑體" panose="020B0604030504040204" pitchFamily="34" charset="-120"/>
                <a:ea typeface="微軟正黑體" panose="020B0604030504040204" pitchFamily="34" charset="-120"/>
              </a:rPr>
              <a:t>應該要</a:t>
            </a:r>
            <a:r>
              <a:rPr lang="zh-TW" altLang="en-US" sz="1000" dirty="0">
                <a:latin typeface="微軟正黑體" panose="020B0604030504040204" pitchFamily="34" charset="-120"/>
                <a:ea typeface="微軟正黑體" panose="020B0604030504040204" pitchFamily="34" charset="-120"/>
              </a:rPr>
              <a:t>依登入帳號</a:t>
            </a:r>
            <a:r>
              <a:rPr lang="zh-TW" altLang="zh-TW" sz="1000" dirty="0">
                <a:latin typeface="微軟正黑體" panose="020B0604030504040204" pitchFamily="34" charset="-120"/>
                <a:ea typeface="微軟正黑體" panose="020B0604030504040204" pitchFamily="34" charset="-120"/>
              </a:rPr>
              <a:t>自動代出</a:t>
            </a:r>
            <a:r>
              <a:rPr lang="zh-TW" altLang="en-US" sz="1000" dirty="0">
                <a:latin typeface="微軟正黑體" panose="020B0604030504040204" pitchFamily="34" charset="-120"/>
                <a:ea typeface="微軟正黑體" panose="020B0604030504040204" pitchFamily="34" charset="-120"/>
              </a:rPr>
              <a:t>，不可自行填入與修改</a:t>
            </a:r>
            <a:endParaRPr lang="zh-TW" altLang="zh-TW" sz="1000" dirty="0">
              <a:latin typeface="微軟正黑體" panose="020B0604030504040204" pitchFamily="34" charset="-120"/>
              <a:ea typeface="微軟正黑體" panose="020B0604030504040204" pitchFamily="34" charset="-120"/>
            </a:endParaRPr>
          </a:p>
          <a:p>
            <a:pPr lvl="0"/>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例如</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客代</a:t>
            </a:r>
            <a:r>
              <a:rPr lang="en-US" altLang="zh-TW" sz="1000" dirty="0">
                <a:latin typeface="微軟正黑體" panose="020B0604030504040204" pitchFamily="34" charset="-120"/>
                <a:ea typeface="微軟正黑體" panose="020B0604030504040204" pitchFamily="34" charset="-120"/>
              </a:rPr>
              <a:t>R02019 </a:t>
            </a:r>
            <a:r>
              <a:rPr lang="zh-TW" altLang="en-US" sz="1000" dirty="0">
                <a:latin typeface="微軟正黑體" panose="020B0604030504040204" pitchFamily="34" charset="-120"/>
                <a:ea typeface="微軟正黑體" panose="020B0604030504040204" pitchFamily="34" charset="-120"/>
              </a:rPr>
              <a:t>正鴻為</a:t>
            </a:r>
            <a:r>
              <a:rPr lang="zh-TW" altLang="zh-TW" sz="1000" dirty="0">
                <a:latin typeface="微軟正黑體" panose="020B0604030504040204" pitchFamily="34" charset="-120"/>
                <a:ea typeface="微軟正黑體" panose="020B0604030504040204" pitchFamily="34" charset="-120"/>
              </a:rPr>
              <a:t>台灣經銷商時，</a:t>
            </a:r>
            <a:endParaRPr lang="en-US" altLang="zh-TW" sz="1000" dirty="0">
              <a:latin typeface="微軟正黑體" panose="020B0604030504040204" pitchFamily="34" charset="-120"/>
              <a:ea typeface="微軟正黑體" panose="020B0604030504040204" pitchFamily="34" charset="-120"/>
            </a:endParaRPr>
          </a:p>
          <a:p>
            <a:pPr lvl="0"/>
            <a:r>
              <a:rPr lang="en-US" altLang="zh-TW" sz="1000" dirty="0">
                <a:latin typeface="微軟正黑體" panose="020B0604030504040204" pitchFamily="34" charset="-120"/>
                <a:ea typeface="微軟正黑體" panose="020B0604030504040204" pitchFamily="34" charset="-120"/>
              </a:rPr>
              <a:t>      </a:t>
            </a:r>
            <a:r>
              <a:rPr lang="zh-TW" altLang="zh-TW" sz="1000" dirty="0">
                <a:latin typeface="微軟正黑體" panose="020B0604030504040204" pitchFamily="34" charset="-120"/>
                <a:ea typeface="微軟正黑體" panose="020B0604030504040204" pitchFamily="34" charset="-120"/>
              </a:rPr>
              <a:t>國家就可以直接</a:t>
            </a:r>
            <a:r>
              <a:rPr lang="zh-TW" altLang="en-US" sz="1000" dirty="0">
                <a:latin typeface="微軟正黑體" panose="020B0604030504040204" pitchFamily="34" charset="-120"/>
                <a:ea typeface="微軟正黑體" panose="020B0604030504040204" pitchFamily="34" charset="-120"/>
              </a:rPr>
              <a:t>帶出</a:t>
            </a:r>
            <a:r>
              <a:rPr lang="zh-TW" altLang="zh-TW" sz="1000" dirty="0">
                <a:latin typeface="微軟正黑體" panose="020B0604030504040204" pitchFamily="34" charset="-120"/>
                <a:ea typeface="微軟正黑體" panose="020B0604030504040204" pitchFamily="34" charset="-120"/>
              </a:rPr>
              <a:t>台灣</a:t>
            </a:r>
          </a:p>
        </p:txBody>
      </p:sp>
      <p:sp>
        <p:nvSpPr>
          <p:cNvPr id="49" name="TextBox 1">
            <a:extLst>
              <a:ext uri="{FF2B5EF4-FFF2-40B4-BE49-F238E27FC236}">
                <a16:creationId xmlns:a16="http://schemas.microsoft.com/office/drawing/2014/main" id="{F723E58D-48AB-453D-B3A5-BE054FA0C30A}"/>
              </a:ext>
            </a:extLst>
          </p:cNvPr>
          <p:cNvSpPr txBox="1"/>
          <p:nvPr/>
        </p:nvSpPr>
        <p:spPr>
          <a:xfrm>
            <a:off x="281730" y="904735"/>
            <a:ext cx="3324308"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號提供測試有誤，請修正</a:t>
            </a:r>
            <a:endParaRPr sz="1400" b="1" dirty="0">
              <a:highlight>
                <a:srgbClr val="00FFFF"/>
              </a:highlight>
              <a:latin typeface="微軟正黑體" panose="020B0604030504040204" pitchFamily="34" charset="-120"/>
              <a:ea typeface="微軟正黑體" panose="020B0604030504040204" pitchFamily="34" charset="-120"/>
            </a:endParaRPr>
          </a:p>
        </p:txBody>
      </p:sp>
      <p:cxnSp>
        <p:nvCxnSpPr>
          <p:cNvPr id="19" name="直線單箭頭接點 18">
            <a:extLst>
              <a:ext uri="{FF2B5EF4-FFF2-40B4-BE49-F238E27FC236}">
                <a16:creationId xmlns:a16="http://schemas.microsoft.com/office/drawing/2014/main" id="{FDE1CDAB-AD54-487A-9688-AEA0AACE7576}"/>
              </a:ext>
            </a:extLst>
          </p:cNvPr>
          <p:cNvCxnSpPr>
            <a:cxnSpLocks/>
          </p:cNvCxnSpPr>
          <p:nvPr/>
        </p:nvCxnSpPr>
        <p:spPr>
          <a:xfrm>
            <a:off x="2583997" y="1461700"/>
            <a:ext cx="1299979" cy="655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文字方塊 49">
            <a:extLst>
              <a:ext uri="{FF2B5EF4-FFF2-40B4-BE49-F238E27FC236}">
                <a16:creationId xmlns:a16="http://schemas.microsoft.com/office/drawing/2014/main" id="{F80E5A47-8FF2-45F6-A011-9594FBF7E2C9}"/>
              </a:ext>
            </a:extLst>
          </p:cNvPr>
          <p:cNvSpPr txBox="1"/>
          <p:nvPr/>
        </p:nvSpPr>
        <p:spPr>
          <a:xfrm>
            <a:off x="93337" y="2156953"/>
            <a:ext cx="2723823" cy="246221"/>
          </a:xfrm>
          <a:prstGeom prst="rect">
            <a:avLst/>
          </a:prstGeom>
          <a:noFill/>
        </p:spPr>
        <p:txBody>
          <a:bodyPr wrap="none" rtlCol="0">
            <a:spAutoFit/>
          </a:bodyPr>
          <a:lstStyle/>
          <a:p>
            <a:pPr marL="228600" lvl="0" indent="-228600">
              <a:buFont typeface="Arial" panose="020B0604020202020204" pitchFamily="34" charset="0"/>
              <a:buChar char="•"/>
            </a:pPr>
            <a:r>
              <a:rPr lang="zh-TW" altLang="zh-TW" sz="1000" dirty="0">
                <a:latin typeface="微軟正黑體" panose="020B0604030504040204" pitchFamily="34" charset="-120"/>
                <a:ea typeface="微軟正黑體" panose="020B0604030504040204" pitchFamily="34" charset="-120"/>
              </a:rPr>
              <a:t>廣告物縣市</a:t>
            </a:r>
            <a:r>
              <a:rPr lang="zh-TW" altLang="en-US" sz="1000" dirty="0">
                <a:latin typeface="微軟正黑體" panose="020B0604030504040204" pitchFamily="34" charset="-120"/>
                <a:ea typeface="微軟正黑體" panose="020B0604030504040204" pitchFamily="34" charset="-120"/>
              </a:rPr>
              <a:t>請用下拉式選單供申請人</a:t>
            </a:r>
            <a:r>
              <a:rPr lang="zh-TW" altLang="zh-TW" sz="1000" dirty="0">
                <a:latin typeface="微軟正黑體" panose="020B0604030504040204" pitchFamily="34" charset="-120"/>
                <a:ea typeface="微軟正黑體" panose="020B0604030504040204" pitchFamily="34" charset="-120"/>
              </a:rPr>
              <a:t>選擇</a:t>
            </a:r>
          </a:p>
        </p:txBody>
      </p:sp>
      <p:cxnSp>
        <p:nvCxnSpPr>
          <p:cNvPr id="52" name="直線單箭頭接點 51">
            <a:extLst>
              <a:ext uri="{FF2B5EF4-FFF2-40B4-BE49-F238E27FC236}">
                <a16:creationId xmlns:a16="http://schemas.microsoft.com/office/drawing/2014/main" id="{A47A49D1-BE5B-4831-A717-35164E4750AB}"/>
              </a:ext>
            </a:extLst>
          </p:cNvPr>
          <p:cNvCxnSpPr>
            <a:cxnSpLocks/>
            <a:stCxn id="50" idx="3"/>
          </p:cNvCxnSpPr>
          <p:nvPr/>
        </p:nvCxnSpPr>
        <p:spPr>
          <a:xfrm>
            <a:off x="2817160" y="2280064"/>
            <a:ext cx="2703356" cy="435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直線單箭頭接點 52">
            <a:extLst>
              <a:ext uri="{FF2B5EF4-FFF2-40B4-BE49-F238E27FC236}">
                <a16:creationId xmlns:a16="http://schemas.microsoft.com/office/drawing/2014/main" id="{9D49B4AC-C382-4646-B716-036F0B457C13}"/>
              </a:ext>
            </a:extLst>
          </p:cNvPr>
          <p:cNvCxnSpPr>
            <a:cxnSpLocks/>
          </p:cNvCxnSpPr>
          <p:nvPr/>
        </p:nvCxnSpPr>
        <p:spPr>
          <a:xfrm>
            <a:off x="2714464" y="2390796"/>
            <a:ext cx="1176068" cy="19197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線單箭頭接點 54">
            <a:extLst>
              <a:ext uri="{FF2B5EF4-FFF2-40B4-BE49-F238E27FC236}">
                <a16:creationId xmlns:a16="http://schemas.microsoft.com/office/drawing/2014/main" id="{F0E4B159-30CE-4692-8CFD-FBA64FF880D7}"/>
              </a:ext>
            </a:extLst>
          </p:cNvPr>
          <p:cNvCxnSpPr>
            <a:cxnSpLocks/>
          </p:cNvCxnSpPr>
          <p:nvPr/>
        </p:nvCxnSpPr>
        <p:spPr>
          <a:xfrm flipH="1">
            <a:off x="5299923" y="1755410"/>
            <a:ext cx="2246492" cy="3615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矩形 58">
            <a:extLst>
              <a:ext uri="{FF2B5EF4-FFF2-40B4-BE49-F238E27FC236}">
                <a16:creationId xmlns:a16="http://schemas.microsoft.com/office/drawing/2014/main" id="{F5EA6568-AA60-4D6B-AE96-DD22CFDBA89E}"/>
              </a:ext>
            </a:extLst>
          </p:cNvPr>
          <p:cNvSpPr/>
          <p:nvPr/>
        </p:nvSpPr>
        <p:spPr>
          <a:xfrm>
            <a:off x="7528413" y="2041346"/>
            <a:ext cx="2952392" cy="460731"/>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C22A42E2-503D-4B09-8F40-DAAA2F00B261}"/>
              </a:ext>
            </a:extLst>
          </p:cNvPr>
          <p:cNvSpPr txBox="1"/>
          <p:nvPr/>
        </p:nvSpPr>
        <p:spPr>
          <a:xfrm>
            <a:off x="116078" y="3837035"/>
            <a:ext cx="2763008" cy="861774"/>
          </a:xfrm>
          <a:prstGeom prst="rect">
            <a:avLst/>
          </a:prstGeom>
          <a:noFill/>
        </p:spPr>
        <p:txBody>
          <a:bodyPr wrap="square" rtlCol="0">
            <a:spAutoFit/>
          </a:bodyPr>
          <a:lstStyle/>
          <a:p>
            <a:pPr marL="228600" lvl="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廣告物編號欄沒有設計到，請加入</a:t>
            </a:r>
            <a:endParaRPr lang="en-US" altLang="zh-TW" sz="1000" dirty="0">
              <a:latin typeface="微軟正黑體" panose="020B0604030504040204" pitchFamily="34" charset="-120"/>
              <a:ea typeface="微軟正黑體" panose="020B0604030504040204" pitchFamily="34" charset="-120"/>
            </a:endParaRPr>
          </a:p>
          <a:p>
            <a:pPr lvl="0"/>
            <a:r>
              <a:rPr lang="zh-TW" altLang="en-US" sz="1000" dirty="0">
                <a:latin typeface="微軟正黑體" panose="020B0604030504040204" pitchFamily="34" charset="-120"/>
                <a:ea typeface="微軟正黑體" panose="020B0604030504040204" pitchFamily="34" charset="-120"/>
              </a:rPr>
              <a:t>並注意，若有申請過可透過輸入廣告編號按查詢可自動帶出資料，若不知道廣告編號空白沒關係</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車行名稱、聯絡人、電話、廣告物所在縣市、住址的資料</a:t>
            </a:r>
            <a:r>
              <a:rPr lang="en-US" altLang="zh-TW" sz="1000" dirty="0">
                <a:latin typeface="微軟正黑體" panose="020B0604030504040204" pitchFamily="34" charset="-120"/>
                <a:ea typeface="微軟正黑體" panose="020B0604030504040204" pitchFamily="34" charset="-120"/>
              </a:rPr>
              <a:t>)</a:t>
            </a:r>
            <a:endParaRPr lang="zh-TW" altLang="zh-TW" sz="1000" dirty="0">
              <a:latin typeface="微軟正黑體" panose="020B0604030504040204" pitchFamily="34" charset="-120"/>
              <a:ea typeface="微軟正黑體" panose="020B0604030504040204" pitchFamily="34" charset="-120"/>
            </a:endParaRPr>
          </a:p>
        </p:txBody>
      </p:sp>
      <p:cxnSp>
        <p:nvCxnSpPr>
          <p:cNvPr id="61" name="直線單箭頭接點 60">
            <a:extLst>
              <a:ext uri="{FF2B5EF4-FFF2-40B4-BE49-F238E27FC236}">
                <a16:creationId xmlns:a16="http://schemas.microsoft.com/office/drawing/2014/main" id="{BBB8E30A-5CDC-44DF-B929-33A19110D5DE}"/>
              </a:ext>
            </a:extLst>
          </p:cNvPr>
          <p:cNvCxnSpPr>
            <a:cxnSpLocks/>
            <a:endCxn id="60" idx="3"/>
          </p:cNvCxnSpPr>
          <p:nvPr/>
        </p:nvCxnSpPr>
        <p:spPr>
          <a:xfrm flipH="1">
            <a:off x="2879086" y="2129887"/>
            <a:ext cx="4693462" cy="2138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文字方塊 63">
            <a:extLst>
              <a:ext uri="{FF2B5EF4-FFF2-40B4-BE49-F238E27FC236}">
                <a16:creationId xmlns:a16="http://schemas.microsoft.com/office/drawing/2014/main" id="{715D7FBD-677E-49CF-B0D8-21CB43DFA2D1}"/>
              </a:ext>
            </a:extLst>
          </p:cNvPr>
          <p:cNvSpPr txBox="1"/>
          <p:nvPr/>
        </p:nvSpPr>
        <p:spPr>
          <a:xfrm>
            <a:off x="116078" y="5087746"/>
            <a:ext cx="2723823" cy="246221"/>
          </a:xfrm>
          <a:prstGeom prst="rect">
            <a:avLst/>
          </a:prstGeom>
          <a:noFill/>
        </p:spPr>
        <p:txBody>
          <a:bodyPr wrap="none" rtlCol="0">
            <a:spAutoFit/>
          </a:bodyPr>
          <a:lstStyle/>
          <a:p>
            <a:pPr marL="228600" lvl="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施工項目欄大項沒設計到畫面裡，請加入</a:t>
            </a:r>
            <a:endParaRPr lang="zh-TW" altLang="zh-TW" sz="1000" dirty="0">
              <a:latin typeface="微軟正黑體" panose="020B0604030504040204" pitchFamily="34" charset="-120"/>
              <a:ea typeface="微軟正黑體" panose="020B0604030504040204" pitchFamily="34" charset="-120"/>
            </a:endParaRPr>
          </a:p>
        </p:txBody>
      </p:sp>
      <p:sp>
        <p:nvSpPr>
          <p:cNvPr id="65" name="矩形 64">
            <a:extLst>
              <a:ext uri="{FF2B5EF4-FFF2-40B4-BE49-F238E27FC236}">
                <a16:creationId xmlns:a16="http://schemas.microsoft.com/office/drawing/2014/main" id="{70DB25E8-46BA-41C3-A223-6C363851CF87}"/>
              </a:ext>
            </a:extLst>
          </p:cNvPr>
          <p:cNvSpPr/>
          <p:nvPr/>
        </p:nvSpPr>
        <p:spPr>
          <a:xfrm>
            <a:off x="10509320" y="2004598"/>
            <a:ext cx="1797991" cy="513854"/>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66" name="直線單箭頭接點 65">
            <a:extLst>
              <a:ext uri="{FF2B5EF4-FFF2-40B4-BE49-F238E27FC236}">
                <a16:creationId xmlns:a16="http://schemas.microsoft.com/office/drawing/2014/main" id="{6974E900-BF23-497D-89B4-9E17BD9884A4}"/>
              </a:ext>
            </a:extLst>
          </p:cNvPr>
          <p:cNvCxnSpPr>
            <a:cxnSpLocks/>
            <a:stCxn id="65" idx="0"/>
            <a:endCxn id="64" idx="3"/>
          </p:cNvCxnSpPr>
          <p:nvPr/>
        </p:nvCxnSpPr>
        <p:spPr>
          <a:xfrm flipH="1">
            <a:off x="2839901" y="2004598"/>
            <a:ext cx="8568415" cy="32062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9" name="矩形 68">
            <a:extLst>
              <a:ext uri="{FF2B5EF4-FFF2-40B4-BE49-F238E27FC236}">
                <a16:creationId xmlns:a16="http://schemas.microsoft.com/office/drawing/2014/main" id="{6C64CDE8-C205-480B-A530-CAEBAEE29227}"/>
              </a:ext>
            </a:extLst>
          </p:cNvPr>
          <p:cNvSpPr/>
          <p:nvPr/>
        </p:nvSpPr>
        <p:spPr>
          <a:xfrm>
            <a:off x="10645258" y="2554499"/>
            <a:ext cx="1542869" cy="230176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70" name="文字方塊 69">
            <a:extLst>
              <a:ext uri="{FF2B5EF4-FFF2-40B4-BE49-F238E27FC236}">
                <a16:creationId xmlns:a16="http://schemas.microsoft.com/office/drawing/2014/main" id="{8F15B313-006C-4754-ADCA-D8C1BE0CA765}"/>
              </a:ext>
            </a:extLst>
          </p:cNvPr>
          <p:cNvSpPr txBox="1"/>
          <p:nvPr/>
        </p:nvSpPr>
        <p:spPr>
          <a:xfrm>
            <a:off x="102344" y="5418944"/>
            <a:ext cx="3256773" cy="553998"/>
          </a:xfrm>
          <a:prstGeom prst="rect">
            <a:avLst/>
          </a:prstGeom>
          <a:noFill/>
        </p:spPr>
        <p:txBody>
          <a:bodyPr wrap="square" rtlCol="0">
            <a:spAutoFit/>
          </a:bodyPr>
          <a:lstStyle/>
          <a:p>
            <a:pPr marL="228600" lvl="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施工項目欄位等級分類項次與先前提供的</a:t>
            </a:r>
            <a:r>
              <a:rPr lang="en-US" altLang="zh-TW" sz="1000" dirty="0">
                <a:latin typeface="微軟正黑體" panose="020B0604030504040204" pitchFamily="34" charset="-120"/>
                <a:ea typeface="微軟正黑體" panose="020B0604030504040204" pitchFamily="34" charset="-120"/>
              </a:rPr>
              <a:t>ppt</a:t>
            </a:r>
            <a:r>
              <a:rPr lang="zh-TW" altLang="en-US" sz="1000" dirty="0">
                <a:latin typeface="微軟正黑體" panose="020B0604030504040204" pitchFamily="34" charset="-120"/>
                <a:ea typeface="微軟正黑體" panose="020B0604030504040204" pitchFamily="34" charset="-120"/>
              </a:rPr>
              <a:t>設定不符，請加入畫面裡並注意自填欄位的自填功能也需加入</a:t>
            </a:r>
            <a:endParaRPr lang="zh-TW" altLang="zh-TW" sz="1000" dirty="0">
              <a:latin typeface="微軟正黑體" panose="020B0604030504040204" pitchFamily="34" charset="-120"/>
              <a:ea typeface="微軟正黑體" panose="020B0604030504040204" pitchFamily="34" charset="-120"/>
            </a:endParaRPr>
          </a:p>
        </p:txBody>
      </p:sp>
      <p:cxnSp>
        <p:nvCxnSpPr>
          <p:cNvPr id="71" name="直線單箭頭接點 70">
            <a:extLst>
              <a:ext uri="{FF2B5EF4-FFF2-40B4-BE49-F238E27FC236}">
                <a16:creationId xmlns:a16="http://schemas.microsoft.com/office/drawing/2014/main" id="{E9F9859D-92FB-41B7-A286-C6555A4FF75C}"/>
              </a:ext>
            </a:extLst>
          </p:cNvPr>
          <p:cNvCxnSpPr>
            <a:cxnSpLocks/>
            <a:stCxn id="69" idx="1"/>
          </p:cNvCxnSpPr>
          <p:nvPr/>
        </p:nvCxnSpPr>
        <p:spPr>
          <a:xfrm flipH="1">
            <a:off x="7087873" y="3705382"/>
            <a:ext cx="3557385" cy="1535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矩形 74">
            <a:extLst>
              <a:ext uri="{FF2B5EF4-FFF2-40B4-BE49-F238E27FC236}">
                <a16:creationId xmlns:a16="http://schemas.microsoft.com/office/drawing/2014/main" id="{2A66817E-CE69-4971-B1E2-1CB4160C34D4}"/>
              </a:ext>
            </a:extLst>
          </p:cNvPr>
          <p:cNvSpPr/>
          <p:nvPr/>
        </p:nvSpPr>
        <p:spPr>
          <a:xfrm>
            <a:off x="7602944" y="5400276"/>
            <a:ext cx="4727316" cy="1220130"/>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76" name="直線單箭頭接點 75">
            <a:extLst>
              <a:ext uri="{FF2B5EF4-FFF2-40B4-BE49-F238E27FC236}">
                <a16:creationId xmlns:a16="http://schemas.microsoft.com/office/drawing/2014/main" id="{DD9A44E2-3EC2-4A21-AF97-3BC3B6BC4CA5}"/>
              </a:ext>
            </a:extLst>
          </p:cNvPr>
          <p:cNvCxnSpPr>
            <a:cxnSpLocks/>
            <a:endCxn id="78" idx="3"/>
          </p:cNvCxnSpPr>
          <p:nvPr/>
        </p:nvCxnSpPr>
        <p:spPr>
          <a:xfrm flipH="1">
            <a:off x="3188440" y="6175630"/>
            <a:ext cx="4396056" cy="457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文字方塊 77">
            <a:extLst>
              <a:ext uri="{FF2B5EF4-FFF2-40B4-BE49-F238E27FC236}">
                <a16:creationId xmlns:a16="http://schemas.microsoft.com/office/drawing/2014/main" id="{572D2BBD-66C3-4EC3-8A8F-ABEE702A347C}"/>
              </a:ext>
            </a:extLst>
          </p:cNvPr>
          <p:cNvSpPr txBox="1"/>
          <p:nvPr/>
        </p:nvSpPr>
        <p:spPr>
          <a:xfrm>
            <a:off x="336377" y="6098259"/>
            <a:ext cx="2852063" cy="246221"/>
          </a:xfrm>
          <a:prstGeom prst="rect">
            <a:avLst/>
          </a:prstGeom>
          <a:noFill/>
        </p:spPr>
        <p:txBody>
          <a:bodyPr wrap="none" rtlCol="0">
            <a:spAutoFit/>
          </a:bodyPr>
          <a:lstStyle/>
          <a:p>
            <a:pPr marL="228600" lvl="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合約書起、訖日欄沒設計到，請加入畫面裡</a:t>
            </a:r>
            <a:endParaRPr lang="zh-TW" altLang="zh-TW" sz="1000" dirty="0">
              <a:latin typeface="微軟正黑體" panose="020B0604030504040204" pitchFamily="34" charset="-120"/>
              <a:ea typeface="微軟正黑體" panose="020B0604030504040204" pitchFamily="34" charset="-120"/>
            </a:endParaRPr>
          </a:p>
        </p:txBody>
      </p:sp>
      <p:sp>
        <p:nvSpPr>
          <p:cNvPr id="81" name="矩形 80">
            <a:extLst>
              <a:ext uri="{FF2B5EF4-FFF2-40B4-BE49-F238E27FC236}">
                <a16:creationId xmlns:a16="http://schemas.microsoft.com/office/drawing/2014/main" id="{A1127C69-3EA5-47A9-A230-B36F203618A5}"/>
              </a:ext>
            </a:extLst>
          </p:cNvPr>
          <p:cNvSpPr/>
          <p:nvPr/>
        </p:nvSpPr>
        <p:spPr>
          <a:xfrm>
            <a:off x="7613210" y="4161478"/>
            <a:ext cx="2896109" cy="657668"/>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82" name="直線單箭頭接點 81">
            <a:extLst>
              <a:ext uri="{FF2B5EF4-FFF2-40B4-BE49-F238E27FC236}">
                <a16:creationId xmlns:a16="http://schemas.microsoft.com/office/drawing/2014/main" id="{1877CAEF-0D82-49B3-9BF4-F975B25672BF}"/>
              </a:ext>
            </a:extLst>
          </p:cNvPr>
          <p:cNvCxnSpPr>
            <a:cxnSpLocks/>
            <a:endCxn id="43" idx="3"/>
          </p:cNvCxnSpPr>
          <p:nvPr/>
        </p:nvCxnSpPr>
        <p:spPr>
          <a:xfrm flipH="1" flipV="1">
            <a:off x="5304994" y="4488805"/>
            <a:ext cx="2299694" cy="1099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矩形 89">
            <a:extLst>
              <a:ext uri="{FF2B5EF4-FFF2-40B4-BE49-F238E27FC236}">
                <a16:creationId xmlns:a16="http://schemas.microsoft.com/office/drawing/2014/main" id="{2A805537-8A95-49C0-BEC5-F99013436226}"/>
              </a:ext>
            </a:extLst>
          </p:cNvPr>
          <p:cNvSpPr/>
          <p:nvPr/>
        </p:nvSpPr>
        <p:spPr>
          <a:xfrm>
            <a:off x="3813798" y="5248289"/>
            <a:ext cx="3758750" cy="543424"/>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92" name="直線單箭頭接點 91">
            <a:extLst>
              <a:ext uri="{FF2B5EF4-FFF2-40B4-BE49-F238E27FC236}">
                <a16:creationId xmlns:a16="http://schemas.microsoft.com/office/drawing/2014/main" id="{844A4870-82C1-429C-9502-01A121021C6F}"/>
              </a:ext>
            </a:extLst>
          </p:cNvPr>
          <p:cNvCxnSpPr>
            <a:cxnSpLocks/>
          </p:cNvCxnSpPr>
          <p:nvPr/>
        </p:nvCxnSpPr>
        <p:spPr>
          <a:xfrm flipH="1" flipV="1">
            <a:off x="3359117" y="5622750"/>
            <a:ext cx="454681" cy="668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矩形 95">
            <a:extLst>
              <a:ext uri="{FF2B5EF4-FFF2-40B4-BE49-F238E27FC236}">
                <a16:creationId xmlns:a16="http://schemas.microsoft.com/office/drawing/2014/main" id="{75183036-982A-439D-BE96-09E0BF6F8EFE}"/>
              </a:ext>
            </a:extLst>
          </p:cNvPr>
          <p:cNvSpPr/>
          <p:nvPr/>
        </p:nvSpPr>
        <p:spPr>
          <a:xfrm>
            <a:off x="12360009" y="4360094"/>
            <a:ext cx="3622314" cy="2092881"/>
          </a:xfrm>
          <a:prstGeom prst="rect">
            <a:avLst/>
          </a:prstGeom>
        </p:spPr>
        <p:txBody>
          <a:bodyPr wrap="square">
            <a:spAutoFit/>
          </a:bodyPr>
          <a:lstStyle/>
          <a:p>
            <a:r>
              <a:rPr lang="zh-TW" altLang="en-US" sz="1000" b="1" dirty="0">
                <a:highlight>
                  <a:srgbClr val="FFFF00"/>
                </a:highlight>
                <a:latin typeface="微軟正黑體" panose="020B0604030504040204" pitchFamily="34" charset="-120"/>
                <a:ea typeface="微軟正黑體" panose="020B0604030504040204" pitchFamily="34" charset="-120"/>
              </a:rPr>
              <a:t>廣告物所在縣市維護</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後台人員維護，集團同步</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000" b="1" dirty="0">
              <a:highlight>
                <a:srgbClr val="FFFF00"/>
              </a:highlight>
              <a:latin typeface="微軟正黑體" panose="020B0604030504040204" pitchFamily="34" charset="-120"/>
              <a:ea typeface="微軟正黑體" panose="020B0604030504040204" pitchFamily="34" charset="-120"/>
            </a:endParaRPr>
          </a:p>
          <a:p>
            <a:r>
              <a:rPr lang="zh-TW" altLang="en-US" sz="1000" dirty="0">
                <a:highlight>
                  <a:srgbClr val="FFFF00"/>
                </a:highlight>
                <a:latin typeface="微軟正黑體" panose="020B0604030504040204" pitchFamily="34" charset="-120"/>
                <a:ea typeface="微軟正黑體" panose="020B0604030504040204" pitchFamily="34" charset="-120"/>
              </a:rPr>
              <a:t>依經銷商所在國家進行選擇</a:t>
            </a:r>
            <a:endParaRPr lang="en-US" altLang="zh-TW" sz="1000" dirty="0">
              <a:highlight>
                <a:srgbClr val="FFFF00"/>
              </a:highlight>
              <a:latin typeface="微軟正黑體" panose="020B0604030504040204" pitchFamily="34" charset="-120"/>
              <a:ea typeface="微軟正黑體" panose="020B0604030504040204" pitchFamily="34" charset="-120"/>
            </a:endParaRPr>
          </a:p>
          <a:p>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後台欄位最少要有如下，若艾創點有更好的建議可增加</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p>
          <a:p>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國別</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給建大自行維護</a:t>
            </a:r>
            <a:endParaRPr lang="en-US" altLang="zh-TW" sz="1000" dirty="0">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省</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縣市</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給建大自行維護</a:t>
            </a:r>
            <a:endParaRPr lang="en-US" altLang="zh-TW" sz="1000" dirty="0">
              <a:latin typeface="微軟正黑體" panose="020B0604030504040204" pitchFamily="34" charset="-120"/>
              <a:ea typeface="微軟正黑體" panose="020B0604030504040204" pitchFamily="34" charset="-120"/>
            </a:endParaRPr>
          </a:p>
          <a:p>
            <a:endParaRPr lang="en-US" altLang="zh-TW" sz="1000" dirty="0">
              <a:latin typeface="微軟正黑體" panose="020B0604030504040204" pitchFamily="34" charset="-120"/>
              <a:ea typeface="微軟正黑體" panose="020B0604030504040204" pitchFamily="34" charset="-120"/>
            </a:endParaRPr>
          </a:p>
          <a:p>
            <a:r>
              <a:rPr lang="zh-TW" altLang="en-US" sz="1000" dirty="0">
                <a:latin typeface="微軟正黑體" panose="020B0604030504040204" pitchFamily="34" charset="-120"/>
                <a:ea typeface="微軟正黑體" panose="020B0604030504040204" pitchFamily="34" charset="-120"/>
              </a:rPr>
              <a:t>功能</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要讓經銷商所在地國家進前台時可以用下拉選單選該國家的省縣市，比如台灣的經銷商帳號進來，只會秀全台灣的縣市有哪些下拉選單， 並讓後台維護者能做刪除、修改的維護功能，若能使用上載、下載</a:t>
            </a:r>
            <a:r>
              <a:rPr lang="en-US" altLang="zh-TW" sz="1000" dirty="0">
                <a:latin typeface="微軟正黑體" panose="020B0604030504040204" pitchFamily="34" charset="-120"/>
                <a:ea typeface="微軟正黑體" panose="020B0604030504040204" pitchFamily="34" charset="-120"/>
              </a:rPr>
              <a:t>excel</a:t>
            </a:r>
            <a:r>
              <a:rPr lang="zh-TW" altLang="en-US" sz="1000" dirty="0">
                <a:latin typeface="微軟正黑體" panose="020B0604030504040204" pitchFamily="34" charset="-120"/>
                <a:ea typeface="微軟正黑體" panose="020B0604030504040204" pitchFamily="34" charset="-120"/>
              </a:rPr>
              <a:t>方式維護也可以</a:t>
            </a:r>
            <a:endParaRPr lang="en-US" altLang="zh-TW" sz="1000" dirty="0">
              <a:latin typeface="微軟正黑體" panose="020B0604030504040204" pitchFamily="34" charset="-120"/>
              <a:ea typeface="微軟正黑體" panose="020B0604030504040204" pitchFamily="34" charset="-120"/>
            </a:endParaRPr>
          </a:p>
        </p:txBody>
      </p:sp>
      <p:sp>
        <p:nvSpPr>
          <p:cNvPr id="97" name="文字方塊 96">
            <a:extLst>
              <a:ext uri="{FF2B5EF4-FFF2-40B4-BE49-F238E27FC236}">
                <a16:creationId xmlns:a16="http://schemas.microsoft.com/office/drawing/2014/main" id="{955DCB83-D760-451D-9064-454926F83A7A}"/>
              </a:ext>
            </a:extLst>
          </p:cNvPr>
          <p:cNvSpPr txBox="1"/>
          <p:nvPr/>
        </p:nvSpPr>
        <p:spPr>
          <a:xfrm>
            <a:off x="276024" y="301138"/>
            <a:ext cx="3226959" cy="707886"/>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6/2</a:t>
            </a:r>
            <a:r>
              <a:rPr lang="zh-TW" altLang="en-US" sz="2000" b="1" dirty="0">
                <a:latin typeface="微軟正黑體" panose="020B0604030504040204" pitchFamily="34" charset="-120"/>
                <a:ea typeface="微軟正黑體" panose="020B0604030504040204" pitchFamily="34" charset="-120"/>
              </a:rPr>
              <a:t>號艾創點給的前台測試</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申請書</a:t>
            </a:r>
            <a:r>
              <a:rPr lang="en-US" altLang="zh-TW" sz="2000" b="1" dirty="0">
                <a:latin typeface="微軟正黑體" panose="020B0604030504040204" pitchFamily="34" charset="-120"/>
                <a:ea typeface="微軟正黑體" panose="020B0604030504040204" pitchFamily="34" charset="-120"/>
              </a:rPr>
              <a:t>)</a:t>
            </a:r>
            <a:endParaRPr lang="zh-TW" altLang="en-US" sz="2000" b="1" dirty="0">
              <a:latin typeface="微軟正黑體" panose="020B0604030504040204" pitchFamily="34" charset="-120"/>
              <a:ea typeface="微軟正黑體" panose="020B0604030504040204" pitchFamily="34" charset="-120"/>
            </a:endParaRPr>
          </a:p>
        </p:txBody>
      </p:sp>
      <p:cxnSp>
        <p:nvCxnSpPr>
          <p:cNvPr id="72" name="直線單箭頭接點 71">
            <a:extLst>
              <a:ext uri="{FF2B5EF4-FFF2-40B4-BE49-F238E27FC236}">
                <a16:creationId xmlns:a16="http://schemas.microsoft.com/office/drawing/2014/main" id="{35B82E18-DDC1-4DD8-A54B-2916A405A186}"/>
              </a:ext>
            </a:extLst>
          </p:cNvPr>
          <p:cNvCxnSpPr>
            <a:cxnSpLocks/>
          </p:cNvCxnSpPr>
          <p:nvPr/>
        </p:nvCxnSpPr>
        <p:spPr>
          <a:xfrm>
            <a:off x="2245337" y="1821864"/>
            <a:ext cx="1626576" cy="928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a:extLst>
              <a:ext uri="{FF2B5EF4-FFF2-40B4-BE49-F238E27FC236}">
                <a16:creationId xmlns:a16="http://schemas.microsoft.com/office/drawing/2014/main" id="{D52FF3C7-028F-4921-BE84-3815C0B116DC}"/>
              </a:ext>
            </a:extLst>
          </p:cNvPr>
          <p:cNvSpPr/>
          <p:nvPr/>
        </p:nvSpPr>
        <p:spPr>
          <a:xfrm>
            <a:off x="7073609" y="675323"/>
            <a:ext cx="9126829" cy="6182679"/>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7073608" y="-4506"/>
            <a:ext cx="7398327"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店招製作申請施工項目類別維護欄位</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38" name="文字方塊 37">
            <a:extLst>
              <a:ext uri="{FF2B5EF4-FFF2-40B4-BE49-F238E27FC236}">
                <a16:creationId xmlns:a16="http://schemas.microsoft.com/office/drawing/2014/main" id="{84C29C41-5FC2-4B08-8D3F-559E3E3172D3}"/>
              </a:ext>
            </a:extLst>
          </p:cNvPr>
          <p:cNvSpPr txBox="1"/>
          <p:nvPr/>
        </p:nvSpPr>
        <p:spPr>
          <a:xfrm>
            <a:off x="12369472" y="2223856"/>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申請類別</a:t>
            </a:r>
          </a:p>
        </p:txBody>
      </p:sp>
      <p:sp>
        <p:nvSpPr>
          <p:cNvPr id="40" name="文字方塊 39">
            <a:extLst>
              <a:ext uri="{FF2B5EF4-FFF2-40B4-BE49-F238E27FC236}">
                <a16:creationId xmlns:a16="http://schemas.microsoft.com/office/drawing/2014/main" id="{844F5977-C252-4DED-A82D-8686D98C12E8}"/>
              </a:ext>
            </a:extLst>
          </p:cNvPr>
          <p:cNvSpPr txBox="1"/>
          <p:nvPr/>
        </p:nvSpPr>
        <p:spPr>
          <a:xfrm>
            <a:off x="14518106" y="2236792"/>
            <a:ext cx="948888"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更新日期</a:t>
            </a:r>
          </a:p>
        </p:txBody>
      </p:sp>
      <p:sp>
        <p:nvSpPr>
          <p:cNvPr id="41" name="文字方塊 40">
            <a:extLst>
              <a:ext uri="{FF2B5EF4-FFF2-40B4-BE49-F238E27FC236}">
                <a16:creationId xmlns:a16="http://schemas.microsoft.com/office/drawing/2014/main" id="{7A4C49B8-121D-471C-A223-E33F8BACBD54}"/>
              </a:ext>
            </a:extLst>
          </p:cNvPr>
          <p:cNvSpPr txBox="1"/>
          <p:nvPr/>
        </p:nvSpPr>
        <p:spPr>
          <a:xfrm>
            <a:off x="12339368" y="2670831"/>
            <a:ext cx="1780920" cy="400110"/>
          </a:xfrm>
          <a:prstGeom prst="rect">
            <a:avLst/>
          </a:prstGeom>
          <a:noFill/>
        </p:spPr>
        <p:txBody>
          <a:bodyPr wrap="square" rtlCol="0">
            <a:spAutoFit/>
          </a:bodyPr>
          <a:lstStyle/>
          <a:p>
            <a:r>
              <a:rPr lang="zh-TW" altLang="en-US" sz="1000" u="sng" dirty="0">
                <a:highlight>
                  <a:srgbClr val="00FFFF"/>
                </a:highlight>
                <a:latin typeface="微軟正黑體" panose="020B0604030504040204" pitchFamily="34" charset="-120"/>
                <a:ea typeface="微軟正黑體" panose="020B0604030504040204" pitchFamily="34" charset="-120"/>
              </a:rPr>
              <a:t>新增、維修、作廢移招、盤點、續約、作廢資產轉移</a:t>
            </a:r>
          </a:p>
        </p:txBody>
      </p:sp>
      <p:sp>
        <p:nvSpPr>
          <p:cNvPr id="42" name="文字方塊 41">
            <a:extLst>
              <a:ext uri="{FF2B5EF4-FFF2-40B4-BE49-F238E27FC236}">
                <a16:creationId xmlns:a16="http://schemas.microsoft.com/office/drawing/2014/main" id="{7494D3D1-0233-43ED-A700-062CE7DF4A39}"/>
              </a:ext>
            </a:extLst>
          </p:cNvPr>
          <p:cNvSpPr txBox="1"/>
          <p:nvPr/>
        </p:nvSpPr>
        <p:spPr>
          <a:xfrm>
            <a:off x="12325820" y="3020906"/>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作廢移招</a:t>
            </a:r>
          </a:p>
        </p:txBody>
      </p:sp>
      <p:sp>
        <p:nvSpPr>
          <p:cNvPr id="45" name="文字方塊 44">
            <a:extLst>
              <a:ext uri="{FF2B5EF4-FFF2-40B4-BE49-F238E27FC236}">
                <a16:creationId xmlns:a16="http://schemas.microsoft.com/office/drawing/2014/main" id="{A1A77B59-81E6-43E0-9392-B72ADD7C0EED}"/>
              </a:ext>
            </a:extLst>
          </p:cNvPr>
          <p:cNvSpPr txBox="1"/>
          <p:nvPr/>
        </p:nvSpPr>
        <p:spPr>
          <a:xfrm>
            <a:off x="14533480" y="2691072"/>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6" name="文字方塊 45">
            <a:extLst>
              <a:ext uri="{FF2B5EF4-FFF2-40B4-BE49-F238E27FC236}">
                <a16:creationId xmlns:a16="http://schemas.microsoft.com/office/drawing/2014/main" id="{41B4997B-76C9-403C-912A-148B315B2AFE}"/>
              </a:ext>
            </a:extLst>
          </p:cNvPr>
          <p:cNvSpPr txBox="1"/>
          <p:nvPr/>
        </p:nvSpPr>
        <p:spPr>
          <a:xfrm>
            <a:off x="14527938" y="3000504"/>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915BD750-3D09-4E8E-A8FF-EA64CC53E2EF}"/>
              </a:ext>
            </a:extLst>
          </p:cNvPr>
          <p:cNvSpPr txBox="1"/>
          <p:nvPr/>
        </p:nvSpPr>
        <p:spPr>
          <a:xfrm>
            <a:off x="7165848" y="2654315"/>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8" name="文字方塊 47">
            <a:extLst>
              <a:ext uri="{FF2B5EF4-FFF2-40B4-BE49-F238E27FC236}">
                <a16:creationId xmlns:a16="http://schemas.microsoft.com/office/drawing/2014/main" id="{837AE4DB-E4F4-4B44-ACB3-B283196F8EF4}"/>
              </a:ext>
            </a:extLst>
          </p:cNvPr>
          <p:cNvSpPr txBox="1"/>
          <p:nvPr/>
        </p:nvSpPr>
        <p:spPr>
          <a:xfrm>
            <a:off x="7162855" y="3027974"/>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9" name="Rounded Rectangle 4">
            <a:extLst>
              <a:ext uri="{FF2B5EF4-FFF2-40B4-BE49-F238E27FC236}">
                <a16:creationId xmlns:a16="http://schemas.microsoft.com/office/drawing/2014/main" id="{5B56328B-F515-4B3F-A83E-B488C020C648}"/>
              </a:ext>
            </a:extLst>
          </p:cNvPr>
          <p:cNvSpPr/>
          <p:nvPr/>
        </p:nvSpPr>
        <p:spPr>
          <a:xfrm>
            <a:off x="7401089" y="5641981"/>
            <a:ext cx="7935371" cy="34313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若艾創點有更好的維護方式建議也可以幫忙修正簡化、排列，讓維護者更方便維護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C31B2B13-48A2-406A-9A59-347F87C60B8E}"/>
              </a:ext>
            </a:extLst>
          </p:cNvPr>
          <p:cNvSpPr txBox="1"/>
          <p:nvPr/>
        </p:nvSpPr>
        <p:spPr>
          <a:xfrm>
            <a:off x="9225946" y="2222367"/>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51" name="文字方塊 50">
            <a:extLst>
              <a:ext uri="{FF2B5EF4-FFF2-40B4-BE49-F238E27FC236}">
                <a16:creationId xmlns:a16="http://schemas.microsoft.com/office/drawing/2014/main" id="{428EFCE2-C540-44A7-B66E-38E33CF16ED6}"/>
              </a:ext>
            </a:extLst>
          </p:cNvPr>
          <p:cNvSpPr txBox="1"/>
          <p:nvPr/>
        </p:nvSpPr>
        <p:spPr>
          <a:xfrm>
            <a:off x="9318824" y="2660081"/>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KD</a:t>
            </a:r>
            <a:endParaRPr lang="zh-TW" altLang="en-US" sz="1200" u="sng" dirty="0">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F8446FA1-4C39-45A8-8B78-80A8301939CA}"/>
              </a:ext>
            </a:extLst>
          </p:cNvPr>
          <p:cNvSpPr txBox="1"/>
          <p:nvPr/>
        </p:nvSpPr>
        <p:spPr>
          <a:xfrm>
            <a:off x="9318824" y="3024674"/>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53" name="Rounded Rectangle 4">
            <a:extLst>
              <a:ext uri="{FF2B5EF4-FFF2-40B4-BE49-F238E27FC236}">
                <a16:creationId xmlns:a16="http://schemas.microsoft.com/office/drawing/2014/main" id="{32E6806F-CD84-4EE2-BCCD-462E59A72F68}"/>
              </a:ext>
            </a:extLst>
          </p:cNvPr>
          <p:cNvSpPr/>
          <p:nvPr/>
        </p:nvSpPr>
        <p:spPr>
          <a:xfrm>
            <a:off x="7401086" y="6062197"/>
            <a:ext cx="8700142" cy="471272"/>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注意</a:t>
            </a:r>
            <a:r>
              <a:rPr lang="en-US" altLang="zh-TW" sz="1200" b="1" dirty="0">
                <a:solidFill>
                  <a:srgbClr val="FF0000"/>
                </a:solidFill>
                <a:latin typeface="微軟正黑體" panose="020B0604030504040204" pitchFamily="34" charset="-120"/>
                <a:ea typeface="微軟正黑體" panose="020B0604030504040204" pitchFamily="34" charset="-120"/>
              </a:rPr>
              <a:t>: </a:t>
            </a:r>
            <a:r>
              <a:rPr lang="zh-TW" altLang="en-US" sz="1200" b="1" dirty="0">
                <a:solidFill>
                  <a:srgbClr val="FF0000"/>
                </a:solidFill>
                <a:latin typeface="微軟正黑體" panose="020B0604030504040204" pitchFamily="34" charset="-120"/>
                <a:ea typeface="微軟正黑體" panose="020B0604030504040204" pitchFamily="34" charset="-120"/>
              </a:rPr>
              <a:t>只有總公司商企權限，請可開到最大，可協助各廠更新、刪除、維護、查詢</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algn="ctr"/>
            <a:r>
              <a:rPr lang="zh-TW" altLang="en-US" sz="1200" b="1" dirty="0">
                <a:solidFill>
                  <a:srgbClr val="FF0000"/>
                </a:solidFill>
                <a:latin typeface="微軟正黑體" panose="020B0604030504040204" pitchFamily="34" charset="-120"/>
                <a:ea typeface="微軟正黑體" panose="020B0604030504040204" pitchFamily="34" charset="-120"/>
              </a:rPr>
              <a:t>同廠別資料請幫忙排序在一起，避免不同時間加入就散亂</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207411C9-2E06-4EBA-85D5-83173220AB39}"/>
              </a:ext>
            </a:extLst>
          </p:cNvPr>
          <p:cNvSpPr txBox="1"/>
          <p:nvPr/>
        </p:nvSpPr>
        <p:spPr>
          <a:xfrm>
            <a:off x="7775403" y="2650120"/>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55" name="文字方塊 54">
            <a:extLst>
              <a:ext uri="{FF2B5EF4-FFF2-40B4-BE49-F238E27FC236}">
                <a16:creationId xmlns:a16="http://schemas.microsoft.com/office/drawing/2014/main" id="{5F52C9A6-7909-4357-B568-F024B4A8B60B}"/>
              </a:ext>
            </a:extLst>
          </p:cNvPr>
          <p:cNvSpPr txBox="1"/>
          <p:nvPr/>
        </p:nvSpPr>
        <p:spPr>
          <a:xfrm>
            <a:off x="7771077" y="3010577"/>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59" name="文字方塊 58">
            <a:extLst>
              <a:ext uri="{FF2B5EF4-FFF2-40B4-BE49-F238E27FC236}">
                <a16:creationId xmlns:a16="http://schemas.microsoft.com/office/drawing/2014/main" id="{589C4613-20DC-4648-8D5C-FA5E18EB0795}"/>
              </a:ext>
            </a:extLst>
          </p:cNvPr>
          <p:cNvSpPr txBox="1"/>
          <p:nvPr/>
        </p:nvSpPr>
        <p:spPr>
          <a:xfrm>
            <a:off x="10027652" y="2220878"/>
            <a:ext cx="2053069"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胎種別</a:t>
            </a:r>
          </a:p>
        </p:txBody>
      </p:sp>
      <p:sp>
        <p:nvSpPr>
          <p:cNvPr id="62" name="矩形 61">
            <a:extLst>
              <a:ext uri="{FF2B5EF4-FFF2-40B4-BE49-F238E27FC236}">
                <a16:creationId xmlns:a16="http://schemas.microsoft.com/office/drawing/2014/main" id="{88BB80B0-3A2D-4A85-8E96-332E0A49D65C}"/>
              </a:ext>
            </a:extLst>
          </p:cNvPr>
          <p:cNvSpPr/>
          <p:nvPr/>
        </p:nvSpPr>
        <p:spPr>
          <a:xfrm>
            <a:off x="8463165" y="2616891"/>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63" name="文字方塊 62">
            <a:extLst>
              <a:ext uri="{FF2B5EF4-FFF2-40B4-BE49-F238E27FC236}">
                <a16:creationId xmlns:a16="http://schemas.microsoft.com/office/drawing/2014/main" id="{97583289-E5D9-4211-BF00-7134E01106EA}"/>
              </a:ext>
            </a:extLst>
          </p:cNvPr>
          <p:cNvSpPr txBox="1"/>
          <p:nvPr/>
        </p:nvSpPr>
        <p:spPr>
          <a:xfrm>
            <a:off x="7563613" y="1395579"/>
            <a:ext cx="856870"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開放前台</a:t>
            </a:r>
          </a:p>
        </p:txBody>
      </p:sp>
      <p:sp>
        <p:nvSpPr>
          <p:cNvPr id="64" name="矩形 63">
            <a:extLst>
              <a:ext uri="{FF2B5EF4-FFF2-40B4-BE49-F238E27FC236}">
                <a16:creationId xmlns:a16="http://schemas.microsoft.com/office/drawing/2014/main" id="{2C0D8ABA-AC69-42D7-AA1D-1DD654172679}"/>
              </a:ext>
            </a:extLst>
          </p:cNvPr>
          <p:cNvSpPr/>
          <p:nvPr/>
        </p:nvSpPr>
        <p:spPr>
          <a:xfrm>
            <a:off x="8460682" y="3000455"/>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65" name="文字方塊 64">
            <a:extLst>
              <a:ext uri="{FF2B5EF4-FFF2-40B4-BE49-F238E27FC236}">
                <a16:creationId xmlns:a16="http://schemas.microsoft.com/office/drawing/2014/main" id="{655CA17A-9A07-416D-9002-D6AA50F98E5A}"/>
              </a:ext>
            </a:extLst>
          </p:cNvPr>
          <p:cNvSpPr txBox="1"/>
          <p:nvPr/>
        </p:nvSpPr>
        <p:spPr>
          <a:xfrm>
            <a:off x="10152907" y="2658525"/>
            <a:ext cx="1773270"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66" name="文字方塊 65">
            <a:extLst>
              <a:ext uri="{FF2B5EF4-FFF2-40B4-BE49-F238E27FC236}">
                <a16:creationId xmlns:a16="http://schemas.microsoft.com/office/drawing/2014/main" id="{A7D8C70A-788A-4F7C-B1CF-DA893DC6753B}"/>
              </a:ext>
            </a:extLst>
          </p:cNvPr>
          <p:cNvSpPr txBox="1"/>
          <p:nvPr/>
        </p:nvSpPr>
        <p:spPr>
          <a:xfrm>
            <a:off x="10169044" y="2990559"/>
            <a:ext cx="1434418" cy="276999"/>
          </a:xfrm>
          <a:prstGeom prst="rect">
            <a:avLst/>
          </a:prstGeom>
          <a:noFill/>
        </p:spPr>
        <p:txBody>
          <a:bodyPr wrap="square" rtlCol="0">
            <a:spAutoFit/>
          </a:bodyPr>
          <a:lstStyle/>
          <a:p>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67" name="文字方塊 66">
            <a:extLst>
              <a:ext uri="{FF2B5EF4-FFF2-40B4-BE49-F238E27FC236}">
                <a16:creationId xmlns:a16="http://schemas.microsoft.com/office/drawing/2014/main" id="{A0DAEECF-DF5B-4BF8-93E6-2BC3BA6CF171}"/>
              </a:ext>
            </a:extLst>
          </p:cNvPr>
          <p:cNvSpPr txBox="1"/>
          <p:nvPr/>
        </p:nvSpPr>
        <p:spPr>
          <a:xfrm>
            <a:off x="12339368" y="3363300"/>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新增、維修、作廢移招</a:t>
            </a:r>
          </a:p>
        </p:txBody>
      </p:sp>
      <p:sp>
        <p:nvSpPr>
          <p:cNvPr id="69" name="文字方塊 68">
            <a:extLst>
              <a:ext uri="{FF2B5EF4-FFF2-40B4-BE49-F238E27FC236}">
                <a16:creationId xmlns:a16="http://schemas.microsoft.com/office/drawing/2014/main" id="{08488274-5E29-465A-B3BE-A5AF1DEC19B8}"/>
              </a:ext>
            </a:extLst>
          </p:cNvPr>
          <p:cNvSpPr txBox="1"/>
          <p:nvPr/>
        </p:nvSpPr>
        <p:spPr>
          <a:xfrm>
            <a:off x="14527938" y="3409467"/>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70" name="文字方塊 69">
            <a:extLst>
              <a:ext uri="{FF2B5EF4-FFF2-40B4-BE49-F238E27FC236}">
                <a16:creationId xmlns:a16="http://schemas.microsoft.com/office/drawing/2014/main" id="{58214CE7-2353-4F5F-99D5-3C56200D7739}"/>
              </a:ext>
            </a:extLst>
          </p:cNvPr>
          <p:cNvSpPr txBox="1"/>
          <p:nvPr/>
        </p:nvSpPr>
        <p:spPr>
          <a:xfrm>
            <a:off x="7162855" y="3436937"/>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71" name="文字方塊 70">
            <a:extLst>
              <a:ext uri="{FF2B5EF4-FFF2-40B4-BE49-F238E27FC236}">
                <a16:creationId xmlns:a16="http://schemas.microsoft.com/office/drawing/2014/main" id="{FFF032FA-318F-4B18-99C1-48B256DD3330}"/>
              </a:ext>
            </a:extLst>
          </p:cNvPr>
          <p:cNvSpPr txBox="1"/>
          <p:nvPr/>
        </p:nvSpPr>
        <p:spPr>
          <a:xfrm>
            <a:off x="9318824" y="3433638"/>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KC</a:t>
            </a:r>
            <a:endParaRPr lang="zh-TW" altLang="en-US" sz="1200" u="sng" dirty="0">
              <a:latin typeface="微軟正黑體" panose="020B0604030504040204" pitchFamily="34" charset="-120"/>
              <a:ea typeface="微軟正黑體" panose="020B0604030504040204" pitchFamily="34" charset="-120"/>
            </a:endParaRPr>
          </a:p>
        </p:txBody>
      </p:sp>
      <p:sp>
        <p:nvSpPr>
          <p:cNvPr id="72" name="文字方塊 71">
            <a:extLst>
              <a:ext uri="{FF2B5EF4-FFF2-40B4-BE49-F238E27FC236}">
                <a16:creationId xmlns:a16="http://schemas.microsoft.com/office/drawing/2014/main" id="{BB90D1EB-4277-4CFC-B2A5-2FD32EF77B07}"/>
              </a:ext>
            </a:extLst>
          </p:cNvPr>
          <p:cNvSpPr txBox="1"/>
          <p:nvPr/>
        </p:nvSpPr>
        <p:spPr>
          <a:xfrm>
            <a:off x="7771077" y="3419540"/>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73" name="矩形 72">
            <a:extLst>
              <a:ext uri="{FF2B5EF4-FFF2-40B4-BE49-F238E27FC236}">
                <a16:creationId xmlns:a16="http://schemas.microsoft.com/office/drawing/2014/main" id="{AC15A964-7DB3-4C5F-8AAB-EC95349ECCDA}"/>
              </a:ext>
            </a:extLst>
          </p:cNvPr>
          <p:cNvSpPr/>
          <p:nvPr/>
        </p:nvSpPr>
        <p:spPr>
          <a:xfrm>
            <a:off x="8460682" y="3409417"/>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74" name="文字方塊 73">
            <a:extLst>
              <a:ext uri="{FF2B5EF4-FFF2-40B4-BE49-F238E27FC236}">
                <a16:creationId xmlns:a16="http://schemas.microsoft.com/office/drawing/2014/main" id="{49119EE6-7A69-4F38-9790-10867E8F8AA0}"/>
              </a:ext>
            </a:extLst>
          </p:cNvPr>
          <p:cNvSpPr txBox="1"/>
          <p:nvPr/>
        </p:nvSpPr>
        <p:spPr>
          <a:xfrm>
            <a:off x="10169045" y="3399522"/>
            <a:ext cx="1447966" cy="461665"/>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a:p>
            <a:endParaRPr lang="zh-TW" altLang="en-US" sz="1200" u="sng" dirty="0">
              <a:latin typeface="微軟正黑體" panose="020B0604030504040204" pitchFamily="34" charset="-120"/>
              <a:ea typeface="微軟正黑體" panose="020B0604030504040204" pitchFamily="34" charset="-120"/>
            </a:endParaRPr>
          </a:p>
        </p:txBody>
      </p:sp>
      <p:sp>
        <p:nvSpPr>
          <p:cNvPr id="77" name="文字方塊 76">
            <a:extLst>
              <a:ext uri="{FF2B5EF4-FFF2-40B4-BE49-F238E27FC236}">
                <a16:creationId xmlns:a16="http://schemas.microsoft.com/office/drawing/2014/main" id="{5B5A38F5-E6E7-46B2-968F-B5196D71F99C}"/>
              </a:ext>
            </a:extLst>
          </p:cNvPr>
          <p:cNvSpPr txBox="1"/>
          <p:nvPr/>
        </p:nvSpPr>
        <p:spPr>
          <a:xfrm>
            <a:off x="14533480" y="3827798"/>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78" name="文字方塊 77">
            <a:extLst>
              <a:ext uri="{FF2B5EF4-FFF2-40B4-BE49-F238E27FC236}">
                <a16:creationId xmlns:a16="http://schemas.microsoft.com/office/drawing/2014/main" id="{0C7BCD5E-D15D-493E-97E7-5A7F2A213AC5}"/>
              </a:ext>
            </a:extLst>
          </p:cNvPr>
          <p:cNvSpPr txBox="1"/>
          <p:nvPr/>
        </p:nvSpPr>
        <p:spPr>
          <a:xfrm>
            <a:off x="7168397" y="3855268"/>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79" name="文字方塊 78">
            <a:extLst>
              <a:ext uri="{FF2B5EF4-FFF2-40B4-BE49-F238E27FC236}">
                <a16:creationId xmlns:a16="http://schemas.microsoft.com/office/drawing/2014/main" id="{19C3A706-F0E8-41B9-B4AE-C771A621D53D}"/>
              </a:ext>
            </a:extLst>
          </p:cNvPr>
          <p:cNvSpPr txBox="1"/>
          <p:nvPr/>
        </p:nvSpPr>
        <p:spPr>
          <a:xfrm>
            <a:off x="9324366" y="3851969"/>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KT</a:t>
            </a:r>
            <a:endParaRPr lang="zh-TW" altLang="en-US" sz="1200" u="sng" dirty="0">
              <a:latin typeface="微軟正黑體" panose="020B0604030504040204" pitchFamily="34" charset="-120"/>
              <a:ea typeface="微軟正黑體" panose="020B0604030504040204" pitchFamily="34" charset="-120"/>
            </a:endParaRPr>
          </a:p>
        </p:txBody>
      </p:sp>
      <p:sp>
        <p:nvSpPr>
          <p:cNvPr id="80" name="文字方塊 79">
            <a:extLst>
              <a:ext uri="{FF2B5EF4-FFF2-40B4-BE49-F238E27FC236}">
                <a16:creationId xmlns:a16="http://schemas.microsoft.com/office/drawing/2014/main" id="{2D7A5A09-DBB9-4457-AEC7-2904054B9222}"/>
              </a:ext>
            </a:extLst>
          </p:cNvPr>
          <p:cNvSpPr txBox="1"/>
          <p:nvPr/>
        </p:nvSpPr>
        <p:spPr>
          <a:xfrm>
            <a:off x="7776619" y="3837871"/>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81" name="矩形 80">
            <a:extLst>
              <a:ext uri="{FF2B5EF4-FFF2-40B4-BE49-F238E27FC236}">
                <a16:creationId xmlns:a16="http://schemas.microsoft.com/office/drawing/2014/main" id="{52A828E6-E9B1-4FC1-A16F-FE43D0F67F12}"/>
              </a:ext>
            </a:extLst>
          </p:cNvPr>
          <p:cNvSpPr/>
          <p:nvPr/>
        </p:nvSpPr>
        <p:spPr>
          <a:xfrm>
            <a:off x="8466224" y="3827748"/>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82" name="文字方塊 81">
            <a:extLst>
              <a:ext uri="{FF2B5EF4-FFF2-40B4-BE49-F238E27FC236}">
                <a16:creationId xmlns:a16="http://schemas.microsoft.com/office/drawing/2014/main" id="{A7E2B288-C21F-4810-9094-AEE9F0D01440}"/>
              </a:ext>
            </a:extLst>
          </p:cNvPr>
          <p:cNvSpPr txBox="1"/>
          <p:nvPr/>
        </p:nvSpPr>
        <p:spPr>
          <a:xfrm>
            <a:off x="10174586" y="3817853"/>
            <a:ext cx="132064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84" name="文字方塊 83">
            <a:extLst>
              <a:ext uri="{FF2B5EF4-FFF2-40B4-BE49-F238E27FC236}">
                <a16:creationId xmlns:a16="http://schemas.microsoft.com/office/drawing/2014/main" id="{FBD04B10-141B-4F7C-9FFE-2BBF31D88D30}"/>
              </a:ext>
            </a:extLst>
          </p:cNvPr>
          <p:cNvSpPr txBox="1"/>
          <p:nvPr/>
        </p:nvSpPr>
        <p:spPr>
          <a:xfrm>
            <a:off x="12331363" y="4282652"/>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新增、維修、作廢移招</a:t>
            </a:r>
          </a:p>
        </p:txBody>
      </p:sp>
      <p:sp>
        <p:nvSpPr>
          <p:cNvPr id="85" name="文字方塊 84">
            <a:extLst>
              <a:ext uri="{FF2B5EF4-FFF2-40B4-BE49-F238E27FC236}">
                <a16:creationId xmlns:a16="http://schemas.microsoft.com/office/drawing/2014/main" id="{05A6B5CB-1AC6-4ACD-AAB6-01EE76884E2B}"/>
              </a:ext>
            </a:extLst>
          </p:cNvPr>
          <p:cNvSpPr txBox="1"/>
          <p:nvPr/>
        </p:nvSpPr>
        <p:spPr>
          <a:xfrm>
            <a:off x="14533480" y="4262250"/>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86" name="文字方塊 85">
            <a:extLst>
              <a:ext uri="{FF2B5EF4-FFF2-40B4-BE49-F238E27FC236}">
                <a16:creationId xmlns:a16="http://schemas.microsoft.com/office/drawing/2014/main" id="{98264DA0-F121-40C4-8A9E-E3DF3F52E8D6}"/>
              </a:ext>
            </a:extLst>
          </p:cNvPr>
          <p:cNvSpPr txBox="1"/>
          <p:nvPr/>
        </p:nvSpPr>
        <p:spPr>
          <a:xfrm>
            <a:off x="7168397" y="4289720"/>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87" name="文字方塊 86">
            <a:extLst>
              <a:ext uri="{FF2B5EF4-FFF2-40B4-BE49-F238E27FC236}">
                <a16:creationId xmlns:a16="http://schemas.microsoft.com/office/drawing/2014/main" id="{42FFC547-8096-4A6D-BC4B-23C710C0256C}"/>
              </a:ext>
            </a:extLst>
          </p:cNvPr>
          <p:cNvSpPr txBox="1"/>
          <p:nvPr/>
        </p:nvSpPr>
        <p:spPr>
          <a:xfrm>
            <a:off x="9324366" y="4286420"/>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KS</a:t>
            </a:r>
            <a:endParaRPr lang="zh-TW" altLang="en-US" sz="1200" u="sng" dirty="0">
              <a:latin typeface="微軟正黑體" panose="020B0604030504040204" pitchFamily="34" charset="-120"/>
              <a:ea typeface="微軟正黑體" panose="020B0604030504040204" pitchFamily="34" charset="-120"/>
            </a:endParaRPr>
          </a:p>
        </p:txBody>
      </p:sp>
      <p:sp>
        <p:nvSpPr>
          <p:cNvPr id="88" name="文字方塊 87">
            <a:extLst>
              <a:ext uri="{FF2B5EF4-FFF2-40B4-BE49-F238E27FC236}">
                <a16:creationId xmlns:a16="http://schemas.microsoft.com/office/drawing/2014/main" id="{E71A7A2F-B2BA-4D7B-94CC-46E0B465546C}"/>
              </a:ext>
            </a:extLst>
          </p:cNvPr>
          <p:cNvSpPr txBox="1"/>
          <p:nvPr/>
        </p:nvSpPr>
        <p:spPr>
          <a:xfrm>
            <a:off x="7776620" y="427232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89" name="矩形 88">
            <a:extLst>
              <a:ext uri="{FF2B5EF4-FFF2-40B4-BE49-F238E27FC236}">
                <a16:creationId xmlns:a16="http://schemas.microsoft.com/office/drawing/2014/main" id="{EDEE7634-844A-4AC6-BF47-42777AD19BB0}"/>
              </a:ext>
            </a:extLst>
          </p:cNvPr>
          <p:cNvSpPr/>
          <p:nvPr/>
        </p:nvSpPr>
        <p:spPr>
          <a:xfrm>
            <a:off x="8466225" y="4262201"/>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90" name="文字方塊 89">
            <a:extLst>
              <a:ext uri="{FF2B5EF4-FFF2-40B4-BE49-F238E27FC236}">
                <a16:creationId xmlns:a16="http://schemas.microsoft.com/office/drawing/2014/main" id="{D91F2338-E0E3-455A-BF2E-882C0E067437}"/>
              </a:ext>
            </a:extLst>
          </p:cNvPr>
          <p:cNvSpPr txBox="1"/>
          <p:nvPr/>
        </p:nvSpPr>
        <p:spPr>
          <a:xfrm>
            <a:off x="12344911" y="4625046"/>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新增、維修、作廢移招</a:t>
            </a:r>
          </a:p>
        </p:txBody>
      </p:sp>
      <p:sp>
        <p:nvSpPr>
          <p:cNvPr id="92" name="文字方塊 91">
            <a:extLst>
              <a:ext uri="{FF2B5EF4-FFF2-40B4-BE49-F238E27FC236}">
                <a16:creationId xmlns:a16="http://schemas.microsoft.com/office/drawing/2014/main" id="{E4E8BD05-3FEB-4B8F-9D93-6DC1CE4727D5}"/>
              </a:ext>
            </a:extLst>
          </p:cNvPr>
          <p:cNvSpPr txBox="1"/>
          <p:nvPr/>
        </p:nvSpPr>
        <p:spPr>
          <a:xfrm>
            <a:off x="14533480" y="4671213"/>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93" name="文字方塊 92">
            <a:extLst>
              <a:ext uri="{FF2B5EF4-FFF2-40B4-BE49-F238E27FC236}">
                <a16:creationId xmlns:a16="http://schemas.microsoft.com/office/drawing/2014/main" id="{684CED94-677A-4F60-91A9-676AA0EDF856}"/>
              </a:ext>
            </a:extLst>
          </p:cNvPr>
          <p:cNvSpPr txBox="1"/>
          <p:nvPr/>
        </p:nvSpPr>
        <p:spPr>
          <a:xfrm>
            <a:off x="7168397" y="469868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94" name="文字方塊 93">
            <a:extLst>
              <a:ext uri="{FF2B5EF4-FFF2-40B4-BE49-F238E27FC236}">
                <a16:creationId xmlns:a16="http://schemas.microsoft.com/office/drawing/2014/main" id="{0840C0C8-FD77-4F67-ACFE-FFCA257B6053}"/>
              </a:ext>
            </a:extLst>
          </p:cNvPr>
          <p:cNvSpPr txBox="1"/>
          <p:nvPr/>
        </p:nvSpPr>
        <p:spPr>
          <a:xfrm>
            <a:off x="9324366" y="4695384"/>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KV</a:t>
            </a:r>
            <a:endParaRPr lang="zh-TW" altLang="en-US" sz="1200" u="sng" dirty="0">
              <a:latin typeface="微軟正黑體" panose="020B0604030504040204" pitchFamily="34" charset="-120"/>
              <a:ea typeface="微軟正黑體" panose="020B0604030504040204" pitchFamily="34" charset="-120"/>
            </a:endParaRPr>
          </a:p>
        </p:txBody>
      </p:sp>
      <p:sp>
        <p:nvSpPr>
          <p:cNvPr id="95" name="文字方塊 94">
            <a:extLst>
              <a:ext uri="{FF2B5EF4-FFF2-40B4-BE49-F238E27FC236}">
                <a16:creationId xmlns:a16="http://schemas.microsoft.com/office/drawing/2014/main" id="{9521BCE4-10A7-4220-9142-37EB6A7EA9F8}"/>
              </a:ext>
            </a:extLst>
          </p:cNvPr>
          <p:cNvSpPr txBox="1"/>
          <p:nvPr/>
        </p:nvSpPr>
        <p:spPr>
          <a:xfrm>
            <a:off x="7776620" y="468128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96" name="矩形 95">
            <a:extLst>
              <a:ext uri="{FF2B5EF4-FFF2-40B4-BE49-F238E27FC236}">
                <a16:creationId xmlns:a16="http://schemas.microsoft.com/office/drawing/2014/main" id="{A21A5318-8B91-4852-A12E-81FAF4D45D7D}"/>
              </a:ext>
            </a:extLst>
          </p:cNvPr>
          <p:cNvSpPr/>
          <p:nvPr/>
        </p:nvSpPr>
        <p:spPr>
          <a:xfrm>
            <a:off x="8466225" y="4671164"/>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97" name="文字方塊 96">
            <a:extLst>
              <a:ext uri="{FF2B5EF4-FFF2-40B4-BE49-F238E27FC236}">
                <a16:creationId xmlns:a16="http://schemas.microsoft.com/office/drawing/2014/main" id="{005E4D14-0DF2-4E13-9070-4315F0C60952}"/>
              </a:ext>
            </a:extLst>
          </p:cNvPr>
          <p:cNvSpPr txBox="1"/>
          <p:nvPr/>
        </p:nvSpPr>
        <p:spPr>
          <a:xfrm>
            <a:off x="10174589" y="4661268"/>
            <a:ext cx="1459051"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98" name="文字方塊 97">
            <a:extLst>
              <a:ext uri="{FF2B5EF4-FFF2-40B4-BE49-F238E27FC236}">
                <a16:creationId xmlns:a16="http://schemas.microsoft.com/office/drawing/2014/main" id="{367B04AB-80CD-4E35-96B8-C6A717F6BA41}"/>
              </a:ext>
            </a:extLst>
          </p:cNvPr>
          <p:cNvSpPr txBox="1"/>
          <p:nvPr/>
        </p:nvSpPr>
        <p:spPr>
          <a:xfrm>
            <a:off x="12336905" y="5109946"/>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新增、維修、作廢移招</a:t>
            </a:r>
          </a:p>
        </p:txBody>
      </p:sp>
      <p:sp>
        <p:nvSpPr>
          <p:cNvPr id="100" name="文字方塊 99">
            <a:extLst>
              <a:ext uri="{FF2B5EF4-FFF2-40B4-BE49-F238E27FC236}">
                <a16:creationId xmlns:a16="http://schemas.microsoft.com/office/drawing/2014/main" id="{0F45BC5B-5E02-4E20-85B5-4F8947E2072F}"/>
              </a:ext>
            </a:extLst>
          </p:cNvPr>
          <p:cNvSpPr txBox="1"/>
          <p:nvPr/>
        </p:nvSpPr>
        <p:spPr>
          <a:xfrm>
            <a:off x="14539022" y="5089544"/>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101" name="文字方塊 100">
            <a:extLst>
              <a:ext uri="{FF2B5EF4-FFF2-40B4-BE49-F238E27FC236}">
                <a16:creationId xmlns:a16="http://schemas.microsoft.com/office/drawing/2014/main" id="{02A5DD62-89DE-4C5A-9B3B-AAEA3B7F92C0}"/>
              </a:ext>
            </a:extLst>
          </p:cNvPr>
          <p:cNvSpPr txBox="1"/>
          <p:nvPr/>
        </p:nvSpPr>
        <p:spPr>
          <a:xfrm>
            <a:off x="7173939" y="5117014"/>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102" name="文字方塊 101">
            <a:extLst>
              <a:ext uri="{FF2B5EF4-FFF2-40B4-BE49-F238E27FC236}">
                <a16:creationId xmlns:a16="http://schemas.microsoft.com/office/drawing/2014/main" id="{3B73896C-E01C-454C-8AF0-0DDE8DD26230}"/>
              </a:ext>
            </a:extLst>
          </p:cNvPr>
          <p:cNvSpPr txBox="1"/>
          <p:nvPr/>
        </p:nvSpPr>
        <p:spPr>
          <a:xfrm>
            <a:off x="9329908" y="5113715"/>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KI</a:t>
            </a:r>
            <a:endParaRPr lang="zh-TW" altLang="en-US" sz="1200" u="sng" dirty="0">
              <a:latin typeface="微軟正黑體" panose="020B0604030504040204" pitchFamily="34" charset="-120"/>
              <a:ea typeface="微軟正黑體" panose="020B0604030504040204" pitchFamily="34" charset="-120"/>
            </a:endParaRPr>
          </a:p>
        </p:txBody>
      </p:sp>
      <p:sp>
        <p:nvSpPr>
          <p:cNvPr id="103" name="文字方塊 102">
            <a:extLst>
              <a:ext uri="{FF2B5EF4-FFF2-40B4-BE49-F238E27FC236}">
                <a16:creationId xmlns:a16="http://schemas.microsoft.com/office/drawing/2014/main" id="{64650C2B-7D93-4AB9-9B08-44222EF0BF18}"/>
              </a:ext>
            </a:extLst>
          </p:cNvPr>
          <p:cNvSpPr txBox="1"/>
          <p:nvPr/>
        </p:nvSpPr>
        <p:spPr>
          <a:xfrm>
            <a:off x="7782162" y="5099617"/>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修改</a:t>
            </a:r>
          </a:p>
        </p:txBody>
      </p:sp>
      <p:sp>
        <p:nvSpPr>
          <p:cNvPr id="104" name="矩形 103">
            <a:extLst>
              <a:ext uri="{FF2B5EF4-FFF2-40B4-BE49-F238E27FC236}">
                <a16:creationId xmlns:a16="http://schemas.microsoft.com/office/drawing/2014/main" id="{78F09925-A8D0-4EB4-A44A-EE76346C733B}"/>
              </a:ext>
            </a:extLst>
          </p:cNvPr>
          <p:cNvSpPr/>
          <p:nvPr/>
        </p:nvSpPr>
        <p:spPr>
          <a:xfrm>
            <a:off x="8471767" y="5089494"/>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105" name="文字方塊 104">
            <a:extLst>
              <a:ext uri="{FF2B5EF4-FFF2-40B4-BE49-F238E27FC236}">
                <a16:creationId xmlns:a16="http://schemas.microsoft.com/office/drawing/2014/main" id="{695859BE-73BB-4CD2-96C4-055261574F4A}"/>
              </a:ext>
            </a:extLst>
          </p:cNvPr>
          <p:cNvSpPr txBox="1"/>
          <p:nvPr/>
        </p:nvSpPr>
        <p:spPr>
          <a:xfrm>
            <a:off x="10180129" y="5079599"/>
            <a:ext cx="129279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107" name="文字方塊 106">
            <a:extLst>
              <a:ext uri="{FF2B5EF4-FFF2-40B4-BE49-F238E27FC236}">
                <a16:creationId xmlns:a16="http://schemas.microsoft.com/office/drawing/2014/main" id="{47D20D2E-85E0-44C5-B1BC-58CACA434127}"/>
              </a:ext>
            </a:extLst>
          </p:cNvPr>
          <p:cNvSpPr txBox="1"/>
          <p:nvPr/>
        </p:nvSpPr>
        <p:spPr>
          <a:xfrm>
            <a:off x="10160495" y="4269344"/>
            <a:ext cx="1334740"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MC</a:t>
            </a:r>
            <a:r>
              <a:rPr lang="zh-TW" altLang="en-US" sz="1200" u="sng" dirty="0">
                <a:latin typeface="微軟正黑體" panose="020B0604030504040204" pitchFamily="34" charset="-120"/>
                <a:ea typeface="微軟正黑體" panose="020B0604030504040204" pitchFamily="34" charset="-120"/>
              </a:rPr>
              <a:t>、</a:t>
            </a:r>
            <a:r>
              <a:rPr lang="en-US" altLang="zh-TW" sz="1200" u="sng" dirty="0">
                <a:latin typeface="微軟正黑體" panose="020B0604030504040204" pitchFamily="34" charset="-120"/>
                <a:ea typeface="微軟正黑體" panose="020B0604030504040204" pitchFamily="34" charset="-120"/>
              </a:rPr>
              <a:t> BC</a:t>
            </a:r>
            <a:endParaRPr lang="zh-TW" altLang="en-US" sz="1200" u="sng" dirty="0">
              <a:latin typeface="微軟正黑體" panose="020B0604030504040204" pitchFamily="34" charset="-120"/>
              <a:ea typeface="微軟正黑體" panose="020B0604030504040204" pitchFamily="34" charset="-120"/>
            </a:endParaRPr>
          </a:p>
        </p:txBody>
      </p:sp>
      <p:sp>
        <p:nvSpPr>
          <p:cNvPr id="108" name="文字方塊 107">
            <a:extLst>
              <a:ext uri="{FF2B5EF4-FFF2-40B4-BE49-F238E27FC236}">
                <a16:creationId xmlns:a16="http://schemas.microsoft.com/office/drawing/2014/main" id="{4BB3F9E1-0ABB-4FF6-936D-BD717E637BCC}"/>
              </a:ext>
            </a:extLst>
          </p:cNvPr>
          <p:cNvSpPr txBox="1"/>
          <p:nvPr/>
        </p:nvSpPr>
        <p:spPr>
          <a:xfrm>
            <a:off x="12838782" y="1381764"/>
            <a:ext cx="561845"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新增</a:t>
            </a:r>
          </a:p>
        </p:txBody>
      </p:sp>
      <p:sp>
        <p:nvSpPr>
          <p:cNvPr id="110" name="文字方塊 109">
            <a:extLst>
              <a:ext uri="{FF2B5EF4-FFF2-40B4-BE49-F238E27FC236}">
                <a16:creationId xmlns:a16="http://schemas.microsoft.com/office/drawing/2014/main" id="{0201E453-CE02-4C77-882B-80360AB49333}"/>
              </a:ext>
            </a:extLst>
          </p:cNvPr>
          <p:cNvSpPr txBox="1"/>
          <p:nvPr/>
        </p:nvSpPr>
        <p:spPr>
          <a:xfrm>
            <a:off x="8988113" y="1380947"/>
            <a:ext cx="89409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KF(</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13" name="矩形 112">
            <a:extLst>
              <a:ext uri="{FF2B5EF4-FFF2-40B4-BE49-F238E27FC236}">
                <a16:creationId xmlns:a16="http://schemas.microsoft.com/office/drawing/2014/main" id="{041BD65F-7F2D-475C-B501-6CA0AAB45F4D}"/>
              </a:ext>
            </a:extLst>
          </p:cNvPr>
          <p:cNvSpPr/>
          <p:nvPr/>
        </p:nvSpPr>
        <p:spPr>
          <a:xfrm>
            <a:off x="8516210" y="1359444"/>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114" name="文字方塊 113">
            <a:extLst>
              <a:ext uri="{FF2B5EF4-FFF2-40B4-BE49-F238E27FC236}">
                <a16:creationId xmlns:a16="http://schemas.microsoft.com/office/drawing/2014/main" id="{D985890A-94FA-41A6-9C08-B61E904B53CC}"/>
              </a:ext>
            </a:extLst>
          </p:cNvPr>
          <p:cNvSpPr txBox="1"/>
          <p:nvPr/>
        </p:nvSpPr>
        <p:spPr>
          <a:xfrm>
            <a:off x="8230545" y="2219295"/>
            <a:ext cx="894092"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前台開放</a:t>
            </a:r>
          </a:p>
        </p:txBody>
      </p:sp>
      <p:sp>
        <p:nvSpPr>
          <p:cNvPr id="115" name="文字方塊 114">
            <a:extLst>
              <a:ext uri="{FF2B5EF4-FFF2-40B4-BE49-F238E27FC236}">
                <a16:creationId xmlns:a16="http://schemas.microsoft.com/office/drawing/2014/main" id="{B1666B4B-F9CB-48F8-8848-F466470F5F21}"/>
              </a:ext>
            </a:extLst>
          </p:cNvPr>
          <p:cNvSpPr txBox="1"/>
          <p:nvPr/>
        </p:nvSpPr>
        <p:spPr>
          <a:xfrm>
            <a:off x="10970921" y="1002015"/>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申請類別</a:t>
            </a:r>
          </a:p>
        </p:txBody>
      </p:sp>
      <p:sp>
        <p:nvSpPr>
          <p:cNvPr id="118" name="文字方塊 117">
            <a:extLst>
              <a:ext uri="{FF2B5EF4-FFF2-40B4-BE49-F238E27FC236}">
                <a16:creationId xmlns:a16="http://schemas.microsoft.com/office/drawing/2014/main" id="{4DC3677C-1EFC-4939-8EC1-576F02877430}"/>
              </a:ext>
            </a:extLst>
          </p:cNvPr>
          <p:cNvSpPr txBox="1"/>
          <p:nvPr/>
        </p:nvSpPr>
        <p:spPr>
          <a:xfrm>
            <a:off x="9179772" y="1000526"/>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119" name="文字方塊 118">
            <a:extLst>
              <a:ext uri="{FF2B5EF4-FFF2-40B4-BE49-F238E27FC236}">
                <a16:creationId xmlns:a16="http://schemas.microsoft.com/office/drawing/2014/main" id="{9F8B95A7-47DA-46FB-9230-CA4CB7FE4788}"/>
              </a:ext>
            </a:extLst>
          </p:cNvPr>
          <p:cNvSpPr txBox="1"/>
          <p:nvPr/>
        </p:nvSpPr>
        <p:spPr>
          <a:xfrm>
            <a:off x="9981478" y="999037"/>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胎種別</a:t>
            </a:r>
          </a:p>
        </p:txBody>
      </p:sp>
      <p:sp>
        <p:nvSpPr>
          <p:cNvPr id="121" name="文字方塊 120">
            <a:extLst>
              <a:ext uri="{FF2B5EF4-FFF2-40B4-BE49-F238E27FC236}">
                <a16:creationId xmlns:a16="http://schemas.microsoft.com/office/drawing/2014/main" id="{E1D80354-92F6-4E3D-A4CF-EA4B04CEEED0}"/>
              </a:ext>
            </a:extLst>
          </p:cNvPr>
          <p:cNvSpPr txBox="1"/>
          <p:nvPr/>
        </p:nvSpPr>
        <p:spPr>
          <a:xfrm>
            <a:off x="7843448" y="725666"/>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請輸入維護資料 </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22" name="文字方塊 121">
            <a:extLst>
              <a:ext uri="{FF2B5EF4-FFF2-40B4-BE49-F238E27FC236}">
                <a16:creationId xmlns:a16="http://schemas.microsoft.com/office/drawing/2014/main" id="{6B1EFF89-A8F5-4F31-97D3-846AFF8BC905}"/>
              </a:ext>
            </a:extLst>
          </p:cNvPr>
          <p:cNvSpPr txBox="1"/>
          <p:nvPr/>
        </p:nvSpPr>
        <p:spPr>
          <a:xfrm>
            <a:off x="7732517" y="1966423"/>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現有已維護明細如下</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23" name="文字方塊 122">
            <a:extLst>
              <a:ext uri="{FF2B5EF4-FFF2-40B4-BE49-F238E27FC236}">
                <a16:creationId xmlns:a16="http://schemas.microsoft.com/office/drawing/2014/main" id="{D4497AE0-8854-443B-9266-43BF1A8444BE}"/>
              </a:ext>
            </a:extLst>
          </p:cNvPr>
          <p:cNvSpPr txBox="1"/>
          <p:nvPr/>
        </p:nvSpPr>
        <p:spPr>
          <a:xfrm>
            <a:off x="9971788" y="1378027"/>
            <a:ext cx="99913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PCR(</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24" name="文字方塊 123">
            <a:extLst>
              <a:ext uri="{FF2B5EF4-FFF2-40B4-BE49-F238E27FC236}">
                <a16:creationId xmlns:a16="http://schemas.microsoft.com/office/drawing/2014/main" id="{648906F9-1F5B-4B9E-A840-BCA167CF9644}"/>
              </a:ext>
            </a:extLst>
          </p:cNvPr>
          <p:cNvSpPr txBox="1"/>
          <p:nvPr/>
        </p:nvSpPr>
        <p:spPr>
          <a:xfrm>
            <a:off x="11021784" y="1375187"/>
            <a:ext cx="166414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作廢移招</a:t>
            </a:r>
          </a:p>
        </p:txBody>
      </p:sp>
      <p:cxnSp>
        <p:nvCxnSpPr>
          <p:cNvPr id="3" name="直線接點 2">
            <a:extLst>
              <a:ext uri="{FF2B5EF4-FFF2-40B4-BE49-F238E27FC236}">
                <a16:creationId xmlns:a16="http://schemas.microsoft.com/office/drawing/2014/main" id="{6C30D21D-C9D3-409E-B574-1D6B270E8118}"/>
              </a:ext>
            </a:extLst>
          </p:cNvPr>
          <p:cNvCxnSpPr/>
          <p:nvPr/>
        </p:nvCxnSpPr>
        <p:spPr>
          <a:xfrm>
            <a:off x="7356242" y="1867593"/>
            <a:ext cx="8434647" cy="0"/>
          </a:xfrm>
          <a:prstGeom prst="line">
            <a:avLst/>
          </a:prstGeom>
        </p:spPr>
        <p:style>
          <a:lnRef idx="2">
            <a:schemeClr val="accent1"/>
          </a:lnRef>
          <a:fillRef idx="0">
            <a:schemeClr val="accent1"/>
          </a:fillRef>
          <a:effectRef idx="1">
            <a:schemeClr val="accent1"/>
          </a:effectRef>
          <a:fontRef idx="minor">
            <a:schemeClr val="tx1"/>
          </a:fontRef>
        </p:style>
      </p:cxnSp>
      <p:sp>
        <p:nvSpPr>
          <p:cNvPr id="126" name="文字方塊 125">
            <a:extLst>
              <a:ext uri="{FF2B5EF4-FFF2-40B4-BE49-F238E27FC236}">
                <a16:creationId xmlns:a16="http://schemas.microsoft.com/office/drawing/2014/main" id="{26FF4E1F-C297-437F-920F-51A88248297A}"/>
              </a:ext>
            </a:extLst>
          </p:cNvPr>
          <p:cNvSpPr txBox="1"/>
          <p:nvPr/>
        </p:nvSpPr>
        <p:spPr>
          <a:xfrm>
            <a:off x="12321376" y="3781321"/>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新增、維修、作廢移招</a:t>
            </a:r>
          </a:p>
        </p:txBody>
      </p:sp>
      <p:sp>
        <p:nvSpPr>
          <p:cNvPr id="76" name="TextBox 1">
            <a:extLst>
              <a:ext uri="{FF2B5EF4-FFF2-40B4-BE49-F238E27FC236}">
                <a16:creationId xmlns:a16="http://schemas.microsoft.com/office/drawing/2014/main" id="{3020388E-B68A-49A0-8F35-20872FA53D4C}"/>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3625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a:extLst>
              <a:ext uri="{FF2B5EF4-FFF2-40B4-BE49-F238E27FC236}">
                <a16:creationId xmlns:a16="http://schemas.microsoft.com/office/drawing/2014/main" id="{D52FF3C7-028F-4921-BE84-3815C0B116DC}"/>
              </a:ext>
            </a:extLst>
          </p:cNvPr>
          <p:cNvSpPr/>
          <p:nvPr/>
        </p:nvSpPr>
        <p:spPr>
          <a:xfrm>
            <a:off x="7073609" y="659322"/>
            <a:ext cx="9126829" cy="6182679"/>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3528221" y="-4506"/>
            <a:ext cx="7398327"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店招製作申請施工項目維護欄位</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38" name="文字方塊 37">
            <a:extLst>
              <a:ext uri="{FF2B5EF4-FFF2-40B4-BE49-F238E27FC236}">
                <a16:creationId xmlns:a16="http://schemas.microsoft.com/office/drawing/2014/main" id="{84C29C41-5FC2-4B08-8D3F-559E3E3172D3}"/>
              </a:ext>
            </a:extLst>
          </p:cNvPr>
          <p:cNvSpPr txBox="1"/>
          <p:nvPr/>
        </p:nvSpPr>
        <p:spPr>
          <a:xfrm>
            <a:off x="11017095" y="2207855"/>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項目</a:t>
            </a:r>
          </a:p>
        </p:txBody>
      </p:sp>
      <p:sp>
        <p:nvSpPr>
          <p:cNvPr id="39" name="文字方塊 38">
            <a:extLst>
              <a:ext uri="{FF2B5EF4-FFF2-40B4-BE49-F238E27FC236}">
                <a16:creationId xmlns:a16="http://schemas.microsoft.com/office/drawing/2014/main" id="{0639E6EF-257D-4A15-96AE-06ABC126ACFD}"/>
              </a:ext>
            </a:extLst>
          </p:cNvPr>
          <p:cNvSpPr txBox="1"/>
          <p:nvPr/>
        </p:nvSpPr>
        <p:spPr>
          <a:xfrm>
            <a:off x="12899326" y="2207855"/>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店級別</a:t>
            </a:r>
          </a:p>
        </p:txBody>
      </p:sp>
      <p:sp>
        <p:nvSpPr>
          <p:cNvPr id="40" name="文字方塊 39">
            <a:extLst>
              <a:ext uri="{FF2B5EF4-FFF2-40B4-BE49-F238E27FC236}">
                <a16:creationId xmlns:a16="http://schemas.microsoft.com/office/drawing/2014/main" id="{844F5977-C252-4DED-A82D-8686D98C12E8}"/>
              </a:ext>
            </a:extLst>
          </p:cNvPr>
          <p:cNvSpPr txBox="1"/>
          <p:nvPr/>
        </p:nvSpPr>
        <p:spPr>
          <a:xfrm>
            <a:off x="14518106" y="2220791"/>
            <a:ext cx="948888"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更新日期</a:t>
            </a:r>
          </a:p>
        </p:txBody>
      </p:sp>
      <p:sp>
        <p:nvSpPr>
          <p:cNvPr id="41" name="文字方塊 40">
            <a:extLst>
              <a:ext uri="{FF2B5EF4-FFF2-40B4-BE49-F238E27FC236}">
                <a16:creationId xmlns:a16="http://schemas.microsoft.com/office/drawing/2014/main" id="{7A4C49B8-121D-471C-A223-E33F8BACBD54}"/>
              </a:ext>
            </a:extLst>
          </p:cNvPr>
          <p:cNvSpPr txBox="1"/>
          <p:nvPr/>
        </p:nvSpPr>
        <p:spPr>
          <a:xfrm>
            <a:off x="10986991" y="2654833"/>
            <a:ext cx="1780920"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專案討論</a:t>
            </a:r>
          </a:p>
        </p:txBody>
      </p:sp>
      <p:sp>
        <p:nvSpPr>
          <p:cNvPr id="42" name="文字方塊 41">
            <a:extLst>
              <a:ext uri="{FF2B5EF4-FFF2-40B4-BE49-F238E27FC236}">
                <a16:creationId xmlns:a16="http://schemas.microsoft.com/office/drawing/2014/main" id="{7494D3D1-0233-43ED-A700-062CE7DF4A39}"/>
              </a:ext>
            </a:extLst>
          </p:cNvPr>
          <p:cNvSpPr txBox="1"/>
          <p:nvPr/>
        </p:nvSpPr>
        <p:spPr>
          <a:xfrm>
            <a:off x="10973443" y="3004904"/>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直式、橫招</a:t>
            </a:r>
          </a:p>
        </p:txBody>
      </p:sp>
      <p:sp>
        <p:nvSpPr>
          <p:cNvPr id="43" name="文字方塊 42">
            <a:extLst>
              <a:ext uri="{FF2B5EF4-FFF2-40B4-BE49-F238E27FC236}">
                <a16:creationId xmlns:a16="http://schemas.microsoft.com/office/drawing/2014/main" id="{AEA54D70-D060-41D0-A37E-C0530853D13F}"/>
              </a:ext>
            </a:extLst>
          </p:cNvPr>
          <p:cNvSpPr txBox="1"/>
          <p:nvPr/>
        </p:nvSpPr>
        <p:spPr>
          <a:xfrm>
            <a:off x="12922722" y="2650469"/>
            <a:ext cx="673604"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a:t>
            </a:r>
          </a:p>
        </p:txBody>
      </p:sp>
      <p:sp>
        <p:nvSpPr>
          <p:cNvPr id="44" name="文字方塊 43">
            <a:extLst>
              <a:ext uri="{FF2B5EF4-FFF2-40B4-BE49-F238E27FC236}">
                <a16:creationId xmlns:a16="http://schemas.microsoft.com/office/drawing/2014/main" id="{C68F5A9D-03D1-4C58-834F-94D1157C6641}"/>
              </a:ext>
            </a:extLst>
          </p:cNvPr>
          <p:cNvSpPr txBox="1"/>
          <p:nvPr/>
        </p:nvSpPr>
        <p:spPr>
          <a:xfrm>
            <a:off x="12897632" y="2980084"/>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一般店</a:t>
            </a:r>
          </a:p>
        </p:txBody>
      </p:sp>
      <p:sp>
        <p:nvSpPr>
          <p:cNvPr id="45" name="文字方塊 44">
            <a:extLst>
              <a:ext uri="{FF2B5EF4-FFF2-40B4-BE49-F238E27FC236}">
                <a16:creationId xmlns:a16="http://schemas.microsoft.com/office/drawing/2014/main" id="{A1A77B59-81E6-43E0-9392-B72ADD7C0EED}"/>
              </a:ext>
            </a:extLst>
          </p:cNvPr>
          <p:cNvSpPr txBox="1"/>
          <p:nvPr/>
        </p:nvSpPr>
        <p:spPr>
          <a:xfrm>
            <a:off x="14533480" y="2675071"/>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6" name="文字方塊 45">
            <a:extLst>
              <a:ext uri="{FF2B5EF4-FFF2-40B4-BE49-F238E27FC236}">
                <a16:creationId xmlns:a16="http://schemas.microsoft.com/office/drawing/2014/main" id="{41B4997B-76C9-403C-912A-148B315B2AFE}"/>
              </a:ext>
            </a:extLst>
          </p:cNvPr>
          <p:cNvSpPr txBox="1"/>
          <p:nvPr/>
        </p:nvSpPr>
        <p:spPr>
          <a:xfrm>
            <a:off x="14527938" y="2984503"/>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915BD750-3D09-4E8E-A8FF-EA64CC53E2EF}"/>
              </a:ext>
            </a:extLst>
          </p:cNvPr>
          <p:cNvSpPr txBox="1"/>
          <p:nvPr/>
        </p:nvSpPr>
        <p:spPr>
          <a:xfrm>
            <a:off x="7165848" y="2638314"/>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8" name="文字方塊 47">
            <a:extLst>
              <a:ext uri="{FF2B5EF4-FFF2-40B4-BE49-F238E27FC236}">
                <a16:creationId xmlns:a16="http://schemas.microsoft.com/office/drawing/2014/main" id="{837AE4DB-E4F4-4B44-ACB3-B283196F8EF4}"/>
              </a:ext>
            </a:extLst>
          </p:cNvPr>
          <p:cNvSpPr txBox="1"/>
          <p:nvPr/>
        </p:nvSpPr>
        <p:spPr>
          <a:xfrm>
            <a:off x="7162855" y="301197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9" name="Rounded Rectangle 4">
            <a:extLst>
              <a:ext uri="{FF2B5EF4-FFF2-40B4-BE49-F238E27FC236}">
                <a16:creationId xmlns:a16="http://schemas.microsoft.com/office/drawing/2014/main" id="{5B56328B-F515-4B3F-A83E-B488C020C648}"/>
              </a:ext>
            </a:extLst>
          </p:cNvPr>
          <p:cNvSpPr/>
          <p:nvPr/>
        </p:nvSpPr>
        <p:spPr>
          <a:xfrm>
            <a:off x="7401089" y="5625980"/>
            <a:ext cx="7935371" cy="34313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若艾創點有更好的維護方式建議也可以幫忙修正簡化、排列，讓維護者更方便維護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C31B2B13-48A2-406A-9A59-347F87C60B8E}"/>
              </a:ext>
            </a:extLst>
          </p:cNvPr>
          <p:cNvSpPr txBox="1"/>
          <p:nvPr/>
        </p:nvSpPr>
        <p:spPr>
          <a:xfrm>
            <a:off x="9225946" y="2206366"/>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51" name="文字方塊 50">
            <a:extLst>
              <a:ext uri="{FF2B5EF4-FFF2-40B4-BE49-F238E27FC236}">
                <a16:creationId xmlns:a16="http://schemas.microsoft.com/office/drawing/2014/main" id="{428EFCE2-C540-44A7-B66E-38E33CF16ED6}"/>
              </a:ext>
            </a:extLst>
          </p:cNvPr>
          <p:cNvSpPr txBox="1"/>
          <p:nvPr/>
        </p:nvSpPr>
        <p:spPr>
          <a:xfrm>
            <a:off x="9318824" y="2644080"/>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KD</a:t>
            </a:r>
            <a:endParaRPr lang="zh-TW" altLang="en-US" sz="1200" u="sng" dirty="0">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F8446FA1-4C39-45A8-8B78-80A8301939CA}"/>
              </a:ext>
            </a:extLst>
          </p:cNvPr>
          <p:cNvSpPr txBox="1"/>
          <p:nvPr/>
        </p:nvSpPr>
        <p:spPr>
          <a:xfrm>
            <a:off x="9318824" y="3008673"/>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KD</a:t>
            </a:r>
            <a:endParaRPr lang="zh-TW" altLang="en-US" sz="1200" u="sng" dirty="0">
              <a:latin typeface="微軟正黑體" panose="020B0604030504040204" pitchFamily="34" charset="-120"/>
              <a:ea typeface="微軟正黑體" panose="020B0604030504040204" pitchFamily="34" charset="-120"/>
            </a:endParaRPr>
          </a:p>
        </p:txBody>
      </p:sp>
      <p:sp>
        <p:nvSpPr>
          <p:cNvPr id="53" name="Rounded Rectangle 4">
            <a:extLst>
              <a:ext uri="{FF2B5EF4-FFF2-40B4-BE49-F238E27FC236}">
                <a16:creationId xmlns:a16="http://schemas.microsoft.com/office/drawing/2014/main" id="{32E6806F-CD84-4EE2-BCCD-462E59A72F68}"/>
              </a:ext>
            </a:extLst>
          </p:cNvPr>
          <p:cNvSpPr/>
          <p:nvPr/>
        </p:nvSpPr>
        <p:spPr>
          <a:xfrm>
            <a:off x="7401086" y="6046196"/>
            <a:ext cx="8700142" cy="471272"/>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注意</a:t>
            </a:r>
            <a:r>
              <a:rPr lang="en-US" altLang="zh-TW" sz="1200" b="1" dirty="0">
                <a:solidFill>
                  <a:srgbClr val="FF0000"/>
                </a:solidFill>
                <a:latin typeface="微軟正黑體" panose="020B0604030504040204" pitchFamily="34" charset="-120"/>
                <a:ea typeface="微軟正黑體" panose="020B0604030504040204" pitchFamily="34" charset="-120"/>
              </a:rPr>
              <a:t>: </a:t>
            </a:r>
            <a:r>
              <a:rPr lang="zh-TW" altLang="en-US" sz="1200" b="1" dirty="0">
                <a:solidFill>
                  <a:srgbClr val="FF0000"/>
                </a:solidFill>
                <a:latin typeface="微軟正黑體" panose="020B0604030504040204" pitchFamily="34" charset="-120"/>
                <a:ea typeface="微軟正黑體" panose="020B0604030504040204" pitchFamily="34" charset="-120"/>
              </a:rPr>
              <a:t>只有總公司商企權限，請可開到最大，可協助各廠更新、刪除、維護、查詢</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algn="ctr"/>
            <a:r>
              <a:rPr lang="zh-TW" altLang="en-US" sz="1200" b="1" dirty="0">
                <a:solidFill>
                  <a:srgbClr val="FF0000"/>
                </a:solidFill>
                <a:latin typeface="微軟正黑體" panose="020B0604030504040204" pitchFamily="34" charset="-120"/>
                <a:ea typeface="微軟正黑體" panose="020B0604030504040204" pitchFamily="34" charset="-120"/>
              </a:rPr>
              <a:t>同廠別資料請幫忙排序在一起，避免不同時間加入就散亂</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207411C9-2E06-4EBA-85D5-83173220AB39}"/>
              </a:ext>
            </a:extLst>
          </p:cNvPr>
          <p:cNvSpPr txBox="1"/>
          <p:nvPr/>
        </p:nvSpPr>
        <p:spPr>
          <a:xfrm>
            <a:off x="7775403" y="2634119"/>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55" name="文字方塊 54">
            <a:extLst>
              <a:ext uri="{FF2B5EF4-FFF2-40B4-BE49-F238E27FC236}">
                <a16:creationId xmlns:a16="http://schemas.microsoft.com/office/drawing/2014/main" id="{5F52C9A6-7909-4357-B568-F024B4A8B60B}"/>
              </a:ext>
            </a:extLst>
          </p:cNvPr>
          <p:cNvSpPr txBox="1"/>
          <p:nvPr/>
        </p:nvSpPr>
        <p:spPr>
          <a:xfrm>
            <a:off x="7771077" y="299457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59" name="文字方塊 58">
            <a:extLst>
              <a:ext uri="{FF2B5EF4-FFF2-40B4-BE49-F238E27FC236}">
                <a16:creationId xmlns:a16="http://schemas.microsoft.com/office/drawing/2014/main" id="{589C4613-20DC-4648-8D5C-FA5E18EB0795}"/>
              </a:ext>
            </a:extLst>
          </p:cNvPr>
          <p:cNvSpPr txBox="1"/>
          <p:nvPr/>
        </p:nvSpPr>
        <p:spPr>
          <a:xfrm>
            <a:off x="10027652" y="2204877"/>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胎種別</a:t>
            </a:r>
          </a:p>
        </p:txBody>
      </p:sp>
      <p:sp>
        <p:nvSpPr>
          <p:cNvPr id="62" name="矩形 61">
            <a:extLst>
              <a:ext uri="{FF2B5EF4-FFF2-40B4-BE49-F238E27FC236}">
                <a16:creationId xmlns:a16="http://schemas.microsoft.com/office/drawing/2014/main" id="{88BB80B0-3A2D-4A85-8E96-332E0A49D65C}"/>
              </a:ext>
            </a:extLst>
          </p:cNvPr>
          <p:cNvSpPr/>
          <p:nvPr/>
        </p:nvSpPr>
        <p:spPr>
          <a:xfrm>
            <a:off x="8463165" y="2600890"/>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63" name="文字方塊 62">
            <a:extLst>
              <a:ext uri="{FF2B5EF4-FFF2-40B4-BE49-F238E27FC236}">
                <a16:creationId xmlns:a16="http://schemas.microsoft.com/office/drawing/2014/main" id="{97583289-E5D9-4211-BF00-7134E01106EA}"/>
              </a:ext>
            </a:extLst>
          </p:cNvPr>
          <p:cNvSpPr txBox="1"/>
          <p:nvPr/>
        </p:nvSpPr>
        <p:spPr>
          <a:xfrm>
            <a:off x="7563613" y="1379578"/>
            <a:ext cx="856870"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開放前台</a:t>
            </a:r>
          </a:p>
        </p:txBody>
      </p:sp>
      <p:sp>
        <p:nvSpPr>
          <p:cNvPr id="64" name="矩形 63">
            <a:extLst>
              <a:ext uri="{FF2B5EF4-FFF2-40B4-BE49-F238E27FC236}">
                <a16:creationId xmlns:a16="http://schemas.microsoft.com/office/drawing/2014/main" id="{2C0D8ABA-AC69-42D7-AA1D-1DD654172679}"/>
              </a:ext>
            </a:extLst>
          </p:cNvPr>
          <p:cNvSpPr/>
          <p:nvPr/>
        </p:nvSpPr>
        <p:spPr>
          <a:xfrm>
            <a:off x="8460682" y="2984454"/>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65" name="文字方塊 64">
            <a:extLst>
              <a:ext uri="{FF2B5EF4-FFF2-40B4-BE49-F238E27FC236}">
                <a16:creationId xmlns:a16="http://schemas.microsoft.com/office/drawing/2014/main" id="{655CA17A-9A07-416D-9002-D6AA50F98E5A}"/>
              </a:ext>
            </a:extLst>
          </p:cNvPr>
          <p:cNvSpPr txBox="1"/>
          <p:nvPr/>
        </p:nvSpPr>
        <p:spPr>
          <a:xfrm>
            <a:off x="10152908" y="2642524"/>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66" name="文字方塊 65">
            <a:extLst>
              <a:ext uri="{FF2B5EF4-FFF2-40B4-BE49-F238E27FC236}">
                <a16:creationId xmlns:a16="http://schemas.microsoft.com/office/drawing/2014/main" id="{A7D8C70A-788A-4F7C-B1CF-DA893DC6753B}"/>
              </a:ext>
            </a:extLst>
          </p:cNvPr>
          <p:cNvSpPr txBox="1"/>
          <p:nvPr/>
        </p:nvSpPr>
        <p:spPr>
          <a:xfrm>
            <a:off x="10169044" y="2974558"/>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67" name="文字方塊 66">
            <a:extLst>
              <a:ext uri="{FF2B5EF4-FFF2-40B4-BE49-F238E27FC236}">
                <a16:creationId xmlns:a16="http://schemas.microsoft.com/office/drawing/2014/main" id="{A0DAEECF-DF5B-4BF8-93E6-2BC3BA6CF171}"/>
              </a:ext>
            </a:extLst>
          </p:cNvPr>
          <p:cNvSpPr txBox="1"/>
          <p:nvPr/>
        </p:nvSpPr>
        <p:spPr>
          <a:xfrm>
            <a:off x="10986991" y="3347299"/>
            <a:ext cx="1712484" cy="646331"/>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直、橫招</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平面</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、刷墻、鐵門油漆、包柱子、燈箱廣告</a:t>
            </a:r>
            <a:endParaRPr lang="en-US" altLang="zh-TW" sz="1200" dirty="0">
              <a:latin typeface="微軟正黑體" panose="020B0604030504040204" pitchFamily="34" charset="-120"/>
              <a:ea typeface="微軟正黑體" panose="020B0604030504040204" pitchFamily="34" charset="-120"/>
            </a:endParaRPr>
          </a:p>
        </p:txBody>
      </p:sp>
      <p:sp>
        <p:nvSpPr>
          <p:cNvPr id="68" name="文字方塊 67">
            <a:extLst>
              <a:ext uri="{FF2B5EF4-FFF2-40B4-BE49-F238E27FC236}">
                <a16:creationId xmlns:a16="http://schemas.microsoft.com/office/drawing/2014/main" id="{6A094E76-EE80-4147-8C94-BD2379C778B8}"/>
              </a:ext>
            </a:extLst>
          </p:cNvPr>
          <p:cNvSpPr txBox="1"/>
          <p:nvPr/>
        </p:nvSpPr>
        <p:spPr>
          <a:xfrm>
            <a:off x="12897634" y="3389047"/>
            <a:ext cx="1574301"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形象店特約服務中心</a:t>
            </a:r>
          </a:p>
        </p:txBody>
      </p:sp>
      <p:sp>
        <p:nvSpPr>
          <p:cNvPr id="69" name="文字方塊 68">
            <a:extLst>
              <a:ext uri="{FF2B5EF4-FFF2-40B4-BE49-F238E27FC236}">
                <a16:creationId xmlns:a16="http://schemas.microsoft.com/office/drawing/2014/main" id="{08488274-5E29-465A-B3BE-A5AF1DEC19B8}"/>
              </a:ext>
            </a:extLst>
          </p:cNvPr>
          <p:cNvSpPr txBox="1"/>
          <p:nvPr/>
        </p:nvSpPr>
        <p:spPr>
          <a:xfrm>
            <a:off x="14527938" y="3393466"/>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70" name="文字方塊 69">
            <a:extLst>
              <a:ext uri="{FF2B5EF4-FFF2-40B4-BE49-F238E27FC236}">
                <a16:creationId xmlns:a16="http://schemas.microsoft.com/office/drawing/2014/main" id="{58214CE7-2353-4F5F-99D5-3C56200D7739}"/>
              </a:ext>
            </a:extLst>
          </p:cNvPr>
          <p:cNvSpPr txBox="1"/>
          <p:nvPr/>
        </p:nvSpPr>
        <p:spPr>
          <a:xfrm>
            <a:off x="7162855" y="342093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71" name="文字方塊 70">
            <a:extLst>
              <a:ext uri="{FF2B5EF4-FFF2-40B4-BE49-F238E27FC236}">
                <a16:creationId xmlns:a16="http://schemas.microsoft.com/office/drawing/2014/main" id="{FFF032FA-318F-4B18-99C1-48B256DD3330}"/>
              </a:ext>
            </a:extLst>
          </p:cNvPr>
          <p:cNvSpPr txBox="1"/>
          <p:nvPr/>
        </p:nvSpPr>
        <p:spPr>
          <a:xfrm>
            <a:off x="9318824" y="3417637"/>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72" name="文字方塊 71">
            <a:extLst>
              <a:ext uri="{FF2B5EF4-FFF2-40B4-BE49-F238E27FC236}">
                <a16:creationId xmlns:a16="http://schemas.microsoft.com/office/drawing/2014/main" id="{BB90D1EB-4277-4CFC-B2A5-2FD32EF77B07}"/>
              </a:ext>
            </a:extLst>
          </p:cNvPr>
          <p:cNvSpPr txBox="1"/>
          <p:nvPr/>
        </p:nvSpPr>
        <p:spPr>
          <a:xfrm>
            <a:off x="7771077" y="3403539"/>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73" name="矩形 72">
            <a:extLst>
              <a:ext uri="{FF2B5EF4-FFF2-40B4-BE49-F238E27FC236}">
                <a16:creationId xmlns:a16="http://schemas.microsoft.com/office/drawing/2014/main" id="{AC15A964-7DB3-4C5F-8AAB-EC95349ECCDA}"/>
              </a:ext>
            </a:extLst>
          </p:cNvPr>
          <p:cNvSpPr/>
          <p:nvPr/>
        </p:nvSpPr>
        <p:spPr>
          <a:xfrm>
            <a:off x="8460682" y="3393416"/>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74" name="文字方塊 73">
            <a:extLst>
              <a:ext uri="{FF2B5EF4-FFF2-40B4-BE49-F238E27FC236}">
                <a16:creationId xmlns:a16="http://schemas.microsoft.com/office/drawing/2014/main" id="{49119EE6-7A69-4F38-9790-10867E8F8AA0}"/>
              </a:ext>
            </a:extLst>
          </p:cNvPr>
          <p:cNvSpPr txBox="1"/>
          <p:nvPr/>
        </p:nvSpPr>
        <p:spPr>
          <a:xfrm>
            <a:off x="10169044" y="3383521"/>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75" name="文字方塊 74">
            <a:extLst>
              <a:ext uri="{FF2B5EF4-FFF2-40B4-BE49-F238E27FC236}">
                <a16:creationId xmlns:a16="http://schemas.microsoft.com/office/drawing/2014/main" id="{A7C61AD5-C514-4D4C-ABFA-FFD76722BE6A}"/>
              </a:ext>
            </a:extLst>
          </p:cNvPr>
          <p:cNvSpPr txBox="1"/>
          <p:nvPr/>
        </p:nvSpPr>
        <p:spPr>
          <a:xfrm>
            <a:off x="10978985" y="3832199"/>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專案討論</a:t>
            </a:r>
          </a:p>
        </p:txBody>
      </p:sp>
      <p:sp>
        <p:nvSpPr>
          <p:cNvPr id="76" name="文字方塊 75">
            <a:extLst>
              <a:ext uri="{FF2B5EF4-FFF2-40B4-BE49-F238E27FC236}">
                <a16:creationId xmlns:a16="http://schemas.microsoft.com/office/drawing/2014/main" id="{700A45FC-F7B2-45C0-B6B5-07EFD43A3176}"/>
              </a:ext>
            </a:extLst>
          </p:cNvPr>
          <p:cNvSpPr txBox="1"/>
          <p:nvPr/>
        </p:nvSpPr>
        <p:spPr>
          <a:xfrm>
            <a:off x="12903174" y="3807378"/>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a:t>
            </a:r>
          </a:p>
        </p:txBody>
      </p:sp>
      <p:sp>
        <p:nvSpPr>
          <p:cNvPr id="77" name="文字方塊 76">
            <a:extLst>
              <a:ext uri="{FF2B5EF4-FFF2-40B4-BE49-F238E27FC236}">
                <a16:creationId xmlns:a16="http://schemas.microsoft.com/office/drawing/2014/main" id="{5B5A38F5-E6E7-46B2-968F-B5196D71F99C}"/>
              </a:ext>
            </a:extLst>
          </p:cNvPr>
          <p:cNvSpPr txBox="1"/>
          <p:nvPr/>
        </p:nvSpPr>
        <p:spPr>
          <a:xfrm>
            <a:off x="14533480" y="3811797"/>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78" name="文字方塊 77">
            <a:extLst>
              <a:ext uri="{FF2B5EF4-FFF2-40B4-BE49-F238E27FC236}">
                <a16:creationId xmlns:a16="http://schemas.microsoft.com/office/drawing/2014/main" id="{0C7BCD5E-D15D-493E-97E7-5A7F2A213AC5}"/>
              </a:ext>
            </a:extLst>
          </p:cNvPr>
          <p:cNvSpPr txBox="1"/>
          <p:nvPr/>
        </p:nvSpPr>
        <p:spPr>
          <a:xfrm>
            <a:off x="7168397" y="3839267"/>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79" name="文字方塊 78">
            <a:extLst>
              <a:ext uri="{FF2B5EF4-FFF2-40B4-BE49-F238E27FC236}">
                <a16:creationId xmlns:a16="http://schemas.microsoft.com/office/drawing/2014/main" id="{19C3A706-F0E8-41B9-B4AE-C771A621D53D}"/>
              </a:ext>
            </a:extLst>
          </p:cNvPr>
          <p:cNvSpPr txBox="1"/>
          <p:nvPr/>
        </p:nvSpPr>
        <p:spPr>
          <a:xfrm>
            <a:off x="9324366" y="3835968"/>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80" name="文字方塊 79">
            <a:extLst>
              <a:ext uri="{FF2B5EF4-FFF2-40B4-BE49-F238E27FC236}">
                <a16:creationId xmlns:a16="http://schemas.microsoft.com/office/drawing/2014/main" id="{2D7A5A09-DBB9-4457-AEC7-2904054B9222}"/>
              </a:ext>
            </a:extLst>
          </p:cNvPr>
          <p:cNvSpPr txBox="1"/>
          <p:nvPr/>
        </p:nvSpPr>
        <p:spPr>
          <a:xfrm>
            <a:off x="7776619" y="3821870"/>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81" name="矩形 80">
            <a:extLst>
              <a:ext uri="{FF2B5EF4-FFF2-40B4-BE49-F238E27FC236}">
                <a16:creationId xmlns:a16="http://schemas.microsoft.com/office/drawing/2014/main" id="{52A828E6-E9B1-4FC1-A16F-FE43D0F67F12}"/>
              </a:ext>
            </a:extLst>
          </p:cNvPr>
          <p:cNvSpPr/>
          <p:nvPr/>
        </p:nvSpPr>
        <p:spPr>
          <a:xfrm>
            <a:off x="8466224" y="3811747"/>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82" name="文字方塊 81">
            <a:extLst>
              <a:ext uri="{FF2B5EF4-FFF2-40B4-BE49-F238E27FC236}">
                <a16:creationId xmlns:a16="http://schemas.microsoft.com/office/drawing/2014/main" id="{A7E2B288-C21F-4810-9094-AEE9F0D01440}"/>
              </a:ext>
            </a:extLst>
          </p:cNvPr>
          <p:cNvSpPr txBox="1"/>
          <p:nvPr/>
        </p:nvSpPr>
        <p:spPr>
          <a:xfrm>
            <a:off x="10174586" y="3801852"/>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84" name="文字方塊 83">
            <a:extLst>
              <a:ext uri="{FF2B5EF4-FFF2-40B4-BE49-F238E27FC236}">
                <a16:creationId xmlns:a16="http://schemas.microsoft.com/office/drawing/2014/main" id="{FBD04B10-141B-4F7C-9FFE-2BBF31D88D30}"/>
              </a:ext>
            </a:extLst>
          </p:cNvPr>
          <p:cNvSpPr txBox="1"/>
          <p:nvPr/>
        </p:nvSpPr>
        <p:spPr>
          <a:xfrm>
            <a:off x="10978986" y="4266651"/>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直式、橫招</a:t>
            </a:r>
          </a:p>
        </p:txBody>
      </p:sp>
      <p:sp>
        <p:nvSpPr>
          <p:cNvPr id="85" name="文字方塊 84">
            <a:extLst>
              <a:ext uri="{FF2B5EF4-FFF2-40B4-BE49-F238E27FC236}">
                <a16:creationId xmlns:a16="http://schemas.microsoft.com/office/drawing/2014/main" id="{05A6B5CB-1AC6-4ACD-AAB6-01EE76884E2B}"/>
              </a:ext>
            </a:extLst>
          </p:cNvPr>
          <p:cNvSpPr txBox="1"/>
          <p:nvPr/>
        </p:nvSpPr>
        <p:spPr>
          <a:xfrm>
            <a:off x="14533480" y="4246249"/>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86" name="文字方塊 85">
            <a:extLst>
              <a:ext uri="{FF2B5EF4-FFF2-40B4-BE49-F238E27FC236}">
                <a16:creationId xmlns:a16="http://schemas.microsoft.com/office/drawing/2014/main" id="{98264DA0-F121-40C4-8A9E-E3DF3F52E8D6}"/>
              </a:ext>
            </a:extLst>
          </p:cNvPr>
          <p:cNvSpPr txBox="1"/>
          <p:nvPr/>
        </p:nvSpPr>
        <p:spPr>
          <a:xfrm>
            <a:off x="7168397" y="4273719"/>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87" name="文字方塊 86">
            <a:extLst>
              <a:ext uri="{FF2B5EF4-FFF2-40B4-BE49-F238E27FC236}">
                <a16:creationId xmlns:a16="http://schemas.microsoft.com/office/drawing/2014/main" id="{42FFC547-8096-4A6D-BC4B-23C710C0256C}"/>
              </a:ext>
            </a:extLst>
          </p:cNvPr>
          <p:cNvSpPr txBox="1"/>
          <p:nvPr/>
        </p:nvSpPr>
        <p:spPr>
          <a:xfrm>
            <a:off x="9324366" y="4270419"/>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88" name="文字方塊 87">
            <a:extLst>
              <a:ext uri="{FF2B5EF4-FFF2-40B4-BE49-F238E27FC236}">
                <a16:creationId xmlns:a16="http://schemas.microsoft.com/office/drawing/2014/main" id="{E71A7A2F-B2BA-4D7B-94CC-46E0B465546C}"/>
              </a:ext>
            </a:extLst>
          </p:cNvPr>
          <p:cNvSpPr txBox="1"/>
          <p:nvPr/>
        </p:nvSpPr>
        <p:spPr>
          <a:xfrm>
            <a:off x="7776620" y="4256322"/>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89" name="矩形 88">
            <a:extLst>
              <a:ext uri="{FF2B5EF4-FFF2-40B4-BE49-F238E27FC236}">
                <a16:creationId xmlns:a16="http://schemas.microsoft.com/office/drawing/2014/main" id="{EDEE7634-844A-4AC6-BF47-42777AD19BB0}"/>
              </a:ext>
            </a:extLst>
          </p:cNvPr>
          <p:cNvSpPr/>
          <p:nvPr/>
        </p:nvSpPr>
        <p:spPr>
          <a:xfrm>
            <a:off x="8466225" y="4246200"/>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90" name="文字方塊 89">
            <a:extLst>
              <a:ext uri="{FF2B5EF4-FFF2-40B4-BE49-F238E27FC236}">
                <a16:creationId xmlns:a16="http://schemas.microsoft.com/office/drawing/2014/main" id="{D91F2338-E0E3-455A-BF2E-882C0E067437}"/>
              </a:ext>
            </a:extLst>
          </p:cNvPr>
          <p:cNvSpPr txBox="1"/>
          <p:nvPr/>
        </p:nvSpPr>
        <p:spPr>
          <a:xfrm>
            <a:off x="10992534" y="4609045"/>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直式、橫招</a:t>
            </a:r>
          </a:p>
        </p:txBody>
      </p:sp>
      <p:sp>
        <p:nvSpPr>
          <p:cNvPr id="91" name="文字方塊 90">
            <a:extLst>
              <a:ext uri="{FF2B5EF4-FFF2-40B4-BE49-F238E27FC236}">
                <a16:creationId xmlns:a16="http://schemas.microsoft.com/office/drawing/2014/main" id="{437E6D4B-3281-42CE-8C50-605EB54A3C1E}"/>
              </a:ext>
            </a:extLst>
          </p:cNvPr>
          <p:cNvSpPr txBox="1"/>
          <p:nvPr/>
        </p:nvSpPr>
        <p:spPr>
          <a:xfrm>
            <a:off x="12903177" y="4650793"/>
            <a:ext cx="1574301"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一般店</a:t>
            </a:r>
          </a:p>
        </p:txBody>
      </p:sp>
      <p:sp>
        <p:nvSpPr>
          <p:cNvPr id="92" name="文字方塊 91">
            <a:extLst>
              <a:ext uri="{FF2B5EF4-FFF2-40B4-BE49-F238E27FC236}">
                <a16:creationId xmlns:a16="http://schemas.microsoft.com/office/drawing/2014/main" id="{E4E8BD05-3FEB-4B8F-9D93-6DC1CE4727D5}"/>
              </a:ext>
            </a:extLst>
          </p:cNvPr>
          <p:cNvSpPr txBox="1"/>
          <p:nvPr/>
        </p:nvSpPr>
        <p:spPr>
          <a:xfrm>
            <a:off x="14533480" y="4655212"/>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93" name="文字方塊 92">
            <a:extLst>
              <a:ext uri="{FF2B5EF4-FFF2-40B4-BE49-F238E27FC236}">
                <a16:creationId xmlns:a16="http://schemas.microsoft.com/office/drawing/2014/main" id="{684CED94-677A-4F60-91A9-676AA0EDF856}"/>
              </a:ext>
            </a:extLst>
          </p:cNvPr>
          <p:cNvSpPr txBox="1"/>
          <p:nvPr/>
        </p:nvSpPr>
        <p:spPr>
          <a:xfrm>
            <a:off x="7168397" y="4682682"/>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94" name="文字方塊 93">
            <a:extLst>
              <a:ext uri="{FF2B5EF4-FFF2-40B4-BE49-F238E27FC236}">
                <a16:creationId xmlns:a16="http://schemas.microsoft.com/office/drawing/2014/main" id="{0840C0C8-FD77-4F67-ACFE-FFCA257B6053}"/>
              </a:ext>
            </a:extLst>
          </p:cNvPr>
          <p:cNvSpPr txBox="1"/>
          <p:nvPr/>
        </p:nvSpPr>
        <p:spPr>
          <a:xfrm>
            <a:off x="9324366" y="4679383"/>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95" name="文字方塊 94">
            <a:extLst>
              <a:ext uri="{FF2B5EF4-FFF2-40B4-BE49-F238E27FC236}">
                <a16:creationId xmlns:a16="http://schemas.microsoft.com/office/drawing/2014/main" id="{9521BCE4-10A7-4220-9142-37EB6A7EA9F8}"/>
              </a:ext>
            </a:extLst>
          </p:cNvPr>
          <p:cNvSpPr txBox="1"/>
          <p:nvPr/>
        </p:nvSpPr>
        <p:spPr>
          <a:xfrm>
            <a:off x="7776620" y="4665285"/>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96" name="矩形 95">
            <a:extLst>
              <a:ext uri="{FF2B5EF4-FFF2-40B4-BE49-F238E27FC236}">
                <a16:creationId xmlns:a16="http://schemas.microsoft.com/office/drawing/2014/main" id="{A21A5318-8B91-4852-A12E-81FAF4D45D7D}"/>
              </a:ext>
            </a:extLst>
          </p:cNvPr>
          <p:cNvSpPr/>
          <p:nvPr/>
        </p:nvSpPr>
        <p:spPr>
          <a:xfrm>
            <a:off x="8466225" y="4655163"/>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97" name="文字方塊 96">
            <a:extLst>
              <a:ext uri="{FF2B5EF4-FFF2-40B4-BE49-F238E27FC236}">
                <a16:creationId xmlns:a16="http://schemas.microsoft.com/office/drawing/2014/main" id="{005E4D14-0DF2-4E13-9070-4315F0C60952}"/>
              </a:ext>
            </a:extLst>
          </p:cNvPr>
          <p:cNvSpPr txBox="1"/>
          <p:nvPr/>
        </p:nvSpPr>
        <p:spPr>
          <a:xfrm>
            <a:off x="10174587" y="4645267"/>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MC</a:t>
            </a:r>
            <a:endParaRPr lang="zh-TW" altLang="en-US" sz="1200" u="sng" dirty="0">
              <a:latin typeface="微軟正黑體" panose="020B0604030504040204" pitchFamily="34" charset="-120"/>
              <a:ea typeface="微軟正黑體" panose="020B0604030504040204" pitchFamily="34" charset="-120"/>
            </a:endParaRPr>
          </a:p>
        </p:txBody>
      </p:sp>
      <p:sp>
        <p:nvSpPr>
          <p:cNvPr id="98" name="文字方塊 97">
            <a:extLst>
              <a:ext uri="{FF2B5EF4-FFF2-40B4-BE49-F238E27FC236}">
                <a16:creationId xmlns:a16="http://schemas.microsoft.com/office/drawing/2014/main" id="{367B04AB-80CD-4E35-96B8-C6A717F6BA41}"/>
              </a:ext>
            </a:extLst>
          </p:cNvPr>
          <p:cNvSpPr txBox="1"/>
          <p:nvPr/>
        </p:nvSpPr>
        <p:spPr>
          <a:xfrm>
            <a:off x="10984528" y="5093945"/>
            <a:ext cx="1712484" cy="276999"/>
          </a:xfrm>
          <a:prstGeom prst="rect">
            <a:avLst/>
          </a:prstGeom>
          <a:noFill/>
        </p:spPr>
        <p:txBody>
          <a:bodyPr wrap="square" rtlCol="0">
            <a:spAutoFit/>
          </a:bodyPr>
          <a:lstStyle/>
          <a:p>
            <a:r>
              <a:rPr lang="zh-TW" altLang="en-US" sz="1200" u="sng" dirty="0">
                <a:latin typeface="微軟正黑體" panose="020B0604030504040204" pitchFamily="34" charset="-120"/>
                <a:ea typeface="微軟正黑體" panose="020B0604030504040204" pitchFamily="34" charset="-120"/>
              </a:rPr>
              <a:t>專案討論</a:t>
            </a:r>
          </a:p>
        </p:txBody>
      </p:sp>
      <p:sp>
        <p:nvSpPr>
          <p:cNvPr id="99" name="文字方塊 98">
            <a:extLst>
              <a:ext uri="{FF2B5EF4-FFF2-40B4-BE49-F238E27FC236}">
                <a16:creationId xmlns:a16="http://schemas.microsoft.com/office/drawing/2014/main" id="{70D8A3E0-5F77-4132-B713-BA2502660E63}"/>
              </a:ext>
            </a:extLst>
          </p:cNvPr>
          <p:cNvSpPr txBox="1"/>
          <p:nvPr/>
        </p:nvSpPr>
        <p:spPr>
          <a:xfrm>
            <a:off x="12908718" y="5069124"/>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a:t>
            </a:r>
          </a:p>
        </p:txBody>
      </p:sp>
      <p:sp>
        <p:nvSpPr>
          <p:cNvPr id="100" name="文字方塊 99">
            <a:extLst>
              <a:ext uri="{FF2B5EF4-FFF2-40B4-BE49-F238E27FC236}">
                <a16:creationId xmlns:a16="http://schemas.microsoft.com/office/drawing/2014/main" id="{0F45BC5B-5E02-4E20-85B5-4F8947E2072F}"/>
              </a:ext>
            </a:extLst>
          </p:cNvPr>
          <p:cNvSpPr txBox="1"/>
          <p:nvPr/>
        </p:nvSpPr>
        <p:spPr>
          <a:xfrm>
            <a:off x="14539022" y="5073543"/>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101" name="文字方塊 100">
            <a:extLst>
              <a:ext uri="{FF2B5EF4-FFF2-40B4-BE49-F238E27FC236}">
                <a16:creationId xmlns:a16="http://schemas.microsoft.com/office/drawing/2014/main" id="{02A5DD62-89DE-4C5A-9B3B-AAEA3B7F92C0}"/>
              </a:ext>
            </a:extLst>
          </p:cNvPr>
          <p:cNvSpPr txBox="1"/>
          <p:nvPr/>
        </p:nvSpPr>
        <p:spPr>
          <a:xfrm>
            <a:off x="7173939" y="510101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102" name="文字方塊 101">
            <a:extLst>
              <a:ext uri="{FF2B5EF4-FFF2-40B4-BE49-F238E27FC236}">
                <a16:creationId xmlns:a16="http://schemas.microsoft.com/office/drawing/2014/main" id="{3B73896C-E01C-454C-8AF0-0DDE8DD26230}"/>
              </a:ext>
            </a:extLst>
          </p:cNvPr>
          <p:cNvSpPr txBox="1"/>
          <p:nvPr/>
        </p:nvSpPr>
        <p:spPr>
          <a:xfrm>
            <a:off x="9329908" y="5097714"/>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KT</a:t>
            </a:r>
            <a:endParaRPr lang="zh-TW" altLang="en-US" sz="1200" u="sng" dirty="0">
              <a:latin typeface="微軟正黑體" panose="020B0604030504040204" pitchFamily="34" charset="-120"/>
              <a:ea typeface="微軟正黑體" panose="020B0604030504040204" pitchFamily="34" charset="-120"/>
            </a:endParaRPr>
          </a:p>
        </p:txBody>
      </p:sp>
      <p:sp>
        <p:nvSpPr>
          <p:cNvPr id="103" name="文字方塊 102">
            <a:extLst>
              <a:ext uri="{FF2B5EF4-FFF2-40B4-BE49-F238E27FC236}">
                <a16:creationId xmlns:a16="http://schemas.microsoft.com/office/drawing/2014/main" id="{64650C2B-7D93-4AB9-9B08-44222EF0BF18}"/>
              </a:ext>
            </a:extLst>
          </p:cNvPr>
          <p:cNvSpPr txBox="1"/>
          <p:nvPr/>
        </p:nvSpPr>
        <p:spPr>
          <a:xfrm>
            <a:off x="7782162" y="508361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104" name="矩形 103">
            <a:extLst>
              <a:ext uri="{FF2B5EF4-FFF2-40B4-BE49-F238E27FC236}">
                <a16:creationId xmlns:a16="http://schemas.microsoft.com/office/drawing/2014/main" id="{78F09925-A8D0-4EB4-A44A-EE76346C733B}"/>
              </a:ext>
            </a:extLst>
          </p:cNvPr>
          <p:cNvSpPr/>
          <p:nvPr/>
        </p:nvSpPr>
        <p:spPr>
          <a:xfrm>
            <a:off x="8471767" y="5073493"/>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105" name="文字方塊 104">
            <a:extLst>
              <a:ext uri="{FF2B5EF4-FFF2-40B4-BE49-F238E27FC236}">
                <a16:creationId xmlns:a16="http://schemas.microsoft.com/office/drawing/2014/main" id="{695859BE-73BB-4CD2-96C4-055261574F4A}"/>
              </a:ext>
            </a:extLst>
          </p:cNvPr>
          <p:cNvSpPr txBox="1"/>
          <p:nvPr/>
        </p:nvSpPr>
        <p:spPr>
          <a:xfrm>
            <a:off x="10180129" y="5063598"/>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106" name="文字方塊 105">
            <a:extLst>
              <a:ext uri="{FF2B5EF4-FFF2-40B4-BE49-F238E27FC236}">
                <a16:creationId xmlns:a16="http://schemas.microsoft.com/office/drawing/2014/main" id="{8A8D2F57-A803-463D-9BBA-9527C2998DD2}"/>
              </a:ext>
            </a:extLst>
          </p:cNvPr>
          <p:cNvSpPr txBox="1"/>
          <p:nvPr/>
        </p:nvSpPr>
        <p:spPr>
          <a:xfrm>
            <a:off x="12915946" y="4181749"/>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一般店</a:t>
            </a:r>
          </a:p>
        </p:txBody>
      </p:sp>
      <p:sp>
        <p:nvSpPr>
          <p:cNvPr id="107" name="文字方塊 106">
            <a:extLst>
              <a:ext uri="{FF2B5EF4-FFF2-40B4-BE49-F238E27FC236}">
                <a16:creationId xmlns:a16="http://schemas.microsoft.com/office/drawing/2014/main" id="{47D20D2E-85E0-44C5-B1BC-58CACA434127}"/>
              </a:ext>
            </a:extLst>
          </p:cNvPr>
          <p:cNvSpPr txBox="1"/>
          <p:nvPr/>
        </p:nvSpPr>
        <p:spPr>
          <a:xfrm>
            <a:off x="10160494" y="4253343"/>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a:t>
            </a:r>
            <a:endParaRPr lang="zh-TW" altLang="en-US" sz="1200" u="sng" dirty="0">
              <a:latin typeface="微軟正黑體" panose="020B0604030504040204" pitchFamily="34" charset="-120"/>
              <a:ea typeface="微軟正黑體" panose="020B0604030504040204" pitchFamily="34" charset="-120"/>
            </a:endParaRPr>
          </a:p>
        </p:txBody>
      </p:sp>
      <p:sp>
        <p:nvSpPr>
          <p:cNvPr id="108" name="文字方塊 107">
            <a:extLst>
              <a:ext uri="{FF2B5EF4-FFF2-40B4-BE49-F238E27FC236}">
                <a16:creationId xmlns:a16="http://schemas.microsoft.com/office/drawing/2014/main" id="{4BB3F9E1-0ABB-4FF6-936D-BD717E637BCC}"/>
              </a:ext>
            </a:extLst>
          </p:cNvPr>
          <p:cNvSpPr txBox="1"/>
          <p:nvPr/>
        </p:nvSpPr>
        <p:spPr>
          <a:xfrm>
            <a:off x="14272865" y="1365763"/>
            <a:ext cx="561845"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新增</a:t>
            </a:r>
          </a:p>
        </p:txBody>
      </p:sp>
      <p:sp>
        <p:nvSpPr>
          <p:cNvPr id="110" name="文字方塊 109">
            <a:extLst>
              <a:ext uri="{FF2B5EF4-FFF2-40B4-BE49-F238E27FC236}">
                <a16:creationId xmlns:a16="http://schemas.microsoft.com/office/drawing/2014/main" id="{0201E453-CE02-4C77-882B-80360AB49333}"/>
              </a:ext>
            </a:extLst>
          </p:cNvPr>
          <p:cNvSpPr txBox="1"/>
          <p:nvPr/>
        </p:nvSpPr>
        <p:spPr>
          <a:xfrm>
            <a:off x="8988113" y="1364946"/>
            <a:ext cx="89409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KF(</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13" name="矩形 112">
            <a:extLst>
              <a:ext uri="{FF2B5EF4-FFF2-40B4-BE49-F238E27FC236}">
                <a16:creationId xmlns:a16="http://schemas.microsoft.com/office/drawing/2014/main" id="{041BD65F-7F2D-475C-B501-6CA0AAB45F4D}"/>
              </a:ext>
            </a:extLst>
          </p:cNvPr>
          <p:cNvSpPr/>
          <p:nvPr/>
        </p:nvSpPr>
        <p:spPr>
          <a:xfrm>
            <a:off x="8516210" y="1343443"/>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114" name="文字方塊 113">
            <a:extLst>
              <a:ext uri="{FF2B5EF4-FFF2-40B4-BE49-F238E27FC236}">
                <a16:creationId xmlns:a16="http://schemas.microsoft.com/office/drawing/2014/main" id="{D985890A-94FA-41A6-9C08-B61E904B53CC}"/>
              </a:ext>
            </a:extLst>
          </p:cNvPr>
          <p:cNvSpPr txBox="1"/>
          <p:nvPr/>
        </p:nvSpPr>
        <p:spPr>
          <a:xfrm>
            <a:off x="8230545" y="2203294"/>
            <a:ext cx="894092"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前台開放</a:t>
            </a:r>
          </a:p>
        </p:txBody>
      </p:sp>
      <p:sp>
        <p:nvSpPr>
          <p:cNvPr id="115" name="文字方塊 114">
            <a:extLst>
              <a:ext uri="{FF2B5EF4-FFF2-40B4-BE49-F238E27FC236}">
                <a16:creationId xmlns:a16="http://schemas.microsoft.com/office/drawing/2014/main" id="{B1666B4B-F9CB-48F8-8848-F466470F5F21}"/>
              </a:ext>
            </a:extLst>
          </p:cNvPr>
          <p:cNvSpPr txBox="1"/>
          <p:nvPr/>
        </p:nvSpPr>
        <p:spPr>
          <a:xfrm>
            <a:off x="10970921" y="986014"/>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項目</a:t>
            </a:r>
          </a:p>
        </p:txBody>
      </p:sp>
      <p:sp>
        <p:nvSpPr>
          <p:cNvPr id="116" name="文字方塊 115">
            <a:extLst>
              <a:ext uri="{FF2B5EF4-FFF2-40B4-BE49-F238E27FC236}">
                <a16:creationId xmlns:a16="http://schemas.microsoft.com/office/drawing/2014/main" id="{156CC3DD-4219-4BA3-A355-CAF57ADC51DC}"/>
              </a:ext>
            </a:extLst>
          </p:cNvPr>
          <p:cNvSpPr txBox="1"/>
          <p:nvPr/>
        </p:nvSpPr>
        <p:spPr>
          <a:xfrm>
            <a:off x="12853152" y="986014"/>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店級別</a:t>
            </a:r>
          </a:p>
        </p:txBody>
      </p:sp>
      <p:sp>
        <p:nvSpPr>
          <p:cNvPr id="118" name="文字方塊 117">
            <a:extLst>
              <a:ext uri="{FF2B5EF4-FFF2-40B4-BE49-F238E27FC236}">
                <a16:creationId xmlns:a16="http://schemas.microsoft.com/office/drawing/2014/main" id="{4DC3677C-1EFC-4939-8EC1-576F02877430}"/>
              </a:ext>
            </a:extLst>
          </p:cNvPr>
          <p:cNvSpPr txBox="1"/>
          <p:nvPr/>
        </p:nvSpPr>
        <p:spPr>
          <a:xfrm>
            <a:off x="9179772" y="984525"/>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119" name="文字方塊 118">
            <a:extLst>
              <a:ext uri="{FF2B5EF4-FFF2-40B4-BE49-F238E27FC236}">
                <a16:creationId xmlns:a16="http://schemas.microsoft.com/office/drawing/2014/main" id="{9F8B95A7-47DA-46FB-9230-CA4CB7FE4788}"/>
              </a:ext>
            </a:extLst>
          </p:cNvPr>
          <p:cNvSpPr txBox="1"/>
          <p:nvPr/>
        </p:nvSpPr>
        <p:spPr>
          <a:xfrm>
            <a:off x="9981478" y="983036"/>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胎種別</a:t>
            </a:r>
          </a:p>
        </p:txBody>
      </p:sp>
      <p:sp>
        <p:nvSpPr>
          <p:cNvPr id="121" name="文字方塊 120">
            <a:extLst>
              <a:ext uri="{FF2B5EF4-FFF2-40B4-BE49-F238E27FC236}">
                <a16:creationId xmlns:a16="http://schemas.microsoft.com/office/drawing/2014/main" id="{E1D80354-92F6-4E3D-A4CF-EA4B04CEEED0}"/>
              </a:ext>
            </a:extLst>
          </p:cNvPr>
          <p:cNvSpPr txBox="1"/>
          <p:nvPr/>
        </p:nvSpPr>
        <p:spPr>
          <a:xfrm>
            <a:off x="7843448" y="709665"/>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請輸入維護資料 </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22" name="文字方塊 121">
            <a:extLst>
              <a:ext uri="{FF2B5EF4-FFF2-40B4-BE49-F238E27FC236}">
                <a16:creationId xmlns:a16="http://schemas.microsoft.com/office/drawing/2014/main" id="{6B1EFF89-A8F5-4F31-97D3-846AFF8BC905}"/>
              </a:ext>
            </a:extLst>
          </p:cNvPr>
          <p:cNvSpPr txBox="1"/>
          <p:nvPr/>
        </p:nvSpPr>
        <p:spPr>
          <a:xfrm>
            <a:off x="7732517" y="1950422"/>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現有已維護明細如下</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23" name="文字方塊 122">
            <a:extLst>
              <a:ext uri="{FF2B5EF4-FFF2-40B4-BE49-F238E27FC236}">
                <a16:creationId xmlns:a16="http://schemas.microsoft.com/office/drawing/2014/main" id="{D4497AE0-8854-443B-9266-43BF1A8444BE}"/>
              </a:ext>
            </a:extLst>
          </p:cNvPr>
          <p:cNvSpPr txBox="1"/>
          <p:nvPr/>
        </p:nvSpPr>
        <p:spPr>
          <a:xfrm>
            <a:off x="9971788" y="1362026"/>
            <a:ext cx="99913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PCR(</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24" name="文字方塊 123">
            <a:extLst>
              <a:ext uri="{FF2B5EF4-FFF2-40B4-BE49-F238E27FC236}">
                <a16:creationId xmlns:a16="http://schemas.microsoft.com/office/drawing/2014/main" id="{648906F9-1F5B-4B9E-A840-BCA167CF9644}"/>
              </a:ext>
            </a:extLst>
          </p:cNvPr>
          <p:cNvSpPr txBox="1"/>
          <p:nvPr/>
        </p:nvSpPr>
        <p:spPr>
          <a:xfrm>
            <a:off x="11021784" y="1359186"/>
            <a:ext cx="166414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車體彩繪</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25" name="文字方塊 124">
            <a:extLst>
              <a:ext uri="{FF2B5EF4-FFF2-40B4-BE49-F238E27FC236}">
                <a16:creationId xmlns:a16="http://schemas.microsoft.com/office/drawing/2014/main" id="{D906BA39-56AF-4B3C-BAB7-9434CAFC8A3C}"/>
              </a:ext>
            </a:extLst>
          </p:cNvPr>
          <p:cNvSpPr txBox="1"/>
          <p:nvPr/>
        </p:nvSpPr>
        <p:spPr>
          <a:xfrm>
            <a:off x="12853149" y="1344533"/>
            <a:ext cx="123047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一般店</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rPr>
              <a:t>自填</a:t>
            </a:r>
            <a:r>
              <a:rPr lang="en-US" altLang="zh-TW" sz="1400"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4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cxnSp>
        <p:nvCxnSpPr>
          <p:cNvPr id="3" name="直線接點 2">
            <a:extLst>
              <a:ext uri="{FF2B5EF4-FFF2-40B4-BE49-F238E27FC236}">
                <a16:creationId xmlns:a16="http://schemas.microsoft.com/office/drawing/2014/main" id="{6C30D21D-C9D3-409E-B574-1D6B270E8118}"/>
              </a:ext>
            </a:extLst>
          </p:cNvPr>
          <p:cNvCxnSpPr/>
          <p:nvPr/>
        </p:nvCxnSpPr>
        <p:spPr>
          <a:xfrm>
            <a:off x="7356242" y="1851592"/>
            <a:ext cx="8434647" cy="0"/>
          </a:xfrm>
          <a:prstGeom prst="line">
            <a:avLst/>
          </a:prstGeom>
        </p:spPr>
        <p:style>
          <a:lnRef idx="2">
            <a:schemeClr val="accent1"/>
          </a:lnRef>
          <a:fillRef idx="0">
            <a:schemeClr val="accent1"/>
          </a:fillRef>
          <a:effectRef idx="1">
            <a:schemeClr val="accent1"/>
          </a:effectRef>
          <a:fontRef idx="minor">
            <a:schemeClr val="tx1"/>
          </a:fontRef>
        </p:style>
      </p:cxnSp>
      <p:sp>
        <p:nvSpPr>
          <p:cNvPr id="111" name="TextBox 1">
            <a:extLst>
              <a:ext uri="{FF2B5EF4-FFF2-40B4-BE49-F238E27FC236}">
                <a16:creationId xmlns:a16="http://schemas.microsoft.com/office/drawing/2014/main" id="{A8503FC4-D01E-4FC1-9347-E2A8E98F0379}"/>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02338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a:extLst>
              <a:ext uri="{FF2B5EF4-FFF2-40B4-BE49-F238E27FC236}">
                <a16:creationId xmlns:a16="http://schemas.microsoft.com/office/drawing/2014/main" id="{D52FF3C7-028F-4921-BE84-3815C0B116DC}"/>
              </a:ext>
            </a:extLst>
          </p:cNvPr>
          <p:cNvSpPr/>
          <p:nvPr/>
        </p:nvSpPr>
        <p:spPr>
          <a:xfrm>
            <a:off x="7051420" y="1350643"/>
            <a:ext cx="9126829" cy="550735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文字方塊 83">
            <a:extLst>
              <a:ext uri="{FF2B5EF4-FFF2-40B4-BE49-F238E27FC236}">
                <a16:creationId xmlns:a16="http://schemas.microsoft.com/office/drawing/2014/main" id="{31870117-D2AF-4761-B340-A50DBA0CDE23}"/>
              </a:ext>
            </a:extLst>
          </p:cNvPr>
          <p:cNvSpPr txBox="1"/>
          <p:nvPr/>
        </p:nvSpPr>
        <p:spPr>
          <a:xfrm>
            <a:off x="9186587" y="3739111"/>
            <a:ext cx="70243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86" name="文字方塊 85">
            <a:extLst>
              <a:ext uri="{FF2B5EF4-FFF2-40B4-BE49-F238E27FC236}">
                <a16:creationId xmlns:a16="http://schemas.microsoft.com/office/drawing/2014/main" id="{AEA7D9B9-8B82-47C7-BC68-C2608DACFCA5}"/>
              </a:ext>
            </a:extLst>
          </p:cNvPr>
          <p:cNvSpPr txBox="1"/>
          <p:nvPr/>
        </p:nvSpPr>
        <p:spPr>
          <a:xfrm>
            <a:off x="10023970" y="3735552"/>
            <a:ext cx="85841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61" name="文字方塊 60">
            <a:extLst>
              <a:ext uri="{FF2B5EF4-FFF2-40B4-BE49-F238E27FC236}">
                <a16:creationId xmlns:a16="http://schemas.microsoft.com/office/drawing/2014/main" id="{8A7CA582-22B5-45B1-BFC1-805425A8B283}"/>
              </a:ext>
            </a:extLst>
          </p:cNvPr>
          <p:cNvSpPr txBox="1"/>
          <p:nvPr/>
        </p:nvSpPr>
        <p:spPr>
          <a:xfrm>
            <a:off x="9984930" y="2480909"/>
            <a:ext cx="863447"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60" name="文字方塊 59">
            <a:extLst>
              <a:ext uri="{FF2B5EF4-FFF2-40B4-BE49-F238E27FC236}">
                <a16:creationId xmlns:a16="http://schemas.microsoft.com/office/drawing/2014/main" id="{2DA03398-FDA1-45F7-9EA5-414820DC79C4}"/>
              </a:ext>
            </a:extLst>
          </p:cNvPr>
          <p:cNvSpPr txBox="1"/>
          <p:nvPr/>
        </p:nvSpPr>
        <p:spPr>
          <a:xfrm>
            <a:off x="9166713" y="2480909"/>
            <a:ext cx="702434"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7034249" y="670814"/>
            <a:ext cx="7398327"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店招製作申請施工國家省縣維護欄位</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38" name="文字方塊 37">
            <a:extLst>
              <a:ext uri="{FF2B5EF4-FFF2-40B4-BE49-F238E27FC236}">
                <a16:creationId xmlns:a16="http://schemas.microsoft.com/office/drawing/2014/main" id="{84C29C41-5FC2-4B08-8D3F-559E3E3172D3}"/>
              </a:ext>
            </a:extLst>
          </p:cNvPr>
          <p:cNvSpPr txBox="1"/>
          <p:nvPr/>
        </p:nvSpPr>
        <p:spPr>
          <a:xfrm>
            <a:off x="10977738" y="2113624"/>
            <a:ext cx="4640787"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省</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縣</a:t>
            </a:r>
          </a:p>
        </p:txBody>
      </p:sp>
      <p:sp>
        <p:nvSpPr>
          <p:cNvPr id="41" name="文字方塊 40">
            <a:extLst>
              <a:ext uri="{FF2B5EF4-FFF2-40B4-BE49-F238E27FC236}">
                <a16:creationId xmlns:a16="http://schemas.microsoft.com/office/drawing/2014/main" id="{7A4C49B8-121D-471C-A223-E33F8BACBD54}"/>
              </a:ext>
            </a:extLst>
          </p:cNvPr>
          <p:cNvSpPr txBox="1"/>
          <p:nvPr/>
        </p:nvSpPr>
        <p:spPr>
          <a:xfrm>
            <a:off x="10947632" y="2560601"/>
            <a:ext cx="1780920" cy="276999"/>
          </a:xfrm>
          <a:prstGeom prst="rect">
            <a:avLst/>
          </a:prstGeom>
          <a:noFill/>
        </p:spPr>
        <p:txBody>
          <a:bodyPr wrap="square" rtlCol="0">
            <a:spAutoFit/>
          </a:bodyPr>
          <a:lstStyle/>
          <a:p>
            <a:endParaRPr lang="zh-TW" altLang="en-US" sz="1200" u="sng" dirty="0">
              <a:latin typeface="微軟正黑體" panose="020B0604030504040204" pitchFamily="34" charset="-120"/>
              <a:ea typeface="微軟正黑體" panose="020B0604030504040204" pitchFamily="34" charset="-120"/>
            </a:endParaRPr>
          </a:p>
        </p:txBody>
      </p:sp>
      <p:sp>
        <p:nvSpPr>
          <p:cNvPr id="42" name="文字方塊 41">
            <a:extLst>
              <a:ext uri="{FF2B5EF4-FFF2-40B4-BE49-F238E27FC236}">
                <a16:creationId xmlns:a16="http://schemas.microsoft.com/office/drawing/2014/main" id="{7494D3D1-0233-43ED-A700-062CE7DF4A39}"/>
              </a:ext>
            </a:extLst>
          </p:cNvPr>
          <p:cNvSpPr txBox="1"/>
          <p:nvPr/>
        </p:nvSpPr>
        <p:spPr>
          <a:xfrm>
            <a:off x="10934084" y="2910674"/>
            <a:ext cx="1712484" cy="276999"/>
          </a:xfrm>
          <a:prstGeom prst="rect">
            <a:avLst/>
          </a:prstGeom>
          <a:noFill/>
        </p:spPr>
        <p:txBody>
          <a:bodyPr wrap="square" rtlCol="0">
            <a:spAutoFit/>
          </a:bodyPr>
          <a:lstStyle/>
          <a:p>
            <a:endParaRPr lang="zh-TW" altLang="en-US" sz="1200" u="sng" dirty="0">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915BD750-3D09-4E8E-A8FF-EA64CC53E2EF}"/>
              </a:ext>
            </a:extLst>
          </p:cNvPr>
          <p:cNvSpPr txBox="1"/>
          <p:nvPr/>
        </p:nvSpPr>
        <p:spPr>
          <a:xfrm>
            <a:off x="7410299" y="254408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9" name="Rounded Rectangle 4">
            <a:extLst>
              <a:ext uri="{FF2B5EF4-FFF2-40B4-BE49-F238E27FC236}">
                <a16:creationId xmlns:a16="http://schemas.microsoft.com/office/drawing/2014/main" id="{5B56328B-F515-4B3F-A83E-B488C020C648}"/>
              </a:ext>
            </a:extLst>
          </p:cNvPr>
          <p:cNvSpPr/>
          <p:nvPr/>
        </p:nvSpPr>
        <p:spPr>
          <a:xfrm>
            <a:off x="7361730" y="5640755"/>
            <a:ext cx="7935371" cy="34313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若艾創點有更好的維護方式建議也可以幫忙修正簡化、排列，讓維護者更方便維護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C31B2B13-48A2-406A-9A59-347F87C60B8E}"/>
              </a:ext>
            </a:extLst>
          </p:cNvPr>
          <p:cNvSpPr txBox="1"/>
          <p:nvPr/>
        </p:nvSpPr>
        <p:spPr>
          <a:xfrm>
            <a:off x="9186587" y="2112135"/>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國家</a:t>
            </a:r>
          </a:p>
        </p:txBody>
      </p:sp>
      <p:sp>
        <p:nvSpPr>
          <p:cNvPr id="51" name="文字方塊 50">
            <a:extLst>
              <a:ext uri="{FF2B5EF4-FFF2-40B4-BE49-F238E27FC236}">
                <a16:creationId xmlns:a16="http://schemas.microsoft.com/office/drawing/2014/main" id="{428EFCE2-C540-44A7-B66E-38E33CF16ED6}"/>
              </a:ext>
            </a:extLst>
          </p:cNvPr>
          <p:cNvSpPr txBox="1"/>
          <p:nvPr/>
        </p:nvSpPr>
        <p:spPr>
          <a:xfrm>
            <a:off x="9279465" y="2549849"/>
            <a:ext cx="516678" cy="276999"/>
          </a:xfrm>
          <a:prstGeom prst="rect">
            <a:avLst/>
          </a:prstGeom>
          <a:noFill/>
        </p:spPr>
        <p:txBody>
          <a:bodyPr wrap="square" rtlCol="0">
            <a:spAutoFit/>
          </a:bodyPr>
          <a:lstStyle/>
          <a:p>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台灣</a:t>
            </a:r>
          </a:p>
        </p:txBody>
      </p:sp>
      <p:sp>
        <p:nvSpPr>
          <p:cNvPr id="53" name="Rounded Rectangle 4">
            <a:extLst>
              <a:ext uri="{FF2B5EF4-FFF2-40B4-BE49-F238E27FC236}">
                <a16:creationId xmlns:a16="http://schemas.microsoft.com/office/drawing/2014/main" id="{32E6806F-CD84-4EE2-BCCD-462E59A72F68}"/>
              </a:ext>
            </a:extLst>
          </p:cNvPr>
          <p:cNvSpPr/>
          <p:nvPr/>
        </p:nvSpPr>
        <p:spPr>
          <a:xfrm>
            <a:off x="7361727" y="6060971"/>
            <a:ext cx="8700142" cy="471272"/>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注意</a:t>
            </a:r>
            <a:r>
              <a:rPr lang="en-US" altLang="zh-TW" sz="1200" b="1" dirty="0">
                <a:solidFill>
                  <a:srgbClr val="FF0000"/>
                </a:solidFill>
                <a:latin typeface="微軟正黑體" panose="020B0604030504040204" pitchFamily="34" charset="-120"/>
                <a:ea typeface="微軟正黑體" panose="020B0604030504040204" pitchFamily="34" charset="-120"/>
              </a:rPr>
              <a:t>: </a:t>
            </a:r>
            <a:r>
              <a:rPr lang="zh-TW" altLang="en-US" sz="1200" b="1" dirty="0">
                <a:solidFill>
                  <a:srgbClr val="FF0000"/>
                </a:solidFill>
                <a:latin typeface="微軟正黑體" panose="020B0604030504040204" pitchFamily="34" charset="-120"/>
                <a:ea typeface="微軟正黑體" panose="020B0604030504040204" pitchFamily="34" charset="-120"/>
              </a:rPr>
              <a:t>更新與刪除權限，授權各廠商企自行維護自已廠資料，只有總公司商企權限則可開到最大，可協助各廠更新、刪除、維護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207411C9-2E06-4EBA-85D5-83173220AB39}"/>
              </a:ext>
            </a:extLst>
          </p:cNvPr>
          <p:cNvSpPr txBox="1"/>
          <p:nvPr/>
        </p:nvSpPr>
        <p:spPr>
          <a:xfrm>
            <a:off x="8019854" y="2539888"/>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59" name="文字方塊 58">
            <a:extLst>
              <a:ext uri="{FF2B5EF4-FFF2-40B4-BE49-F238E27FC236}">
                <a16:creationId xmlns:a16="http://schemas.microsoft.com/office/drawing/2014/main" id="{589C4613-20DC-4648-8D5C-FA5E18EB0795}"/>
              </a:ext>
            </a:extLst>
          </p:cNvPr>
          <p:cNvSpPr txBox="1"/>
          <p:nvPr/>
        </p:nvSpPr>
        <p:spPr>
          <a:xfrm>
            <a:off x="9988293" y="2110646"/>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62" name="矩形 61">
            <a:extLst>
              <a:ext uri="{FF2B5EF4-FFF2-40B4-BE49-F238E27FC236}">
                <a16:creationId xmlns:a16="http://schemas.microsoft.com/office/drawing/2014/main" id="{88BB80B0-3A2D-4A85-8E96-332E0A49D65C}"/>
              </a:ext>
            </a:extLst>
          </p:cNvPr>
          <p:cNvSpPr/>
          <p:nvPr/>
        </p:nvSpPr>
        <p:spPr>
          <a:xfrm>
            <a:off x="8707616" y="2506660"/>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65" name="文字方塊 64">
            <a:extLst>
              <a:ext uri="{FF2B5EF4-FFF2-40B4-BE49-F238E27FC236}">
                <a16:creationId xmlns:a16="http://schemas.microsoft.com/office/drawing/2014/main" id="{655CA17A-9A07-416D-9002-D6AA50F98E5A}"/>
              </a:ext>
            </a:extLst>
          </p:cNvPr>
          <p:cNvSpPr txBox="1"/>
          <p:nvPr/>
        </p:nvSpPr>
        <p:spPr>
          <a:xfrm>
            <a:off x="10022297" y="2538782"/>
            <a:ext cx="826078" cy="276999"/>
          </a:xfrm>
          <a:prstGeom prst="rect">
            <a:avLst/>
          </a:prstGeom>
          <a:noFill/>
        </p:spPr>
        <p:txBody>
          <a:bodyPr wrap="square" rtlCol="0">
            <a:spAutoFit/>
          </a:bodyPr>
          <a:lstStyle/>
          <a:p>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KD</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KF</a:t>
            </a:r>
            <a:endPar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67" name="文字方塊 66">
            <a:extLst>
              <a:ext uri="{FF2B5EF4-FFF2-40B4-BE49-F238E27FC236}">
                <a16:creationId xmlns:a16="http://schemas.microsoft.com/office/drawing/2014/main" id="{A0DAEECF-DF5B-4BF8-93E6-2BC3BA6CF171}"/>
              </a:ext>
            </a:extLst>
          </p:cNvPr>
          <p:cNvSpPr txBox="1"/>
          <p:nvPr/>
        </p:nvSpPr>
        <p:spPr>
          <a:xfrm>
            <a:off x="10934084" y="3319637"/>
            <a:ext cx="1712484" cy="276999"/>
          </a:xfrm>
          <a:prstGeom prst="rect">
            <a:avLst/>
          </a:prstGeom>
          <a:noFill/>
        </p:spPr>
        <p:txBody>
          <a:bodyPr wrap="square" rtlCol="0">
            <a:spAutoFit/>
          </a:bodyPr>
          <a:lstStyle/>
          <a:p>
            <a:endParaRPr lang="zh-TW" altLang="en-US" sz="1200" u="sng" dirty="0">
              <a:latin typeface="微軟正黑體" panose="020B0604030504040204" pitchFamily="34" charset="-120"/>
              <a:ea typeface="微軟正黑體" panose="020B0604030504040204" pitchFamily="34" charset="-120"/>
            </a:endParaRPr>
          </a:p>
        </p:txBody>
      </p:sp>
      <p:sp>
        <p:nvSpPr>
          <p:cNvPr id="78" name="文字方塊 77">
            <a:extLst>
              <a:ext uri="{FF2B5EF4-FFF2-40B4-BE49-F238E27FC236}">
                <a16:creationId xmlns:a16="http://schemas.microsoft.com/office/drawing/2014/main" id="{0C7BCD5E-D15D-493E-97E7-5A7F2A213AC5}"/>
              </a:ext>
            </a:extLst>
          </p:cNvPr>
          <p:cNvSpPr txBox="1"/>
          <p:nvPr/>
        </p:nvSpPr>
        <p:spPr>
          <a:xfrm>
            <a:off x="7412848" y="374503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79" name="文字方塊 78">
            <a:extLst>
              <a:ext uri="{FF2B5EF4-FFF2-40B4-BE49-F238E27FC236}">
                <a16:creationId xmlns:a16="http://schemas.microsoft.com/office/drawing/2014/main" id="{19C3A706-F0E8-41B9-B4AE-C771A621D53D}"/>
              </a:ext>
            </a:extLst>
          </p:cNvPr>
          <p:cNvSpPr txBox="1"/>
          <p:nvPr/>
        </p:nvSpPr>
        <p:spPr>
          <a:xfrm>
            <a:off x="9285007" y="3741737"/>
            <a:ext cx="516678" cy="276999"/>
          </a:xfrm>
          <a:prstGeom prst="rect">
            <a:avLst/>
          </a:prstGeom>
          <a:noFill/>
        </p:spPr>
        <p:txBody>
          <a:bodyPr wrap="square" rtlCol="0">
            <a:spAutoFit/>
          </a:bodyPr>
          <a:lstStyle/>
          <a:p>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大陸</a:t>
            </a:r>
          </a:p>
        </p:txBody>
      </p:sp>
      <p:sp>
        <p:nvSpPr>
          <p:cNvPr id="80" name="文字方塊 79">
            <a:extLst>
              <a:ext uri="{FF2B5EF4-FFF2-40B4-BE49-F238E27FC236}">
                <a16:creationId xmlns:a16="http://schemas.microsoft.com/office/drawing/2014/main" id="{2D7A5A09-DBB9-4457-AEC7-2904054B9222}"/>
              </a:ext>
            </a:extLst>
          </p:cNvPr>
          <p:cNvSpPr txBox="1"/>
          <p:nvPr/>
        </p:nvSpPr>
        <p:spPr>
          <a:xfrm>
            <a:off x="8021070" y="3727639"/>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a:t>
            </a:r>
          </a:p>
        </p:txBody>
      </p:sp>
      <p:sp>
        <p:nvSpPr>
          <p:cNvPr id="81" name="矩形 80">
            <a:extLst>
              <a:ext uri="{FF2B5EF4-FFF2-40B4-BE49-F238E27FC236}">
                <a16:creationId xmlns:a16="http://schemas.microsoft.com/office/drawing/2014/main" id="{52A828E6-E9B1-4FC1-A16F-FE43D0F67F12}"/>
              </a:ext>
            </a:extLst>
          </p:cNvPr>
          <p:cNvSpPr/>
          <p:nvPr/>
        </p:nvSpPr>
        <p:spPr>
          <a:xfrm>
            <a:off x="8710675" y="3717517"/>
            <a:ext cx="356795" cy="341245"/>
          </a:xfrm>
          <a:prstGeom prst="rect">
            <a:avLst/>
          </a:prstGeom>
          <a:solidFill>
            <a:srgbClr val="FFFF00"/>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TW" dirty="0"/>
              <a:t>v</a:t>
            </a:r>
            <a:endParaRPr lang="zh-TW" altLang="en-US" dirty="0"/>
          </a:p>
        </p:txBody>
      </p:sp>
      <p:sp>
        <p:nvSpPr>
          <p:cNvPr id="82" name="文字方塊 81">
            <a:extLst>
              <a:ext uri="{FF2B5EF4-FFF2-40B4-BE49-F238E27FC236}">
                <a16:creationId xmlns:a16="http://schemas.microsoft.com/office/drawing/2014/main" id="{A7E2B288-C21F-4810-9094-AEE9F0D01440}"/>
              </a:ext>
            </a:extLst>
          </p:cNvPr>
          <p:cNvSpPr txBox="1"/>
          <p:nvPr/>
        </p:nvSpPr>
        <p:spPr>
          <a:xfrm>
            <a:off x="10070159" y="3740511"/>
            <a:ext cx="929297" cy="461665"/>
          </a:xfrm>
          <a:prstGeom prst="rect">
            <a:avLst/>
          </a:prstGeom>
          <a:noFill/>
        </p:spPr>
        <p:txBody>
          <a:bodyPr wrap="square" rtlCol="0">
            <a:spAutoFit/>
          </a:bodyPr>
          <a:lstStyle/>
          <a:p>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KT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 、 </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KS</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 、 </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KC</a:t>
            </a:r>
            <a:endPar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83" name="文字方塊 82">
            <a:extLst>
              <a:ext uri="{FF2B5EF4-FFF2-40B4-BE49-F238E27FC236}">
                <a16:creationId xmlns:a16="http://schemas.microsoft.com/office/drawing/2014/main" id="{2B92F39B-FBFF-4D3B-AC84-65A3BCC21DCF}"/>
              </a:ext>
            </a:extLst>
          </p:cNvPr>
          <p:cNvSpPr txBox="1"/>
          <p:nvPr/>
        </p:nvSpPr>
        <p:spPr>
          <a:xfrm>
            <a:off x="10935135" y="2489511"/>
            <a:ext cx="4730817"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57" name="文字方塊 56">
            <a:extLst>
              <a:ext uri="{FF2B5EF4-FFF2-40B4-BE49-F238E27FC236}">
                <a16:creationId xmlns:a16="http://schemas.microsoft.com/office/drawing/2014/main" id="{DA83644B-3E43-43FB-A944-EAD8F803AF75}"/>
              </a:ext>
            </a:extLst>
          </p:cNvPr>
          <p:cNvSpPr txBox="1"/>
          <p:nvPr/>
        </p:nvSpPr>
        <p:spPr>
          <a:xfrm>
            <a:off x="10934084" y="2501294"/>
            <a:ext cx="4725056" cy="646331"/>
          </a:xfrm>
          <a:prstGeom prst="rect">
            <a:avLst/>
          </a:prstGeom>
          <a:noFill/>
        </p:spPr>
        <p:txBody>
          <a:bodyPr wrap="square" rtlCol="0">
            <a:spAutoFit/>
          </a:bodyPr>
          <a:lstStyle/>
          <a:p>
            <a:r>
              <a:rPr lang="zh-TW" altLang="en-US" sz="1200" dirty="0">
                <a:solidFill>
                  <a:srgbClr val="FF0000"/>
                </a:solidFill>
                <a:highlight>
                  <a:srgbClr val="FFFF00"/>
                </a:highlight>
                <a:latin typeface="微軟正黑體" panose="020B0604030504040204" pitchFamily="34" charset="-120"/>
                <a:ea typeface="微軟正黑體" panose="020B0604030504040204" pitchFamily="34" charset="-120"/>
              </a:rPr>
              <a:t>基隆市、臺北市、新北市、桃園市、新竹縣、新竹市、苗栗縣、臺中市、彰化縣、南投縣、雲林縣、嘉義縣、嘉義市、臺南市、高雄市、屏東縣、 宜蘭縣、花蓮縣、臺東縣、澎湖縣、金門縣、連江縣</a:t>
            </a:r>
            <a:r>
              <a:rPr lang="en-US" altLang="zh-TW" sz="1200" dirty="0">
                <a:solidFill>
                  <a:srgbClr val="FF0000"/>
                </a:solidFill>
                <a:highlight>
                  <a:srgbClr val="FFFF00"/>
                </a:highlight>
                <a:latin typeface="微軟正黑體" panose="020B0604030504040204" pitchFamily="34" charset="-120"/>
                <a:ea typeface="微軟正黑體" panose="020B0604030504040204" pitchFamily="34" charset="-120"/>
              </a:rPr>
              <a:t>’ </a:t>
            </a:r>
            <a:endParaRPr lang="zh-TW" altLang="en-US" sz="12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85" name="文字方塊 84">
            <a:extLst>
              <a:ext uri="{FF2B5EF4-FFF2-40B4-BE49-F238E27FC236}">
                <a16:creationId xmlns:a16="http://schemas.microsoft.com/office/drawing/2014/main" id="{FE233129-7791-46F9-8272-60CB831700E6}"/>
              </a:ext>
            </a:extLst>
          </p:cNvPr>
          <p:cNvSpPr txBox="1"/>
          <p:nvPr/>
        </p:nvSpPr>
        <p:spPr>
          <a:xfrm>
            <a:off x="10934086" y="3727070"/>
            <a:ext cx="4725057"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400" dirty="0">
              <a:latin typeface="微軟正黑體" panose="020B0604030504040204" pitchFamily="34" charset="-120"/>
              <a:ea typeface="微軟正黑體" panose="020B0604030504040204" pitchFamily="34" charset="-120"/>
            </a:endParaRPr>
          </a:p>
        </p:txBody>
      </p:sp>
      <p:sp>
        <p:nvSpPr>
          <p:cNvPr id="58" name="文字方塊 57">
            <a:extLst>
              <a:ext uri="{FF2B5EF4-FFF2-40B4-BE49-F238E27FC236}">
                <a16:creationId xmlns:a16="http://schemas.microsoft.com/office/drawing/2014/main" id="{96215FBA-1FE2-48D4-8EC3-311806486D29}"/>
              </a:ext>
            </a:extLst>
          </p:cNvPr>
          <p:cNvSpPr txBox="1"/>
          <p:nvPr/>
        </p:nvSpPr>
        <p:spPr>
          <a:xfrm>
            <a:off x="10940894" y="3706889"/>
            <a:ext cx="4725056" cy="1015663"/>
          </a:xfrm>
          <a:prstGeom prst="rect">
            <a:avLst/>
          </a:prstGeom>
          <a:noFill/>
        </p:spPr>
        <p:txBody>
          <a:bodyPr wrap="square" rtlCol="0">
            <a:spAutoFit/>
          </a:bodyPr>
          <a:lstStyle/>
          <a:p>
            <a:r>
              <a:rPr lang="zh-TW" altLang="en-US" sz="1200" dirty="0">
                <a:solidFill>
                  <a:srgbClr val="FF0000"/>
                </a:solidFill>
                <a:highlight>
                  <a:srgbClr val="FFFF00"/>
                </a:highlight>
                <a:latin typeface="微軟正黑體" panose="020B0604030504040204" pitchFamily="34" charset="-120"/>
                <a:ea typeface="微軟正黑體" panose="020B0604030504040204" pitchFamily="34" charset="-120"/>
              </a:rPr>
              <a:t>北京市、天津市、河北省、山西省、內蒙古、遼寧省、吉林省、黑龍江省、上海省、江蘇省、浙江省、安徽省、福建省、江西省、山東省、河南省、湖北省、湖南省、廣東省、廣西省、海南省、重慶市、四川省、貴州省、雲南省、西藏、陝西省、甘肅省、青海省、寧夏、新疆、香港、澳門</a:t>
            </a:r>
            <a:r>
              <a:rPr lang="en-US" altLang="zh-TW" sz="1200" dirty="0">
                <a:solidFill>
                  <a:srgbClr val="FF0000"/>
                </a:solidFill>
                <a:highlight>
                  <a:srgbClr val="FFFF00"/>
                </a:highlight>
                <a:latin typeface="微軟正黑體" panose="020B0604030504040204" pitchFamily="34" charset="-120"/>
                <a:ea typeface="微軟正黑體" panose="020B0604030504040204" pitchFamily="34" charset="-120"/>
              </a:rPr>
              <a:t>’ </a:t>
            </a:r>
            <a:endParaRPr lang="zh-TW" altLang="en-US" sz="12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30" name="文字方塊 29">
            <a:extLst>
              <a:ext uri="{FF2B5EF4-FFF2-40B4-BE49-F238E27FC236}">
                <a16:creationId xmlns:a16="http://schemas.microsoft.com/office/drawing/2014/main" id="{C0C9C3CC-E702-4010-AA87-B00A3C111983}"/>
              </a:ext>
            </a:extLst>
          </p:cNvPr>
          <p:cNvSpPr txBox="1"/>
          <p:nvPr/>
        </p:nvSpPr>
        <p:spPr>
          <a:xfrm>
            <a:off x="7294716" y="5237962"/>
            <a:ext cx="8883533" cy="323165"/>
          </a:xfrm>
          <a:prstGeom prst="rect">
            <a:avLst/>
          </a:prstGeom>
          <a:noFill/>
        </p:spPr>
        <p:txBody>
          <a:bodyPr wrap="square" rtlCol="0">
            <a:spAutoFit/>
          </a:bodyPr>
          <a:lstStyle/>
          <a:p>
            <a:r>
              <a:rPr lang="en-US" altLang="zh-TW" sz="1500" b="1" dirty="0">
                <a:solidFill>
                  <a:srgbClr val="FF0000"/>
                </a:solidFill>
                <a:highlight>
                  <a:srgbClr val="00FFFF"/>
                </a:highlight>
                <a:latin typeface="微軟正黑體" panose="020B0604030504040204" pitchFamily="34" charset="-120"/>
                <a:ea typeface="微軟正黑體" panose="020B0604030504040204" pitchFamily="34" charset="-120"/>
              </a:rPr>
              <a:t>TO: </a:t>
            </a:r>
            <a:r>
              <a:rPr lang="zh-TW" altLang="en-US" sz="1500" b="1" dirty="0">
                <a:solidFill>
                  <a:srgbClr val="FF0000"/>
                </a:solidFill>
                <a:highlight>
                  <a:srgbClr val="00FFFF"/>
                </a:highlight>
                <a:latin typeface="微軟正黑體" panose="020B0604030504040204" pitchFamily="34" charset="-120"/>
                <a:ea typeface="微軟正黑體" panose="020B0604030504040204" pitchFamily="34" charset="-120"/>
              </a:rPr>
              <a:t>艾創點</a:t>
            </a:r>
            <a:r>
              <a:rPr lang="en-US" altLang="zh-TW" sz="1500" b="1" dirty="0">
                <a:solidFill>
                  <a:srgbClr val="FF0000"/>
                </a:solidFill>
                <a:highlight>
                  <a:srgbClr val="00FFFF"/>
                </a:highlight>
                <a:latin typeface="微軟正黑體" panose="020B0604030504040204" pitchFamily="34" charset="-120"/>
                <a:ea typeface="微軟正黑體" panose="020B0604030504040204" pitchFamily="34" charset="-120"/>
              </a:rPr>
              <a:t>: </a:t>
            </a:r>
            <a:r>
              <a:rPr lang="zh-TW" altLang="en-US" sz="1500" b="1" dirty="0">
                <a:solidFill>
                  <a:srgbClr val="FF0000"/>
                </a:solidFill>
                <a:highlight>
                  <a:srgbClr val="00FFFF"/>
                </a:highlight>
                <a:latin typeface="微軟正黑體" panose="020B0604030504040204" pitchFamily="34" charset="-120"/>
                <a:ea typeface="微軟正黑體" panose="020B0604030504040204" pitchFamily="34" charset="-120"/>
              </a:rPr>
              <a:t>省</a:t>
            </a:r>
            <a:r>
              <a:rPr lang="en-US" altLang="zh-TW" sz="15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500" b="1" dirty="0">
                <a:solidFill>
                  <a:srgbClr val="FF0000"/>
                </a:solidFill>
                <a:highlight>
                  <a:srgbClr val="00FFFF"/>
                </a:highlight>
                <a:latin typeface="微軟正黑體" panose="020B0604030504040204" pitchFamily="34" charset="-120"/>
                <a:ea typeface="微軟正黑體" panose="020B0604030504040204" pitchFamily="34" charset="-120"/>
              </a:rPr>
              <a:t>縣資料資訊會提供，在建大客戶維護主檔裡有可撈取，若無收到再煩告知</a:t>
            </a:r>
          </a:p>
        </p:txBody>
      </p:sp>
      <p:sp>
        <p:nvSpPr>
          <p:cNvPr id="31" name="TextBox 1">
            <a:extLst>
              <a:ext uri="{FF2B5EF4-FFF2-40B4-BE49-F238E27FC236}">
                <a16:creationId xmlns:a16="http://schemas.microsoft.com/office/drawing/2014/main" id="{4790225F-050F-447E-8ABD-3FDA1045729A}"/>
              </a:ext>
            </a:extLst>
          </p:cNvPr>
          <p:cNvSpPr txBox="1"/>
          <p:nvPr/>
        </p:nvSpPr>
        <p:spPr>
          <a:xfrm>
            <a:off x="281730" y="904735"/>
            <a:ext cx="6798015" cy="523220"/>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號提供測試沒看到這個功能，</a:t>
            </a:r>
            <a:r>
              <a:rPr lang="en-US" altLang="zh-TW" sz="1400" b="1" dirty="0">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開會時有提到會在建大客戶維護主檔裡</a:t>
            </a:r>
            <a:endParaRPr lang="en-US" altLang="zh-TW" sz="1400" b="1" dirty="0">
              <a:highlight>
                <a:srgbClr val="00FFFF"/>
              </a:highlight>
              <a:latin typeface="微軟正黑體" panose="020B0604030504040204" pitchFamily="34" charset="-120"/>
              <a:ea typeface="微軟正黑體" panose="020B0604030504040204" pitchFamily="34" charset="-120"/>
            </a:endParaRPr>
          </a:p>
          <a:p>
            <a:r>
              <a:rPr lang="zh-TW" altLang="en-US" sz="1400" b="1" dirty="0">
                <a:highlight>
                  <a:srgbClr val="00FFFF"/>
                </a:highlight>
                <a:latin typeface="微軟正黑體" panose="020B0604030504040204" pitchFamily="34" charset="-120"/>
                <a:ea typeface="微軟正黑體" panose="020B0604030504040204" pitchFamily="34" charset="-120"/>
              </a:rPr>
              <a:t>撈取，故不確定是否要有在</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zh-TW" altLang="en-US" sz="1400" b="1" dirty="0">
                <a:highlight>
                  <a:srgbClr val="00FFFF"/>
                </a:highlight>
                <a:latin typeface="微軟正黑體" panose="020B0604030504040204" pitchFamily="34" charset="-120"/>
                <a:ea typeface="微軟正黑體" panose="020B0604030504040204" pitchFamily="34" charset="-120"/>
              </a:rPr>
              <a:t>內</a:t>
            </a:r>
            <a:r>
              <a:rPr lang="en-US" altLang="zh-TW" sz="1400" b="1" dirty="0">
                <a:highlight>
                  <a:srgbClr val="00FFFF"/>
                </a:highlight>
                <a:latin typeface="微軟正黑體" panose="020B0604030504040204" pitchFamily="34" charset="-120"/>
                <a:ea typeface="微軟正黑體" panose="020B0604030504040204" pitchFamily="34" charset="-120"/>
              </a:rPr>
              <a:t>)</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58566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5421" y="166279"/>
            <a:ext cx="2877711" cy="553998"/>
          </a:xfrm>
          <a:prstGeom prst="rect">
            <a:avLst/>
          </a:prstGeom>
          <a:noFill/>
        </p:spPr>
        <p:txBody>
          <a:bodyPr wrap="none">
            <a:spAutoFit/>
          </a:bodyPr>
          <a:lstStyle/>
          <a:p>
            <a:r>
              <a:rPr lang="zh-TW" altLang="en-US" sz="3000" b="1" dirty="0">
                <a:latin typeface="微軟正黑體" panose="020B0604030504040204" pitchFamily="34" charset="-120"/>
                <a:ea typeface="微軟正黑體" panose="020B0604030504040204" pitchFamily="34" charset="-120"/>
              </a:rPr>
              <a:t>店招合約書下載</a:t>
            </a:r>
          </a:p>
        </p:txBody>
      </p:sp>
      <p:sp>
        <p:nvSpPr>
          <p:cNvPr id="3" name="Rectangle 2"/>
          <p:cNvSpPr/>
          <p:nvPr/>
        </p:nvSpPr>
        <p:spPr>
          <a:xfrm>
            <a:off x="7588426" y="1330971"/>
            <a:ext cx="4703034" cy="5507357"/>
          </a:xfrm>
          <a:prstGeom prst="rect">
            <a:avLst/>
          </a:prstGeom>
          <a:solidFill>
            <a:srgbClr val="F5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2305008" y="1319888"/>
            <a:ext cx="3895430" cy="550735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文字方塊 31">
            <a:extLst>
              <a:ext uri="{FF2B5EF4-FFF2-40B4-BE49-F238E27FC236}">
                <a16:creationId xmlns:a16="http://schemas.microsoft.com/office/drawing/2014/main" id="{A095C5A4-1206-4231-BC9B-95C96C5997B4}"/>
              </a:ext>
            </a:extLst>
          </p:cNvPr>
          <p:cNvSpPr txBox="1"/>
          <p:nvPr/>
        </p:nvSpPr>
        <p:spPr>
          <a:xfrm>
            <a:off x="8445644" y="1423918"/>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前台</a:t>
            </a:r>
          </a:p>
        </p:txBody>
      </p:sp>
      <p:sp>
        <p:nvSpPr>
          <p:cNvPr id="33" name="文字方塊 32">
            <a:extLst>
              <a:ext uri="{FF2B5EF4-FFF2-40B4-BE49-F238E27FC236}">
                <a16:creationId xmlns:a16="http://schemas.microsoft.com/office/drawing/2014/main" id="{6DABA07C-0210-48F8-8041-EF50E2A49D41}"/>
              </a:ext>
            </a:extLst>
          </p:cNvPr>
          <p:cNvSpPr txBox="1"/>
          <p:nvPr/>
        </p:nvSpPr>
        <p:spPr>
          <a:xfrm>
            <a:off x="13580972" y="1391494"/>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後台</a:t>
            </a:r>
          </a:p>
        </p:txBody>
      </p:sp>
      <p:sp>
        <p:nvSpPr>
          <p:cNvPr id="14" name="矩形 13">
            <a:extLst>
              <a:ext uri="{FF2B5EF4-FFF2-40B4-BE49-F238E27FC236}">
                <a16:creationId xmlns:a16="http://schemas.microsoft.com/office/drawing/2014/main" id="{3EEF9E4F-A71B-4517-8706-1326AFE9B741}"/>
              </a:ext>
            </a:extLst>
          </p:cNvPr>
          <p:cNvSpPr/>
          <p:nvPr/>
        </p:nvSpPr>
        <p:spPr>
          <a:xfrm>
            <a:off x="12359997" y="2512976"/>
            <a:ext cx="3622314" cy="861774"/>
          </a:xfrm>
          <a:prstGeom prst="rect">
            <a:avLst/>
          </a:prstGeom>
        </p:spPr>
        <p:txBody>
          <a:bodyPr wrap="square">
            <a:spAutoFit/>
          </a:bodyPr>
          <a:lstStyle/>
          <a:p>
            <a:r>
              <a:rPr lang="zh-TW" altLang="en-US" sz="1000" b="1" dirty="0">
                <a:highlight>
                  <a:srgbClr val="FFFF00"/>
                </a:highlight>
                <a:latin typeface="微軟正黑體" panose="020B0604030504040204" pitchFamily="34" charset="-120"/>
                <a:ea typeface="微軟正黑體" panose="020B0604030504040204" pitchFamily="34" charset="-120"/>
              </a:rPr>
              <a:t>依經銷商登入國家提供超連結</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後台各廠人員維護</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000" b="1" dirty="0">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供總、子公司人員在後台自行維護後，可在前台項目出現超連結，由經銷商胎種別秀出所維護可下載的合約書範本使用</a:t>
            </a:r>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zh-TW" altLang="en-US" sz="1000" dirty="0">
              <a:highlight>
                <a:srgbClr val="FFFF00"/>
              </a:highlight>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517A59C6-EE57-4DEA-8C85-310C6200A91B}"/>
              </a:ext>
            </a:extLst>
          </p:cNvPr>
          <p:cNvPicPr>
            <a:picLocks noChangeAspect="1"/>
          </p:cNvPicPr>
          <p:nvPr/>
        </p:nvPicPr>
        <p:blipFill>
          <a:blip r:embed="rId2"/>
          <a:stretch>
            <a:fillRect/>
          </a:stretch>
        </p:blipFill>
        <p:spPr>
          <a:xfrm>
            <a:off x="7899830" y="3549610"/>
            <a:ext cx="4080231" cy="2908288"/>
          </a:xfrm>
          <a:prstGeom prst="rect">
            <a:avLst/>
          </a:prstGeom>
        </p:spPr>
      </p:pic>
      <p:sp>
        <p:nvSpPr>
          <p:cNvPr id="10" name="矩形 9">
            <a:extLst>
              <a:ext uri="{FF2B5EF4-FFF2-40B4-BE49-F238E27FC236}">
                <a16:creationId xmlns:a16="http://schemas.microsoft.com/office/drawing/2014/main" id="{17914DC0-3827-4EB0-969F-A820008DD5F2}"/>
              </a:ext>
            </a:extLst>
          </p:cNvPr>
          <p:cNvSpPr/>
          <p:nvPr/>
        </p:nvSpPr>
        <p:spPr>
          <a:xfrm>
            <a:off x="12359997" y="3233414"/>
            <a:ext cx="3622314" cy="3170099"/>
          </a:xfrm>
          <a:prstGeom prst="rect">
            <a:avLst/>
          </a:prstGeom>
        </p:spPr>
        <p:txBody>
          <a:bodyPr wrap="square">
            <a:spAutoFit/>
          </a:bodyPr>
          <a:lstStyle/>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後台欄位最少要有如下，若艾創點有更好的建議可增加，由艾創點設計美觀性</a:t>
            </a:r>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廠別</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給建大自行維護如</a:t>
            </a:r>
            <a:r>
              <a:rPr lang="en-US" altLang="zh-TW" sz="1000" dirty="0">
                <a:latin typeface="微軟正黑體" panose="020B0604030504040204" pitchFamily="34" charset="-120"/>
                <a:ea typeface="微軟正黑體" panose="020B0604030504040204" pitchFamily="34" charset="-120"/>
              </a:rPr>
              <a:t>KD</a:t>
            </a:r>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KF</a:t>
            </a:r>
            <a:r>
              <a:rPr lang="zh-TW" altLang="en-US" sz="1000" dirty="0">
                <a:latin typeface="微軟正黑體" panose="020B0604030504040204" pitchFamily="34" charset="-120"/>
                <a:ea typeface="微軟正黑體" panose="020B0604030504040204" pitchFamily="34" charset="-120"/>
              </a:rPr>
              <a:t>之類</a:t>
            </a:r>
            <a:endParaRPr lang="en-US" altLang="zh-TW" sz="1000" dirty="0">
              <a:latin typeface="微軟正黑體" panose="020B0604030504040204" pitchFamily="34" charset="-120"/>
              <a:ea typeface="微軟正黑體" panose="020B0604030504040204" pitchFamily="34" charset="-120"/>
            </a:endParaRPr>
          </a:p>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但不帶到前台</a:t>
            </a:r>
            <a:r>
              <a:rPr lang="en-US" altLang="zh-TW" sz="1000" dirty="0">
                <a:latin typeface="微軟正黑體" panose="020B0604030504040204" pitchFamily="34" charset="-120"/>
                <a:ea typeface="微軟正黑體" panose="020B0604030504040204" pitchFamily="34" charset="-120"/>
              </a:rPr>
              <a:t>)</a:t>
            </a: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胎種別</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給建大自行維護如</a:t>
            </a:r>
            <a:r>
              <a:rPr lang="en-US" altLang="zh-TW" sz="1000" dirty="0">
                <a:latin typeface="微軟正黑體" panose="020B0604030504040204" pitchFamily="34" charset="-120"/>
                <a:ea typeface="微軟正黑體" panose="020B0604030504040204" pitchFamily="34" charset="-120"/>
              </a:rPr>
              <a:t>PCR</a:t>
            </a:r>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BC</a:t>
            </a:r>
            <a:r>
              <a:rPr lang="zh-TW" altLang="en-US" sz="1000" dirty="0">
                <a:latin typeface="微軟正黑體" panose="020B0604030504040204" pitchFamily="34" charset="-120"/>
                <a:ea typeface="微軟正黑體" panose="020B0604030504040204" pitchFamily="34" charset="-120"/>
              </a:rPr>
              <a:t>、</a:t>
            </a:r>
            <a:r>
              <a:rPr lang="en-US" altLang="zh-TW" sz="1000" dirty="0">
                <a:latin typeface="微軟正黑體" panose="020B0604030504040204" pitchFamily="34" charset="-120"/>
                <a:ea typeface="微軟正黑體" panose="020B0604030504040204" pitchFamily="34" charset="-120"/>
              </a:rPr>
              <a:t>MC</a:t>
            </a:r>
            <a:r>
              <a:rPr lang="zh-TW" altLang="en-US" sz="1000" dirty="0">
                <a:latin typeface="微軟正黑體" panose="020B0604030504040204" pitchFamily="34" charset="-120"/>
                <a:ea typeface="微軟正黑體" panose="020B0604030504040204" pitchFamily="34" charset="-120"/>
              </a:rPr>
              <a:t>之類</a:t>
            </a:r>
            <a:endParaRPr lang="en-US" altLang="zh-TW" sz="1000" dirty="0">
              <a:latin typeface="微軟正黑體" panose="020B0604030504040204" pitchFamily="34" charset="-120"/>
              <a:ea typeface="微軟正黑體" panose="020B0604030504040204" pitchFamily="34" charset="-120"/>
            </a:endParaRPr>
          </a:p>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但不帶到前台</a:t>
            </a:r>
            <a:r>
              <a:rPr lang="en-US" altLang="zh-TW" sz="1000" dirty="0">
                <a:latin typeface="微軟正黑體" panose="020B0604030504040204" pitchFamily="34" charset="-120"/>
                <a:ea typeface="微軟正黑體" panose="020B0604030504040204" pitchFamily="34" charset="-120"/>
              </a:rPr>
              <a:t>)</a:t>
            </a: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店級別</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給建大自行維護如形象店</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特約店、一般店</a:t>
            </a:r>
            <a:endParaRPr lang="en-US" altLang="zh-TW" sz="1000" dirty="0">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上載資料</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給建大自行上載，清單同上載檔名或要維護檔案名稱都可以</a:t>
            </a:r>
            <a:endParaRPr lang="en-US" altLang="zh-TW" sz="1000" dirty="0">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更新日期</a:t>
            </a:r>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由程式依上載當天自動填入</a:t>
            </a:r>
            <a:endParaRPr lang="en-US" altLang="zh-TW" sz="1000" dirty="0">
              <a:solidFill>
                <a:srgbClr val="FF0000"/>
              </a:solidFill>
              <a:latin typeface="微軟正黑體" panose="020B0604030504040204" pitchFamily="34" charset="-120"/>
              <a:ea typeface="微軟正黑體" panose="020B0604030504040204" pitchFamily="34" charset="-120"/>
            </a:endParaRP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上載、刪除、下載的功能</a:t>
            </a:r>
            <a:endParaRPr lang="en-US" altLang="zh-TW" sz="1000" dirty="0">
              <a:latin typeface="微軟正黑體" panose="020B0604030504040204" pitchFamily="34" charset="-120"/>
              <a:ea typeface="微軟正黑體" panose="020B0604030504040204" pitchFamily="34" charset="-120"/>
            </a:endParaRPr>
          </a:p>
          <a:p>
            <a:endParaRPr lang="en-US" altLang="zh-TW" sz="1000" dirty="0">
              <a:latin typeface="微軟正黑體" panose="020B0604030504040204" pitchFamily="34" charset="-120"/>
              <a:ea typeface="微軟正黑體" panose="020B0604030504040204" pitchFamily="34" charset="-120"/>
            </a:endParaRPr>
          </a:p>
          <a:p>
            <a:endParaRPr lang="en-US" altLang="zh-TW" sz="1000" dirty="0">
              <a:latin typeface="微軟正黑體" panose="020B0604030504040204" pitchFamily="34" charset="-120"/>
              <a:ea typeface="微軟正黑體" panose="020B0604030504040204" pitchFamily="34" charset="-120"/>
            </a:endParaRPr>
          </a:p>
          <a:p>
            <a:r>
              <a:rPr lang="zh-TW" altLang="en-US" sz="1000" dirty="0">
                <a:latin typeface="微軟正黑體" panose="020B0604030504040204" pitchFamily="34" charset="-120"/>
                <a:ea typeface="微軟正黑體" panose="020B0604030504040204" pitchFamily="34" charset="-120"/>
              </a:rPr>
              <a:t>功能</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前台依使用帳號國家別選擇可秀出的後台資料，</a:t>
            </a:r>
            <a:endParaRPr lang="en-US" altLang="zh-TW" sz="1000" dirty="0">
              <a:latin typeface="微軟正黑體" panose="020B0604030504040204" pitchFamily="34" charset="-120"/>
              <a:ea typeface="微軟正黑體" panose="020B0604030504040204" pitchFamily="34" charset="-120"/>
            </a:endParaRPr>
          </a:p>
          <a:p>
            <a:r>
              <a:rPr lang="zh-TW" altLang="en-US" sz="1000" dirty="0">
                <a:latin typeface="微軟正黑體" panose="020B0604030504040204" pitchFamily="34" charset="-120"/>
                <a:ea typeface="微軟正黑體" panose="020B0604030504040204" pitchFamily="34" charset="-120"/>
              </a:rPr>
              <a:t>例如</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大陸國家經銷商帳號進入不要秀出其他國家別及其他胎種別資料，只秀出該國家別下的胎種別下的店級別資料</a:t>
            </a:r>
            <a:endParaRPr lang="en-US" altLang="zh-TW" sz="1000" dirty="0">
              <a:latin typeface="微軟正黑體" panose="020B0604030504040204" pitchFamily="34" charset="-120"/>
              <a:ea typeface="微軟正黑體" panose="020B0604030504040204" pitchFamily="34" charset="-120"/>
            </a:endParaRPr>
          </a:p>
          <a:p>
            <a:endParaRPr lang="en-US" altLang="zh-TW" sz="1000" dirty="0">
              <a:latin typeface="微軟正黑體" panose="020B0604030504040204" pitchFamily="34" charset="-120"/>
              <a:ea typeface="微軟正黑體" panose="020B0604030504040204" pitchFamily="34" charset="-120"/>
            </a:endParaRPr>
          </a:p>
          <a:p>
            <a:r>
              <a:rPr lang="zh-TW" altLang="en-US" sz="1000" dirty="0">
                <a:latin typeface="微軟正黑體" panose="020B0604030504040204" pitchFamily="34" charset="-120"/>
                <a:ea typeface="微軟正黑體" panose="020B0604030504040204" pitchFamily="34" charset="-120"/>
              </a:rPr>
              <a:t>後台畫面則會有所有維護廠別</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胎種別</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店級別區分不同的合約書範本狀態，並能做上載、刪除、下載、修改的維護功能</a:t>
            </a:r>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5B09A8EF-F022-44F1-AD01-AE87E82A89AC}"/>
              </a:ext>
            </a:extLst>
          </p:cNvPr>
          <p:cNvSpPr txBox="1"/>
          <p:nvPr/>
        </p:nvSpPr>
        <p:spPr>
          <a:xfrm>
            <a:off x="7924706" y="2353585"/>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合約清單</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點擊下載</a:t>
            </a:r>
            <a:r>
              <a:rPr lang="en-US" altLang="zh-TW" sz="1400" dirty="0">
                <a:latin typeface="微軟正黑體" panose="020B0604030504040204" pitchFamily="34" charset="-120"/>
                <a:ea typeface="微軟正黑體" panose="020B0604030504040204" pitchFamily="34" charset="-120"/>
              </a:rPr>
              <a:t>) </a:t>
            </a:r>
            <a:endParaRPr lang="zh-TW" altLang="en-US" sz="1400"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FEA26CBD-2999-47EC-A66A-71327C6BC25B}"/>
              </a:ext>
            </a:extLst>
          </p:cNvPr>
          <p:cNvSpPr txBox="1"/>
          <p:nvPr/>
        </p:nvSpPr>
        <p:spPr>
          <a:xfrm>
            <a:off x="9806937" y="2353585"/>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店級別</a:t>
            </a:r>
          </a:p>
        </p:txBody>
      </p:sp>
      <p:sp>
        <p:nvSpPr>
          <p:cNvPr id="15" name="文字方塊 14">
            <a:extLst>
              <a:ext uri="{FF2B5EF4-FFF2-40B4-BE49-F238E27FC236}">
                <a16:creationId xmlns:a16="http://schemas.microsoft.com/office/drawing/2014/main" id="{3D6C825F-0385-493C-8014-909610BA00E7}"/>
              </a:ext>
            </a:extLst>
          </p:cNvPr>
          <p:cNvSpPr txBox="1"/>
          <p:nvPr/>
        </p:nvSpPr>
        <p:spPr>
          <a:xfrm>
            <a:off x="11231753" y="2366521"/>
            <a:ext cx="948888"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更新日期</a:t>
            </a:r>
          </a:p>
        </p:txBody>
      </p:sp>
      <p:sp>
        <p:nvSpPr>
          <p:cNvPr id="16" name="文字方塊 15">
            <a:extLst>
              <a:ext uri="{FF2B5EF4-FFF2-40B4-BE49-F238E27FC236}">
                <a16:creationId xmlns:a16="http://schemas.microsoft.com/office/drawing/2014/main" id="{AACF2ADC-5261-4E24-AB4F-6091AC68B235}"/>
              </a:ext>
            </a:extLst>
          </p:cNvPr>
          <p:cNvSpPr txBox="1"/>
          <p:nvPr/>
        </p:nvSpPr>
        <p:spPr>
          <a:xfrm>
            <a:off x="7894602" y="2750685"/>
            <a:ext cx="1780920"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 </a:t>
            </a:r>
            <a:r>
              <a:rPr lang="zh-TW" altLang="en-US" sz="1200" u="sng" dirty="0">
                <a:latin typeface="微軟正黑體" panose="020B0604030504040204" pitchFamily="34" charset="-120"/>
                <a:ea typeface="微軟正黑體" panose="020B0604030504040204" pitchFamily="34" charset="-120"/>
              </a:rPr>
              <a:t>形象店合約書</a:t>
            </a:r>
            <a:r>
              <a:rPr lang="en-US" altLang="zh-TW" sz="1200" u="sng" dirty="0">
                <a:latin typeface="微軟正黑體" panose="020B0604030504040204" pitchFamily="34" charset="-120"/>
                <a:ea typeface="微軟正黑體" panose="020B0604030504040204" pitchFamily="34" charset="-120"/>
              </a:rPr>
              <a:t>.pdf</a:t>
            </a:r>
            <a:endParaRPr lang="zh-TW" altLang="en-US" sz="1200" u="sng"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6EA67B85-29F0-4139-9D4F-026C5C9E2E21}"/>
              </a:ext>
            </a:extLst>
          </p:cNvPr>
          <p:cNvSpPr txBox="1"/>
          <p:nvPr/>
        </p:nvSpPr>
        <p:spPr>
          <a:xfrm>
            <a:off x="7881054" y="3023169"/>
            <a:ext cx="1712484"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 </a:t>
            </a:r>
            <a:r>
              <a:rPr lang="zh-TW" altLang="en-US" sz="1200" u="sng" dirty="0">
                <a:latin typeface="微軟正黑體" panose="020B0604030504040204" pitchFamily="34" charset="-120"/>
                <a:ea typeface="微軟正黑體" panose="020B0604030504040204" pitchFamily="34" charset="-120"/>
              </a:rPr>
              <a:t>一般店合約書</a:t>
            </a:r>
            <a:r>
              <a:rPr lang="en-US" altLang="zh-TW" sz="1200" u="sng" dirty="0">
                <a:latin typeface="微軟正黑體" panose="020B0604030504040204" pitchFamily="34" charset="-120"/>
                <a:ea typeface="微軟正黑體" panose="020B0604030504040204" pitchFamily="34" charset="-120"/>
              </a:rPr>
              <a:t>.pdf</a:t>
            </a:r>
            <a:endParaRPr lang="zh-TW" altLang="en-US" sz="1200" u="sng" dirty="0">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87E76F57-2898-46DF-8F38-9A8420871A9C}"/>
              </a:ext>
            </a:extLst>
          </p:cNvPr>
          <p:cNvSpPr txBox="1"/>
          <p:nvPr/>
        </p:nvSpPr>
        <p:spPr>
          <a:xfrm>
            <a:off x="9675522" y="2739933"/>
            <a:ext cx="1712484"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特約服務中心</a:t>
            </a:r>
          </a:p>
        </p:txBody>
      </p:sp>
      <p:sp>
        <p:nvSpPr>
          <p:cNvPr id="19" name="文字方塊 18">
            <a:extLst>
              <a:ext uri="{FF2B5EF4-FFF2-40B4-BE49-F238E27FC236}">
                <a16:creationId xmlns:a16="http://schemas.microsoft.com/office/drawing/2014/main" id="{74FBF3E0-6866-425B-A194-335EE2FDF585}"/>
              </a:ext>
            </a:extLst>
          </p:cNvPr>
          <p:cNvSpPr txBox="1"/>
          <p:nvPr/>
        </p:nvSpPr>
        <p:spPr>
          <a:xfrm>
            <a:off x="9650432" y="3008586"/>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一般店</a:t>
            </a:r>
          </a:p>
        </p:txBody>
      </p:sp>
      <p:sp>
        <p:nvSpPr>
          <p:cNvPr id="20" name="文字方塊 19">
            <a:extLst>
              <a:ext uri="{FF2B5EF4-FFF2-40B4-BE49-F238E27FC236}">
                <a16:creationId xmlns:a16="http://schemas.microsoft.com/office/drawing/2014/main" id="{F767E59C-0769-4FFA-8BED-B712066E0F8D}"/>
              </a:ext>
            </a:extLst>
          </p:cNvPr>
          <p:cNvSpPr txBox="1"/>
          <p:nvPr/>
        </p:nvSpPr>
        <p:spPr>
          <a:xfrm>
            <a:off x="11230500" y="2759839"/>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428073F8-172B-4B20-B073-20824CC19272}"/>
              </a:ext>
            </a:extLst>
          </p:cNvPr>
          <p:cNvSpPr txBox="1"/>
          <p:nvPr/>
        </p:nvSpPr>
        <p:spPr>
          <a:xfrm>
            <a:off x="11230500" y="2963973"/>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22" name="Rounded Rectangle 4">
            <a:extLst>
              <a:ext uri="{FF2B5EF4-FFF2-40B4-BE49-F238E27FC236}">
                <a16:creationId xmlns:a16="http://schemas.microsoft.com/office/drawing/2014/main" id="{5D334E5B-53DB-40FA-98D7-A0B9992FDF15}"/>
              </a:ext>
            </a:extLst>
          </p:cNvPr>
          <p:cNvSpPr/>
          <p:nvPr/>
        </p:nvSpPr>
        <p:spPr>
          <a:xfrm>
            <a:off x="7592067" y="759690"/>
            <a:ext cx="3604537" cy="47567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建大工業股份有限公司</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四輪網路下單系統</a:t>
            </a:r>
            <a:endParaRPr sz="1200" b="1" dirty="0">
              <a:solidFill>
                <a:srgbClr val="FFFFFF"/>
              </a:solidFill>
              <a:latin typeface="微軟正黑體" panose="020B0604030504040204" pitchFamily="34" charset="-120"/>
              <a:ea typeface="微軟正黑體" panose="020B0604030504040204" pitchFamily="34" charset="-120"/>
            </a:endParaRPr>
          </a:p>
          <a:p>
            <a:pPr algn="ctr"/>
            <a:r>
              <a:rPr lang="en-US" altLang="zh-TW" sz="1000" dirty="0"/>
              <a:t>https://b2b.kenda.com.tw/cdr/EDTB/pcr/</a:t>
            </a:r>
            <a:endParaRPr sz="1000" b="1" dirty="0">
              <a:solidFill>
                <a:srgbClr val="FFFFFF"/>
              </a:solidFill>
            </a:endParaRPr>
          </a:p>
        </p:txBody>
      </p:sp>
      <p:pic>
        <p:nvPicPr>
          <p:cNvPr id="7" name="圖片 6">
            <a:extLst>
              <a:ext uri="{FF2B5EF4-FFF2-40B4-BE49-F238E27FC236}">
                <a16:creationId xmlns:a16="http://schemas.microsoft.com/office/drawing/2014/main" id="{30E36A84-0B0A-49CB-8E5C-76FEE5DD7E24}"/>
              </a:ext>
            </a:extLst>
          </p:cNvPr>
          <p:cNvPicPr>
            <a:picLocks noChangeAspect="1"/>
          </p:cNvPicPr>
          <p:nvPr/>
        </p:nvPicPr>
        <p:blipFill>
          <a:blip r:embed="rId3"/>
          <a:stretch>
            <a:fillRect/>
          </a:stretch>
        </p:blipFill>
        <p:spPr>
          <a:xfrm>
            <a:off x="317027" y="1485787"/>
            <a:ext cx="7135418" cy="2418180"/>
          </a:xfrm>
          <a:prstGeom prst="rect">
            <a:avLst/>
          </a:prstGeom>
        </p:spPr>
      </p:pic>
      <p:sp>
        <p:nvSpPr>
          <p:cNvPr id="23" name="矩形 22">
            <a:extLst>
              <a:ext uri="{FF2B5EF4-FFF2-40B4-BE49-F238E27FC236}">
                <a16:creationId xmlns:a16="http://schemas.microsoft.com/office/drawing/2014/main" id="{ABC6E2BD-6DEE-4B6E-83FF-3477CBB12E24}"/>
              </a:ext>
            </a:extLst>
          </p:cNvPr>
          <p:cNvSpPr/>
          <p:nvPr/>
        </p:nvSpPr>
        <p:spPr>
          <a:xfrm>
            <a:off x="12427441" y="3690845"/>
            <a:ext cx="2952392" cy="329344"/>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24" name="直線單箭頭接點 23">
            <a:extLst>
              <a:ext uri="{FF2B5EF4-FFF2-40B4-BE49-F238E27FC236}">
                <a16:creationId xmlns:a16="http://schemas.microsoft.com/office/drawing/2014/main" id="{DE1BF412-2CE8-421E-A1DB-F6F82B985069}"/>
              </a:ext>
            </a:extLst>
          </p:cNvPr>
          <p:cNvCxnSpPr>
            <a:cxnSpLocks/>
          </p:cNvCxnSpPr>
          <p:nvPr/>
        </p:nvCxnSpPr>
        <p:spPr>
          <a:xfrm flipH="1" flipV="1">
            <a:off x="2733724" y="2856154"/>
            <a:ext cx="9693719" cy="10478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矩形 25">
            <a:extLst>
              <a:ext uri="{FF2B5EF4-FFF2-40B4-BE49-F238E27FC236}">
                <a16:creationId xmlns:a16="http://schemas.microsoft.com/office/drawing/2014/main" id="{66B03ADF-82A9-4A57-84DF-5C7B3FD06972}"/>
              </a:ext>
            </a:extLst>
          </p:cNvPr>
          <p:cNvSpPr/>
          <p:nvPr/>
        </p:nvSpPr>
        <p:spPr>
          <a:xfrm>
            <a:off x="1711465" y="2541829"/>
            <a:ext cx="1022259"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27" name="文字方塊 26">
            <a:extLst>
              <a:ext uri="{FF2B5EF4-FFF2-40B4-BE49-F238E27FC236}">
                <a16:creationId xmlns:a16="http://schemas.microsoft.com/office/drawing/2014/main" id="{F0C3790F-8AA7-458C-872C-551115735BE2}"/>
              </a:ext>
            </a:extLst>
          </p:cNvPr>
          <p:cNvSpPr txBox="1"/>
          <p:nvPr/>
        </p:nvSpPr>
        <p:spPr>
          <a:xfrm>
            <a:off x="466977" y="3144773"/>
            <a:ext cx="6963766" cy="1015663"/>
          </a:xfrm>
          <a:prstGeom prst="rect">
            <a:avLst/>
          </a:prstGeom>
          <a:noFill/>
        </p:spPr>
        <p:txBody>
          <a:bodyPr wrap="none" rtlCol="0">
            <a:spAutoFit/>
          </a:bodyPr>
          <a:lstStyle/>
          <a:p>
            <a:pPr marL="228600" lvl="0" indent="-228600">
              <a:buFont typeface="Arial" panose="020B0604020202020204" pitchFamily="34" charset="0"/>
              <a:buChar char="•"/>
            </a:pPr>
            <a:r>
              <a:rPr lang="zh-TW" altLang="zh-TW" sz="1000" dirty="0">
                <a:latin typeface="微軟正黑體" panose="020B0604030504040204" pitchFamily="34" charset="-120"/>
                <a:ea typeface="微軟正黑體" panose="020B0604030504040204" pitchFamily="34" charset="-120"/>
              </a:rPr>
              <a:t>申請人</a:t>
            </a:r>
            <a:r>
              <a:rPr lang="zh-TW" altLang="en-US" sz="1000" dirty="0">
                <a:latin typeface="微軟正黑體" panose="020B0604030504040204" pitchFamily="34" charset="-120"/>
                <a:ea typeface="微軟正黑體" panose="020B0604030504040204" pitchFamily="34" charset="-120"/>
              </a:rPr>
              <a:t>的登入帳號已設定該帳號所在廠別與胎種別，</a:t>
            </a:r>
            <a:endParaRPr lang="en-US" altLang="zh-TW" sz="1000" dirty="0">
              <a:latin typeface="微軟正黑體" panose="020B0604030504040204" pitchFamily="34" charset="-120"/>
              <a:ea typeface="微軟正黑體" panose="020B0604030504040204" pitchFamily="34" charset="-120"/>
            </a:endParaRPr>
          </a:p>
          <a:p>
            <a:pPr lvl="0"/>
            <a:r>
              <a:rPr lang="zh-TW" altLang="en-US" sz="1000" dirty="0">
                <a:latin typeface="微軟正黑體" panose="020B0604030504040204" pitchFamily="34" charset="-120"/>
                <a:ea typeface="微軟正黑體" panose="020B0604030504040204" pitchFamily="34" charset="-120"/>
              </a:rPr>
              <a:t>當登入帳號登入後，廠別</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胎種別不用秀在前台，</a:t>
            </a:r>
            <a:endParaRPr lang="en-US" altLang="zh-TW" sz="1000" dirty="0">
              <a:latin typeface="微軟正黑體" panose="020B0604030504040204" pitchFamily="34" charset="-120"/>
              <a:ea typeface="微軟正黑體" panose="020B0604030504040204" pitchFamily="34" charset="-120"/>
            </a:endParaRPr>
          </a:p>
          <a:p>
            <a:pPr lvl="0"/>
            <a:r>
              <a:rPr lang="zh-TW" altLang="en-US" sz="1000" dirty="0">
                <a:latin typeface="微軟正黑體" panose="020B0604030504040204" pitchFamily="34" charset="-120"/>
                <a:ea typeface="微軟正黑體" panose="020B0604030504040204" pitchFamily="34" charset="-120"/>
              </a:rPr>
              <a:t>程式</a:t>
            </a:r>
            <a:r>
              <a:rPr lang="zh-TW" altLang="zh-TW" sz="1000" dirty="0">
                <a:latin typeface="微軟正黑體" panose="020B0604030504040204" pitchFamily="34" charset="-120"/>
                <a:ea typeface="微軟正黑體" panose="020B0604030504040204" pitchFamily="34" charset="-120"/>
              </a:rPr>
              <a:t>自動</a:t>
            </a:r>
            <a:r>
              <a:rPr lang="zh-TW" altLang="en-US" sz="1000" dirty="0">
                <a:latin typeface="微軟正黑體" panose="020B0604030504040204" pitchFamily="34" charset="-120"/>
                <a:ea typeface="微軟正黑體" panose="020B0604030504040204" pitchFamily="34" charset="-120"/>
              </a:rPr>
              <a:t>帶該登入帳號已設定的廠別</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胎種的合約書供下載即可，不需再前台加上廠別欄位，非該廠別</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胎種別資料不秀出</a:t>
            </a:r>
            <a:endParaRPr lang="en-US" altLang="zh-TW" sz="1000" dirty="0">
              <a:latin typeface="微軟正黑體" panose="020B0604030504040204" pitchFamily="34" charset="-120"/>
              <a:ea typeface="微軟正黑體" panose="020B0604030504040204" pitchFamily="34" charset="-120"/>
            </a:endParaRPr>
          </a:p>
          <a:p>
            <a:pPr lvl="0"/>
            <a:r>
              <a:rPr lang="zh-TW" altLang="en-US" sz="1000" dirty="0">
                <a:latin typeface="微軟正黑體" panose="020B0604030504040204" pitchFamily="34" charset="-120"/>
                <a:ea typeface="微軟正黑體" panose="020B0604030504040204" pitchFamily="34" charset="-120"/>
              </a:rPr>
              <a:t>例如</a:t>
            </a:r>
            <a:r>
              <a:rPr lang="en-US" altLang="zh-TW" sz="1000" dirty="0">
                <a:latin typeface="微軟正黑體" panose="020B0604030504040204" pitchFamily="34" charset="-120"/>
                <a:ea typeface="微軟正黑體" panose="020B0604030504040204" pitchFamily="34" charset="-120"/>
              </a:rPr>
              <a:t>:</a:t>
            </a:r>
          </a:p>
          <a:p>
            <a:pPr lvl="0"/>
            <a:r>
              <a:rPr lang="zh-TW" altLang="en-US" sz="1000" dirty="0">
                <a:latin typeface="微軟正黑體" panose="020B0604030504040204" pitchFamily="34" charset="-120"/>
                <a:ea typeface="微軟正黑體" panose="020B0604030504040204" pitchFamily="34" charset="-120"/>
              </a:rPr>
              <a:t>客代</a:t>
            </a:r>
            <a:r>
              <a:rPr lang="en-US" altLang="zh-TW" sz="1000" dirty="0">
                <a:latin typeface="微軟正黑體" panose="020B0604030504040204" pitchFamily="34" charset="-120"/>
                <a:ea typeface="微軟正黑體" panose="020B0604030504040204" pitchFamily="34" charset="-120"/>
              </a:rPr>
              <a:t>R02019 </a:t>
            </a:r>
            <a:r>
              <a:rPr lang="zh-TW" altLang="en-US" sz="1000" dirty="0">
                <a:latin typeface="微軟正黑體" panose="020B0604030504040204" pitchFamily="34" charset="-120"/>
                <a:ea typeface="微軟正黑體" panose="020B0604030504040204" pitchFamily="34" charset="-120"/>
              </a:rPr>
              <a:t>正鴻，廠別</a:t>
            </a:r>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台灣廠 </a:t>
            </a:r>
            <a:r>
              <a:rPr lang="en-US" altLang="zh-TW" sz="1000" dirty="0">
                <a:latin typeface="微軟正黑體" panose="020B0604030504040204" pitchFamily="34" charset="-120"/>
                <a:ea typeface="微軟正黑體" panose="020B0604030504040204" pitchFamily="34" charset="-120"/>
              </a:rPr>
              <a:t>/ PCR</a:t>
            </a:r>
            <a:r>
              <a:rPr lang="zh-TW" altLang="en-US" sz="1000" dirty="0">
                <a:latin typeface="微軟正黑體" panose="020B0604030504040204" pitchFamily="34" charset="-120"/>
                <a:ea typeface="微軟正黑體" panose="020B0604030504040204" pitchFamily="34" charset="-120"/>
              </a:rPr>
              <a:t>胎種別，當這個客代帳號登入後，僅會出現台灣廠 </a:t>
            </a:r>
            <a:r>
              <a:rPr lang="en-US" altLang="zh-TW" sz="1000" dirty="0">
                <a:latin typeface="微軟正黑體" panose="020B0604030504040204" pitchFamily="34" charset="-120"/>
                <a:ea typeface="微軟正黑體" panose="020B0604030504040204" pitchFamily="34" charset="-120"/>
              </a:rPr>
              <a:t>/ PCR</a:t>
            </a:r>
            <a:r>
              <a:rPr lang="zh-TW" altLang="en-US" sz="1000" dirty="0">
                <a:latin typeface="微軟正黑體" panose="020B0604030504040204" pitchFamily="34" charset="-120"/>
                <a:ea typeface="微軟正黑體" panose="020B0604030504040204" pitchFamily="34" charset="-120"/>
              </a:rPr>
              <a:t>範圍的合約書供其下載，</a:t>
            </a:r>
            <a:endParaRPr lang="en-US" altLang="zh-TW" sz="1000" dirty="0">
              <a:latin typeface="微軟正黑體" panose="020B0604030504040204" pitchFamily="34" charset="-120"/>
              <a:ea typeface="微軟正黑體" panose="020B0604030504040204" pitchFamily="34" charset="-120"/>
            </a:endParaRPr>
          </a:p>
          <a:p>
            <a:pPr lvl="0"/>
            <a:r>
              <a:rPr lang="zh-TW" altLang="en-US" sz="1000" dirty="0">
                <a:latin typeface="微軟正黑體" panose="020B0604030504040204" pitchFamily="34" charset="-120"/>
                <a:ea typeface="微軟正黑體" panose="020B0604030504040204" pitchFamily="34" charset="-120"/>
              </a:rPr>
              <a:t>其他廠別與胎種別的資料在前台都看不到</a:t>
            </a:r>
            <a:endParaRPr lang="zh-TW" altLang="zh-TW" sz="1000" dirty="0">
              <a:latin typeface="微軟正黑體" panose="020B0604030504040204" pitchFamily="34" charset="-120"/>
              <a:ea typeface="微軟正黑體" panose="020B0604030504040204" pitchFamily="34" charset="-120"/>
            </a:endParaRPr>
          </a:p>
        </p:txBody>
      </p:sp>
      <p:sp>
        <p:nvSpPr>
          <p:cNvPr id="29" name="TextBox 1">
            <a:extLst>
              <a:ext uri="{FF2B5EF4-FFF2-40B4-BE49-F238E27FC236}">
                <a16:creationId xmlns:a16="http://schemas.microsoft.com/office/drawing/2014/main" id="{147E68D6-0F14-41B3-B286-903F1AE9F53A}"/>
              </a:ext>
            </a:extLst>
          </p:cNvPr>
          <p:cNvSpPr txBox="1"/>
          <p:nvPr/>
        </p:nvSpPr>
        <p:spPr>
          <a:xfrm>
            <a:off x="281730" y="904735"/>
            <a:ext cx="3324308"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號提供測試有誤，請修正</a:t>
            </a:r>
            <a:endParaRPr sz="1400" b="1" dirty="0">
              <a:highlight>
                <a:srgbClr val="00FFFF"/>
              </a:highlight>
              <a:latin typeface="微軟正黑體" panose="020B0604030504040204" pitchFamily="34" charset="-120"/>
              <a:ea typeface="微軟正黑體" panose="020B0604030504040204" pitchFamily="34" charset="-120"/>
            </a:endParaRPr>
          </a:p>
        </p:txBody>
      </p:sp>
      <p:sp>
        <p:nvSpPr>
          <p:cNvPr id="30" name="文字方塊 29">
            <a:extLst>
              <a:ext uri="{FF2B5EF4-FFF2-40B4-BE49-F238E27FC236}">
                <a16:creationId xmlns:a16="http://schemas.microsoft.com/office/drawing/2014/main" id="{F8E1B146-2D24-4B2B-A0F4-8844936D8434}"/>
              </a:ext>
            </a:extLst>
          </p:cNvPr>
          <p:cNvSpPr txBox="1"/>
          <p:nvPr/>
        </p:nvSpPr>
        <p:spPr>
          <a:xfrm>
            <a:off x="264816" y="512435"/>
            <a:ext cx="3763032" cy="400110"/>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6/2</a:t>
            </a:r>
            <a:r>
              <a:rPr lang="zh-TW" altLang="en-US" sz="2000" b="1" dirty="0">
                <a:latin typeface="微軟正黑體" panose="020B0604030504040204" pitchFamily="34" charset="-120"/>
                <a:ea typeface="微軟正黑體" panose="020B0604030504040204" pitchFamily="34" charset="-120"/>
              </a:rPr>
              <a:t>號艾創點給的前台測試</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合約</a:t>
            </a:r>
            <a:r>
              <a:rPr lang="en-US" altLang="zh-TW" sz="2000" b="1" dirty="0">
                <a:latin typeface="微軟正黑體" panose="020B0604030504040204" pitchFamily="34" charset="-120"/>
                <a:ea typeface="微軟正黑體" panose="020B0604030504040204" pitchFamily="34" charset="-120"/>
              </a:rPr>
              <a:t>)</a:t>
            </a:r>
            <a:endParaRPr lang="zh-TW" altLang="en-US" sz="2000" b="1" dirty="0">
              <a:latin typeface="微軟正黑體" panose="020B0604030504040204" pitchFamily="34" charset="-120"/>
              <a:ea typeface="微軟正黑體" panose="020B0604030504040204" pitchFamily="34" charset="-120"/>
            </a:endParaRPr>
          </a:p>
        </p:txBody>
      </p:sp>
      <p:cxnSp>
        <p:nvCxnSpPr>
          <p:cNvPr id="31" name="直線單箭頭接點 30">
            <a:extLst>
              <a:ext uri="{FF2B5EF4-FFF2-40B4-BE49-F238E27FC236}">
                <a16:creationId xmlns:a16="http://schemas.microsoft.com/office/drawing/2014/main" id="{0DBDC534-BF3C-4B2F-9E3B-CED344A63A28}"/>
              </a:ext>
            </a:extLst>
          </p:cNvPr>
          <p:cNvCxnSpPr>
            <a:cxnSpLocks/>
          </p:cNvCxnSpPr>
          <p:nvPr/>
        </p:nvCxnSpPr>
        <p:spPr>
          <a:xfrm>
            <a:off x="1862488" y="2856154"/>
            <a:ext cx="0" cy="334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6172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3">
            <a:extLst>
              <a:ext uri="{FF2B5EF4-FFF2-40B4-BE49-F238E27FC236}">
                <a16:creationId xmlns:a16="http://schemas.microsoft.com/office/drawing/2014/main" id="{D52FF3C7-028F-4921-BE84-3815C0B116DC}"/>
              </a:ext>
            </a:extLst>
          </p:cNvPr>
          <p:cNvSpPr/>
          <p:nvPr/>
        </p:nvSpPr>
        <p:spPr>
          <a:xfrm>
            <a:off x="7073609" y="1349203"/>
            <a:ext cx="9126829" cy="550735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3528221" y="-4506"/>
            <a:ext cx="7398327" cy="646331"/>
          </a:xfrm>
          <a:prstGeom prst="rect">
            <a:avLst/>
          </a:prstGeom>
          <a:noFill/>
        </p:spPr>
        <p:txBody>
          <a:bodyPr wrap="square" rtlCol="0">
            <a:spAutoFit/>
          </a:bodyPr>
          <a:lstStyle/>
          <a:p>
            <a:r>
              <a:rPr lang="zh-TW" altLang="en-US" sz="3600" b="1" dirty="0">
                <a:latin typeface="微軟正黑體" panose="020B0604030504040204" pitchFamily="34" charset="-120"/>
                <a:ea typeface="微軟正黑體" panose="020B0604030504040204" pitchFamily="34" charset="-120"/>
              </a:rPr>
              <a:t>店招合約書</a:t>
            </a:r>
            <a:r>
              <a:rPr lang="zh-TW" altLang="en-US" sz="3300" b="1" dirty="0">
                <a:latin typeface="微軟正黑體" panose="020B0604030504040204" pitchFamily="34" charset="-120"/>
                <a:ea typeface="微軟正黑體" panose="020B0604030504040204" pitchFamily="34" charset="-120"/>
              </a:rPr>
              <a:t>後台欄位</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E691E7F6-F698-4734-899C-89A604C4C623}"/>
              </a:ext>
            </a:extLst>
          </p:cNvPr>
          <p:cNvSpPr txBox="1"/>
          <p:nvPr/>
        </p:nvSpPr>
        <p:spPr>
          <a:xfrm>
            <a:off x="7780773" y="1789153"/>
            <a:ext cx="85508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FB782671-34A4-4315-BBAA-0AF7BCCBB52B}"/>
              </a:ext>
            </a:extLst>
          </p:cNvPr>
          <p:cNvSpPr txBox="1"/>
          <p:nvPr/>
        </p:nvSpPr>
        <p:spPr>
          <a:xfrm>
            <a:off x="7826278" y="1509546"/>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請輸入申請區間下載資料 </a:t>
            </a:r>
            <a:r>
              <a:rPr lang="en-US" altLang="zh-TW" sz="1000" b="1" dirty="0">
                <a:latin typeface="微軟正黑體" panose="020B0604030504040204" pitchFamily="34" charset="-120"/>
                <a:ea typeface="微軟正黑體" panose="020B0604030504040204" pitchFamily="34" charset="-120"/>
              </a:rPr>
              <a:t>(excel</a:t>
            </a:r>
            <a:r>
              <a:rPr lang="zh-TW" altLang="en-US" sz="1000" b="1" dirty="0">
                <a:latin typeface="微軟正黑體" panose="020B0604030504040204" pitchFamily="34" charset="-120"/>
                <a:ea typeface="微軟正黑體" panose="020B0604030504040204" pitchFamily="34" charset="-120"/>
              </a:rPr>
              <a:t>格式</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91AF7842-700D-4E85-ADE5-CC76A3D8FF40}"/>
              </a:ext>
            </a:extLst>
          </p:cNvPr>
          <p:cNvSpPr txBox="1"/>
          <p:nvPr/>
        </p:nvSpPr>
        <p:spPr>
          <a:xfrm>
            <a:off x="7808272" y="1819029"/>
            <a:ext cx="827585" cy="246221"/>
          </a:xfrm>
          <a:prstGeom prst="rect">
            <a:avLst/>
          </a:prstGeom>
          <a:noFill/>
        </p:spPr>
        <p:txBody>
          <a:bodyPr wrap="square" rtlCol="0">
            <a:spAutoFit/>
          </a:bodyPr>
          <a:lstStyle/>
          <a:p>
            <a:r>
              <a:rPr lang="en-US" altLang="zh-TW" sz="1000" b="1" dirty="0">
                <a:solidFill>
                  <a:srgbClr val="FF0000"/>
                </a:solidFill>
                <a:latin typeface="微軟正黑體" panose="020B0604030504040204" pitchFamily="34" charset="-120"/>
                <a:ea typeface="微軟正黑體" panose="020B0604030504040204" pitchFamily="34" charset="-120"/>
              </a:rPr>
              <a:t>KD</a:t>
            </a:r>
            <a:endParaRPr lang="zh-TW" altLang="en-US" sz="1000" b="1" dirty="0">
              <a:solidFill>
                <a:srgbClr val="FF0000"/>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A28951BD-6237-4C21-9B27-90324B29C450}"/>
              </a:ext>
            </a:extLst>
          </p:cNvPr>
          <p:cNvSpPr txBox="1"/>
          <p:nvPr/>
        </p:nvSpPr>
        <p:spPr>
          <a:xfrm>
            <a:off x="7247159" y="1810433"/>
            <a:ext cx="63501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廠別</a:t>
            </a:r>
          </a:p>
        </p:txBody>
      </p:sp>
      <p:sp>
        <p:nvSpPr>
          <p:cNvPr id="22" name="文字方塊 21">
            <a:extLst>
              <a:ext uri="{FF2B5EF4-FFF2-40B4-BE49-F238E27FC236}">
                <a16:creationId xmlns:a16="http://schemas.microsoft.com/office/drawing/2014/main" id="{C746AD04-5205-4336-AAE0-ECD63F1278EA}"/>
              </a:ext>
            </a:extLst>
          </p:cNvPr>
          <p:cNvSpPr txBox="1"/>
          <p:nvPr/>
        </p:nvSpPr>
        <p:spPr>
          <a:xfrm>
            <a:off x="7918657" y="2990642"/>
            <a:ext cx="889461"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86F97F42-2340-4728-BBE3-8D6BCE7427E0}"/>
              </a:ext>
            </a:extLst>
          </p:cNvPr>
          <p:cNvSpPr txBox="1"/>
          <p:nvPr/>
        </p:nvSpPr>
        <p:spPr>
          <a:xfrm>
            <a:off x="7949594" y="3022139"/>
            <a:ext cx="827585" cy="246221"/>
          </a:xfrm>
          <a:prstGeom prst="rect">
            <a:avLst/>
          </a:prstGeom>
          <a:noFill/>
        </p:spPr>
        <p:txBody>
          <a:bodyPr wrap="square" rtlCol="0">
            <a:spAutoFit/>
          </a:bodyPr>
          <a:lstStyle/>
          <a:p>
            <a:r>
              <a:rPr lang="zh-TW" altLang="en-US" sz="1000" b="1" dirty="0">
                <a:solidFill>
                  <a:srgbClr val="FF0000"/>
                </a:solidFill>
                <a:latin typeface="微軟正黑體" panose="020B0604030504040204" pitchFamily="34" charset="-120"/>
                <a:ea typeface="微軟正黑體" panose="020B0604030504040204" pitchFamily="34" charset="-120"/>
              </a:rPr>
              <a:t>路徑位置</a:t>
            </a:r>
          </a:p>
        </p:txBody>
      </p:sp>
      <p:sp>
        <p:nvSpPr>
          <p:cNvPr id="21" name="文字方塊 20">
            <a:extLst>
              <a:ext uri="{FF2B5EF4-FFF2-40B4-BE49-F238E27FC236}">
                <a16:creationId xmlns:a16="http://schemas.microsoft.com/office/drawing/2014/main" id="{398F0225-BC67-40F5-86F4-93B6D6D1D32D}"/>
              </a:ext>
            </a:extLst>
          </p:cNvPr>
          <p:cNvSpPr txBox="1"/>
          <p:nvPr/>
        </p:nvSpPr>
        <p:spPr>
          <a:xfrm>
            <a:off x="7247158" y="3022138"/>
            <a:ext cx="100493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更新資料</a:t>
            </a:r>
          </a:p>
        </p:txBody>
      </p:sp>
      <p:sp>
        <p:nvSpPr>
          <p:cNvPr id="24" name="文字方塊 23">
            <a:extLst>
              <a:ext uri="{FF2B5EF4-FFF2-40B4-BE49-F238E27FC236}">
                <a16:creationId xmlns:a16="http://schemas.microsoft.com/office/drawing/2014/main" id="{DDABA47C-F502-4D27-BD6B-36CC0FDAC1AB}"/>
              </a:ext>
            </a:extLst>
          </p:cNvPr>
          <p:cNvSpPr txBox="1"/>
          <p:nvPr/>
        </p:nvSpPr>
        <p:spPr>
          <a:xfrm>
            <a:off x="7918657" y="2599985"/>
            <a:ext cx="889461"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B917A1DB-B458-45A8-B1CC-1786D56FD863}"/>
              </a:ext>
            </a:extLst>
          </p:cNvPr>
          <p:cNvSpPr txBox="1"/>
          <p:nvPr/>
        </p:nvSpPr>
        <p:spPr>
          <a:xfrm>
            <a:off x="7949594" y="2631482"/>
            <a:ext cx="827585" cy="246221"/>
          </a:xfrm>
          <a:prstGeom prst="rect">
            <a:avLst/>
          </a:prstGeom>
          <a:noFill/>
        </p:spPr>
        <p:txBody>
          <a:bodyPr wrap="square" rtlCol="0">
            <a:spAutoFit/>
          </a:bodyPr>
          <a:lstStyle/>
          <a:p>
            <a:r>
              <a:rPr lang="zh-TW" altLang="en-US" sz="1000" b="1" dirty="0">
                <a:solidFill>
                  <a:srgbClr val="FF0000"/>
                </a:solidFill>
                <a:latin typeface="微軟正黑體" panose="020B0604030504040204" pitchFamily="34" charset="-120"/>
                <a:ea typeface="微軟正黑體" panose="020B0604030504040204" pitchFamily="34" charset="-120"/>
              </a:rPr>
              <a:t>形象店</a:t>
            </a:r>
          </a:p>
        </p:txBody>
      </p:sp>
      <p:sp>
        <p:nvSpPr>
          <p:cNvPr id="26" name="文字方塊 25">
            <a:extLst>
              <a:ext uri="{FF2B5EF4-FFF2-40B4-BE49-F238E27FC236}">
                <a16:creationId xmlns:a16="http://schemas.microsoft.com/office/drawing/2014/main" id="{D34E0631-0442-4189-A565-18D8916DE04F}"/>
              </a:ext>
            </a:extLst>
          </p:cNvPr>
          <p:cNvSpPr txBox="1"/>
          <p:nvPr/>
        </p:nvSpPr>
        <p:spPr>
          <a:xfrm>
            <a:off x="7247158" y="2631482"/>
            <a:ext cx="100493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店級別</a:t>
            </a:r>
          </a:p>
        </p:txBody>
      </p:sp>
      <p:sp>
        <p:nvSpPr>
          <p:cNvPr id="28" name="文字方塊 27">
            <a:extLst>
              <a:ext uri="{FF2B5EF4-FFF2-40B4-BE49-F238E27FC236}">
                <a16:creationId xmlns:a16="http://schemas.microsoft.com/office/drawing/2014/main" id="{D6663B13-20D2-4C38-9FC4-450706A7BC9B}"/>
              </a:ext>
            </a:extLst>
          </p:cNvPr>
          <p:cNvSpPr txBox="1"/>
          <p:nvPr/>
        </p:nvSpPr>
        <p:spPr>
          <a:xfrm>
            <a:off x="7918657" y="2186463"/>
            <a:ext cx="889461"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8E70344B-106D-4395-BF77-AE8913E0377B}"/>
              </a:ext>
            </a:extLst>
          </p:cNvPr>
          <p:cNvSpPr txBox="1"/>
          <p:nvPr/>
        </p:nvSpPr>
        <p:spPr>
          <a:xfrm>
            <a:off x="7949594" y="2217960"/>
            <a:ext cx="827585" cy="246221"/>
          </a:xfrm>
          <a:prstGeom prst="rect">
            <a:avLst/>
          </a:prstGeom>
          <a:noFill/>
        </p:spPr>
        <p:txBody>
          <a:bodyPr wrap="square" rtlCol="0">
            <a:spAutoFit/>
          </a:bodyPr>
          <a:lstStyle/>
          <a:p>
            <a:r>
              <a:rPr lang="en-US" altLang="zh-TW" sz="1000" b="1" dirty="0">
                <a:solidFill>
                  <a:srgbClr val="FF0000"/>
                </a:solidFill>
                <a:latin typeface="微軟正黑體" panose="020B0604030504040204" pitchFamily="34" charset="-120"/>
                <a:ea typeface="微軟正黑體" panose="020B0604030504040204" pitchFamily="34" charset="-120"/>
              </a:rPr>
              <a:t>PCR</a:t>
            </a:r>
            <a:endParaRPr lang="zh-TW" altLang="en-US" sz="1000" b="1" dirty="0">
              <a:solidFill>
                <a:srgbClr val="FF0000"/>
              </a:solidFill>
              <a:latin typeface="微軟正黑體" panose="020B0604030504040204" pitchFamily="34" charset="-120"/>
              <a:ea typeface="微軟正黑體" panose="020B0604030504040204" pitchFamily="34" charset="-120"/>
            </a:endParaRPr>
          </a:p>
        </p:txBody>
      </p:sp>
      <p:sp>
        <p:nvSpPr>
          <p:cNvPr id="30" name="文字方塊 29">
            <a:extLst>
              <a:ext uri="{FF2B5EF4-FFF2-40B4-BE49-F238E27FC236}">
                <a16:creationId xmlns:a16="http://schemas.microsoft.com/office/drawing/2014/main" id="{931592AD-CE9F-40E2-95FA-22EED16D97A2}"/>
              </a:ext>
            </a:extLst>
          </p:cNvPr>
          <p:cNvSpPr txBox="1"/>
          <p:nvPr/>
        </p:nvSpPr>
        <p:spPr>
          <a:xfrm>
            <a:off x="7247157" y="2232413"/>
            <a:ext cx="579120"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胎種別</a:t>
            </a:r>
          </a:p>
        </p:txBody>
      </p:sp>
      <p:sp>
        <p:nvSpPr>
          <p:cNvPr id="34" name="文字方塊 33">
            <a:extLst>
              <a:ext uri="{FF2B5EF4-FFF2-40B4-BE49-F238E27FC236}">
                <a16:creationId xmlns:a16="http://schemas.microsoft.com/office/drawing/2014/main" id="{48F41A68-C18D-4BB5-A055-D42435E66F86}"/>
              </a:ext>
            </a:extLst>
          </p:cNvPr>
          <p:cNvSpPr txBox="1"/>
          <p:nvPr/>
        </p:nvSpPr>
        <p:spPr>
          <a:xfrm>
            <a:off x="7918657" y="3380579"/>
            <a:ext cx="889461"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35" name="文字方塊 34">
            <a:extLst>
              <a:ext uri="{FF2B5EF4-FFF2-40B4-BE49-F238E27FC236}">
                <a16:creationId xmlns:a16="http://schemas.microsoft.com/office/drawing/2014/main" id="{AFEE0A09-324E-4A89-8592-6B3BC360F632}"/>
              </a:ext>
            </a:extLst>
          </p:cNvPr>
          <p:cNvSpPr txBox="1"/>
          <p:nvPr/>
        </p:nvSpPr>
        <p:spPr>
          <a:xfrm>
            <a:off x="7949594" y="3412076"/>
            <a:ext cx="827585" cy="246221"/>
          </a:xfrm>
          <a:prstGeom prst="rect">
            <a:avLst/>
          </a:prstGeom>
          <a:noFill/>
        </p:spPr>
        <p:txBody>
          <a:bodyPr wrap="square" rtlCol="0">
            <a:spAutoFit/>
          </a:bodyPr>
          <a:lstStyle/>
          <a:p>
            <a:r>
              <a:rPr lang="en-US" altLang="zh-TW" sz="1000" b="1" dirty="0">
                <a:solidFill>
                  <a:srgbClr val="FF0000"/>
                </a:solidFill>
                <a:latin typeface="微軟正黑體" panose="020B0604030504040204" pitchFamily="34" charset="-120"/>
                <a:ea typeface="微軟正黑體" panose="020B0604030504040204" pitchFamily="34" charset="-120"/>
              </a:rPr>
              <a:t>20260416</a:t>
            </a:r>
            <a:endParaRPr lang="zh-TW" altLang="en-US" sz="1000" b="1" dirty="0">
              <a:solidFill>
                <a:srgbClr val="FF0000"/>
              </a:solidFill>
              <a:latin typeface="微軟正黑體" panose="020B0604030504040204" pitchFamily="34" charset="-120"/>
              <a:ea typeface="微軟正黑體" panose="020B0604030504040204" pitchFamily="34" charset="-120"/>
            </a:endParaRPr>
          </a:p>
        </p:txBody>
      </p:sp>
      <p:sp>
        <p:nvSpPr>
          <p:cNvPr id="36" name="文字方塊 35">
            <a:extLst>
              <a:ext uri="{FF2B5EF4-FFF2-40B4-BE49-F238E27FC236}">
                <a16:creationId xmlns:a16="http://schemas.microsoft.com/office/drawing/2014/main" id="{2BE27862-924A-4C7C-AEC1-CC1BD0808669}"/>
              </a:ext>
            </a:extLst>
          </p:cNvPr>
          <p:cNvSpPr txBox="1"/>
          <p:nvPr/>
        </p:nvSpPr>
        <p:spPr>
          <a:xfrm>
            <a:off x="7247158" y="3412076"/>
            <a:ext cx="702434"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更新日期</a:t>
            </a:r>
          </a:p>
        </p:txBody>
      </p:sp>
      <p:sp>
        <p:nvSpPr>
          <p:cNvPr id="37" name="文字方塊 36">
            <a:extLst>
              <a:ext uri="{FF2B5EF4-FFF2-40B4-BE49-F238E27FC236}">
                <a16:creationId xmlns:a16="http://schemas.microsoft.com/office/drawing/2014/main" id="{793DE219-5DB1-4E1E-8C15-A11A58789D09}"/>
              </a:ext>
            </a:extLst>
          </p:cNvPr>
          <p:cNvSpPr txBox="1"/>
          <p:nvPr/>
        </p:nvSpPr>
        <p:spPr>
          <a:xfrm>
            <a:off x="7918655" y="3817930"/>
            <a:ext cx="1049709"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更新上載</a:t>
            </a:r>
          </a:p>
        </p:txBody>
      </p:sp>
      <p:sp>
        <p:nvSpPr>
          <p:cNvPr id="38" name="文字方塊 37">
            <a:extLst>
              <a:ext uri="{FF2B5EF4-FFF2-40B4-BE49-F238E27FC236}">
                <a16:creationId xmlns:a16="http://schemas.microsoft.com/office/drawing/2014/main" id="{84C29C41-5FC2-4B08-8D3F-559E3E3172D3}"/>
              </a:ext>
            </a:extLst>
          </p:cNvPr>
          <p:cNvSpPr txBox="1"/>
          <p:nvPr/>
        </p:nvSpPr>
        <p:spPr>
          <a:xfrm>
            <a:off x="9255856" y="4470474"/>
            <a:ext cx="1780920"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現狀資料</a:t>
            </a:r>
          </a:p>
        </p:txBody>
      </p:sp>
      <p:sp>
        <p:nvSpPr>
          <p:cNvPr id="39" name="文字方塊 38">
            <a:extLst>
              <a:ext uri="{FF2B5EF4-FFF2-40B4-BE49-F238E27FC236}">
                <a16:creationId xmlns:a16="http://schemas.microsoft.com/office/drawing/2014/main" id="{0639E6EF-257D-4A15-96AE-06ABC126ACFD}"/>
              </a:ext>
            </a:extLst>
          </p:cNvPr>
          <p:cNvSpPr txBox="1"/>
          <p:nvPr/>
        </p:nvSpPr>
        <p:spPr>
          <a:xfrm>
            <a:off x="11138087" y="4470474"/>
            <a:ext cx="894093"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店級別</a:t>
            </a:r>
          </a:p>
        </p:txBody>
      </p:sp>
      <p:sp>
        <p:nvSpPr>
          <p:cNvPr id="40" name="文字方塊 39">
            <a:extLst>
              <a:ext uri="{FF2B5EF4-FFF2-40B4-BE49-F238E27FC236}">
                <a16:creationId xmlns:a16="http://schemas.microsoft.com/office/drawing/2014/main" id="{844F5977-C252-4DED-A82D-8686D98C12E8}"/>
              </a:ext>
            </a:extLst>
          </p:cNvPr>
          <p:cNvSpPr txBox="1"/>
          <p:nvPr/>
        </p:nvSpPr>
        <p:spPr>
          <a:xfrm>
            <a:off x="12562903" y="4483410"/>
            <a:ext cx="948888"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更新日期</a:t>
            </a:r>
          </a:p>
        </p:txBody>
      </p:sp>
      <p:sp>
        <p:nvSpPr>
          <p:cNvPr id="41" name="文字方塊 40">
            <a:extLst>
              <a:ext uri="{FF2B5EF4-FFF2-40B4-BE49-F238E27FC236}">
                <a16:creationId xmlns:a16="http://schemas.microsoft.com/office/drawing/2014/main" id="{7A4C49B8-121D-471C-A223-E33F8BACBD54}"/>
              </a:ext>
            </a:extLst>
          </p:cNvPr>
          <p:cNvSpPr txBox="1"/>
          <p:nvPr/>
        </p:nvSpPr>
        <p:spPr>
          <a:xfrm>
            <a:off x="9225752" y="4867574"/>
            <a:ext cx="1780920"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PCR </a:t>
            </a:r>
            <a:r>
              <a:rPr lang="zh-TW" altLang="en-US" sz="1200" u="sng" dirty="0">
                <a:latin typeface="微軟正黑體" panose="020B0604030504040204" pitchFamily="34" charset="-120"/>
                <a:ea typeface="微軟正黑體" panose="020B0604030504040204" pitchFamily="34" charset="-120"/>
              </a:rPr>
              <a:t>形象店合約書</a:t>
            </a:r>
            <a:r>
              <a:rPr lang="en-US" altLang="zh-TW" sz="1200" u="sng" dirty="0">
                <a:latin typeface="微軟正黑體" panose="020B0604030504040204" pitchFamily="34" charset="-120"/>
                <a:ea typeface="微軟正黑體" panose="020B0604030504040204" pitchFamily="34" charset="-120"/>
              </a:rPr>
              <a:t>.pdf</a:t>
            </a:r>
            <a:endParaRPr lang="zh-TW" altLang="en-US" sz="1200" u="sng" dirty="0">
              <a:latin typeface="微軟正黑體" panose="020B0604030504040204" pitchFamily="34" charset="-120"/>
              <a:ea typeface="微軟正黑體" panose="020B0604030504040204" pitchFamily="34" charset="-120"/>
            </a:endParaRPr>
          </a:p>
        </p:txBody>
      </p:sp>
      <p:sp>
        <p:nvSpPr>
          <p:cNvPr id="42" name="文字方塊 41">
            <a:extLst>
              <a:ext uri="{FF2B5EF4-FFF2-40B4-BE49-F238E27FC236}">
                <a16:creationId xmlns:a16="http://schemas.microsoft.com/office/drawing/2014/main" id="{7494D3D1-0233-43ED-A700-062CE7DF4A39}"/>
              </a:ext>
            </a:extLst>
          </p:cNvPr>
          <p:cNvSpPr txBox="1"/>
          <p:nvPr/>
        </p:nvSpPr>
        <p:spPr>
          <a:xfrm>
            <a:off x="9212204" y="5140058"/>
            <a:ext cx="1712484"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MC </a:t>
            </a:r>
            <a:r>
              <a:rPr lang="zh-TW" altLang="en-US" sz="1200" u="sng" dirty="0">
                <a:latin typeface="微軟正黑體" panose="020B0604030504040204" pitchFamily="34" charset="-120"/>
                <a:ea typeface="微軟正黑體" panose="020B0604030504040204" pitchFamily="34" charset="-120"/>
              </a:rPr>
              <a:t>一般店合約書</a:t>
            </a:r>
            <a:r>
              <a:rPr lang="en-US" altLang="zh-TW" sz="1200" u="sng" dirty="0">
                <a:latin typeface="微軟正黑體" panose="020B0604030504040204" pitchFamily="34" charset="-120"/>
                <a:ea typeface="微軟正黑體" panose="020B0604030504040204" pitchFamily="34" charset="-120"/>
              </a:rPr>
              <a:t>.pdf</a:t>
            </a:r>
            <a:endParaRPr lang="zh-TW" altLang="en-US" sz="1200" u="sng" dirty="0">
              <a:latin typeface="微軟正黑體" panose="020B0604030504040204" pitchFamily="34" charset="-120"/>
              <a:ea typeface="微軟正黑體" panose="020B0604030504040204" pitchFamily="34" charset="-120"/>
            </a:endParaRPr>
          </a:p>
        </p:txBody>
      </p:sp>
      <p:sp>
        <p:nvSpPr>
          <p:cNvPr id="43" name="文字方塊 42">
            <a:extLst>
              <a:ext uri="{FF2B5EF4-FFF2-40B4-BE49-F238E27FC236}">
                <a16:creationId xmlns:a16="http://schemas.microsoft.com/office/drawing/2014/main" id="{AEA54D70-D060-41D0-A37E-C0530853D13F}"/>
              </a:ext>
            </a:extLst>
          </p:cNvPr>
          <p:cNvSpPr txBox="1"/>
          <p:nvPr/>
        </p:nvSpPr>
        <p:spPr>
          <a:xfrm>
            <a:off x="11006672" y="4856822"/>
            <a:ext cx="1712484"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形象店</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特約服務中心</a:t>
            </a:r>
          </a:p>
        </p:txBody>
      </p:sp>
      <p:sp>
        <p:nvSpPr>
          <p:cNvPr id="44" name="文字方塊 43">
            <a:extLst>
              <a:ext uri="{FF2B5EF4-FFF2-40B4-BE49-F238E27FC236}">
                <a16:creationId xmlns:a16="http://schemas.microsoft.com/office/drawing/2014/main" id="{C68F5A9D-03D1-4C58-834F-94D1157C6641}"/>
              </a:ext>
            </a:extLst>
          </p:cNvPr>
          <p:cNvSpPr txBox="1"/>
          <p:nvPr/>
        </p:nvSpPr>
        <p:spPr>
          <a:xfrm>
            <a:off x="10981582" y="5125475"/>
            <a:ext cx="774378"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一般店</a:t>
            </a:r>
          </a:p>
        </p:txBody>
      </p:sp>
      <p:sp>
        <p:nvSpPr>
          <p:cNvPr id="45" name="文字方塊 44">
            <a:extLst>
              <a:ext uri="{FF2B5EF4-FFF2-40B4-BE49-F238E27FC236}">
                <a16:creationId xmlns:a16="http://schemas.microsoft.com/office/drawing/2014/main" id="{A1A77B59-81E6-43E0-9392-B72ADD7C0EED}"/>
              </a:ext>
            </a:extLst>
          </p:cNvPr>
          <p:cNvSpPr txBox="1"/>
          <p:nvPr/>
        </p:nvSpPr>
        <p:spPr>
          <a:xfrm>
            <a:off x="12561651" y="4876728"/>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6" name="文字方塊 45">
            <a:extLst>
              <a:ext uri="{FF2B5EF4-FFF2-40B4-BE49-F238E27FC236}">
                <a16:creationId xmlns:a16="http://schemas.microsoft.com/office/drawing/2014/main" id="{41B4997B-76C9-403C-912A-148B315B2AFE}"/>
              </a:ext>
            </a:extLst>
          </p:cNvPr>
          <p:cNvSpPr txBox="1"/>
          <p:nvPr/>
        </p:nvSpPr>
        <p:spPr>
          <a:xfrm>
            <a:off x="12561651" y="5080862"/>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915BD750-3D09-4E8E-A8FF-EA64CC53E2EF}"/>
              </a:ext>
            </a:extLst>
          </p:cNvPr>
          <p:cNvSpPr txBox="1"/>
          <p:nvPr/>
        </p:nvSpPr>
        <p:spPr>
          <a:xfrm>
            <a:off x="7340036" y="4845702"/>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8" name="文字方塊 47">
            <a:extLst>
              <a:ext uri="{FF2B5EF4-FFF2-40B4-BE49-F238E27FC236}">
                <a16:creationId xmlns:a16="http://schemas.microsoft.com/office/drawing/2014/main" id="{837AE4DB-E4F4-4B44-ACB3-B283196F8EF4}"/>
              </a:ext>
            </a:extLst>
          </p:cNvPr>
          <p:cNvSpPr txBox="1"/>
          <p:nvPr/>
        </p:nvSpPr>
        <p:spPr>
          <a:xfrm>
            <a:off x="7337043" y="5219361"/>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刪除</a:t>
            </a:r>
          </a:p>
        </p:txBody>
      </p:sp>
      <p:sp>
        <p:nvSpPr>
          <p:cNvPr id="49" name="Rounded Rectangle 4">
            <a:extLst>
              <a:ext uri="{FF2B5EF4-FFF2-40B4-BE49-F238E27FC236}">
                <a16:creationId xmlns:a16="http://schemas.microsoft.com/office/drawing/2014/main" id="{5B56328B-F515-4B3F-A83E-B488C020C648}"/>
              </a:ext>
            </a:extLst>
          </p:cNvPr>
          <p:cNvSpPr/>
          <p:nvPr/>
        </p:nvSpPr>
        <p:spPr>
          <a:xfrm>
            <a:off x="7383919" y="5639315"/>
            <a:ext cx="7935371" cy="34313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若艾創點有更好的維護方式建議也可以幫忙修正簡化、排列，讓維護者更方便維護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C31B2B13-48A2-406A-9A59-347F87C60B8E}"/>
              </a:ext>
            </a:extLst>
          </p:cNvPr>
          <p:cNvSpPr txBox="1"/>
          <p:nvPr/>
        </p:nvSpPr>
        <p:spPr>
          <a:xfrm>
            <a:off x="8425960" y="4468985"/>
            <a:ext cx="702434"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廠別</a:t>
            </a:r>
          </a:p>
        </p:txBody>
      </p:sp>
      <p:sp>
        <p:nvSpPr>
          <p:cNvPr id="51" name="文字方塊 50">
            <a:extLst>
              <a:ext uri="{FF2B5EF4-FFF2-40B4-BE49-F238E27FC236}">
                <a16:creationId xmlns:a16="http://schemas.microsoft.com/office/drawing/2014/main" id="{428EFCE2-C540-44A7-B66E-38E33CF16ED6}"/>
              </a:ext>
            </a:extLst>
          </p:cNvPr>
          <p:cNvSpPr txBox="1"/>
          <p:nvPr/>
        </p:nvSpPr>
        <p:spPr>
          <a:xfrm>
            <a:off x="8518838" y="4856821"/>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KD</a:t>
            </a:r>
            <a:endParaRPr lang="zh-TW" altLang="en-US" sz="1200" u="sng" dirty="0">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F8446FA1-4C39-45A8-8B78-80A8301939CA}"/>
              </a:ext>
            </a:extLst>
          </p:cNvPr>
          <p:cNvSpPr txBox="1"/>
          <p:nvPr/>
        </p:nvSpPr>
        <p:spPr>
          <a:xfrm>
            <a:off x="8518838" y="5143826"/>
            <a:ext cx="516678" cy="276999"/>
          </a:xfrm>
          <a:prstGeom prst="rect">
            <a:avLst/>
          </a:prstGeom>
          <a:noFill/>
        </p:spPr>
        <p:txBody>
          <a:bodyPr wrap="square" rtlCol="0">
            <a:spAutoFit/>
          </a:bodyPr>
          <a:lstStyle/>
          <a:p>
            <a:r>
              <a:rPr lang="en-US" altLang="zh-TW" sz="1200" u="sng" dirty="0">
                <a:latin typeface="微軟正黑體" panose="020B0604030504040204" pitchFamily="34" charset="-120"/>
                <a:ea typeface="微軟正黑體" panose="020B0604030504040204" pitchFamily="34" charset="-120"/>
              </a:rPr>
              <a:t>KF</a:t>
            </a:r>
            <a:endParaRPr lang="zh-TW" altLang="en-US" sz="1200" u="sng" dirty="0">
              <a:latin typeface="微軟正黑體" panose="020B0604030504040204" pitchFamily="34" charset="-120"/>
              <a:ea typeface="微軟正黑體" panose="020B0604030504040204" pitchFamily="34" charset="-120"/>
            </a:endParaRPr>
          </a:p>
        </p:txBody>
      </p:sp>
      <p:sp>
        <p:nvSpPr>
          <p:cNvPr id="53" name="Rounded Rectangle 4">
            <a:extLst>
              <a:ext uri="{FF2B5EF4-FFF2-40B4-BE49-F238E27FC236}">
                <a16:creationId xmlns:a16="http://schemas.microsoft.com/office/drawing/2014/main" id="{32E6806F-CD84-4EE2-BCCD-462E59A72F68}"/>
              </a:ext>
            </a:extLst>
          </p:cNvPr>
          <p:cNvSpPr/>
          <p:nvPr/>
        </p:nvSpPr>
        <p:spPr>
          <a:xfrm>
            <a:off x="7383916" y="6059534"/>
            <a:ext cx="8700142" cy="34313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注意</a:t>
            </a:r>
            <a:r>
              <a:rPr lang="en-US" altLang="zh-TW" sz="1200" b="1" dirty="0">
                <a:solidFill>
                  <a:srgbClr val="FF0000"/>
                </a:solidFill>
                <a:latin typeface="微軟正黑體" panose="020B0604030504040204" pitchFamily="34" charset="-120"/>
                <a:ea typeface="微軟正黑體" panose="020B0604030504040204" pitchFamily="34" charset="-120"/>
              </a:rPr>
              <a:t>: </a:t>
            </a:r>
            <a:r>
              <a:rPr lang="zh-TW" altLang="en-US" sz="1200" b="1" dirty="0">
                <a:solidFill>
                  <a:srgbClr val="FF0000"/>
                </a:solidFill>
                <a:latin typeface="微軟正黑體" panose="020B0604030504040204" pitchFamily="34" charset="-120"/>
                <a:ea typeface="微軟正黑體" panose="020B0604030504040204" pitchFamily="34" charset="-120"/>
              </a:rPr>
              <a:t>更新與刪除權限，授權各廠商企自行維護自已廠資料，只有總公司商企權限則可開到最大，可協助各廠更新、刪除、維護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207411C9-2E06-4EBA-85D5-83173220AB39}"/>
              </a:ext>
            </a:extLst>
          </p:cNvPr>
          <p:cNvSpPr txBox="1"/>
          <p:nvPr/>
        </p:nvSpPr>
        <p:spPr>
          <a:xfrm>
            <a:off x="7949591" y="4841507"/>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下載</a:t>
            </a:r>
          </a:p>
        </p:txBody>
      </p:sp>
      <p:sp>
        <p:nvSpPr>
          <p:cNvPr id="55" name="文字方塊 54">
            <a:extLst>
              <a:ext uri="{FF2B5EF4-FFF2-40B4-BE49-F238E27FC236}">
                <a16:creationId xmlns:a16="http://schemas.microsoft.com/office/drawing/2014/main" id="{5F52C9A6-7909-4357-B568-F024B4A8B60B}"/>
              </a:ext>
            </a:extLst>
          </p:cNvPr>
          <p:cNvSpPr txBox="1"/>
          <p:nvPr/>
        </p:nvSpPr>
        <p:spPr>
          <a:xfrm>
            <a:off x="7945266" y="5201964"/>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下載</a:t>
            </a:r>
          </a:p>
        </p:txBody>
      </p:sp>
      <p:sp>
        <p:nvSpPr>
          <p:cNvPr id="57" name="文字方塊 56">
            <a:extLst>
              <a:ext uri="{FF2B5EF4-FFF2-40B4-BE49-F238E27FC236}">
                <a16:creationId xmlns:a16="http://schemas.microsoft.com/office/drawing/2014/main" id="{8EFA3004-DD73-46C7-8816-F8F4E872703E}"/>
              </a:ext>
            </a:extLst>
          </p:cNvPr>
          <p:cNvSpPr txBox="1"/>
          <p:nvPr/>
        </p:nvSpPr>
        <p:spPr>
          <a:xfrm>
            <a:off x="7826280" y="4201226"/>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現有已維護明細如下</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58" name="文字方塊 57">
            <a:extLst>
              <a:ext uri="{FF2B5EF4-FFF2-40B4-BE49-F238E27FC236}">
                <a16:creationId xmlns:a16="http://schemas.microsoft.com/office/drawing/2014/main" id="{0B891B33-6C16-4C89-ACDE-81C955624E19}"/>
              </a:ext>
            </a:extLst>
          </p:cNvPr>
          <p:cNvSpPr txBox="1"/>
          <p:nvPr/>
        </p:nvSpPr>
        <p:spPr>
          <a:xfrm>
            <a:off x="13701189" y="4468985"/>
            <a:ext cx="948888" cy="307777"/>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400" dirty="0">
                <a:latin typeface="微軟正黑體" panose="020B0604030504040204" pitchFamily="34" charset="-120"/>
                <a:ea typeface="微軟正黑體" panose="020B0604030504040204" pitchFamily="34" charset="-120"/>
              </a:rPr>
              <a:t>上載人員</a:t>
            </a:r>
          </a:p>
        </p:txBody>
      </p:sp>
      <p:sp>
        <p:nvSpPr>
          <p:cNvPr id="59" name="文字方塊 58">
            <a:extLst>
              <a:ext uri="{FF2B5EF4-FFF2-40B4-BE49-F238E27FC236}">
                <a16:creationId xmlns:a16="http://schemas.microsoft.com/office/drawing/2014/main" id="{83571DAE-425B-4571-A21E-80D0BCF4D615}"/>
              </a:ext>
            </a:extLst>
          </p:cNvPr>
          <p:cNvSpPr txBox="1"/>
          <p:nvPr/>
        </p:nvSpPr>
        <p:spPr>
          <a:xfrm>
            <a:off x="13664190" y="4875102"/>
            <a:ext cx="95014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謝雯萱</a:t>
            </a:r>
          </a:p>
        </p:txBody>
      </p:sp>
      <p:sp>
        <p:nvSpPr>
          <p:cNvPr id="60" name="文字方塊 59">
            <a:extLst>
              <a:ext uri="{FF2B5EF4-FFF2-40B4-BE49-F238E27FC236}">
                <a16:creationId xmlns:a16="http://schemas.microsoft.com/office/drawing/2014/main" id="{65E28563-37B6-4FC9-B5AB-62AA6DD00E6E}"/>
              </a:ext>
            </a:extLst>
          </p:cNvPr>
          <p:cNvSpPr txBox="1"/>
          <p:nvPr/>
        </p:nvSpPr>
        <p:spPr>
          <a:xfrm>
            <a:off x="13664190" y="5084019"/>
            <a:ext cx="95014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邵瑞平</a:t>
            </a:r>
          </a:p>
        </p:txBody>
      </p:sp>
      <p:sp>
        <p:nvSpPr>
          <p:cNvPr id="63" name="TextBox 1">
            <a:extLst>
              <a:ext uri="{FF2B5EF4-FFF2-40B4-BE49-F238E27FC236}">
                <a16:creationId xmlns:a16="http://schemas.microsoft.com/office/drawing/2014/main" id="{A2EA0F6C-01F5-4708-838A-DE0A9709BDDC}"/>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64949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5419" y="166279"/>
            <a:ext cx="2492990" cy="553998"/>
          </a:xfrm>
          <a:prstGeom prst="rect">
            <a:avLst/>
          </a:prstGeom>
          <a:noFill/>
        </p:spPr>
        <p:txBody>
          <a:bodyPr wrap="none">
            <a:spAutoFit/>
          </a:bodyPr>
          <a:lstStyle/>
          <a:p>
            <a:r>
              <a:rPr lang="zh-TW" altLang="en-US" sz="3000" b="1" dirty="0">
                <a:latin typeface="微軟正黑體" panose="020B0604030504040204" pitchFamily="34" charset="-120"/>
                <a:ea typeface="微軟正黑體" panose="020B0604030504040204" pitchFamily="34" charset="-120"/>
              </a:rPr>
              <a:t>店招進度查詢</a:t>
            </a:r>
            <a:endParaRPr sz="3000" b="1" dirty="0">
              <a:latin typeface="微軟正黑體" panose="020B0604030504040204" pitchFamily="34" charset="-120"/>
              <a:ea typeface="微軟正黑體" panose="020B0604030504040204" pitchFamily="34" charset="-120"/>
            </a:endParaRPr>
          </a:p>
        </p:txBody>
      </p:sp>
      <p:sp>
        <p:nvSpPr>
          <p:cNvPr id="3" name="Rectangle 2"/>
          <p:cNvSpPr/>
          <p:nvPr/>
        </p:nvSpPr>
        <p:spPr>
          <a:xfrm>
            <a:off x="7588426" y="1350643"/>
            <a:ext cx="4703034" cy="5507357"/>
          </a:xfrm>
          <a:prstGeom prst="rect">
            <a:avLst/>
          </a:prstGeom>
          <a:solidFill>
            <a:srgbClr val="F5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2305008" y="1350643"/>
            <a:ext cx="3895430" cy="550735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矩形 13">
            <a:extLst>
              <a:ext uri="{FF2B5EF4-FFF2-40B4-BE49-F238E27FC236}">
                <a16:creationId xmlns:a16="http://schemas.microsoft.com/office/drawing/2014/main" id="{3EEF9E4F-A71B-4517-8706-1326AFE9B741}"/>
              </a:ext>
            </a:extLst>
          </p:cNvPr>
          <p:cNvSpPr/>
          <p:nvPr/>
        </p:nvSpPr>
        <p:spPr>
          <a:xfrm>
            <a:off x="12359578" y="2516548"/>
            <a:ext cx="3836895" cy="1015663"/>
          </a:xfrm>
          <a:prstGeom prst="rect">
            <a:avLst/>
          </a:prstGeom>
        </p:spPr>
        <p:txBody>
          <a:bodyPr wrap="square">
            <a:spAutoFit/>
          </a:bodyPr>
          <a:lstStyle/>
          <a:p>
            <a:r>
              <a:rPr lang="zh-TW" altLang="en-US" sz="1000" b="1" dirty="0">
                <a:highlight>
                  <a:srgbClr val="FFFF00"/>
                </a:highlight>
                <a:latin typeface="微軟正黑體" panose="020B0604030504040204" pitchFamily="34" charset="-120"/>
                <a:ea typeface="微軟正黑體" panose="020B0604030504040204" pitchFamily="34" charset="-120"/>
              </a:rPr>
              <a:t>限制</a:t>
            </a:r>
            <a:r>
              <a:rPr lang="en-US" altLang="zh-TW" sz="1000" b="1" dirty="0">
                <a:highlight>
                  <a:srgbClr val="FFFF00"/>
                </a:highlight>
                <a:latin typeface="微軟正黑體" panose="020B0604030504040204" pitchFamily="34" charset="-120"/>
                <a:ea typeface="微軟正黑體" panose="020B0604030504040204" pitchFamily="34" charset="-120"/>
              </a:rPr>
              <a:t>: </a:t>
            </a:r>
            <a:r>
              <a:rPr lang="zh-TW" altLang="en-US" sz="1000" b="1" dirty="0">
                <a:highlight>
                  <a:srgbClr val="FFFF00"/>
                </a:highlight>
                <a:latin typeface="微軟正黑體" panose="020B0604030504040204" pitchFamily="34" charset="-120"/>
                <a:ea typeface="微軟正黑體" panose="020B0604030504040204" pitchFamily="34" charset="-120"/>
              </a:rPr>
              <a:t>依經銷商登入國家提供畫面，不跨區查別的經銷商畫面</a:t>
            </a:r>
            <a:endParaRPr lang="en-US" altLang="zh-TW" sz="1000" b="1" dirty="0">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供總、子公司人員在後台自行維護，維護後可在前台項目出現所查詢關鍵字的畫面</a:t>
            </a:r>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分類為經銷商的國家別下 </a:t>
            </a:r>
            <a:r>
              <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rPr>
              <a:t>/ </a:t>
            </a:r>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胎種別下 </a:t>
            </a:r>
            <a:r>
              <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rPr>
              <a:t>/ </a:t>
            </a:r>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該經銷商的資料，可下載該經銷商合約到期資料</a:t>
            </a:r>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2" name="Rounded Rectangle 4">
            <a:extLst>
              <a:ext uri="{FF2B5EF4-FFF2-40B4-BE49-F238E27FC236}">
                <a16:creationId xmlns:a16="http://schemas.microsoft.com/office/drawing/2014/main" id="{43CAAFB6-EEE8-4E33-A74D-8614013B968A}"/>
              </a:ext>
            </a:extLst>
          </p:cNvPr>
          <p:cNvSpPr/>
          <p:nvPr/>
        </p:nvSpPr>
        <p:spPr>
          <a:xfrm>
            <a:off x="12392820" y="1554149"/>
            <a:ext cx="3749312" cy="929419"/>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r>
              <a:rPr lang="zh-TW" altLang="en-US" sz="1200" b="1" dirty="0">
                <a:solidFill>
                  <a:srgbClr val="FF0000"/>
                </a:solidFill>
                <a:latin typeface="微軟正黑體" panose="020B0604030504040204" pitchFamily="34" charset="-120"/>
                <a:ea typeface="微軟正黑體" panose="020B0604030504040204" pitchFamily="34" charset="-120"/>
              </a:rPr>
              <a:t>請提供後台可以查詢店招申請前台維護進去的資料，</a:t>
            </a:r>
            <a:r>
              <a:rPr lang="zh-TW" altLang="en-US" sz="1200" b="1" u="sng" dirty="0">
                <a:solidFill>
                  <a:srgbClr val="FF0000"/>
                </a:solidFill>
                <a:latin typeface="微軟正黑體" panose="020B0604030504040204" pitchFamily="34" charset="-120"/>
                <a:ea typeface="微軟正黑體" panose="020B0604030504040204" pitchFamily="34" charset="-120"/>
              </a:rPr>
              <a:t>該資料</a:t>
            </a:r>
            <a:r>
              <a:rPr lang="zh-TW" altLang="en-US" sz="1200" b="1" u="sng" dirty="0">
                <a:solidFill>
                  <a:srgbClr val="00B0F0"/>
                </a:solidFill>
                <a:latin typeface="微軟正黑體" panose="020B0604030504040204" pitchFamily="34" charset="-120"/>
                <a:ea typeface="微軟正黑體" panose="020B0604030504040204" pitchFamily="34" charset="-120"/>
              </a:rPr>
              <a:t>可讓維護人員後台下載</a:t>
            </a:r>
            <a:r>
              <a:rPr lang="zh-TW" altLang="en-US" sz="1200" b="1" dirty="0">
                <a:solidFill>
                  <a:srgbClr val="FF0000"/>
                </a:solidFill>
                <a:latin typeface="微軟正黑體" panose="020B0604030504040204" pitchFamily="34" charset="-120"/>
                <a:ea typeface="微軟正黑體" panose="020B0604030504040204" pitchFamily="34" charset="-120"/>
              </a:rPr>
              <a:t>，並再依據建大資訊產生</a:t>
            </a:r>
            <a:r>
              <a:rPr lang="zh-TW" altLang="en-US" sz="1200" b="1" dirty="0">
                <a:solidFill>
                  <a:srgbClr val="00B0F0"/>
                </a:solidFill>
                <a:latin typeface="微軟正黑體" panose="020B0604030504040204" pitchFamily="34" charset="-120"/>
                <a:ea typeface="微軟正黑體" panose="020B0604030504040204" pitchFamily="34" charset="-120"/>
              </a:rPr>
              <a:t>廣告編號由維護人員入</a:t>
            </a:r>
            <a:r>
              <a:rPr lang="en-US" altLang="zh-TW" sz="1200" b="1" dirty="0">
                <a:solidFill>
                  <a:srgbClr val="00B0F0"/>
                </a:solidFill>
                <a:latin typeface="微軟正黑體" panose="020B0604030504040204" pitchFamily="34" charset="-120"/>
                <a:ea typeface="微軟正黑體" panose="020B0604030504040204" pitchFamily="34" charset="-120"/>
              </a:rPr>
              <a:t>excel</a:t>
            </a:r>
            <a:r>
              <a:rPr lang="zh-TW" altLang="en-US" sz="1200" b="1" dirty="0">
                <a:solidFill>
                  <a:srgbClr val="FF0000"/>
                </a:solidFill>
                <a:latin typeface="微軟正黑體" panose="020B0604030504040204" pitchFamily="34" charset="-120"/>
                <a:ea typeface="微軟正黑體" panose="020B0604030504040204" pitchFamily="34" charset="-120"/>
              </a:rPr>
              <a:t>將資料再</a:t>
            </a:r>
            <a:r>
              <a:rPr lang="zh-TW" altLang="en-US" sz="1200" b="1" dirty="0">
                <a:solidFill>
                  <a:srgbClr val="00B0F0"/>
                </a:solidFill>
                <a:latin typeface="微軟正黑體" panose="020B0604030504040204" pitchFamily="34" charset="-120"/>
                <a:ea typeface="微軟正黑體" panose="020B0604030504040204" pitchFamily="34" charset="-120"/>
              </a:rPr>
              <a:t>上載</a:t>
            </a:r>
            <a:r>
              <a:rPr lang="zh-TW" altLang="en-US" sz="1200" b="1" dirty="0">
                <a:solidFill>
                  <a:srgbClr val="FF0000"/>
                </a:solidFill>
                <a:latin typeface="微軟正黑體" panose="020B0604030504040204" pitchFamily="34" charset="-120"/>
                <a:ea typeface="微軟正黑體" panose="020B0604030504040204" pitchFamily="34" charset="-120"/>
              </a:rPr>
              <a:t>至後台供此前台查詢</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en-US" altLang="zh-TW" sz="1200" b="1" dirty="0">
                <a:solidFill>
                  <a:srgbClr val="00B0F0"/>
                </a:solidFill>
                <a:latin typeface="微軟正黑體" panose="020B0604030504040204" pitchFamily="34" charset="-120"/>
                <a:ea typeface="微軟正黑體" panose="020B0604030504040204" pitchFamily="34" charset="-120"/>
              </a:rPr>
              <a:t>excel</a:t>
            </a:r>
            <a:r>
              <a:rPr lang="zh-TW" altLang="en-US" sz="1200" b="1" dirty="0">
                <a:solidFill>
                  <a:srgbClr val="00B0F0"/>
                </a:solidFill>
                <a:latin typeface="微軟正黑體" panose="020B0604030504040204" pitchFamily="34" charset="-120"/>
                <a:ea typeface="微軟正黑體" panose="020B0604030504040204" pitchFamily="34" charset="-120"/>
              </a:rPr>
              <a:t>欄位由後台控制哪些對外與不對外開放看</a:t>
            </a:r>
            <a:r>
              <a:rPr lang="en-US" altLang="zh-TW" sz="1200" b="1" dirty="0">
                <a:solidFill>
                  <a:srgbClr val="FF0000"/>
                </a:solidFill>
                <a:latin typeface="微軟正黑體" panose="020B0604030504040204" pitchFamily="34" charset="-120"/>
                <a:ea typeface="微軟正黑體" panose="020B0604030504040204" pitchFamily="34" charset="-120"/>
              </a:rPr>
              <a:t>)</a:t>
            </a:r>
          </a:p>
        </p:txBody>
      </p:sp>
      <p:sp>
        <p:nvSpPr>
          <p:cNvPr id="6" name="矩形 5">
            <a:extLst>
              <a:ext uri="{FF2B5EF4-FFF2-40B4-BE49-F238E27FC236}">
                <a16:creationId xmlns:a16="http://schemas.microsoft.com/office/drawing/2014/main" id="{1A20FE4E-7297-43F1-A6CE-C932F4844694}"/>
              </a:ext>
            </a:extLst>
          </p:cNvPr>
          <p:cNvSpPr/>
          <p:nvPr/>
        </p:nvSpPr>
        <p:spPr>
          <a:xfrm>
            <a:off x="12335813" y="3398911"/>
            <a:ext cx="3966327" cy="2708434"/>
          </a:xfrm>
          <a:prstGeom prst="rect">
            <a:avLst/>
          </a:prstGeom>
        </p:spPr>
        <p:txBody>
          <a:bodyPr wrap="square">
            <a:spAutoFit/>
          </a:bodyPr>
          <a:lstStyle/>
          <a:p>
            <a:r>
              <a:rPr lang="zh-TW" altLang="en-US" sz="1000" dirty="0">
                <a:latin typeface="微軟正黑體" panose="020B0604030504040204" pitchFamily="34" charset="-120"/>
                <a:ea typeface="微軟正黑體" panose="020B0604030504040204" pitchFamily="34" charset="-120"/>
              </a:rPr>
              <a:t>功能</a:t>
            </a:r>
            <a:r>
              <a:rPr lang="en-US" altLang="zh-TW" sz="1000" dirty="0">
                <a:latin typeface="微軟正黑體" panose="020B0604030504040204" pitchFamily="34" charset="-120"/>
                <a:ea typeface="微軟正黑體" panose="020B0604030504040204" pitchFamily="34" charset="-120"/>
              </a:rPr>
              <a:t>: </a:t>
            </a:r>
          </a:p>
          <a:p>
            <a:pPr marL="171460" indent="-17146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前台該經銷商帳號可用廣告編號或車行名稱或地址或經銷商名查詢旗下或指定條件的店名進度資料，</a:t>
            </a:r>
            <a:r>
              <a:rPr lang="zh-TW" altLang="en-US" sz="1000" u="sng" dirty="0">
                <a:latin typeface="微軟正黑體" panose="020B0604030504040204" pitchFamily="34" charset="-120"/>
                <a:ea typeface="微軟正黑體" panose="020B0604030504040204" pitchFamily="34" charset="-120"/>
              </a:rPr>
              <a:t>可用模糊搜尋方式找</a:t>
            </a:r>
            <a:endParaRPr lang="en-US" altLang="zh-TW" sz="1000" u="sng" dirty="0">
              <a:latin typeface="微軟正黑體" panose="020B0604030504040204" pitchFamily="34" charset="-120"/>
              <a:ea typeface="微軟正黑體" panose="020B0604030504040204" pitchFamily="34" charset="-120"/>
            </a:endParaRPr>
          </a:p>
          <a:p>
            <a:pPr marL="171460" indent="-171460">
              <a:buFont typeface="Arial" panose="020B0604020202020204" pitchFamily="34" charset="0"/>
              <a:buChar char="•"/>
            </a:pPr>
            <a:r>
              <a:rPr lang="zh-TW" altLang="en-US" sz="1000" dirty="0">
                <a:solidFill>
                  <a:srgbClr val="FF0000"/>
                </a:solidFill>
                <a:latin typeface="微軟正黑體" panose="020B0604030504040204" pitchFamily="34" charset="-120"/>
                <a:ea typeface="微軟正黑體" panose="020B0604030504040204" pitchFamily="34" charset="-120"/>
              </a:rPr>
              <a:t>前台搜尋資料僅開放查詢</a:t>
            </a:r>
            <a:r>
              <a:rPr lang="en-US" altLang="zh-TW" sz="1000" dirty="0">
                <a:solidFill>
                  <a:srgbClr val="FF0000"/>
                </a:solidFill>
                <a:latin typeface="微軟正黑體" panose="020B0604030504040204" pitchFamily="34" charset="-120"/>
                <a:ea typeface="微軟正黑體" panose="020B0604030504040204" pitchFamily="34" charset="-120"/>
              </a:rPr>
              <a:t>excel『</a:t>
            </a:r>
            <a:r>
              <a:rPr lang="zh-TW" altLang="en-US" sz="1000" dirty="0">
                <a:solidFill>
                  <a:srgbClr val="FF0000"/>
                </a:solidFill>
                <a:latin typeface="微軟正黑體" panose="020B0604030504040204" pitchFamily="34" charset="-120"/>
                <a:ea typeface="微軟正黑體" panose="020B0604030504040204" pitchFamily="34" charset="-120"/>
              </a:rPr>
              <a:t>申請狀態</a:t>
            </a:r>
            <a:r>
              <a:rPr lang="en-US" altLang="zh-TW" sz="1000" dirty="0">
                <a:solidFill>
                  <a:srgbClr val="FF0000"/>
                </a:solidFill>
                <a:latin typeface="微軟正黑體" panose="020B0604030504040204" pitchFamily="34" charset="-120"/>
                <a:ea typeface="微軟正黑體" panose="020B0604030504040204" pitchFamily="34" charset="-120"/>
              </a:rPr>
              <a:t>』</a:t>
            </a:r>
            <a:r>
              <a:rPr lang="zh-TW" altLang="en-US" sz="1000" dirty="0">
                <a:solidFill>
                  <a:srgbClr val="FF0000"/>
                </a:solidFill>
                <a:latin typeface="微軟正黑體" panose="020B0604030504040204" pitchFamily="34" charset="-120"/>
                <a:ea typeface="微軟正黑體" panose="020B0604030504040204" pitchFamily="34" charset="-120"/>
              </a:rPr>
              <a:t>內的項目</a:t>
            </a:r>
            <a:r>
              <a:rPr lang="en-US" altLang="zh-TW" sz="1000" dirty="0">
                <a:solidFill>
                  <a:srgbClr val="FF0000"/>
                </a:solidFill>
                <a:latin typeface="微軟正黑體" panose="020B0604030504040204" pitchFamily="34" charset="-120"/>
                <a:ea typeface="微軟正黑體" panose="020B0604030504040204" pitchFamily="34" charset="-120"/>
              </a:rPr>
              <a:t>: </a:t>
            </a:r>
          </a:p>
          <a:p>
            <a:r>
              <a:rPr lang="zh-TW" altLang="en-US" sz="1000" dirty="0">
                <a:solidFill>
                  <a:srgbClr val="FF0000"/>
                </a:solidFill>
                <a:latin typeface="微軟正黑體" panose="020B0604030504040204" pitchFamily="34" charset="-120"/>
                <a:ea typeface="微軟正黑體" panose="020B0604030504040204" pitchFamily="34" charset="-120"/>
              </a:rPr>
              <a:t>新增、維修、作廢移招資料，其餘申請狀態為盤點、續約、作廢合約轉移屬於建大內部業務申請作業資訊與廠商進度無關，不開放查詢，但後台維護人員可在</a:t>
            </a:r>
            <a:r>
              <a:rPr lang="en-US" altLang="zh-TW" sz="1000" dirty="0">
                <a:solidFill>
                  <a:srgbClr val="FF0000"/>
                </a:solidFill>
                <a:latin typeface="微軟正黑體" panose="020B0604030504040204" pitchFamily="34" charset="-120"/>
                <a:ea typeface="微軟正黑體" panose="020B0604030504040204" pitchFamily="34" charset="-120"/>
              </a:rPr>
              <a:t>excel</a:t>
            </a:r>
            <a:r>
              <a:rPr lang="zh-TW" altLang="en-US" sz="1000" dirty="0">
                <a:solidFill>
                  <a:srgbClr val="FF0000"/>
                </a:solidFill>
                <a:latin typeface="微軟正黑體" panose="020B0604030504040204" pitchFamily="34" charset="-120"/>
                <a:ea typeface="微軟正黑體" panose="020B0604030504040204" pitchFamily="34" charset="-120"/>
              </a:rPr>
              <a:t>表內下載看到及維護申請狀態</a:t>
            </a:r>
            <a:endParaRPr lang="en-US" altLang="zh-TW" sz="1000" dirty="0">
              <a:solidFill>
                <a:srgbClr val="FF0000"/>
              </a:solidFill>
              <a:latin typeface="微軟正黑體" panose="020B0604030504040204" pitchFamily="34" charset="-120"/>
              <a:ea typeface="微軟正黑體" panose="020B0604030504040204" pitchFamily="34" charset="-120"/>
            </a:endParaRPr>
          </a:p>
          <a:p>
            <a:r>
              <a:rPr lang="en-US" altLang="zh-TW" sz="1000" dirty="0">
                <a:solidFill>
                  <a:srgbClr val="FF0000"/>
                </a:solidFill>
                <a:latin typeface="微軟正黑體" panose="020B0604030504040204" pitchFamily="34" charset="-120"/>
                <a:ea typeface="微軟正黑體" panose="020B0604030504040204" pitchFamily="34" charset="-120"/>
              </a:rPr>
              <a:t>* </a:t>
            </a:r>
            <a:r>
              <a:rPr lang="zh-TW" altLang="en-US" sz="1000" dirty="0">
                <a:solidFill>
                  <a:srgbClr val="FF0000"/>
                </a:solidFill>
                <a:latin typeface="微軟正黑體" panose="020B0604030504040204" pitchFamily="34" charset="-120"/>
                <a:ea typeface="微軟正黑體" panose="020B0604030504040204" pitchFamily="34" charset="-120"/>
              </a:rPr>
              <a:t>前台開放欄位可用由後台維護人員自行控制開放</a:t>
            </a:r>
            <a:r>
              <a:rPr lang="en-US" altLang="zh-TW" sz="1000" dirty="0">
                <a:solidFill>
                  <a:srgbClr val="FF0000"/>
                </a:solidFill>
                <a:latin typeface="微軟正黑體" panose="020B0604030504040204" pitchFamily="34" charset="-120"/>
                <a:ea typeface="微軟正黑體" panose="020B0604030504040204" pitchFamily="34" charset="-120"/>
              </a:rPr>
              <a:t>excel</a:t>
            </a:r>
            <a:r>
              <a:rPr lang="zh-TW" altLang="en-US" sz="1000" dirty="0">
                <a:solidFill>
                  <a:srgbClr val="FF0000"/>
                </a:solidFill>
                <a:latin typeface="微軟正黑體" panose="020B0604030504040204" pitchFamily="34" charset="-120"/>
                <a:ea typeface="微軟正黑體" panose="020B0604030504040204" pitchFamily="34" charset="-120"/>
              </a:rPr>
              <a:t>表內填的哪些欄位</a:t>
            </a:r>
            <a:endParaRPr lang="en-US" altLang="zh-TW" sz="1000" dirty="0">
              <a:latin typeface="微軟正黑體" panose="020B0604030504040204" pitchFamily="34" charset="-120"/>
              <a:ea typeface="微軟正黑體" panose="020B0604030504040204" pitchFamily="34" charset="-120"/>
            </a:endParaRPr>
          </a:p>
          <a:p>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後台需能供維護者自行設定抓取日期區間，下載之前在前台店招申請填寫的資料，並下載該資料為</a:t>
            </a:r>
            <a:r>
              <a:rPr lang="en-US" altLang="zh-TW" sz="1000" dirty="0">
                <a:latin typeface="微軟正黑體" panose="020B0604030504040204" pitchFamily="34" charset="-120"/>
                <a:ea typeface="微軟正黑體" panose="020B0604030504040204" pitchFamily="34" charset="-120"/>
              </a:rPr>
              <a:t>excel</a:t>
            </a:r>
            <a:r>
              <a:rPr lang="zh-TW" altLang="en-US" sz="1000" dirty="0">
                <a:latin typeface="微軟正黑體" panose="020B0604030504040204" pitchFamily="34" charset="-120"/>
                <a:ea typeface="微軟正黑體" panose="020B0604030504040204" pitchFamily="34" charset="-120"/>
              </a:rPr>
              <a:t>表，該</a:t>
            </a:r>
            <a:r>
              <a:rPr lang="en-US" altLang="zh-TW" sz="1000" dirty="0">
                <a:latin typeface="微軟正黑體" panose="020B0604030504040204" pitchFamily="34" charset="-120"/>
                <a:ea typeface="微軟正黑體" panose="020B0604030504040204" pitchFamily="34" charset="-120"/>
              </a:rPr>
              <a:t>excel</a:t>
            </a:r>
            <a:r>
              <a:rPr lang="zh-TW" altLang="en-US" sz="1000" dirty="0">
                <a:latin typeface="微軟正黑體" panose="020B0604030504040204" pitchFamily="34" charset="-120"/>
                <a:ea typeface="微軟正黑體" panose="020B0604030504040204" pitchFamily="34" charset="-120"/>
              </a:rPr>
              <a:t>表可讓維護者再維護其他不在前台填寫的資料，比如廣告編號、合約起訖日等，再讓維護者重新上載回去當成查詢時的資料庫</a:t>
            </a:r>
            <a:endParaRPr lang="en-US" altLang="zh-TW" sz="1000" dirty="0">
              <a:latin typeface="微軟正黑體" panose="020B0604030504040204" pitchFamily="34" charset="-120"/>
              <a:ea typeface="微軟正黑體" panose="020B0604030504040204" pitchFamily="34" charset="-120"/>
            </a:endParaRPr>
          </a:p>
          <a:p>
            <a:r>
              <a:rPr lang="en-US" altLang="zh-TW" sz="1000" dirty="0">
                <a:latin typeface="微軟正黑體" panose="020B0604030504040204" pitchFamily="34" charset="-120"/>
                <a:ea typeface="微軟正黑體" panose="020B0604030504040204" pitchFamily="34" charset="-120"/>
              </a:rPr>
              <a:t>* </a:t>
            </a:r>
            <a:r>
              <a:rPr lang="zh-TW" altLang="en-US" sz="1000" dirty="0">
                <a:latin typeface="微軟正黑體" panose="020B0604030504040204" pitchFamily="34" charset="-120"/>
                <a:ea typeface="微軟正黑體" panose="020B0604030504040204" pitchFamily="34" charset="-120"/>
              </a:rPr>
              <a:t>維護進度介面，想用</a:t>
            </a:r>
            <a:r>
              <a:rPr lang="en-US" altLang="zh-TW" sz="1000" dirty="0">
                <a:latin typeface="微軟正黑體" panose="020B0604030504040204" pitchFamily="34" charset="-120"/>
                <a:ea typeface="微軟正黑體" panose="020B0604030504040204" pitchFamily="34" charset="-120"/>
              </a:rPr>
              <a:t>excel</a:t>
            </a:r>
            <a:r>
              <a:rPr lang="zh-TW" altLang="en-US" sz="1000" dirty="0">
                <a:latin typeface="微軟正黑體" panose="020B0604030504040204" pitchFamily="34" charset="-120"/>
                <a:ea typeface="微軟正黑體" panose="020B0604030504040204" pitchFamily="34" charset="-120"/>
              </a:rPr>
              <a:t>表管理，讓後台能簡易的樞扭分析未完成狀態，抓出店招項次維護申進度狀態，進度下拉選單可保有彈性讓維護者修正下拉選單內容，因日後還可用此表給業務做年度盤點分析表</a:t>
            </a:r>
            <a:endParaRPr lang="en-US" altLang="zh-TW" sz="1000" dirty="0">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E4EDD3FB-D541-4FC0-BC41-D42321042832}"/>
              </a:ext>
            </a:extLst>
          </p:cNvPr>
          <p:cNvSpPr txBox="1"/>
          <p:nvPr/>
        </p:nvSpPr>
        <p:spPr>
          <a:xfrm>
            <a:off x="7745546" y="2384340"/>
            <a:ext cx="941910"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申請進度</a:t>
            </a:r>
          </a:p>
        </p:txBody>
      </p:sp>
      <p:sp>
        <p:nvSpPr>
          <p:cNvPr id="15" name="文字方塊 14">
            <a:extLst>
              <a:ext uri="{FF2B5EF4-FFF2-40B4-BE49-F238E27FC236}">
                <a16:creationId xmlns:a16="http://schemas.microsoft.com/office/drawing/2014/main" id="{AD490AB9-A448-45B2-988E-CBCA66287089}"/>
              </a:ext>
            </a:extLst>
          </p:cNvPr>
          <p:cNvSpPr txBox="1"/>
          <p:nvPr/>
        </p:nvSpPr>
        <p:spPr>
          <a:xfrm>
            <a:off x="9228478" y="2377177"/>
            <a:ext cx="558083"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車行</a:t>
            </a:r>
          </a:p>
        </p:txBody>
      </p:sp>
      <p:sp>
        <p:nvSpPr>
          <p:cNvPr id="16" name="文字方塊 15">
            <a:extLst>
              <a:ext uri="{FF2B5EF4-FFF2-40B4-BE49-F238E27FC236}">
                <a16:creationId xmlns:a16="http://schemas.microsoft.com/office/drawing/2014/main" id="{92B21398-9B22-4C6E-9828-DFEC2A67E1B2}"/>
              </a:ext>
            </a:extLst>
          </p:cNvPr>
          <p:cNvSpPr txBox="1"/>
          <p:nvPr/>
        </p:nvSpPr>
        <p:spPr>
          <a:xfrm>
            <a:off x="11034790" y="2384368"/>
            <a:ext cx="948888"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更新日期</a:t>
            </a:r>
          </a:p>
        </p:txBody>
      </p:sp>
      <p:sp>
        <p:nvSpPr>
          <p:cNvPr id="17" name="文字方塊 16">
            <a:extLst>
              <a:ext uri="{FF2B5EF4-FFF2-40B4-BE49-F238E27FC236}">
                <a16:creationId xmlns:a16="http://schemas.microsoft.com/office/drawing/2014/main" id="{0D860EBB-6E58-4B28-8A9B-E5D88DCD7DD2}"/>
              </a:ext>
            </a:extLst>
          </p:cNvPr>
          <p:cNvSpPr txBox="1"/>
          <p:nvPr/>
        </p:nvSpPr>
        <p:spPr>
          <a:xfrm>
            <a:off x="7632776" y="2781439"/>
            <a:ext cx="1475758" cy="1015663"/>
          </a:xfrm>
          <a:prstGeom prst="rect">
            <a:avLst/>
          </a:prstGeom>
          <a:noFill/>
        </p:spPr>
        <p:txBody>
          <a:bodyPr wrap="square" rtlCol="0">
            <a:spAutoFit/>
          </a:bodyPr>
          <a:lstStyle/>
          <a:p>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後台維護的資料帶出</a:t>
            </a:r>
            <a:endParaRPr lang="en-US" altLang="zh-TW" sz="1000" u="sng"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維護介面，</a:t>
            </a:r>
            <a:r>
              <a:rPr lang="zh-TW" altLang="en-US" sz="1000" b="1" u="sng" dirty="0">
                <a:solidFill>
                  <a:srgbClr val="FF0000"/>
                </a:solidFill>
                <a:highlight>
                  <a:srgbClr val="FFFF00"/>
                </a:highlight>
                <a:latin typeface="微軟正黑體" panose="020B0604030504040204" pitchFamily="34" charset="-120"/>
                <a:ea typeface="微軟正黑體" panose="020B0604030504040204" pitchFamily="34" charset="-120"/>
              </a:rPr>
              <a:t>看能不能只帶出未完成狀態的筆數，並用下拉選單</a:t>
            </a:r>
            <a:r>
              <a:rPr lang="en-US" altLang="zh-TW" sz="1000" b="1"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000" b="1" u="sng" dirty="0">
                <a:solidFill>
                  <a:srgbClr val="FF0000"/>
                </a:solidFill>
                <a:highlight>
                  <a:srgbClr val="FFFF00"/>
                </a:highlight>
                <a:latin typeface="微軟正黑體" panose="020B0604030504040204" pitchFamily="34" charset="-120"/>
                <a:ea typeface="微軟正黑體" panose="020B0604030504040204" pitchFamily="34" charset="-120"/>
              </a:rPr>
              <a:t>下拉選項保留彈性可由後台人員自行調整內容</a:t>
            </a:r>
            <a:r>
              <a:rPr lang="en-US" altLang="zh-TW" sz="1000" b="1" u="sng" dirty="0">
                <a:solidFill>
                  <a:srgbClr val="FF0000"/>
                </a:solidFill>
                <a:highlight>
                  <a:srgbClr val="FFFF00"/>
                </a:highlight>
                <a:latin typeface="微軟正黑體" panose="020B0604030504040204" pitchFamily="34" charset="-120"/>
                <a:ea typeface="微軟正黑體" panose="020B0604030504040204" pitchFamily="34" charset="-120"/>
              </a:rPr>
              <a:t>)</a:t>
            </a:r>
            <a:endParaRPr lang="zh-TW" altLang="en-US" sz="1000" b="1" u="sng"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AD5AB4FC-1919-4004-84AD-380A6FE44BFD}"/>
              </a:ext>
            </a:extLst>
          </p:cNvPr>
          <p:cNvSpPr txBox="1"/>
          <p:nvPr/>
        </p:nvSpPr>
        <p:spPr>
          <a:xfrm>
            <a:off x="9138383" y="2770685"/>
            <a:ext cx="858767" cy="553998"/>
          </a:xfrm>
          <a:prstGeom prst="rect">
            <a:avLst/>
          </a:prstGeom>
          <a:noFill/>
        </p:spPr>
        <p:txBody>
          <a:bodyPr wrap="square" rtlCol="0">
            <a:spAutoFit/>
          </a:bodyPr>
          <a:lstStyle/>
          <a:p>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後台</a:t>
            </a:r>
            <a:r>
              <a:rPr lang="en-US" altLang="zh-TW" sz="1000" u="sng" dirty="0">
                <a:solidFill>
                  <a:srgbClr val="FF0000"/>
                </a:solidFill>
                <a:highlight>
                  <a:srgbClr val="FFFF00"/>
                </a:highlight>
                <a:latin typeface="微軟正黑體" panose="020B0604030504040204" pitchFamily="34" charset="-120"/>
                <a:ea typeface="微軟正黑體" panose="020B0604030504040204" pitchFamily="34" charset="-120"/>
              </a:rPr>
              <a:t>excel</a:t>
            </a:r>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上載上載帶出的資料</a:t>
            </a:r>
            <a:endParaRPr lang="zh-TW" altLang="en-US" sz="1000" dirty="0">
              <a:latin typeface="微軟正黑體" panose="020B0604030504040204" pitchFamily="34" charset="-120"/>
              <a:ea typeface="微軟正黑體" panose="020B0604030504040204" pitchFamily="34" charset="-120"/>
            </a:endParaRPr>
          </a:p>
        </p:txBody>
      </p:sp>
      <p:sp>
        <p:nvSpPr>
          <p:cNvPr id="19" name="文字方塊 18">
            <a:extLst>
              <a:ext uri="{FF2B5EF4-FFF2-40B4-BE49-F238E27FC236}">
                <a16:creationId xmlns:a16="http://schemas.microsoft.com/office/drawing/2014/main" id="{DC0BA00F-CB7A-4781-A853-DEF149FEBA8D}"/>
              </a:ext>
            </a:extLst>
          </p:cNvPr>
          <p:cNvSpPr txBox="1"/>
          <p:nvPr/>
        </p:nvSpPr>
        <p:spPr>
          <a:xfrm>
            <a:off x="10960784" y="2779355"/>
            <a:ext cx="950140" cy="553998"/>
          </a:xfrm>
          <a:prstGeom prst="rect">
            <a:avLst/>
          </a:prstGeom>
          <a:noFill/>
        </p:spPr>
        <p:txBody>
          <a:bodyPr wrap="square" rtlCol="0">
            <a:spAutoFit/>
          </a:bodyPr>
          <a:lstStyle/>
          <a:p>
            <a:r>
              <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rPr>
              <a:t>2026/4/16</a:t>
            </a:r>
          </a:p>
          <a:p>
            <a:r>
              <a:rPr lang="zh-TW" altLang="en-US" sz="1000" dirty="0">
                <a:solidFill>
                  <a:srgbClr val="FF0000"/>
                </a:solidFill>
                <a:highlight>
                  <a:srgbClr val="FFFF00"/>
                </a:highlight>
                <a:latin typeface="微軟正黑體" panose="020B0604030504040204" pitchFamily="34" charset="-120"/>
                <a:ea typeface="微軟正黑體" panose="020B0604030504040204" pitchFamily="34" charset="-120"/>
              </a:rPr>
              <a:t>維護人員後台填寫</a:t>
            </a:r>
          </a:p>
        </p:txBody>
      </p:sp>
      <p:sp>
        <p:nvSpPr>
          <p:cNvPr id="20" name="文字方塊 19">
            <a:extLst>
              <a:ext uri="{FF2B5EF4-FFF2-40B4-BE49-F238E27FC236}">
                <a16:creationId xmlns:a16="http://schemas.microsoft.com/office/drawing/2014/main" id="{671BC2BB-9B83-4B0A-A2A8-90FFBC7A14AD}"/>
              </a:ext>
            </a:extLst>
          </p:cNvPr>
          <p:cNvSpPr txBox="1"/>
          <p:nvPr/>
        </p:nvSpPr>
        <p:spPr>
          <a:xfrm>
            <a:off x="9936230" y="2384339"/>
            <a:ext cx="948888"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申請項目</a:t>
            </a:r>
          </a:p>
        </p:txBody>
      </p:sp>
      <p:sp>
        <p:nvSpPr>
          <p:cNvPr id="21" name="文字方塊 20">
            <a:extLst>
              <a:ext uri="{FF2B5EF4-FFF2-40B4-BE49-F238E27FC236}">
                <a16:creationId xmlns:a16="http://schemas.microsoft.com/office/drawing/2014/main" id="{901031AF-844A-4096-8DD2-80A5296ACBB9}"/>
              </a:ext>
            </a:extLst>
          </p:cNvPr>
          <p:cNvSpPr txBox="1"/>
          <p:nvPr/>
        </p:nvSpPr>
        <p:spPr>
          <a:xfrm>
            <a:off x="9915747" y="2738279"/>
            <a:ext cx="950140" cy="400110"/>
          </a:xfrm>
          <a:prstGeom prst="rect">
            <a:avLst/>
          </a:prstGeom>
          <a:noFill/>
        </p:spPr>
        <p:txBody>
          <a:bodyPr wrap="square" rtlCol="0">
            <a:spAutoFit/>
          </a:bodyPr>
          <a:lstStyle/>
          <a:p>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後台</a:t>
            </a:r>
            <a:r>
              <a:rPr lang="en-US" altLang="zh-TW" sz="1000" u="sng" dirty="0">
                <a:solidFill>
                  <a:srgbClr val="FF0000"/>
                </a:solidFill>
                <a:highlight>
                  <a:srgbClr val="FFFF00"/>
                </a:highlight>
                <a:latin typeface="微軟正黑體" panose="020B0604030504040204" pitchFamily="34" charset="-120"/>
                <a:ea typeface="微軟正黑體" panose="020B0604030504040204" pitchFamily="34" charset="-120"/>
              </a:rPr>
              <a:t>excel</a:t>
            </a:r>
            <a:r>
              <a:rPr lang="zh-TW" altLang="en-US" sz="1000" u="sng" dirty="0">
                <a:solidFill>
                  <a:srgbClr val="FF0000"/>
                </a:solidFill>
                <a:highlight>
                  <a:srgbClr val="FFFF00"/>
                </a:highlight>
                <a:latin typeface="微軟正黑體" panose="020B0604030504040204" pitchFamily="34" charset="-120"/>
                <a:ea typeface="微軟正黑體" panose="020B0604030504040204" pitchFamily="34" charset="-120"/>
              </a:rPr>
              <a:t>上載帶出的資料</a:t>
            </a:r>
            <a:endParaRPr lang="zh-TW" altLang="en-US" sz="1000" dirty="0">
              <a:highlight>
                <a:srgbClr val="FFFF00"/>
              </a:highlight>
              <a:latin typeface="微軟正黑體" panose="020B0604030504040204" pitchFamily="34" charset="-120"/>
              <a:ea typeface="微軟正黑體" panose="020B0604030504040204" pitchFamily="34" charset="-120"/>
            </a:endParaRPr>
          </a:p>
        </p:txBody>
      </p:sp>
      <p:sp>
        <p:nvSpPr>
          <p:cNvPr id="22" name="文字方塊 21">
            <a:extLst>
              <a:ext uri="{FF2B5EF4-FFF2-40B4-BE49-F238E27FC236}">
                <a16:creationId xmlns:a16="http://schemas.microsoft.com/office/drawing/2014/main" id="{459DCF7A-98CF-4149-BCCF-77EC2E073E56}"/>
              </a:ext>
            </a:extLst>
          </p:cNvPr>
          <p:cNvSpPr txBox="1"/>
          <p:nvPr/>
        </p:nvSpPr>
        <p:spPr>
          <a:xfrm>
            <a:off x="7745548" y="2039452"/>
            <a:ext cx="2525093"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24" name="文字方塊 23">
            <a:extLst>
              <a:ext uri="{FF2B5EF4-FFF2-40B4-BE49-F238E27FC236}">
                <a16:creationId xmlns:a16="http://schemas.microsoft.com/office/drawing/2014/main" id="{A64521B0-83E4-42BB-B802-3DFDEAA2D844}"/>
              </a:ext>
            </a:extLst>
          </p:cNvPr>
          <p:cNvSpPr txBox="1"/>
          <p:nvPr/>
        </p:nvSpPr>
        <p:spPr>
          <a:xfrm>
            <a:off x="10368441" y="2035711"/>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查詢</a:t>
            </a:r>
          </a:p>
        </p:txBody>
      </p:sp>
      <p:sp>
        <p:nvSpPr>
          <p:cNvPr id="26" name="文字方塊 25">
            <a:extLst>
              <a:ext uri="{FF2B5EF4-FFF2-40B4-BE49-F238E27FC236}">
                <a16:creationId xmlns:a16="http://schemas.microsoft.com/office/drawing/2014/main" id="{9B9DBAF1-CF43-49F1-AE3E-9A9992661696}"/>
              </a:ext>
            </a:extLst>
          </p:cNvPr>
          <p:cNvSpPr txBox="1"/>
          <p:nvPr/>
        </p:nvSpPr>
        <p:spPr>
          <a:xfrm>
            <a:off x="7755037" y="1788631"/>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請輸入車行名稱或廣告編號或經銷商或地址</a:t>
            </a:r>
          </a:p>
        </p:txBody>
      </p:sp>
      <p:sp>
        <p:nvSpPr>
          <p:cNvPr id="27" name="Rounded Rectangle 4">
            <a:extLst>
              <a:ext uri="{FF2B5EF4-FFF2-40B4-BE49-F238E27FC236}">
                <a16:creationId xmlns:a16="http://schemas.microsoft.com/office/drawing/2014/main" id="{51327E43-0AD0-4384-B4AB-E9375225A65B}"/>
              </a:ext>
            </a:extLst>
          </p:cNvPr>
          <p:cNvSpPr/>
          <p:nvPr/>
        </p:nvSpPr>
        <p:spPr>
          <a:xfrm>
            <a:off x="12392823" y="6107742"/>
            <a:ext cx="3634921" cy="651482"/>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r>
              <a:rPr lang="en-US" altLang="zh-TW" sz="1000" b="1" dirty="0">
                <a:solidFill>
                  <a:srgbClr val="FF0000"/>
                </a:solidFill>
                <a:latin typeface="微軟正黑體" panose="020B0604030504040204" pitchFamily="34" charset="-120"/>
                <a:ea typeface="微軟正黑體" panose="020B0604030504040204" pitchFamily="34" charset="-120"/>
              </a:rPr>
              <a:t>Q2</a:t>
            </a:r>
            <a:r>
              <a:rPr lang="zh-TW" altLang="en-US" sz="1000" b="1" dirty="0">
                <a:solidFill>
                  <a:srgbClr val="FF0000"/>
                </a:solidFill>
                <a:latin typeface="微軟正黑體" panose="020B0604030504040204" pitchFamily="34" charset="-120"/>
                <a:ea typeface="微軟正黑體" panose="020B0604030504040204" pitchFamily="34" charset="-120"/>
              </a:rPr>
              <a:t>艾創點</a:t>
            </a:r>
            <a:r>
              <a:rPr lang="en-US" altLang="zh-TW" sz="1000" b="1" dirty="0">
                <a:solidFill>
                  <a:srgbClr val="FF0000"/>
                </a:solidFill>
                <a:latin typeface="微軟正黑體" panose="020B0604030504040204" pitchFamily="34" charset="-120"/>
                <a:ea typeface="微軟正黑體" panose="020B0604030504040204" pitchFamily="34" charset="-120"/>
              </a:rPr>
              <a:t>:</a:t>
            </a:r>
            <a:r>
              <a:rPr lang="zh-TW" altLang="en-US" sz="1000" b="1" dirty="0">
                <a:solidFill>
                  <a:srgbClr val="FF0000"/>
                </a:solidFill>
                <a:latin typeface="微軟正黑體" panose="020B0604030504040204" pitchFamily="34" charset="-120"/>
                <a:ea typeface="微軟正黑體" panose="020B0604030504040204" pitchFamily="34" charset="-120"/>
              </a:rPr>
              <a:t>前台申請進度、車行、申請項目、更新日期欄是否有可能有備用欄位，供未來若有需要時，可直接在後台打勾開放該欄位及修改該欄位名稱來增加給前台看，保有彈性開放或刪減的需求？</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sp>
        <p:nvSpPr>
          <p:cNvPr id="29" name="Rounded Rectangle 4">
            <a:extLst>
              <a:ext uri="{FF2B5EF4-FFF2-40B4-BE49-F238E27FC236}">
                <a16:creationId xmlns:a16="http://schemas.microsoft.com/office/drawing/2014/main" id="{74E9FB81-B0CA-4DC7-8622-356E9C13762A}"/>
              </a:ext>
            </a:extLst>
          </p:cNvPr>
          <p:cNvSpPr/>
          <p:nvPr/>
        </p:nvSpPr>
        <p:spPr>
          <a:xfrm>
            <a:off x="7592067" y="790445"/>
            <a:ext cx="3604537" cy="47567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建大工業股份有限公司</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四輪網路下單系統</a:t>
            </a:r>
            <a:endParaRPr sz="1200" b="1" dirty="0">
              <a:solidFill>
                <a:srgbClr val="FFFFFF"/>
              </a:solidFill>
              <a:latin typeface="微軟正黑體" panose="020B0604030504040204" pitchFamily="34" charset="-120"/>
              <a:ea typeface="微軟正黑體" panose="020B0604030504040204" pitchFamily="34" charset="-120"/>
            </a:endParaRPr>
          </a:p>
          <a:p>
            <a:pPr algn="ctr"/>
            <a:r>
              <a:rPr lang="en-US" altLang="zh-TW" sz="1000" dirty="0"/>
              <a:t>https://b2b.kenda.com.tw/cdr/EDTB/pcr/</a:t>
            </a:r>
            <a:endParaRPr sz="1000" b="1" dirty="0">
              <a:solidFill>
                <a:srgbClr val="FFFFFF"/>
              </a:solidFill>
            </a:endParaRPr>
          </a:p>
        </p:txBody>
      </p:sp>
      <p:sp>
        <p:nvSpPr>
          <p:cNvPr id="30" name="文字方塊 29">
            <a:extLst>
              <a:ext uri="{FF2B5EF4-FFF2-40B4-BE49-F238E27FC236}">
                <a16:creationId xmlns:a16="http://schemas.microsoft.com/office/drawing/2014/main" id="{D6B3D42E-2090-45A4-B4A9-CD7CE7D542A5}"/>
              </a:ext>
            </a:extLst>
          </p:cNvPr>
          <p:cNvSpPr txBox="1"/>
          <p:nvPr/>
        </p:nvSpPr>
        <p:spPr>
          <a:xfrm>
            <a:off x="11115676" y="820324"/>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前台</a:t>
            </a:r>
          </a:p>
        </p:txBody>
      </p:sp>
      <p:sp>
        <p:nvSpPr>
          <p:cNvPr id="31" name="文字方塊 30">
            <a:extLst>
              <a:ext uri="{FF2B5EF4-FFF2-40B4-BE49-F238E27FC236}">
                <a16:creationId xmlns:a16="http://schemas.microsoft.com/office/drawing/2014/main" id="{7FED4C60-CE36-4BB3-8D41-446189AF4193}"/>
              </a:ext>
            </a:extLst>
          </p:cNvPr>
          <p:cNvSpPr txBox="1"/>
          <p:nvPr/>
        </p:nvSpPr>
        <p:spPr>
          <a:xfrm>
            <a:off x="13580971" y="820324"/>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後台</a:t>
            </a:r>
          </a:p>
        </p:txBody>
      </p:sp>
      <p:pic>
        <p:nvPicPr>
          <p:cNvPr id="34" name="圖片 33">
            <a:extLst>
              <a:ext uri="{FF2B5EF4-FFF2-40B4-BE49-F238E27FC236}">
                <a16:creationId xmlns:a16="http://schemas.microsoft.com/office/drawing/2014/main" id="{483C1079-6272-4355-9237-F827696B7C12}"/>
              </a:ext>
            </a:extLst>
          </p:cNvPr>
          <p:cNvPicPr>
            <a:picLocks noChangeAspect="1"/>
          </p:cNvPicPr>
          <p:nvPr/>
        </p:nvPicPr>
        <p:blipFill>
          <a:blip r:embed="rId3"/>
          <a:stretch>
            <a:fillRect/>
          </a:stretch>
        </p:blipFill>
        <p:spPr>
          <a:xfrm>
            <a:off x="7703961" y="4070619"/>
            <a:ext cx="4379462" cy="2678663"/>
          </a:xfrm>
          <a:prstGeom prst="rect">
            <a:avLst/>
          </a:prstGeom>
        </p:spPr>
      </p:pic>
      <p:sp>
        <p:nvSpPr>
          <p:cNvPr id="35" name="Rounded Rectangle 4">
            <a:extLst>
              <a:ext uri="{FF2B5EF4-FFF2-40B4-BE49-F238E27FC236}">
                <a16:creationId xmlns:a16="http://schemas.microsoft.com/office/drawing/2014/main" id="{50E50F38-9E2D-43AB-A59F-14CDE6D66C2D}"/>
              </a:ext>
            </a:extLst>
          </p:cNvPr>
          <p:cNvSpPr/>
          <p:nvPr/>
        </p:nvSpPr>
        <p:spPr>
          <a:xfrm>
            <a:off x="7715605" y="3778273"/>
            <a:ext cx="4176844" cy="207823"/>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r>
              <a:rPr lang="zh-TW" altLang="en-US" sz="1000" b="1" dirty="0">
                <a:solidFill>
                  <a:srgbClr val="FF0000"/>
                </a:solidFill>
                <a:latin typeface="微軟正黑體" panose="020B0604030504040204" pitchFamily="34" charset="-120"/>
                <a:ea typeface="微軟正黑體" panose="020B0604030504040204" pitchFamily="34" charset="-120"/>
              </a:rPr>
              <a:t>顯示筆數</a:t>
            </a:r>
            <a:r>
              <a:rPr lang="en-US" altLang="zh-TW" sz="1000" b="1" dirty="0">
                <a:solidFill>
                  <a:srgbClr val="FF0000"/>
                </a:solidFill>
                <a:latin typeface="微軟正黑體" panose="020B0604030504040204" pitchFamily="34" charset="-120"/>
                <a:ea typeface="微軟正黑體" panose="020B0604030504040204" pitchFamily="34" charset="-120"/>
              </a:rPr>
              <a:t>: </a:t>
            </a:r>
            <a:r>
              <a:rPr lang="zh-TW" altLang="en-US" sz="1000" b="1" dirty="0">
                <a:solidFill>
                  <a:srgbClr val="FF0000"/>
                </a:solidFill>
                <a:latin typeface="微軟正黑體" panose="020B0604030504040204" pitchFamily="34" charset="-120"/>
                <a:ea typeface="微軟正黑體" panose="020B0604030504040204" pitchFamily="34" charset="-120"/>
              </a:rPr>
              <a:t>請合適放置，可設定比如</a:t>
            </a:r>
            <a:r>
              <a:rPr lang="en-US" altLang="zh-TW" sz="1000" b="1" dirty="0">
                <a:solidFill>
                  <a:srgbClr val="FF0000"/>
                </a:solidFill>
                <a:latin typeface="微軟正黑體" panose="020B0604030504040204" pitchFamily="34" charset="-120"/>
                <a:ea typeface="微軟正黑體" panose="020B0604030504040204" pitchFamily="34" charset="-120"/>
              </a:rPr>
              <a:t>10</a:t>
            </a:r>
            <a:r>
              <a:rPr lang="zh-TW" altLang="en-US" sz="1000" b="1" dirty="0">
                <a:solidFill>
                  <a:srgbClr val="FF0000"/>
                </a:solidFill>
                <a:latin typeface="微軟正黑體" panose="020B0604030504040204" pitchFamily="34" charset="-120"/>
                <a:ea typeface="微軟正黑體" panose="020B0604030504040204" pitchFamily="34" charset="-120"/>
              </a:rPr>
              <a:t>筆就能往下一頁，避免畫面太亂</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67EA218C-37F8-45DF-8586-BF85D3E47BBF}"/>
              </a:ext>
            </a:extLst>
          </p:cNvPr>
          <p:cNvPicPr>
            <a:picLocks noChangeAspect="1"/>
          </p:cNvPicPr>
          <p:nvPr/>
        </p:nvPicPr>
        <p:blipFill>
          <a:blip r:embed="rId4"/>
          <a:stretch>
            <a:fillRect/>
          </a:stretch>
        </p:blipFill>
        <p:spPr>
          <a:xfrm>
            <a:off x="1596065" y="2018858"/>
            <a:ext cx="5851190" cy="3658871"/>
          </a:xfrm>
          <a:prstGeom prst="rect">
            <a:avLst/>
          </a:prstGeom>
        </p:spPr>
      </p:pic>
      <p:sp>
        <p:nvSpPr>
          <p:cNvPr id="28" name="矩形 27">
            <a:extLst>
              <a:ext uri="{FF2B5EF4-FFF2-40B4-BE49-F238E27FC236}">
                <a16:creationId xmlns:a16="http://schemas.microsoft.com/office/drawing/2014/main" id="{452D6F12-C4B1-4F75-B5CB-7D91F6C20614}"/>
              </a:ext>
            </a:extLst>
          </p:cNvPr>
          <p:cNvSpPr/>
          <p:nvPr/>
        </p:nvSpPr>
        <p:spPr>
          <a:xfrm>
            <a:off x="11026289" y="2347013"/>
            <a:ext cx="948888"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32" name="直線單箭頭接點 31">
            <a:extLst>
              <a:ext uri="{FF2B5EF4-FFF2-40B4-BE49-F238E27FC236}">
                <a16:creationId xmlns:a16="http://schemas.microsoft.com/office/drawing/2014/main" id="{2095099F-F93B-4D77-AA99-D5152F2F7EB5}"/>
              </a:ext>
            </a:extLst>
          </p:cNvPr>
          <p:cNvCxnSpPr>
            <a:cxnSpLocks/>
            <a:stCxn id="16" idx="1"/>
            <a:endCxn id="33" idx="3"/>
          </p:cNvCxnSpPr>
          <p:nvPr/>
        </p:nvCxnSpPr>
        <p:spPr>
          <a:xfrm flipH="1">
            <a:off x="7464628" y="2522868"/>
            <a:ext cx="3570162" cy="247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矩形 32">
            <a:extLst>
              <a:ext uri="{FF2B5EF4-FFF2-40B4-BE49-F238E27FC236}">
                <a16:creationId xmlns:a16="http://schemas.microsoft.com/office/drawing/2014/main" id="{452AFD33-5C61-4997-B8F8-1076FFEF3CCC}"/>
              </a:ext>
            </a:extLst>
          </p:cNvPr>
          <p:cNvSpPr/>
          <p:nvPr/>
        </p:nvSpPr>
        <p:spPr>
          <a:xfrm>
            <a:off x="6515740" y="2613522"/>
            <a:ext cx="948888" cy="31432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4917EA2F-2957-484E-915A-263CAC5B59A3}"/>
              </a:ext>
            </a:extLst>
          </p:cNvPr>
          <p:cNvSpPr txBox="1"/>
          <p:nvPr/>
        </p:nvSpPr>
        <p:spPr>
          <a:xfrm>
            <a:off x="3186846" y="1490507"/>
            <a:ext cx="3363759" cy="553998"/>
          </a:xfrm>
          <a:prstGeom prst="rect">
            <a:avLst/>
          </a:prstGeom>
          <a:noFill/>
        </p:spPr>
        <p:txBody>
          <a:bodyPr wrap="square" rtlCol="0">
            <a:spAutoFit/>
          </a:bodyPr>
          <a:lstStyle/>
          <a:p>
            <a:pPr marL="228600" lvl="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改為更新日期，因客代帳號登入時申請人就是這個代號資料，無需重覆秀出，另進度查詢限定該客代帳號登入僅能看該客代申請出的資料</a:t>
            </a:r>
            <a:endParaRPr lang="zh-TW" altLang="zh-TW" sz="1000" dirty="0">
              <a:latin typeface="微軟正黑體" panose="020B0604030504040204" pitchFamily="34" charset="-120"/>
              <a:ea typeface="微軟正黑體" panose="020B0604030504040204" pitchFamily="34" charset="-120"/>
            </a:endParaRPr>
          </a:p>
        </p:txBody>
      </p:sp>
      <p:cxnSp>
        <p:nvCxnSpPr>
          <p:cNvPr id="37" name="直線單箭頭接點 36">
            <a:extLst>
              <a:ext uri="{FF2B5EF4-FFF2-40B4-BE49-F238E27FC236}">
                <a16:creationId xmlns:a16="http://schemas.microsoft.com/office/drawing/2014/main" id="{1296E4E1-41BD-44A3-BDBF-FF0B535FB8B3}"/>
              </a:ext>
            </a:extLst>
          </p:cNvPr>
          <p:cNvCxnSpPr>
            <a:cxnSpLocks/>
          </p:cNvCxnSpPr>
          <p:nvPr/>
        </p:nvCxnSpPr>
        <p:spPr>
          <a:xfrm>
            <a:off x="6082106" y="1911741"/>
            <a:ext cx="748809" cy="7017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單箭頭接點 37">
            <a:extLst>
              <a:ext uri="{FF2B5EF4-FFF2-40B4-BE49-F238E27FC236}">
                <a16:creationId xmlns:a16="http://schemas.microsoft.com/office/drawing/2014/main" id="{AC70D7F0-23F0-4662-8572-BBEE14CD3B38}"/>
              </a:ext>
            </a:extLst>
          </p:cNvPr>
          <p:cNvCxnSpPr>
            <a:cxnSpLocks/>
          </p:cNvCxnSpPr>
          <p:nvPr/>
        </p:nvCxnSpPr>
        <p:spPr>
          <a:xfrm>
            <a:off x="6051301" y="1906001"/>
            <a:ext cx="6327971" cy="2024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矩形 38">
            <a:extLst>
              <a:ext uri="{FF2B5EF4-FFF2-40B4-BE49-F238E27FC236}">
                <a16:creationId xmlns:a16="http://schemas.microsoft.com/office/drawing/2014/main" id="{E63615AC-E299-4F95-9A61-67374D4A9506}"/>
              </a:ext>
            </a:extLst>
          </p:cNvPr>
          <p:cNvSpPr/>
          <p:nvPr/>
        </p:nvSpPr>
        <p:spPr>
          <a:xfrm>
            <a:off x="12381233" y="3913456"/>
            <a:ext cx="3850010" cy="933338"/>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4D45ED65-686D-446A-BC8A-D8333222996D}"/>
              </a:ext>
            </a:extLst>
          </p:cNvPr>
          <p:cNvSpPr/>
          <p:nvPr/>
        </p:nvSpPr>
        <p:spPr>
          <a:xfrm>
            <a:off x="12401033" y="3428999"/>
            <a:ext cx="3850010" cy="471099"/>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455B52E3-2FA3-42A1-A33F-E96E232E8E9B}"/>
              </a:ext>
            </a:extLst>
          </p:cNvPr>
          <p:cNvSpPr/>
          <p:nvPr/>
        </p:nvSpPr>
        <p:spPr>
          <a:xfrm>
            <a:off x="7682913" y="1767506"/>
            <a:ext cx="3321071" cy="64601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46" name="直線單箭頭接點 45">
            <a:extLst>
              <a:ext uri="{FF2B5EF4-FFF2-40B4-BE49-F238E27FC236}">
                <a16:creationId xmlns:a16="http://schemas.microsoft.com/office/drawing/2014/main" id="{09CB4E50-5109-432F-9EAF-22C5EDC5DE1D}"/>
              </a:ext>
            </a:extLst>
          </p:cNvPr>
          <p:cNvCxnSpPr>
            <a:cxnSpLocks/>
          </p:cNvCxnSpPr>
          <p:nvPr/>
        </p:nvCxnSpPr>
        <p:spPr>
          <a:xfrm flipH="1" flipV="1">
            <a:off x="6830915" y="1211114"/>
            <a:ext cx="801862" cy="5377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直線單箭頭接點 49">
            <a:extLst>
              <a:ext uri="{FF2B5EF4-FFF2-40B4-BE49-F238E27FC236}">
                <a16:creationId xmlns:a16="http://schemas.microsoft.com/office/drawing/2014/main" id="{7199F6C8-4475-4BEF-AF85-16B23B24AE60}"/>
              </a:ext>
            </a:extLst>
          </p:cNvPr>
          <p:cNvCxnSpPr>
            <a:cxnSpLocks/>
          </p:cNvCxnSpPr>
          <p:nvPr/>
        </p:nvCxnSpPr>
        <p:spPr>
          <a:xfrm flipH="1" flipV="1">
            <a:off x="11034790" y="1821475"/>
            <a:ext cx="1354362" cy="17679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TextBox 1">
            <a:extLst>
              <a:ext uri="{FF2B5EF4-FFF2-40B4-BE49-F238E27FC236}">
                <a16:creationId xmlns:a16="http://schemas.microsoft.com/office/drawing/2014/main" id="{B7F2436E-B63D-4095-B540-1F2C1A117324}"/>
              </a:ext>
            </a:extLst>
          </p:cNvPr>
          <p:cNvSpPr txBox="1"/>
          <p:nvPr/>
        </p:nvSpPr>
        <p:spPr>
          <a:xfrm>
            <a:off x="296702" y="1196754"/>
            <a:ext cx="3324308"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號提供測試有誤，請修正</a:t>
            </a:r>
            <a:endParaRPr sz="1400" b="1" dirty="0">
              <a:highlight>
                <a:srgbClr val="00FFFF"/>
              </a:highlight>
              <a:latin typeface="微軟正黑體" panose="020B0604030504040204" pitchFamily="34" charset="-120"/>
              <a:ea typeface="微軟正黑體" panose="020B0604030504040204" pitchFamily="34" charset="-120"/>
            </a:endParaRPr>
          </a:p>
        </p:txBody>
      </p:sp>
      <p:sp>
        <p:nvSpPr>
          <p:cNvPr id="57" name="文字方塊 56">
            <a:extLst>
              <a:ext uri="{FF2B5EF4-FFF2-40B4-BE49-F238E27FC236}">
                <a16:creationId xmlns:a16="http://schemas.microsoft.com/office/drawing/2014/main" id="{E490BDDC-D32D-48FA-9928-59440AE10719}"/>
              </a:ext>
            </a:extLst>
          </p:cNvPr>
          <p:cNvSpPr txBox="1"/>
          <p:nvPr/>
        </p:nvSpPr>
        <p:spPr>
          <a:xfrm>
            <a:off x="264816" y="512435"/>
            <a:ext cx="3763032" cy="707886"/>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6/2</a:t>
            </a:r>
            <a:r>
              <a:rPr lang="zh-TW" altLang="en-US" sz="2000" b="1" dirty="0">
                <a:latin typeface="微軟正黑體" panose="020B0604030504040204" pitchFamily="34" charset="-120"/>
                <a:ea typeface="微軟正黑體" panose="020B0604030504040204" pitchFamily="34" charset="-120"/>
              </a:rPr>
              <a:t>號艾創點給的前台測試</a:t>
            </a:r>
            <a:endParaRPr lang="en-US" altLang="zh-TW" sz="2000" b="1"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進度查詢</a:t>
            </a:r>
            <a:r>
              <a:rPr lang="en-US" altLang="zh-TW" sz="2000" b="1" dirty="0">
                <a:latin typeface="微軟正黑體" panose="020B0604030504040204" pitchFamily="34" charset="-120"/>
                <a:ea typeface="微軟正黑體" panose="020B0604030504040204" pitchFamily="34" charset="-120"/>
              </a:rPr>
              <a:t>)</a:t>
            </a:r>
            <a:endParaRPr lang="zh-TW" altLang="en-US" sz="2000" b="1" dirty="0">
              <a:latin typeface="微軟正黑體" panose="020B0604030504040204" pitchFamily="34" charset="-120"/>
              <a:ea typeface="微軟正黑體" panose="020B0604030504040204" pitchFamily="34" charset="-120"/>
            </a:endParaRPr>
          </a:p>
        </p:txBody>
      </p:sp>
      <p:sp>
        <p:nvSpPr>
          <p:cNvPr id="43" name="文字方塊 42">
            <a:extLst>
              <a:ext uri="{FF2B5EF4-FFF2-40B4-BE49-F238E27FC236}">
                <a16:creationId xmlns:a16="http://schemas.microsoft.com/office/drawing/2014/main" id="{C2FE3FCD-DCC6-4DF8-87E8-52E14A43B344}"/>
              </a:ext>
            </a:extLst>
          </p:cNvPr>
          <p:cNvSpPr txBox="1"/>
          <p:nvPr/>
        </p:nvSpPr>
        <p:spPr>
          <a:xfrm>
            <a:off x="3621010" y="694630"/>
            <a:ext cx="3549247" cy="707886"/>
          </a:xfrm>
          <a:prstGeom prst="rect">
            <a:avLst/>
          </a:prstGeom>
          <a:noFill/>
        </p:spPr>
        <p:txBody>
          <a:bodyPr wrap="square" rtlCol="0">
            <a:spAutoFit/>
          </a:bodyPr>
          <a:lstStyle/>
          <a:p>
            <a:pPr marL="22860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可用廣告編號或車行名稱或地址或查詢在該客代帳號下曾申請過的範圍內的指定條件進度資料</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限定該客代曾申請的資料， 不可查其他客代帳號資料</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a:t>
            </a:r>
            <a:r>
              <a:rPr lang="zh-TW" altLang="en-US" sz="1000" u="sng" dirty="0">
                <a:latin typeface="微軟正黑體" panose="020B0604030504040204" pitchFamily="34" charset="-120"/>
                <a:ea typeface="微軟正黑體" panose="020B0604030504040204" pitchFamily="34" charset="-120"/>
              </a:rPr>
              <a:t>可用模糊搜尋方式找</a:t>
            </a:r>
            <a:r>
              <a:rPr lang="zh-TW" altLang="en-US" sz="1000" dirty="0">
                <a:latin typeface="微軟正黑體" panose="020B0604030504040204" pitchFamily="34" charset="-120"/>
                <a:ea typeface="微軟正黑體" panose="020B0604030504040204" pitchFamily="34" charset="-120"/>
              </a:rPr>
              <a:t>，沒設計到畫面裡，請加入</a:t>
            </a:r>
            <a:endParaRPr lang="zh-TW" altLang="zh-TW" sz="1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11141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
            <a:extLst>
              <a:ext uri="{FF2B5EF4-FFF2-40B4-BE49-F238E27FC236}">
                <a16:creationId xmlns:a16="http://schemas.microsoft.com/office/drawing/2014/main" id="{5405F2EB-D133-4533-B529-894068B4A8A1}"/>
              </a:ext>
            </a:extLst>
          </p:cNvPr>
          <p:cNvSpPr/>
          <p:nvPr/>
        </p:nvSpPr>
        <p:spPr>
          <a:xfrm>
            <a:off x="7034744" y="644865"/>
            <a:ext cx="9165694" cy="621313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3528220" y="-4506"/>
            <a:ext cx="8927869"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店招進度後台查詢區間申請範圍欄位</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F896566A-73A8-408E-85D7-1EAFAA239DBC}"/>
              </a:ext>
            </a:extLst>
          </p:cNvPr>
          <p:cNvSpPr txBox="1"/>
          <p:nvPr/>
        </p:nvSpPr>
        <p:spPr>
          <a:xfrm>
            <a:off x="10776746" y="2229586"/>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查詢</a:t>
            </a:r>
          </a:p>
        </p:txBody>
      </p:sp>
      <p:sp>
        <p:nvSpPr>
          <p:cNvPr id="12" name="文字方塊 11">
            <a:extLst>
              <a:ext uri="{FF2B5EF4-FFF2-40B4-BE49-F238E27FC236}">
                <a16:creationId xmlns:a16="http://schemas.microsoft.com/office/drawing/2014/main" id="{E691E7F6-F698-4734-899C-89A604C4C623}"/>
              </a:ext>
            </a:extLst>
          </p:cNvPr>
          <p:cNvSpPr txBox="1"/>
          <p:nvPr/>
        </p:nvSpPr>
        <p:spPr>
          <a:xfrm>
            <a:off x="7927327" y="2266395"/>
            <a:ext cx="85508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FB782671-34A4-4315-BBAA-0AF7BCCBB52B}"/>
              </a:ext>
            </a:extLst>
          </p:cNvPr>
          <p:cNvSpPr txBox="1"/>
          <p:nvPr/>
        </p:nvSpPr>
        <p:spPr>
          <a:xfrm>
            <a:off x="7814060" y="1515293"/>
            <a:ext cx="4226068" cy="27699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 </a:t>
            </a:r>
            <a:r>
              <a:rPr lang="zh-TW" altLang="en-US" sz="1200" dirty="0">
                <a:latin typeface="微軟正黑體" panose="020B0604030504040204" pitchFamily="34" charset="-120"/>
                <a:ea typeface="微軟正黑體" panose="020B0604030504040204" pitchFamily="34" charset="-120"/>
              </a:rPr>
              <a:t>請輸入欲查詢前台已申請資料區間，下載資料為</a:t>
            </a:r>
            <a:r>
              <a:rPr lang="en-US" altLang="zh-TW" sz="1200" dirty="0">
                <a:latin typeface="微軟正黑體" panose="020B0604030504040204" pitchFamily="34" charset="-120"/>
                <a:ea typeface="微軟正黑體" panose="020B0604030504040204" pitchFamily="34" charset="-120"/>
              </a:rPr>
              <a:t>excel</a:t>
            </a:r>
            <a:r>
              <a:rPr lang="zh-TW" altLang="en-US" sz="1200" dirty="0">
                <a:latin typeface="微軟正黑體" panose="020B0604030504040204" pitchFamily="34" charset="-120"/>
                <a:ea typeface="微軟正黑體" panose="020B0604030504040204" pitchFamily="34" charset="-120"/>
              </a:rPr>
              <a:t>格式</a:t>
            </a:r>
          </a:p>
        </p:txBody>
      </p:sp>
      <p:sp>
        <p:nvSpPr>
          <p:cNvPr id="14" name="文字方塊 13">
            <a:extLst>
              <a:ext uri="{FF2B5EF4-FFF2-40B4-BE49-F238E27FC236}">
                <a16:creationId xmlns:a16="http://schemas.microsoft.com/office/drawing/2014/main" id="{91AF7842-700D-4E85-ADE5-CC76A3D8FF40}"/>
              </a:ext>
            </a:extLst>
          </p:cNvPr>
          <p:cNvSpPr txBox="1"/>
          <p:nvPr/>
        </p:nvSpPr>
        <p:spPr>
          <a:xfrm>
            <a:off x="7881014" y="2268820"/>
            <a:ext cx="991744" cy="215444"/>
          </a:xfrm>
          <a:prstGeom prst="rect">
            <a:avLst/>
          </a:prstGeom>
          <a:noFill/>
        </p:spPr>
        <p:txBody>
          <a:bodyPr wrap="square" rtlCol="0">
            <a:spAutoFit/>
          </a:bodyPr>
          <a:lstStyle/>
          <a:p>
            <a:r>
              <a:rPr lang="en-US" altLang="zh-TW" sz="800" b="1" dirty="0">
                <a:solidFill>
                  <a:srgbClr val="FF0000"/>
                </a:solidFill>
                <a:latin typeface="微軟正黑體" panose="020B0604030504040204" pitchFamily="34" charset="-120"/>
                <a:ea typeface="微軟正黑體" panose="020B0604030504040204" pitchFamily="34" charset="-120"/>
              </a:rPr>
              <a:t>20250101(</a:t>
            </a:r>
            <a:r>
              <a:rPr lang="zh-TW" altLang="en-US" sz="800" b="1" dirty="0">
                <a:solidFill>
                  <a:srgbClr val="FF0000"/>
                </a:solidFill>
                <a:latin typeface="微軟正黑體" panose="020B0604030504040204" pitchFamily="34" charset="-120"/>
                <a:ea typeface="微軟正黑體" panose="020B0604030504040204" pitchFamily="34" charset="-120"/>
              </a:rPr>
              <a:t>自填</a:t>
            </a:r>
            <a:r>
              <a:rPr lang="en-US" altLang="zh-TW" sz="800" b="1" dirty="0">
                <a:solidFill>
                  <a:srgbClr val="FF0000"/>
                </a:solidFill>
                <a:latin typeface="微軟正黑體" panose="020B0604030504040204" pitchFamily="34" charset="-120"/>
                <a:ea typeface="微軟正黑體" panose="020B0604030504040204" pitchFamily="34" charset="-120"/>
              </a:rPr>
              <a:t>)</a:t>
            </a:r>
            <a:endParaRPr lang="zh-TW" altLang="en-US" sz="800" b="1" dirty="0">
              <a:solidFill>
                <a:srgbClr val="FF0000"/>
              </a:solidFill>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A28951BD-6237-4C21-9B27-90324B29C450}"/>
              </a:ext>
            </a:extLst>
          </p:cNvPr>
          <p:cNvSpPr txBox="1"/>
          <p:nvPr/>
        </p:nvSpPr>
        <p:spPr>
          <a:xfrm>
            <a:off x="7276861" y="2336610"/>
            <a:ext cx="63501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申請日</a:t>
            </a:r>
          </a:p>
        </p:txBody>
      </p:sp>
      <p:sp>
        <p:nvSpPr>
          <p:cNvPr id="16" name="文字方塊 15">
            <a:extLst>
              <a:ext uri="{FF2B5EF4-FFF2-40B4-BE49-F238E27FC236}">
                <a16:creationId xmlns:a16="http://schemas.microsoft.com/office/drawing/2014/main" id="{F4A4B129-6267-473F-B3B4-E7C962CB3F74}"/>
              </a:ext>
            </a:extLst>
          </p:cNvPr>
          <p:cNvSpPr txBox="1"/>
          <p:nvPr/>
        </p:nvSpPr>
        <p:spPr>
          <a:xfrm>
            <a:off x="8814973" y="2213154"/>
            <a:ext cx="1014366" cy="400110"/>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截至申請日</a:t>
            </a:r>
            <a:endParaRPr lang="en-US" altLang="zh-TW" sz="1000" b="1" dirty="0">
              <a:latin typeface="微軟正黑體" panose="020B0604030504040204" pitchFamily="34" charset="-120"/>
              <a:ea typeface="微軟正黑體" panose="020B0604030504040204" pitchFamily="34" charset="-120"/>
            </a:endParaRPr>
          </a:p>
          <a:p>
            <a:r>
              <a:rPr lang="en-US" altLang="zh-TW" sz="1000" b="1" dirty="0">
                <a:latin typeface="微軟正黑體" panose="020B0604030504040204" pitchFamily="34" charset="-120"/>
                <a:ea typeface="微軟正黑體" panose="020B0604030504040204" pitchFamily="34" charset="-120"/>
              </a:rPr>
              <a:t>(</a:t>
            </a:r>
            <a:r>
              <a:rPr lang="zh-TW" altLang="en-US" sz="1000" b="1" dirty="0">
                <a:latin typeface="微軟正黑體" panose="020B0604030504040204" pitchFamily="34" charset="-120"/>
                <a:ea typeface="微軟正黑體" panose="020B0604030504040204" pitchFamily="34" charset="-120"/>
              </a:rPr>
              <a:t>含該天申請</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1E997D5D-3C14-4166-82FF-68CB46E5CA5C}"/>
              </a:ext>
            </a:extLst>
          </p:cNvPr>
          <p:cNvSpPr txBox="1"/>
          <p:nvPr/>
        </p:nvSpPr>
        <p:spPr>
          <a:xfrm>
            <a:off x="9755323" y="2252306"/>
            <a:ext cx="85508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4EB54BE1-BBAE-4767-8176-7E6DE8116772}"/>
              </a:ext>
            </a:extLst>
          </p:cNvPr>
          <p:cNvSpPr txBox="1"/>
          <p:nvPr/>
        </p:nvSpPr>
        <p:spPr>
          <a:xfrm>
            <a:off x="9717830" y="2283081"/>
            <a:ext cx="979814" cy="215444"/>
          </a:xfrm>
          <a:prstGeom prst="rect">
            <a:avLst/>
          </a:prstGeom>
          <a:noFill/>
        </p:spPr>
        <p:txBody>
          <a:bodyPr wrap="square" rtlCol="0">
            <a:spAutoFit/>
          </a:bodyPr>
          <a:lstStyle/>
          <a:p>
            <a:r>
              <a:rPr lang="en-US" altLang="zh-TW" sz="800" b="1" dirty="0">
                <a:solidFill>
                  <a:srgbClr val="FF0000"/>
                </a:solidFill>
                <a:latin typeface="微軟正黑體" panose="020B0604030504040204" pitchFamily="34" charset="-120"/>
                <a:ea typeface="微軟正黑體" panose="020B0604030504040204" pitchFamily="34" charset="-120"/>
              </a:rPr>
              <a:t>20261231 (</a:t>
            </a:r>
            <a:r>
              <a:rPr lang="zh-TW" altLang="en-US" sz="800" b="1" dirty="0">
                <a:solidFill>
                  <a:srgbClr val="FF0000"/>
                </a:solidFill>
                <a:latin typeface="微軟正黑體" panose="020B0604030504040204" pitchFamily="34" charset="-120"/>
                <a:ea typeface="微軟正黑體" panose="020B0604030504040204" pitchFamily="34" charset="-120"/>
              </a:rPr>
              <a:t>自填</a:t>
            </a:r>
            <a:r>
              <a:rPr lang="en-US" altLang="zh-TW" sz="800" b="1" dirty="0">
                <a:solidFill>
                  <a:srgbClr val="FF0000"/>
                </a:solidFill>
                <a:latin typeface="微軟正黑體" panose="020B0604030504040204" pitchFamily="34" charset="-120"/>
                <a:ea typeface="微軟正黑體" panose="020B0604030504040204" pitchFamily="34" charset="-120"/>
              </a:rPr>
              <a:t>)</a:t>
            </a:r>
            <a:endParaRPr lang="zh-TW" altLang="en-US" sz="800" b="1" dirty="0">
              <a:solidFill>
                <a:srgbClr val="FF0000"/>
              </a:solidFill>
              <a:latin typeface="微軟正黑體" panose="020B0604030504040204" pitchFamily="34" charset="-120"/>
              <a:ea typeface="微軟正黑體" panose="020B0604030504040204" pitchFamily="34" charset="-120"/>
            </a:endParaRPr>
          </a:p>
        </p:txBody>
      </p:sp>
      <p:sp>
        <p:nvSpPr>
          <p:cNvPr id="19" name="文字方塊 18">
            <a:extLst>
              <a:ext uri="{FF2B5EF4-FFF2-40B4-BE49-F238E27FC236}">
                <a16:creationId xmlns:a16="http://schemas.microsoft.com/office/drawing/2014/main" id="{113DA9E2-5C72-44E3-B671-00C1A7DBBA1F}"/>
              </a:ext>
            </a:extLst>
          </p:cNvPr>
          <p:cNvSpPr txBox="1"/>
          <p:nvPr/>
        </p:nvSpPr>
        <p:spPr>
          <a:xfrm>
            <a:off x="11355979" y="2227120"/>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下載</a:t>
            </a:r>
          </a:p>
        </p:txBody>
      </p:sp>
      <p:sp>
        <p:nvSpPr>
          <p:cNvPr id="22" name="文字方塊 21">
            <a:extLst>
              <a:ext uri="{FF2B5EF4-FFF2-40B4-BE49-F238E27FC236}">
                <a16:creationId xmlns:a16="http://schemas.microsoft.com/office/drawing/2014/main" id="{C746AD04-5205-4336-AAE0-ECD63F1278EA}"/>
              </a:ext>
            </a:extLst>
          </p:cNvPr>
          <p:cNvSpPr txBox="1"/>
          <p:nvPr/>
        </p:nvSpPr>
        <p:spPr>
          <a:xfrm>
            <a:off x="8059621" y="5432109"/>
            <a:ext cx="2040527"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sz="1200" b="1" dirty="0">
                <a:solidFill>
                  <a:srgbClr val="FF0000"/>
                </a:solidFill>
                <a:latin typeface="微軟正黑體" panose="020B0604030504040204" pitchFamily="34" charset="-120"/>
                <a:ea typeface="微軟正黑體" panose="020B0604030504040204" pitchFamily="34" charset="-120"/>
              </a:rPr>
              <a:t>檔案位置上載</a:t>
            </a:r>
          </a:p>
        </p:txBody>
      </p:sp>
      <p:sp>
        <p:nvSpPr>
          <p:cNvPr id="21" name="文字方塊 20">
            <a:extLst>
              <a:ext uri="{FF2B5EF4-FFF2-40B4-BE49-F238E27FC236}">
                <a16:creationId xmlns:a16="http://schemas.microsoft.com/office/drawing/2014/main" id="{398F0225-BC67-40F5-86F4-93B6D6D1D32D}"/>
              </a:ext>
            </a:extLst>
          </p:cNvPr>
          <p:cNvSpPr txBox="1"/>
          <p:nvPr/>
        </p:nvSpPr>
        <p:spPr>
          <a:xfrm>
            <a:off x="7054656" y="5447500"/>
            <a:ext cx="1059904"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更新檔案路徑</a:t>
            </a:r>
            <a:endParaRPr lang="en-US" altLang="zh-TW" sz="1000" b="1" dirty="0">
              <a:latin typeface="微軟正黑體" panose="020B0604030504040204" pitchFamily="34" charset="-120"/>
              <a:ea typeface="微軟正黑體" panose="020B0604030504040204" pitchFamily="34" charset="-120"/>
            </a:endParaRPr>
          </a:p>
        </p:txBody>
      </p:sp>
      <p:sp>
        <p:nvSpPr>
          <p:cNvPr id="23" name="文字方塊 22">
            <a:extLst>
              <a:ext uri="{FF2B5EF4-FFF2-40B4-BE49-F238E27FC236}">
                <a16:creationId xmlns:a16="http://schemas.microsoft.com/office/drawing/2014/main" id="{B7B0FB66-40BC-4E77-B0DE-8D3708CB1A7C}"/>
              </a:ext>
            </a:extLst>
          </p:cNvPr>
          <p:cNvSpPr txBox="1"/>
          <p:nvPr/>
        </p:nvSpPr>
        <p:spPr>
          <a:xfrm>
            <a:off x="10183749" y="5416722"/>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上載</a:t>
            </a:r>
          </a:p>
        </p:txBody>
      </p:sp>
      <p:graphicFrame>
        <p:nvGraphicFramePr>
          <p:cNvPr id="26" name="表格 25">
            <a:extLst>
              <a:ext uri="{FF2B5EF4-FFF2-40B4-BE49-F238E27FC236}">
                <a16:creationId xmlns:a16="http://schemas.microsoft.com/office/drawing/2014/main" id="{50E5BC0D-86DA-445A-AA00-52B6EE653584}"/>
              </a:ext>
            </a:extLst>
          </p:cNvPr>
          <p:cNvGraphicFramePr>
            <a:graphicFrameLocks noGrp="1"/>
          </p:cNvGraphicFramePr>
          <p:nvPr>
            <p:extLst>
              <p:ext uri="{D42A27DB-BD31-4B8C-83A1-F6EECF244321}">
                <p14:modId xmlns:p14="http://schemas.microsoft.com/office/powerpoint/2010/main" val="505809304"/>
              </p:ext>
            </p:extLst>
          </p:nvPr>
        </p:nvGraphicFramePr>
        <p:xfrm>
          <a:off x="11349083" y="5896615"/>
          <a:ext cx="4770854" cy="900235"/>
        </p:xfrm>
        <a:graphic>
          <a:graphicData uri="http://schemas.openxmlformats.org/drawingml/2006/table">
            <a:tbl>
              <a:tblPr>
                <a:tableStyleId>{5C22544A-7EE6-4342-B048-85BDC9FD1C3A}</a:tableStyleId>
              </a:tblPr>
              <a:tblGrid>
                <a:gridCol w="3363187">
                  <a:extLst>
                    <a:ext uri="{9D8B030D-6E8A-4147-A177-3AD203B41FA5}">
                      <a16:colId xmlns:a16="http://schemas.microsoft.com/office/drawing/2014/main" val="3329062600"/>
                    </a:ext>
                  </a:extLst>
                </a:gridCol>
                <a:gridCol w="1407667">
                  <a:extLst>
                    <a:ext uri="{9D8B030D-6E8A-4147-A177-3AD203B41FA5}">
                      <a16:colId xmlns:a16="http://schemas.microsoft.com/office/drawing/2014/main" val="1455306552"/>
                    </a:ext>
                  </a:extLst>
                </a:gridCol>
              </a:tblGrid>
              <a:tr h="309563">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注意</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 </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該胎種別下的經銷商帳號登入才有權限看自已申請資料，不能看其他經銷商帳號下的申請資料</a:t>
                      </a:r>
                      <a:endParaRPr lang="zh-TW" altLang="en-US" sz="1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　</a:t>
                      </a:r>
                      <a:endParaRPr lang="zh-TW" altLang="en-US" sz="1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7675807"/>
                  </a:ext>
                </a:extLst>
              </a:tr>
              <a:tr h="198900">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指定開放前台欄位權限授權者</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 (</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可刪除、新增、修改、查詢</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endParaRPr lang="en-US" altLang="zh-TW" sz="1000" b="1"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授權</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總公司商企人員</a:t>
                      </a:r>
                      <a:endParaRPr lang="zh-TW" altLang="en-US" sz="1000" b="1"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915438523"/>
                  </a:ext>
                </a:extLst>
              </a:tr>
              <a:tr h="391772">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一般權限 </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查詢、下載</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excel</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表、上載</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excel</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表</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，以各廠區分，該廠僅能查詢、下載、上載該廠別資料</a:t>
                      </a:r>
                      <a:endParaRPr lang="en-US" altLang="zh-TW" sz="100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授權</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各廠商企人員</a:t>
                      </a:r>
                      <a:endParaRPr lang="zh-TW" altLang="en-US" sz="1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55262707"/>
                  </a:ext>
                </a:extLst>
              </a:tr>
            </a:tbl>
          </a:graphicData>
        </a:graphic>
      </p:graphicFrame>
      <p:sp>
        <p:nvSpPr>
          <p:cNvPr id="36" name="文字方塊 35">
            <a:extLst>
              <a:ext uri="{FF2B5EF4-FFF2-40B4-BE49-F238E27FC236}">
                <a16:creationId xmlns:a16="http://schemas.microsoft.com/office/drawing/2014/main" id="{90FDED86-C539-4422-B016-5CE31B846FA7}"/>
              </a:ext>
            </a:extLst>
          </p:cNvPr>
          <p:cNvSpPr txBox="1"/>
          <p:nvPr/>
        </p:nvSpPr>
        <p:spPr>
          <a:xfrm>
            <a:off x="7932395" y="1864994"/>
            <a:ext cx="85508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200" b="1" dirty="0">
                <a:solidFill>
                  <a:srgbClr val="FF0000"/>
                </a:solidFill>
                <a:latin typeface="微軟正黑體" panose="020B0604030504040204" pitchFamily="34" charset="-120"/>
                <a:ea typeface="微軟正黑體" panose="020B0604030504040204" pitchFamily="34" charset="-120"/>
              </a:rPr>
              <a:t>KD(</a:t>
            </a:r>
            <a:r>
              <a:rPr lang="zh-TW" altLang="en-US" sz="1200" b="1" dirty="0">
                <a:solidFill>
                  <a:srgbClr val="FF0000"/>
                </a:solidFill>
                <a:latin typeface="微軟正黑體" panose="020B0604030504040204" pitchFamily="34" charset="-120"/>
                <a:ea typeface="微軟正黑體" panose="020B0604030504040204" pitchFamily="34" charset="-120"/>
              </a:rPr>
              <a:t>自填</a:t>
            </a:r>
            <a:r>
              <a:rPr lang="en-US" altLang="zh-TW" sz="1200" b="1"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B3189070-9420-4759-AE9F-28FE65FCB93E}"/>
              </a:ext>
            </a:extLst>
          </p:cNvPr>
          <p:cNvSpPr txBox="1"/>
          <p:nvPr/>
        </p:nvSpPr>
        <p:spPr>
          <a:xfrm>
            <a:off x="7233075" y="1841470"/>
            <a:ext cx="1237533" cy="400110"/>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前台廠別</a:t>
            </a:r>
            <a:endParaRPr lang="en-US" altLang="zh-TW" sz="1000" b="1" dirty="0">
              <a:latin typeface="微軟正黑體" panose="020B0604030504040204" pitchFamily="34" charset="-120"/>
              <a:ea typeface="微軟正黑體" panose="020B0604030504040204" pitchFamily="34" charset="-120"/>
            </a:endParaRPr>
          </a:p>
          <a:p>
            <a:r>
              <a:rPr lang="zh-TW" altLang="en-US" sz="1000" b="1" dirty="0">
                <a:latin typeface="微軟正黑體" panose="020B0604030504040204" pitchFamily="34" charset="-120"/>
                <a:ea typeface="微軟正黑體" panose="020B0604030504040204" pitchFamily="34" charset="-120"/>
              </a:rPr>
              <a:t>申請資料</a:t>
            </a:r>
          </a:p>
        </p:txBody>
      </p:sp>
      <p:sp>
        <p:nvSpPr>
          <p:cNvPr id="38" name="文字方塊 37">
            <a:extLst>
              <a:ext uri="{FF2B5EF4-FFF2-40B4-BE49-F238E27FC236}">
                <a16:creationId xmlns:a16="http://schemas.microsoft.com/office/drawing/2014/main" id="{E7D7B2BE-3B6A-4073-9637-3A4DA104AEA1}"/>
              </a:ext>
            </a:extLst>
          </p:cNvPr>
          <p:cNvSpPr txBox="1"/>
          <p:nvPr/>
        </p:nvSpPr>
        <p:spPr>
          <a:xfrm>
            <a:off x="9434117" y="1862526"/>
            <a:ext cx="941810"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200" b="1" dirty="0">
                <a:solidFill>
                  <a:srgbClr val="FF0000"/>
                </a:solidFill>
                <a:latin typeface="微軟正黑體" panose="020B0604030504040204" pitchFamily="34" charset="-120"/>
                <a:ea typeface="微軟正黑體" panose="020B0604030504040204" pitchFamily="34" charset="-120"/>
              </a:rPr>
              <a:t>PCR (</a:t>
            </a:r>
            <a:r>
              <a:rPr lang="zh-TW" altLang="en-US" sz="1200" b="1" dirty="0">
                <a:solidFill>
                  <a:srgbClr val="FF0000"/>
                </a:solidFill>
                <a:latin typeface="微軟正黑體" panose="020B0604030504040204" pitchFamily="34" charset="-120"/>
                <a:ea typeface="微軟正黑體" panose="020B0604030504040204" pitchFamily="34" charset="-120"/>
              </a:rPr>
              <a:t>自填</a:t>
            </a:r>
            <a:r>
              <a:rPr lang="en-US" altLang="zh-TW" sz="1200" b="1"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39" name="文字方塊 38">
            <a:extLst>
              <a:ext uri="{FF2B5EF4-FFF2-40B4-BE49-F238E27FC236}">
                <a16:creationId xmlns:a16="http://schemas.microsoft.com/office/drawing/2014/main" id="{3F282C1E-6D87-4CAE-8F31-FACD68AFAF66}"/>
              </a:ext>
            </a:extLst>
          </p:cNvPr>
          <p:cNvSpPr txBox="1"/>
          <p:nvPr/>
        </p:nvSpPr>
        <p:spPr>
          <a:xfrm>
            <a:off x="8806293" y="1883806"/>
            <a:ext cx="63501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胎種別</a:t>
            </a:r>
          </a:p>
        </p:txBody>
      </p:sp>
      <p:sp>
        <p:nvSpPr>
          <p:cNvPr id="40" name="Rounded Rectangle 4">
            <a:extLst>
              <a:ext uri="{FF2B5EF4-FFF2-40B4-BE49-F238E27FC236}">
                <a16:creationId xmlns:a16="http://schemas.microsoft.com/office/drawing/2014/main" id="{6E9094C3-F02E-468E-9DE3-81559F2627ED}"/>
              </a:ext>
            </a:extLst>
          </p:cNvPr>
          <p:cNvSpPr/>
          <p:nvPr/>
        </p:nvSpPr>
        <p:spPr>
          <a:xfrm>
            <a:off x="12231976" y="1497095"/>
            <a:ext cx="3865136" cy="465730"/>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重要</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下載的</a:t>
            </a:r>
            <a:r>
              <a:rPr lang="en-US" altLang="zh-TW" sz="1200" b="1" dirty="0">
                <a:solidFill>
                  <a:srgbClr val="FF0000"/>
                </a:solidFill>
                <a:latin typeface="微軟正黑體" panose="020B0604030504040204" pitchFamily="34" charset="-120"/>
                <a:ea typeface="微軟正黑體" panose="020B0604030504040204" pitchFamily="34" charset="-120"/>
              </a:rPr>
              <a:t>excel</a:t>
            </a:r>
            <a:r>
              <a:rPr lang="zh-TW" altLang="en-US" sz="1200" b="1" dirty="0">
                <a:solidFill>
                  <a:srgbClr val="FF0000"/>
                </a:solidFill>
                <a:latin typeface="微軟正黑體" panose="020B0604030504040204" pitchFamily="34" charset="-120"/>
                <a:ea typeface="微軟正黑體" panose="020B0604030504040204" pitchFamily="34" charset="-120"/>
              </a:rPr>
              <a:t>檔名，請以該查詢區間</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廠別</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胎種別</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日期為檔名，方便維護者判讀</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41" name="文字方塊 40">
            <a:extLst>
              <a:ext uri="{FF2B5EF4-FFF2-40B4-BE49-F238E27FC236}">
                <a16:creationId xmlns:a16="http://schemas.microsoft.com/office/drawing/2014/main" id="{4960A90D-ADCE-4668-9852-5F3CE5575E2E}"/>
              </a:ext>
            </a:extLst>
          </p:cNvPr>
          <p:cNvSpPr txBox="1"/>
          <p:nvPr/>
        </p:nvSpPr>
        <p:spPr>
          <a:xfrm>
            <a:off x="8639234" y="5077167"/>
            <a:ext cx="1265791"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TW" sz="1200" b="1" dirty="0">
                <a:solidFill>
                  <a:srgbClr val="FF0000"/>
                </a:solidFill>
                <a:latin typeface="微軟正黑體" panose="020B0604030504040204" pitchFamily="34" charset="-120"/>
                <a:ea typeface="微軟正黑體" panose="020B0604030504040204" pitchFamily="34" charset="-120"/>
              </a:rPr>
              <a:t>KDKF(</a:t>
            </a:r>
            <a:r>
              <a:rPr lang="zh-TW" altLang="en-US" sz="1200" b="1" dirty="0">
                <a:solidFill>
                  <a:srgbClr val="FF0000"/>
                </a:solidFill>
                <a:latin typeface="微軟正黑體" panose="020B0604030504040204" pitchFamily="34" charset="-120"/>
                <a:ea typeface="微軟正黑體" panose="020B0604030504040204" pitchFamily="34" charset="-120"/>
              </a:rPr>
              <a:t>自填</a:t>
            </a:r>
            <a:r>
              <a:rPr lang="en-US" altLang="zh-TW" sz="1200" b="1"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42" name="文字方塊 41">
            <a:extLst>
              <a:ext uri="{FF2B5EF4-FFF2-40B4-BE49-F238E27FC236}">
                <a16:creationId xmlns:a16="http://schemas.microsoft.com/office/drawing/2014/main" id="{9EDBB5C7-9BAD-4C28-AD81-BF3FAA568F9A}"/>
              </a:ext>
            </a:extLst>
          </p:cNvPr>
          <p:cNvSpPr txBox="1"/>
          <p:nvPr/>
        </p:nvSpPr>
        <p:spPr>
          <a:xfrm>
            <a:off x="7061034" y="5035900"/>
            <a:ext cx="1753941" cy="400110"/>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後台更新資料廠</a:t>
            </a:r>
            <a:endParaRPr lang="en-US" altLang="zh-TW" sz="1000" b="1" dirty="0">
              <a:latin typeface="微軟正黑體" panose="020B0604030504040204" pitchFamily="34" charset="-120"/>
              <a:ea typeface="微軟正黑體" panose="020B0604030504040204" pitchFamily="34" charset="-120"/>
            </a:endParaRPr>
          </a:p>
          <a:p>
            <a:r>
              <a:rPr lang="en-US" altLang="zh-TW" sz="1000" b="1" dirty="0">
                <a:latin typeface="微軟正黑體" panose="020B0604030504040204" pitchFamily="34" charset="-120"/>
                <a:ea typeface="微軟正黑體" panose="020B0604030504040204" pitchFamily="34" charset="-120"/>
              </a:rPr>
              <a:t>(</a:t>
            </a:r>
            <a:r>
              <a:rPr lang="zh-TW" altLang="en-US" sz="1000" b="1" dirty="0">
                <a:latin typeface="微軟正黑體" panose="020B0604030504040204" pitchFamily="34" charset="-120"/>
                <a:ea typeface="微軟正黑體" panose="020B0604030504040204" pitchFamily="34" charset="-120"/>
              </a:rPr>
              <a:t>例如</a:t>
            </a:r>
            <a:r>
              <a:rPr lang="en-US" altLang="zh-TW" sz="1000" b="1" dirty="0">
                <a:latin typeface="微軟正黑體" panose="020B0604030504040204" pitchFamily="34" charset="-120"/>
                <a:ea typeface="微軟正黑體" panose="020B0604030504040204" pitchFamily="34" charset="-120"/>
              </a:rPr>
              <a:t>: KDKF</a:t>
            </a:r>
            <a:r>
              <a:rPr lang="zh-TW" altLang="en-US" sz="1000" b="1" dirty="0">
                <a:latin typeface="微軟正黑體" panose="020B0604030504040204" pitchFamily="34" charset="-120"/>
                <a:ea typeface="微軟正黑體" panose="020B0604030504040204" pitchFamily="34" charset="-120"/>
              </a:rPr>
              <a:t>、</a:t>
            </a:r>
            <a:r>
              <a:rPr lang="en-US" altLang="zh-TW" sz="1000" b="1" dirty="0">
                <a:latin typeface="微軟正黑體" panose="020B0604030504040204" pitchFamily="34" charset="-120"/>
                <a:ea typeface="微軟正黑體" panose="020B0604030504040204" pitchFamily="34" charset="-120"/>
              </a:rPr>
              <a:t>KS</a:t>
            </a:r>
            <a:r>
              <a:rPr lang="zh-TW" altLang="en-US" sz="1000" b="1" dirty="0">
                <a:latin typeface="微軟正黑體" panose="020B0604030504040204" pitchFamily="34" charset="-120"/>
                <a:ea typeface="微軟正黑體" panose="020B0604030504040204" pitchFamily="34" charset="-120"/>
              </a:rPr>
              <a:t>、</a:t>
            </a:r>
            <a:r>
              <a:rPr lang="en-US" altLang="zh-TW" sz="1000" b="1" dirty="0">
                <a:latin typeface="微軟正黑體" panose="020B0604030504040204" pitchFamily="34" charset="-120"/>
                <a:ea typeface="微軟正黑體" panose="020B0604030504040204" pitchFamily="34" charset="-120"/>
              </a:rPr>
              <a:t>KC)</a:t>
            </a:r>
          </a:p>
        </p:txBody>
      </p:sp>
      <p:sp>
        <p:nvSpPr>
          <p:cNvPr id="53" name="文字方塊 52">
            <a:extLst>
              <a:ext uri="{FF2B5EF4-FFF2-40B4-BE49-F238E27FC236}">
                <a16:creationId xmlns:a16="http://schemas.microsoft.com/office/drawing/2014/main" id="{D62C54AA-3FF8-4DA9-A7D0-ABC999C4DE5A}"/>
              </a:ext>
            </a:extLst>
          </p:cNvPr>
          <p:cNvSpPr txBox="1"/>
          <p:nvPr/>
        </p:nvSpPr>
        <p:spPr>
          <a:xfrm>
            <a:off x="7938002" y="4694655"/>
            <a:ext cx="7857522" cy="27699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3. </a:t>
            </a:r>
            <a:r>
              <a:rPr lang="zh-TW" altLang="en-US" sz="1200" dirty="0">
                <a:latin typeface="微軟正黑體" panose="020B0604030504040204" pitchFamily="34" charset="-120"/>
                <a:ea typeface="微軟正黑體" panose="020B0604030504040204" pitchFamily="34" charset="-120"/>
              </a:rPr>
              <a:t>更新人工併入的前台申請及補上空白資料</a:t>
            </a:r>
            <a:r>
              <a:rPr lang="en-US" altLang="zh-TW" sz="1200"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請輸入欲更新上載的</a:t>
            </a:r>
            <a:r>
              <a:rPr lang="en-US" altLang="zh-TW" sz="1200" dirty="0">
                <a:latin typeface="微軟正黑體" panose="020B0604030504040204" pitchFamily="34" charset="-120"/>
                <a:ea typeface="微軟正黑體" panose="020B0604030504040204" pitchFamily="34" charset="-120"/>
              </a:rPr>
              <a:t>excel</a:t>
            </a:r>
            <a:r>
              <a:rPr lang="zh-TW" altLang="en-US" sz="1200" dirty="0">
                <a:latin typeface="微軟正黑體" panose="020B0604030504040204" pitchFamily="34" charset="-120"/>
                <a:ea typeface="微軟正黑體" panose="020B0604030504040204" pitchFamily="34" charset="-120"/>
              </a:rPr>
              <a:t>廠區，廠區區分以</a:t>
            </a:r>
            <a:r>
              <a:rPr lang="en-US" altLang="zh-TW" sz="1200" dirty="0">
                <a:latin typeface="微軟正黑體" panose="020B0604030504040204" pitchFamily="34" charset="-120"/>
                <a:ea typeface="微軟正黑體" panose="020B0604030504040204" pitchFamily="34" charset="-120"/>
              </a:rPr>
              <a:t>KDKF/KC/KT/KS/KV/KI</a:t>
            </a:r>
            <a:r>
              <a:rPr lang="zh-TW" altLang="en-US" sz="1200" dirty="0">
                <a:latin typeface="微軟正黑體" panose="020B0604030504040204" pitchFamily="34" charset="-120"/>
                <a:ea typeface="微軟正黑體" panose="020B0604030504040204" pitchFamily="34" charset="-120"/>
              </a:rPr>
              <a:t>等</a:t>
            </a:r>
            <a:endParaRPr lang="en-US" altLang="zh-TW" sz="1200" dirty="0">
              <a:latin typeface="微軟正黑體" panose="020B0604030504040204" pitchFamily="34" charset="-120"/>
              <a:ea typeface="微軟正黑體" panose="020B0604030504040204" pitchFamily="34" charset="-120"/>
            </a:endParaRPr>
          </a:p>
        </p:txBody>
      </p:sp>
      <p:sp>
        <p:nvSpPr>
          <p:cNvPr id="54" name="文字方塊 53">
            <a:extLst>
              <a:ext uri="{FF2B5EF4-FFF2-40B4-BE49-F238E27FC236}">
                <a16:creationId xmlns:a16="http://schemas.microsoft.com/office/drawing/2014/main" id="{24D049F6-C559-419A-9E40-9545F245137F}"/>
              </a:ext>
            </a:extLst>
          </p:cNvPr>
          <p:cNvSpPr txBox="1"/>
          <p:nvPr/>
        </p:nvSpPr>
        <p:spPr>
          <a:xfrm>
            <a:off x="7825147" y="2634534"/>
            <a:ext cx="7095057" cy="830997"/>
          </a:xfrm>
          <a:prstGeom prst="rect">
            <a:avLst/>
          </a:prstGeom>
          <a:noFill/>
        </p:spPr>
        <p:txBody>
          <a:bodyPr wrap="square" rtlCol="0">
            <a:spAutoFit/>
          </a:bodyPr>
          <a:lstStyle/>
          <a:p>
            <a:pPr marL="171460" indent="-171460">
              <a:buFont typeface="Arial" panose="020B0604020202020204" pitchFamily="34" charset="0"/>
              <a:buChar char="•"/>
            </a:pP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前台新增維護的資料，依查詢關鍵字帶出於下方顯示欄位</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簡略欄位，不用像下頁</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excel</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表那麼多</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p>
          <a:p>
            <a:pPr marL="171460" indent="-171460">
              <a:buFont typeface="Arial" panose="020B0604020202020204" pitchFamily="34" charset="0"/>
              <a:buChar char="•"/>
            </a:pP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下載的</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excel</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表，要用比較詳細的，請參考下頁</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excel</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表範本，在功能內容所填由人員待補資料的</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例如廣告編號、合約起訖日及其他資料可先空白</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，供該廠後台授權人員下載</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唯總公司商企人員設有最高權限皆可刪除、編輯、修改</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rPr>
              <a:t>，並待後續維護人員更新維護後，可至下方欄位更新上載</a:t>
            </a:r>
            <a:r>
              <a:rPr lang="en-US" altLang="zh-TW" sz="1200" u="sng" dirty="0">
                <a:solidFill>
                  <a:srgbClr val="FF0000"/>
                </a:solidFill>
                <a:highlight>
                  <a:srgbClr val="FFFF00"/>
                </a:highlight>
                <a:latin typeface="微軟正黑體" panose="020B0604030504040204" pitchFamily="34" charset="-120"/>
                <a:ea typeface="微軟正黑體" panose="020B0604030504040204" pitchFamily="34" charset="-120"/>
              </a:rPr>
              <a:t>excel</a:t>
            </a:r>
            <a:endParaRPr lang="zh-TW" altLang="en-US" sz="1200" u="sng"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56" name="文字方塊 55">
            <a:extLst>
              <a:ext uri="{FF2B5EF4-FFF2-40B4-BE49-F238E27FC236}">
                <a16:creationId xmlns:a16="http://schemas.microsoft.com/office/drawing/2014/main" id="{0A290AA9-6279-4990-9035-4F47578808CD}"/>
              </a:ext>
            </a:extLst>
          </p:cNvPr>
          <p:cNvSpPr txBox="1"/>
          <p:nvPr/>
        </p:nvSpPr>
        <p:spPr>
          <a:xfrm>
            <a:off x="7915298" y="3707349"/>
            <a:ext cx="679575"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b="1" dirty="0">
                <a:solidFill>
                  <a:schemeClr val="tx1"/>
                </a:solidFill>
                <a:latin typeface="微軟正黑體" panose="020B0604030504040204" pitchFamily="34" charset="-120"/>
                <a:ea typeface="微軟正黑體" panose="020B0604030504040204" pitchFamily="34" charset="-120"/>
              </a:rPr>
              <a:t>經銷商</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57" name="文字方塊 56">
            <a:extLst>
              <a:ext uri="{FF2B5EF4-FFF2-40B4-BE49-F238E27FC236}">
                <a16:creationId xmlns:a16="http://schemas.microsoft.com/office/drawing/2014/main" id="{7201A822-6E78-45D7-9290-FA66AAD97658}"/>
              </a:ext>
            </a:extLst>
          </p:cNvPr>
          <p:cNvSpPr txBox="1"/>
          <p:nvPr/>
        </p:nvSpPr>
        <p:spPr>
          <a:xfrm>
            <a:off x="8659487" y="3705675"/>
            <a:ext cx="2380572"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b="1" dirty="0">
                <a:solidFill>
                  <a:schemeClr val="tx1"/>
                </a:solidFill>
                <a:latin typeface="微軟正黑體" panose="020B0604030504040204" pitchFamily="34" charset="-120"/>
                <a:ea typeface="微軟正黑體" panose="020B0604030504040204" pitchFamily="34" charset="-120"/>
              </a:rPr>
              <a:t>業主店名</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58" name="文字方塊 57">
            <a:extLst>
              <a:ext uri="{FF2B5EF4-FFF2-40B4-BE49-F238E27FC236}">
                <a16:creationId xmlns:a16="http://schemas.microsoft.com/office/drawing/2014/main" id="{9815DB25-AE99-4BDC-9B58-47C5BB4F9FC0}"/>
              </a:ext>
            </a:extLst>
          </p:cNvPr>
          <p:cNvSpPr txBox="1"/>
          <p:nvPr/>
        </p:nvSpPr>
        <p:spPr>
          <a:xfrm>
            <a:off x="7920489" y="3978744"/>
            <a:ext cx="54904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進達</a:t>
            </a:r>
          </a:p>
        </p:txBody>
      </p:sp>
      <p:sp>
        <p:nvSpPr>
          <p:cNvPr id="59" name="文字方塊 58">
            <a:extLst>
              <a:ext uri="{FF2B5EF4-FFF2-40B4-BE49-F238E27FC236}">
                <a16:creationId xmlns:a16="http://schemas.microsoft.com/office/drawing/2014/main" id="{20C4063D-0861-49F9-8CEC-2D416DD0C2C8}"/>
              </a:ext>
            </a:extLst>
          </p:cNvPr>
          <p:cNvSpPr txBox="1"/>
          <p:nvPr/>
        </p:nvSpPr>
        <p:spPr>
          <a:xfrm>
            <a:off x="7932396" y="4262373"/>
            <a:ext cx="54904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融邦</a:t>
            </a:r>
          </a:p>
        </p:txBody>
      </p:sp>
      <p:sp>
        <p:nvSpPr>
          <p:cNvPr id="60" name="文字方塊 59">
            <a:extLst>
              <a:ext uri="{FF2B5EF4-FFF2-40B4-BE49-F238E27FC236}">
                <a16:creationId xmlns:a16="http://schemas.microsoft.com/office/drawing/2014/main" id="{B32ABB18-AD74-443C-A4CC-206955E755C9}"/>
              </a:ext>
            </a:extLst>
          </p:cNvPr>
          <p:cNvSpPr txBox="1"/>
          <p:nvPr/>
        </p:nvSpPr>
        <p:spPr>
          <a:xfrm>
            <a:off x="11080427" y="3967991"/>
            <a:ext cx="1712484"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鐵門油漆、直招</a:t>
            </a:r>
          </a:p>
        </p:txBody>
      </p:sp>
      <p:sp>
        <p:nvSpPr>
          <p:cNvPr id="61" name="文字方塊 60">
            <a:extLst>
              <a:ext uri="{FF2B5EF4-FFF2-40B4-BE49-F238E27FC236}">
                <a16:creationId xmlns:a16="http://schemas.microsoft.com/office/drawing/2014/main" id="{E31916C1-4AEF-47C3-AA85-98330F53E686}"/>
              </a:ext>
            </a:extLst>
          </p:cNvPr>
          <p:cNvSpPr txBox="1"/>
          <p:nvPr/>
        </p:nvSpPr>
        <p:spPr>
          <a:xfrm>
            <a:off x="11099981" y="4236645"/>
            <a:ext cx="1131997"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直招、橫招</a:t>
            </a:r>
          </a:p>
        </p:txBody>
      </p:sp>
      <p:sp>
        <p:nvSpPr>
          <p:cNvPr id="62" name="文字方塊 61">
            <a:extLst>
              <a:ext uri="{FF2B5EF4-FFF2-40B4-BE49-F238E27FC236}">
                <a16:creationId xmlns:a16="http://schemas.microsoft.com/office/drawing/2014/main" id="{9D46F68E-1D47-414D-BDD1-6254DE4FB592}"/>
              </a:ext>
            </a:extLst>
          </p:cNvPr>
          <p:cNvSpPr txBox="1"/>
          <p:nvPr/>
        </p:nvSpPr>
        <p:spPr>
          <a:xfrm>
            <a:off x="13656196" y="3987898"/>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63" name="文字方塊 62">
            <a:extLst>
              <a:ext uri="{FF2B5EF4-FFF2-40B4-BE49-F238E27FC236}">
                <a16:creationId xmlns:a16="http://schemas.microsoft.com/office/drawing/2014/main" id="{6905E322-5ADF-452C-A471-F30D3F9AB736}"/>
              </a:ext>
            </a:extLst>
          </p:cNvPr>
          <p:cNvSpPr txBox="1"/>
          <p:nvPr/>
        </p:nvSpPr>
        <p:spPr>
          <a:xfrm>
            <a:off x="13656196" y="4192032"/>
            <a:ext cx="950140" cy="276999"/>
          </a:xfrm>
          <a:prstGeom prst="rect">
            <a:avLst/>
          </a:prstGeom>
          <a:noFill/>
        </p:spPr>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2026/4/16</a:t>
            </a:r>
            <a:endParaRPr lang="zh-TW" altLang="en-US" sz="1200" dirty="0">
              <a:latin typeface="微軟正黑體" panose="020B0604030504040204" pitchFamily="34" charset="-120"/>
              <a:ea typeface="微軟正黑體" panose="020B0604030504040204" pitchFamily="34" charset="-120"/>
            </a:endParaRPr>
          </a:p>
        </p:txBody>
      </p:sp>
      <p:sp>
        <p:nvSpPr>
          <p:cNvPr id="64" name="文字方塊 63">
            <a:extLst>
              <a:ext uri="{FF2B5EF4-FFF2-40B4-BE49-F238E27FC236}">
                <a16:creationId xmlns:a16="http://schemas.microsoft.com/office/drawing/2014/main" id="{FA950549-3C86-4CBA-A30C-0251FEE470CF}"/>
              </a:ext>
            </a:extLst>
          </p:cNvPr>
          <p:cNvSpPr txBox="1"/>
          <p:nvPr/>
        </p:nvSpPr>
        <p:spPr>
          <a:xfrm>
            <a:off x="13733068" y="3713162"/>
            <a:ext cx="950140"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b="1" dirty="0">
                <a:solidFill>
                  <a:schemeClr val="tx1"/>
                </a:solidFill>
                <a:latin typeface="微軟正黑體" panose="020B0604030504040204" pitchFamily="34" charset="-120"/>
                <a:ea typeface="微軟正黑體" panose="020B0604030504040204" pitchFamily="34" charset="-120"/>
              </a:rPr>
              <a:t>申請時間</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65" name="文字方塊 64">
            <a:extLst>
              <a:ext uri="{FF2B5EF4-FFF2-40B4-BE49-F238E27FC236}">
                <a16:creationId xmlns:a16="http://schemas.microsoft.com/office/drawing/2014/main" id="{C6C948A0-2C75-4C79-9DE0-8FB076DE952C}"/>
              </a:ext>
            </a:extLst>
          </p:cNvPr>
          <p:cNvSpPr txBox="1"/>
          <p:nvPr/>
        </p:nvSpPr>
        <p:spPr>
          <a:xfrm>
            <a:off x="11145043" y="3699339"/>
            <a:ext cx="950140"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b="1" dirty="0">
                <a:solidFill>
                  <a:schemeClr val="tx1"/>
                </a:solidFill>
                <a:latin typeface="微軟正黑體" panose="020B0604030504040204" pitchFamily="34" charset="-120"/>
                <a:ea typeface="微軟正黑體" panose="020B0604030504040204" pitchFamily="34" charset="-120"/>
              </a:rPr>
              <a:t>申請項目</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66" name="文字方塊 65">
            <a:extLst>
              <a:ext uri="{FF2B5EF4-FFF2-40B4-BE49-F238E27FC236}">
                <a16:creationId xmlns:a16="http://schemas.microsoft.com/office/drawing/2014/main" id="{319905F8-9A81-4C7E-ABA1-385C27300802}"/>
              </a:ext>
            </a:extLst>
          </p:cNvPr>
          <p:cNvSpPr txBox="1"/>
          <p:nvPr/>
        </p:nvSpPr>
        <p:spPr>
          <a:xfrm>
            <a:off x="8671344" y="3967345"/>
            <a:ext cx="132199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育成休閒車店</a:t>
            </a:r>
          </a:p>
        </p:txBody>
      </p:sp>
      <p:sp>
        <p:nvSpPr>
          <p:cNvPr id="67" name="文字方塊 66">
            <a:extLst>
              <a:ext uri="{FF2B5EF4-FFF2-40B4-BE49-F238E27FC236}">
                <a16:creationId xmlns:a16="http://schemas.microsoft.com/office/drawing/2014/main" id="{614CCE48-89E8-43C6-87FF-534037E45F99}"/>
              </a:ext>
            </a:extLst>
          </p:cNvPr>
          <p:cNvSpPr txBox="1"/>
          <p:nvPr/>
        </p:nvSpPr>
        <p:spPr>
          <a:xfrm>
            <a:off x="8683252" y="4250974"/>
            <a:ext cx="1335841"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吉翔汽修輪胎行</a:t>
            </a:r>
          </a:p>
        </p:txBody>
      </p:sp>
      <p:sp>
        <p:nvSpPr>
          <p:cNvPr id="68" name="文字方塊 67">
            <a:extLst>
              <a:ext uri="{FF2B5EF4-FFF2-40B4-BE49-F238E27FC236}">
                <a16:creationId xmlns:a16="http://schemas.microsoft.com/office/drawing/2014/main" id="{89AD93BC-5472-4771-BF03-67B0F7A75E16}"/>
              </a:ext>
            </a:extLst>
          </p:cNvPr>
          <p:cNvSpPr txBox="1"/>
          <p:nvPr/>
        </p:nvSpPr>
        <p:spPr>
          <a:xfrm>
            <a:off x="12375244" y="3974028"/>
            <a:ext cx="1131997"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要</a:t>
            </a:r>
            <a:r>
              <a:rPr lang="en-US" altLang="zh-TW" sz="1200" dirty="0">
                <a:latin typeface="微軟正黑體" panose="020B0604030504040204" pitchFamily="34" charset="-120"/>
                <a:ea typeface="微軟正黑體" panose="020B0604030504040204" pitchFamily="34" charset="-120"/>
              </a:rPr>
              <a:t>4/10</a:t>
            </a:r>
            <a:r>
              <a:rPr lang="zh-TW" altLang="en-US" sz="1200" dirty="0">
                <a:latin typeface="微軟正黑體" panose="020B0604030504040204" pitchFamily="34" charset="-120"/>
                <a:ea typeface="微軟正黑體" panose="020B0604030504040204" pitchFamily="34" charset="-120"/>
              </a:rPr>
              <a:t>號開店</a:t>
            </a:r>
          </a:p>
        </p:txBody>
      </p:sp>
      <p:sp>
        <p:nvSpPr>
          <p:cNvPr id="69" name="文字方塊 68">
            <a:extLst>
              <a:ext uri="{FF2B5EF4-FFF2-40B4-BE49-F238E27FC236}">
                <a16:creationId xmlns:a16="http://schemas.microsoft.com/office/drawing/2014/main" id="{C1ABCD24-1489-4748-8BA8-65CA163172B2}"/>
              </a:ext>
            </a:extLst>
          </p:cNvPr>
          <p:cNvSpPr txBox="1"/>
          <p:nvPr/>
        </p:nvSpPr>
        <p:spPr>
          <a:xfrm>
            <a:off x="12375242" y="4178161"/>
            <a:ext cx="950140" cy="276999"/>
          </a:xfrm>
          <a:prstGeom prst="rect">
            <a:avLst/>
          </a:prstGeom>
          <a:noFill/>
        </p:spPr>
        <p:txBody>
          <a:bodyPr wrap="square" rtlCol="0">
            <a:spAutoFit/>
          </a:bodyPr>
          <a:lstStyle/>
          <a:p>
            <a:r>
              <a:rPr lang="zh-TW" altLang="en-US" sz="1200" dirty="0">
                <a:latin typeface="微軟正黑體" panose="020B0604030504040204" pitchFamily="34" charset="-120"/>
                <a:ea typeface="微軟正黑體" panose="020B0604030504040204" pitchFamily="34" charset="-120"/>
              </a:rPr>
              <a:t>換地址</a:t>
            </a:r>
          </a:p>
        </p:txBody>
      </p:sp>
      <p:sp>
        <p:nvSpPr>
          <p:cNvPr id="70" name="文字方塊 69">
            <a:extLst>
              <a:ext uri="{FF2B5EF4-FFF2-40B4-BE49-F238E27FC236}">
                <a16:creationId xmlns:a16="http://schemas.microsoft.com/office/drawing/2014/main" id="{CA707628-3562-47B2-A02D-FC2424E086C1}"/>
              </a:ext>
            </a:extLst>
          </p:cNvPr>
          <p:cNvSpPr txBox="1"/>
          <p:nvPr/>
        </p:nvSpPr>
        <p:spPr>
          <a:xfrm>
            <a:off x="12452114" y="3699291"/>
            <a:ext cx="950140" cy="27699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1200" b="1" dirty="0">
                <a:solidFill>
                  <a:schemeClr val="tx1"/>
                </a:solidFill>
                <a:latin typeface="微軟正黑體" panose="020B0604030504040204" pitchFamily="34" charset="-120"/>
                <a:ea typeface="微軟正黑體" panose="020B0604030504040204" pitchFamily="34" charset="-120"/>
              </a:rPr>
              <a:t>備註</a:t>
            </a:r>
            <a:endParaRPr lang="zh-TW" altLang="en-US" sz="1200" dirty="0">
              <a:solidFill>
                <a:schemeClr val="tx1"/>
              </a:solidFill>
              <a:latin typeface="微軟正黑體" panose="020B0604030504040204" pitchFamily="34" charset="-120"/>
              <a:ea typeface="微軟正黑體" panose="020B0604030504040204" pitchFamily="34" charset="-120"/>
            </a:endParaRPr>
          </a:p>
        </p:txBody>
      </p:sp>
      <p:sp>
        <p:nvSpPr>
          <p:cNvPr id="71" name="Rounded Rectangle 4">
            <a:extLst>
              <a:ext uri="{FF2B5EF4-FFF2-40B4-BE49-F238E27FC236}">
                <a16:creationId xmlns:a16="http://schemas.microsoft.com/office/drawing/2014/main" id="{10D4EB11-A34A-459C-9077-46C7A29B743B}"/>
              </a:ext>
            </a:extLst>
          </p:cNvPr>
          <p:cNvSpPr/>
          <p:nvPr/>
        </p:nvSpPr>
        <p:spPr>
          <a:xfrm>
            <a:off x="11074712" y="5402394"/>
            <a:ext cx="5078476" cy="388612"/>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000" b="1" dirty="0">
                <a:solidFill>
                  <a:srgbClr val="FF0000"/>
                </a:solidFill>
                <a:latin typeface="微軟正黑體" panose="020B0604030504040204" pitchFamily="34" charset="-120"/>
                <a:ea typeface="微軟正黑體" panose="020B0604030504040204" pitchFamily="34" charset="-120"/>
              </a:rPr>
              <a:t>重要</a:t>
            </a:r>
            <a:r>
              <a:rPr lang="en-US" altLang="zh-TW" sz="1000" b="1" dirty="0">
                <a:solidFill>
                  <a:srgbClr val="FF0000"/>
                </a:solidFill>
                <a:latin typeface="微軟正黑體" panose="020B0604030504040204" pitchFamily="34" charset="-120"/>
                <a:ea typeface="微軟正黑體" panose="020B0604030504040204" pitchFamily="34" charset="-120"/>
              </a:rPr>
              <a:t>:</a:t>
            </a:r>
            <a:r>
              <a:rPr lang="zh-TW" altLang="en-US" sz="1000" b="1" dirty="0">
                <a:solidFill>
                  <a:srgbClr val="FF0000"/>
                </a:solidFill>
                <a:latin typeface="微軟正黑體" panose="020B0604030504040204" pitchFamily="34" charset="-120"/>
                <a:ea typeface="微軟正黑體" panose="020B0604030504040204" pitchFamily="34" charset="-120"/>
              </a:rPr>
              <a:t>該廠商企人員僅能維護該廠資料，以免他失誤，蓋掉其他廠資料，後台更新廠區資料請保留彈性，可隨維護人員自填，以免建大新擴廠區或代號而無法維護</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cxnSp>
        <p:nvCxnSpPr>
          <p:cNvPr id="75" name="直線接點 74">
            <a:extLst>
              <a:ext uri="{FF2B5EF4-FFF2-40B4-BE49-F238E27FC236}">
                <a16:creationId xmlns:a16="http://schemas.microsoft.com/office/drawing/2014/main" id="{8395CF44-1CFC-4F71-A441-F13C7DD15F03}"/>
              </a:ext>
            </a:extLst>
          </p:cNvPr>
          <p:cNvCxnSpPr/>
          <p:nvPr/>
        </p:nvCxnSpPr>
        <p:spPr>
          <a:xfrm>
            <a:off x="7361713" y="4579623"/>
            <a:ext cx="8512233"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76" name="物件 75">
            <a:extLst>
              <a:ext uri="{FF2B5EF4-FFF2-40B4-BE49-F238E27FC236}">
                <a16:creationId xmlns:a16="http://schemas.microsoft.com/office/drawing/2014/main" id="{19E52982-6DD6-4AFD-BF7E-E3E3F6FE03B2}"/>
              </a:ext>
            </a:extLst>
          </p:cNvPr>
          <p:cNvGraphicFramePr>
            <a:graphicFrameLocks noChangeAspect="1"/>
          </p:cNvGraphicFramePr>
          <p:nvPr>
            <p:extLst>
              <p:ext uri="{D42A27DB-BD31-4B8C-83A1-F6EECF244321}">
                <p14:modId xmlns:p14="http://schemas.microsoft.com/office/powerpoint/2010/main" val="2553294737"/>
              </p:ext>
            </p:extLst>
          </p:nvPr>
        </p:nvGraphicFramePr>
        <p:xfrm>
          <a:off x="12171404" y="1988386"/>
          <a:ext cx="914400" cy="752475"/>
        </p:xfrm>
        <a:graphic>
          <a:graphicData uri="http://schemas.openxmlformats.org/presentationml/2006/ole">
            <mc:AlternateContent xmlns:mc="http://schemas.openxmlformats.org/markup-compatibility/2006">
              <mc:Choice xmlns:v="urn:schemas-microsoft-com:vml" Requires="v">
                <p:oleObj spid="_x0000_s1106" name="Worksheet" showAsIcon="1" r:id="rId4" imgW="914219" imgH="752523" progId="Excel.Sheet.8">
                  <p:embed/>
                </p:oleObj>
              </mc:Choice>
              <mc:Fallback>
                <p:oleObj name="Worksheet" showAsIcon="1" r:id="rId4" imgW="914219" imgH="752523" progId="Excel.Sheet.8">
                  <p:embed/>
                  <p:pic>
                    <p:nvPicPr>
                      <p:cNvPr id="32" name="物件 31">
                        <a:extLst>
                          <a:ext uri="{FF2B5EF4-FFF2-40B4-BE49-F238E27FC236}">
                            <a16:creationId xmlns:a16="http://schemas.microsoft.com/office/drawing/2014/main" id="{1D963CC3-4E3C-4DCA-A29D-C01492FFD8B9}"/>
                          </a:ext>
                        </a:extLst>
                      </p:cNvPr>
                      <p:cNvPicPr/>
                      <p:nvPr/>
                    </p:nvPicPr>
                    <p:blipFill>
                      <a:blip r:embed="rId5"/>
                      <a:stretch>
                        <a:fillRect/>
                      </a:stretch>
                    </p:blipFill>
                    <p:spPr>
                      <a:xfrm>
                        <a:off x="12171404" y="1988386"/>
                        <a:ext cx="914400" cy="752475"/>
                      </a:xfrm>
                      <a:prstGeom prst="rect">
                        <a:avLst/>
                      </a:prstGeom>
                    </p:spPr>
                  </p:pic>
                </p:oleObj>
              </mc:Fallback>
            </mc:AlternateContent>
          </a:graphicData>
        </a:graphic>
      </p:graphicFrame>
      <p:sp>
        <p:nvSpPr>
          <p:cNvPr id="77" name="文字方塊 76">
            <a:extLst>
              <a:ext uri="{FF2B5EF4-FFF2-40B4-BE49-F238E27FC236}">
                <a16:creationId xmlns:a16="http://schemas.microsoft.com/office/drawing/2014/main" id="{B279D564-BE3E-4BF0-BD45-11F274DADEB3}"/>
              </a:ext>
            </a:extLst>
          </p:cNvPr>
          <p:cNvSpPr txBox="1"/>
          <p:nvPr/>
        </p:nvSpPr>
        <p:spPr>
          <a:xfrm>
            <a:off x="13116150" y="2333474"/>
            <a:ext cx="2457305" cy="246221"/>
          </a:xfrm>
          <a:prstGeom prst="rect">
            <a:avLst/>
          </a:prstGeom>
          <a:noFill/>
        </p:spPr>
        <p:txBody>
          <a:bodyPr wrap="square" rtlCol="0">
            <a:spAutoFit/>
          </a:bodyPr>
          <a:lstStyle/>
          <a:p>
            <a:r>
              <a:rPr lang="zh-TW" altLang="en-US" sz="1000" b="1" dirty="0">
                <a:solidFill>
                  <a:srgbClr val="FF0000"/>
                </a:solidFill>
                <a:latin typeface="微軟正黑體" panose="020B0604030504040204" pitchFamily="34" charset="-120"/>
                <a:ea typeface="微軟正黑體" panose="020B0604030504040204" pitchFamily="34" charset="-120"/>
              </a:rPr>
              <a:t>左邊</a:t>
            </a:r>
            <a:r>
              <a:rPr lang="en-US" altLang="zh-TW" sz="1000" b="1" dirty="0">
                <a:solidFill>
                  <a:srgbClr val="FF0000"/>
                </a:solidFill>
                <a:latin typeface="微軟正黑體" panose="020B0604030504040204" pitchFamily="34" charset="-120"/>
                <a:ea typeface="微軟正黑體" panose="020B0604030504040204" pitchFamily="34" charset="-120"/>
              </a:rPr>
              <a:t>excel</a:t>
            </a:r>
            <a:r>
              <a:rPr lang="zh-TW" altLang="en-US" sz="1000" b="1" dirty="0">
                <a:solidFill>
                  <a:srgbClr val="FF0000"/>
                </a:solidFill>
                <a:latin typeface="微軟正黑體" panose="020B0604030504040204" pitchFamily="34" charset="-120"/>
                <a:ea typeface="微軟正黑體" panose="020B0604030504040204" pitchFamily="34" charset="-120"/>
              </a:rPr>
              <a:t>表為下載欄位格式參考</a:t>
            </a:r>
          </a:p>
        </p:txBody>
      </p:sp>
      <p:sp>
        <p:nvSpPr>
          <p:cNvPr id="79" name="文字方塊 78">
            <a:extLst>
              <a:ext uri="{FF2B5EF4-FFF2-40B4-BE49-F238E27FC236}">
                <a16:creationId xmlns:a16="http://schemas.microsoft.com/office/drawing/2014/main" id="{037F049E-F0FF-4D20-8488-4C2D7D59F59A}"/>
              </a:ext>
            </a:extLst>
          </p:cNvPr>
          <p:cNvSpPr txBox="1"/>
          <p:nvPr/>
        </p:nvSpPr>
        <p:spPr>
          <a:xfrm>
            <a:off x="7833897" y="3486917"/>
            <a:ext cx="2706999"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查詢區間前台申請簡易明細如下</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80" name="矩形 79">
            <a:extLst>
              <a:ext uri="{FF2B5EF4-FFF2-40B4-BE49-F238E27FC236}">
                <a16:creationId xmlns:a16="http://schemas.microsoft.com/office/drawing/2014/main" id="{004ABD38-C218-4160-9B48-15134BC00A87}"/>
              </a:ext>
            </a:extLst>
          </p:cNvPr>
          <p:cNvSpPr/>
          <p:nvPr/>
        </p:nvSpPr>
        <p:spPr>
          <a:xfrm>
            <a:off x="7097192" y="5749579"/>
            <a:ext cx="4215002" cy="1231106"/>
          </a:xfrm>
          <a:prstGeom prst="rect">
            <a:avLst/>
          </a:prstGeom>
        </p:spPr>
        <p:txBody>
          <a:bodyPr wrap="square">
            <a:spAutoFit/>
          </a:bodyPr>
          <a:lstStyle/>
          <a:p>
            <a:r>
              <a:rPr lang="zh-TW" altLang="en-US" sz="1000" b="1" dirty="0">
                <a:latin typeface="微軟正黑體" panose="020B0604030504040204" pitchFamily="34" charset="-120"/>
                <a:ea typeface="微軟正黑體" panose="020B0604030504040204" pitchFamily="34" charset="-120"/>
              </a:rPr>
              <a:t>各廠維護人員請注意</a:t>
            </a:r>
            <a:r>
              <a:rPr lang="en-US" altLang="zh-TW" sz="1000" b="1" dirty="0">
                <a:latin typeface="微軟正黑體" panose="020B0604030504040204" pitchFamily="34" charset="-120"/>
                <a:ea typeface="微軟正黑體" panose="020B0604030504040204" pitchFamily="34" charset="-120"/>
              </a:rPr>
              <a:t>: </a:t>
            </a:r>
          </a:p>
          <a:p>
            <a:r>
              <a:rPr lang="en-US" altLang="zh-TW" sz="1000" b="1" dirty="0">
                <a:latin typeface="微軟正黑體" panose="020B0604030504040204" pitchFamily="34" charset="-120"/>
                <a:ea typeface="微軟正黑體" panose="020B0604030504040204" pitchFamily="34" charset="-120"/>
              </a:rPr>
              <a:t>* </a:t>
            </a:r>
            <a:r>
              <a:rPr lang="zh-TW" altLang="en-US" sz="1000" b="1" dirty="0">
                <a:latin typeface="微軟正黑體" panose="020B0604030504040204" pitchFamily="34" charset="-120"/>
                <a:ea typeface="微軟正黑體" panose="020B0604030504040204" pitchFamily="34" charset="-120"/>
              </a:rPr>
              <a:t>將前台區間資料空白區填完</a:t>
            </a:r>
            <a:r>
              <a:rPr lang="en-US" altLang="zh-TW" sz="1000" b="1" dirty="0">
                <a:latin typeface="微軟正黑體" panose="020B0604030504040204" pitchFamily="34" charset="-120"/>
                <a:ea typeface="微軟正黑體" panose="020B0604030504040204" pitchFamily="34" charset="-120"/>
              </a:rPr>
              <a:t>excel</a:t>
            </a:r>
            <a:r>
              <a:rPr lang="zh-TW" altLang="en-US" sz="1000" b="1" dirty="0">
                <a:latin typeface="微軟正黑體" panose="020B0604030504040204" pitchFamily="34" charset="-120"/>
                <a:ea typeface="微軟正黑體" panose="020B0604030504040204" pitchFamily="34" charset="-120"/>
              </a:rPr>
              <a:t>格式後，同廠區的</a:t>
            </a:r>
            <a:r>
              <a:rPr lang="en-US" altLang="zh-TW" sz="1000" b="1" dirty="0" err="1">
                <a:latin typeface="微軟正黑體" panose="020B0604030504040204" pitchFamily="34" charset="-120"/>
                <a:ea typeface="微軟正黑體" panose="020B0604030504040204" pitchFamily="34" charset="-120"/>
              </a:rPr>
              <a:t>bc</a:t>
            </a:r>
            <a:r>
              <a:rPr lang="zh-TW" altLang="en-US" sz="1000" b="1" dirty="0">
                <a:latin typeface="微軟正黑體" panose="020B0604030504040204" pitchFamily="34" charset="-120"/>
                <a:ea typeface="微軟正黑體" panose="020B0604030504040204" pitchFamily="34" charset="-120"/>
              </a:rPr>
              <a:t>、</a:t>
            </a:r>
            <a:r>
              <a:rPr lang="en-US" altLang="zh-TW" sz="1000" b="1" dirty="0">
                <a:latin typeface="微軟正黑體" panose="020B0604030504040204" pitchFamily="34" charset="-120"/>
                <a:ea typeface="微軟正黑體" panose="020B0604030504040204" pitchFamily="34" charset="-120"/>
              </a:rPr>
              <a:t>mc</a:t>
            </a:r>
            <a:r>
              <a:rPr lang="zh-TW" altLang="en-US" sz="1000" b="1" dirty="0">
                <a:latin typeface="微軟正黑體" panose="020B0604030504040204" pitchFamily="34" charset="-120"/>
                <a:ea typeface="微軟正黑體" panose="020B0604030504040204" pitchFamily="34" charset="-120"/>
              </a:rPr>
              <a:t>、</a:t>
            </a:r>
            <a:r>
              <a:rPr lang="en-US" altLang="zh-TW" sz="1000" b="1" dirty="0" err="1">
                <a:latin typeface="微軟正黑體" panose="020B0604030504040204" pitchFamily="34" charset="-120"/>
                <a:ea typeface="微軟正黑體" panose="020B0604030504040204" pitchFamily="34" charset="-120"/>
              </a:rPr>
              <a:t>pcr</a:t>
            </a:r>
            <a:r>
              <a:rPr lang="zh-TW" altLang="en-US" sz="1000" b="1" dirty="0">
                <a:latin typeface="微軟正黑體" panose="020B0604030504040204" pitchFamily="34" charset="-120"/>
                <a:ea typeface="微軟正黑體" panose="020B0604030504040204" pitchFamily="34" charset="-120"/>
              </a:rPr>
              <a:t>都在同一</a:t>
            </a:r>
            <a:r>
              <a:rPr lang="en-US" altLang="zh-TW" sz="1000" b="1" dirty="0">
                <a:latin typeface="微軟正黑體" panose="020B0604030504040204" pitchFamily="34" charset="-120"/>
                <a:ea typeface="微軟正黑體" panose="020B0604030504040204" pitchFamily="34" charset="-120"/>
              </a:rPr>
              <a:t>excel</a:t>
            </a:r>
            <a:r>
              <a:rPr lang="zh-TW" altLang="en-US" sz="1000" b="1" dirty="0">
                <a:latin typeface="微軟正黑體" panose="020B0604030504040204" pitchFamily="34" charset="-120"/>
                <a:ea typeface="微軟正黑體" panose="020B0604030504040204" pitchFamily="34" charset="-120"/>
              </a:rPr>
              <a:t>表，僅需以欄位產品別區分</a:t>
            </a:r>
            <a:r>
              <a:rPr lang="en-US" altLang="zh-TW" sz="1000" b="1" dirty="0">
                <a:latin typeface="微軟正黑體" panose="020B0604030504040204" pitchFamily="34" charset="-120"/>
                <a:ea typeface="微軟正黑體" panose="020B0604030504040204" pitchFamily="34" charset="-120"/>
              </a:rPr>
              <a:t>. </a:t>
            </a:r>
          </a:p>
          <a:p>
            <a:r>
              <a:rPr lang="zh-TW" altLang="en-US" sz="800" b="1" dirty="0">
                <a:latin typeface="微軟正黑體" panose="020B0604030504040204" pitchFamily="34" charset="-120"/>
                <a:ea typeface="微軟正黑體" panose="020B0604030504040204" pitchFamily="34" charset="-120"/>
              </a:rPr>
              <a:t>例如</a:t>
            </a:r>
            <a:r>
              <a:rPr lang="en-US" altLang="zh-TW" sz="800" b="1" dirty="0">
                <a:latin typeface="微軟正黑體" panose="020B0604030504040204" pitchFamily="34" charset="-120"/>
                <a:ea typeface="微軟正黑體" panose="020B0604030504040204" pitchFamily="34" charset="-120"/>
              </a:rPr>
              <a:t>: KDKF </a:t>
            </a:r>
            <a:r>
              <a:rPr lang="en-US" altLang="zh-TW" sz="800" b="1" dirty="0" err="1">
                <a:latin typeface="微軟正黑體" panose="020B0604030504040204" pitchFamily="34" charset="-120"/>
                <a:ea typeface="微軟正黑體" panose="020B0604030504040204" pitchFamily="34" charset="-120"/>
              </a:rPr>
              <a:t>bc</a:t>
            </a:r>
            <a:r>
              <a:rPr lang="zh-TW" altLang="en-US" sz="800" b="1" dirty="0">
                <a:latin typeface="微軟正黑體" panose="020B0604030504040204" pitchFamily="34" charset="-120"/>
                <a:ea typeface="微軟正黑體" panose="020B0604030504040204" pitchFamily="34" charset="-120"/>
              </a:rPr>
              <a:t>、</a:t>
            </a:r>
            <a:r>
              <a:rPr lang="en-US" altLang="zh-TW" sz="800" b="1" dirty="0">
                <a:latin typeface="微軟正黑體" panose="020B0604030504040204" pitchFamily="34" charset="-120"/>
                <a:ea typeface="微軟正黑體" panose="020B0604030504040204" pitchFamily="34" charset="-120"/>
              </a:rPr>
              <a:t>mc</a:t>
            </a:r>
            <a:r>
              <a:rPr lang="zh-TW" altLang="en-US" sz="800" b="1" dirty="0">
                <a:latin typeface="微軟正黑體" panose="020B0604030504040204" pitchFamily="34" charset="-120"/>
                <a:ea typeface="微軟正黑體" panose="020B0604030504040204" pitchFamily="34" charset="-120"/>
              </a:rPr>
              <a:t>、</a:t>
            </a:r>
            <a:r>
              <a:rPr lang="en-US" altLang="zh-TW" sz="800" b="1" dirty="0" err="1">
                <a:latin typeface="微軟正黑體" panose="020B0604030504040204" pitchFamily="34" charset="-120"/>
                <a:ea typeface="微軟正黑體" panose="020B0604030504040204" pitchFamily="34" charset="-120"/>
              </a:rPr>
              <a:t>pcr</a:t>
            </a:r>
            <a:r>
              <a:rPr lang="zh-TW" altLang="en-US" sz="800" b="1" dirty="0">
                <a:latin typeface="微軟正黑體" panose="020B0604030504040204" pitchFamily="34" charset="-120"/>
                <a:ea typeface="微軟正黑體" panose="020B0604030504040204" pitchFamily="34" charset="-120"/>
              </a:rPr>
              <a:t>在同一表內以產品別欄位說明，</a:t>
            </a:r>
            <a:r>
              <a:rPr lang="en-US" altLang="zh-TW" sz="800" b="1" dirty="0">
                <a:latin typeface="微軟正黑體" panose="020B0604030504040204" pitchFamily="34" charset="-120"/>
                <a:ea typeface="微軟正黑體" panose="020B0604030504040204" pitchFamily="34" charset="-120"/>
              </a:rPr>
              <a:t>KC </a:t>
            </a:r>
            <a:r>
              <a:rPr lang="en-US" altLang="zh-TW" sz="800" b="1" dirty="0" err="1">
                <a:latin typeface="微軟正黑體" panose="020B0604030504040204" pitchFamily="34" charset="-120"/>
                <a:ea typeface="微軟正黑體" panose="020B0604030504040204" pitchFamily="34" charset="-120"/>
              </a:rPr>
              <a:t>bc</a:t>
            </a:r>
            <a:r>
              <a:rPr lang="zh-TW" altLang="en-US" sz="800" b="1" dirty="0">
                <a:latin typeface="微軟正黑體" panose="020B0604030504040204" pitchFamily="34" charset="-120"/>
                <a:ea typeface="微軟正黑體" panose="020B0604030504040204" pitchFamily="34" charset="-120"/>
              </a:rPr>
              <a:t>、</a:t>
            </a:r>
            <a:r>
              <a:rPr lang="en-US" altLang="zh-TW" sz="800" b="1" dirty="0">
                <a:latin typeface="微軟正黑體" panose="020B0604030504040204" pitchFamily="34" charset="-120"/>
                <a:ea typeface="微軟正黑體" panose="020B0604030504040204" pitchFamily="34" charset="-120"/>
              </a:rPr>
              <a:t>mc</a:t>
            </a:r>
            <a:r>
              <a:rPr lang="zh-TW" altLang="en-US" sz="800" b="1" dirty="0">
                <a:latin typeface="微軟正黑體" panose="020B0604030504040204" pitchFamily="34" charset="-120"/>
                <a:ea typeface="微軟正黑體" panose="020B0604030504040204" pitchFamily="34" charset="-120"/>
              </a:rPr>
              <a:t>、</a:t>
            </a:r>
            <a:r>
              <a:rPr lang="en-US" altLang="zh-TW" sz="800" b="1" dirty="0" err="1">
                <a:latin typeface="微軟正黑體" panose="020B0604030504040204" pitchFamily="34" charset="-120"/>
                <a:ea typeface="微軟正黑體" panose="020B0604030504040204" pitchFamily="34" charset="-120"/>
              </a:rPr>
              <a:t>pcr</a:t>
            </a:r>
            <a:r>
              <a:rPr lang="zh-TW" altLang="en-US" sz="800" b="1" dirty="0">
                <a:latin typeface="微軟正黑體" panose="020B0604030504040204" pitchFamily="34" charset="-120"/>
                <a:ea typeface="微軟正黑體" panose="020B0604030504040204" pitchFamily="34" charset="-120"/>
              </a:rPr>
              <a:t>在同一表內以產品別欄位說明</a:t>
            </a:r>
            <a:endParaRPr lang="en-US" altLang="zh-TW" sz="800" b="1" dirty="0">
              <a:latin typeface="微軟正黑體" panose="020B0604030504040204" pitchFamily="34" charset="-120"/>
              <a:ea typeface="微軟正黑體" panose="020B0604030504040204" pitchFamily="34" charset="-120"/>
            </a:endParaRPr>
          </a:p>
          <a:p>
            <a:pPr marL="171460" indent="-171460">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各廠商企維護人員僅可維護該廠資料</a:t>
            </a:r>
            <a:endParaRPr lang="en-US" altLang="zh-TW" sz="1000" b="1" dirty="0">
              <a:latin typeface="微軟正黑體" panose="020B0604030504040204" pitchFamily="34" charset="-120"/>
              <a:ea typeface="微軟正黑體" panose="020B0604030504040204" pitchFamily="34" charset="-120"/>
            </a:endParaRPr>
          </a:p>
          <a:p>
            <a:pPr marL="171460" indent="-171460">
              <a:buFont typeface="Arial" panose="020B0604020202020204" pitchFamily="34" charset="0"/>
              <a:buChar char="•"/>
            </a:pPr>
            <a:r>
              <a:rPr lang="zh-TW" altLang="en-US" sz="1000" b="1" dirty="0">
                <a:latin typeface="微軟正黑體" panose="020B0604030504040204" pitchFamily="34" charset="-120"/>
                <a:ea typeface="微軟正黑體" panose="020B0604030504040204" pitchFamily="34" charset="-120"/>
              </a:rPr>
              <a:t>上載前提醒資料將覆蓋，請確定是否要覆蓋</a:t>
            </a:r>
            <a:endParaRPr lang="en-US" altLang="zh-TW" sz="1000" b="1" dirty="0">
              <a:latin typeface="微軟正黑體" panose="020B0604030504040204" pitchFamily="34" charset="-120"/>
              <a:ea typeface="微軟正黑體" panose="020B0604030504040204" pitchFamily="34" charset="-120"/>
            </a:endParaRPr>
          </a:p>
          <a:p>
            <a:endParaRPr lang="zh-TW" altLang="en-US" sz="800" b="1" dirty="0">
              <a:latin typeface="微軟正黑體" panose="020B0604030504040204" pitchFamily="34" charset="-120"/>
              <a:ea typeface="微軟正黑體" panose="020B0604030504040204" pitchFamily="34" charset="-120"/>
            </a:endParaRPr>
          </a:p>
        </p:txBody>
      </p:sp>
      <p:sp>
        <p:nvSpPr>
          <p:cNvPr id="81" name="文字方塊 80">
            <a:extLst>
              <a:ext uri="{FF2B5EF4-FFF2-40B4-BE49-F238E27FC236}">
                <a16:creationId xmlns:a16="http://schemas.microsoft.com/office/drawing/2014/main" id="{9BA0C2F3-453F-4151-AFEC-B485B3CCDF88}"/>
              </a:ext>
            </a:extLst>
          </p:cNvPr>
          <p:cNvSpPr txBox="1"/>
          <p:nvPr/>
        </p:nvSpPr>
        <p:spPr>
          <a:xfrm>
            <a:off x="7825144" y="1079193"/>
            <a:ext cx="2247870"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下載程式目前最新版</a:t>
            </a:r>
            <a:r>
              <a:rPr lang="en-US" altLang="zh-TW" sz="1200" dirty="0">
                <a:solidFill>
                  <a:srgbClr val="FF0000"/>
                </a:solidFill>
                <a:latin typeface="微軟正黑體" panose="020B0604030504040204" pitchFamily="34" charset="-120"/>
                <a:ea typeface="微軟正黑體" panose="020B0604030504040204" pitchFamily="34" charset="-120"/>
              </a:rPr>
              <a:t>excel</a:t>
            </a:r>
            <a:r>
              <a:rPr lang="zh-TW" altLang="en-US" sz="1200" dirty="0">
                <a:solidFill>
                  <a:srgbClr val="FF0000"/>
                </a:solidFill>
                <a:latin typeface="微軟正黑體" panose="020B0604030504040204" pitchFamily="34" charset="-120"/>
                <a:ea typeface="微軟正黑體" panose="020B0604030504040204" pitchFamily="34" charset="-120"/>
              </a:rPr>
              <a:t>表</a:t>
            </a:r>
          </a:p>
        </p:txBody>
      </p:sp>
      <p:sp>
        <p:nvSpPr>
          <p:cNvPr id="87" name="文字方塊 86">
            <a:extLst>
              <a:ext uri="{FF2B5EF4-FFF2-40B4-BE49-F238E27FC236}">
                <a16:creationId xmlns:a16="http://schemas.microsoft.com/office/drawing/2014/main" id="{C19EE6EA-BF2A-4CA1-96C0-0725437724A2}"/>
              </a:ext>
            </a:extLst>
          </p:cNvPr>
          <p:cNvSpPr txBox="1"/>
          <p:nvPr/>
        </p:nvSpPr>
        <p:spPr>
          <a:xfrm>
            <a:off x="10073014" y="1124228"/>
            <a:ext cx="4739128" cy="246221"/>
          </a:xfrm>
          <a:prstGeom prst="rect">
            <a:avLst/>
          </a:prstGeom>
          <a:noFill/>
        </p:spPr>
        <p:txBody>
          <a:bodyPr wrap="square" rtlCol="0">
            <a:spAutoFit/>
          </a:bodyPr>
          <a:lstStyle/>
          <a:p>
            <a:r>
              <a:rPr lang="zh-TW" altLang="en-US" sz="1000" b="1" dirty="0">
                <a:solidFill>
                  <a:srgbClr val="FF0000"/>
                </a:solidFill>
                <a:latin typeface="微軟正黑體" panose="020B0604030504040204" pitchFamily="34" charset="-120"/>
                <a:ea typeface="微軟正黑體" panose="020B0604030504040204" pitchFamily="34" charset="-120"/>
              </a:rPr>
              <a:t>供維護人員以程式上最新版下載後，維護加入前台查詢區間的資料</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sp>
        <p:nvSpPr>
          <p:cNvPr id="88" name="文字方塊 87">
            <a:extLst>
              <a:ext uri="{FF2B5EF4-FFF2-40B4-BE49-F238E27FC236}">
                <a16:creationId xmlns:a16="http://schemas.microsoft.com/office/drawing/2014/main" id="{D380F31D-5DCD-46F9-B8AB-DDC709770BA3}"/>
              </a:ext>
            </a:extLst>
          </p:cNvPr>
          <p:cNvSpPr txBox="1"/>
          <p:nvPr/>
        </p:nvSpPr>
        <p:spPr>
          <a:xfrm>
            <a:off x="7833894" y="750489"/>
            <a:ext cx="2453896" cy="27699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程式現有</a:t>
            </a:r>
            <a:r>
              <a:rPr lang="en-US" altLang="zh-TW" sz="1200" dirty="0">
                <a:latin typeface="微軟正黑體" panose="020B0604030504040204" pitchFamily="34" charset="-120"/>
                <a:ea typeface="微軟正黑體" panose="020B0604030504040204" pitchFamily="34" charset="-120"/>
              </a:rPr>
              <a:t>excel</a:t>
            </a:r>
            <a:r>
              <a:rPr lang="zh-TW" altLang="en-US" sz="1200" dirty="0">
                <a:latin typeface="微軟正黑體" panose="020B0604030504040204" pitchFamily="34" charset="-120"/>
                <a:ea typeface="微軟正黑體" panose="020B0604030504040204" pitchFamily="34" charset="-120"/>
              </a:rPr>
              <a:t>表下載</a:t>
            </a:r>
          </a:p>
        </p:txBody>
      </p:sp>
      <p:sp>
        <p:nvSpPr>
          <p:cNvPr id="89" name="Rounded Rectangle 4">
            <a:extLst>
              <a:ext uri="{FF2B5EF4-FFF2-40B4-BE49-F238E27FC236}">
                <a16:creationId xmlns:a16="http://schemas.microsoft.com/office/drawing/2014/main" id="{844B3B9E-BF6E-4AD4-B0F2-F608ECE14AB7}"/>
              </a:ext>
            </a:extLst>
          </p:cNvPr>
          <p:cNvSpPr/>
          <p:nvPr/>
        </p:nvSpPr>
        <p:spPr>
          <a:xfrm>
            <a:off x="10780848" y="772920"/>
            <a:ext cx="5298511" cy="298539"/>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重要</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下載的</a:t>
            </a:r>
            <a:r>
              <a:rPr lang="en-US" altLang="zh-TW" sz="1200" b="1" dirty="0">
                <a:solidFill>
                  <a:srgbClr val="FF0000"/>
                </a:solidFill>
                <a:latin typeface="微軟正黑體" panose="020B0604030504040204" pitchFamily="34" charset="-120"/>
                <a:ea typeface="微軟正黑體" panose="020B0604030504040204" pitchFamily="34" charset="-120"/>
              </a:rPr>
              <a:t>excel</a:t>
            </a:r>
            <a:r>
              <a:rPr lang="zh-TW" altLang="en-US" sz="1200" b="1" dirty="0">
                <a:solidFill>
                  <a:srgbClr val="FF0000"/>
                </a:solidFill>
                <a:latin typeface="微軟正黑體" panose="020B0604030504040204" pitchFamily="34" charset="-120"/>
                <a:ea typeface="微軟正黑體" panose="020B0604030504040204" pitchFamily="34" charset="-120"/>
              </a:rPr>
              <a:t>檔名，請以下載日期</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廠別檔名，方便維護者判讀</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sp>
        <p:nvSpPr>
          <p:cNvPr id="51" name="TextBox 1">
            <a:extLst>
              <a:ext uri="{FF2B5EF4-FFF2-40B4-BE49-F238E27FC236}">
                <a16:creationId xmlns:a16="http://schemas.microsoft.com/office/drawing/2014/main" id="{488C1444-9353-4CDE-82A7-D4B301466B21}"/>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4481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
            <a:extLst>
              <a:ext uri="{FF2B5EF4-FFF2-40B4-BE49-F238E27FC236}">
                <a16:creationId xmlns:a16="http://schemas.microsoft.com/office/drawing/2014/main" id="{5405F2EB-D133-4533-B529-894068B4A8A1}"/>
              </a:ext>
            </a:extLst>
          </p:cNvPr>
          <p:cNvSpPr/>
          <p:nvPr/>
        </p:nvSpPr>
        <p:spPr>
          <a:xfrm>
            <a:off x="7073609" y="652282"/>
            <a:ext cx="9126829" cy="5620945"/>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3528220" y="-4506"/>
            <a:ext cx="8628611" cy="646331"/>
          </a:xfrm>
          <a:prstGeom prst="rect">
            <a:avLst/>
          </a:prstGeom>
          <a:noFill/>
        </p:spPr>
        <p:txBody>
          <a:bodyPr wrap="square" rtlCol="0">
            <a:spAutoFit/>
          </a:bodyPr>
          <a:lstStyle/>
          <a:p>
            <a:r>
              <a:rPr lang="zh-TW" altLang="en-US" sz="3600" b="1" dirty="0">
                <a:latin typeface="微軟正黑體" panose="020B0604030504040204" pitchFamily="34" charset="-120"/>
                <a:ea typeface="微軟正黑體" panose="020B0604030504040204" pitchFamily="34" charset="-120"/>
              </a:rPr>
              <a:t>店招進度查詢</a:t>
            </a:r>
            <a:r>
              <a:rPr lang="zh-TW" altLang="en-US" sz="3300" b="1" dirty="0">
                <a:latin typeface="微軟正黑體" panose="020B0604030504040204" pitchFamily="34" charset="-120"/>
                <a:ea typeface="微軟正黑體" panose="020B0604030504040204" pitchFamily="34" charset="-120"/>
              </a:rPr>
              <a:t>後台下載 </a:t>
            </a:r>
            <a:r>
              <a:rPr lang="en-US" altLang="zh-TW" sz="3300" b="1" dirty="0" err="1">
                <a:latin typeface="微軟正黑體" panose="020B0604030504040204" pitchFamily="34" charset="-120"/>
                <a:ea typeface="微軟正黑體" panose="020B0604030504040204" pitchFamily="34" charset="-120"/>
              </a:rPr>
              <a:t>EXCEl</a:t>
            </a:r>
            <a:r>
              <a:rPr lang="zh-TW" altLang="en-US" sz="3300" b="1" dirty="0">
                <a:latin typeface="微軟正黑體" panose="020B0604030504040204" pitchFamily="34" charset="-120"/>
                <a:ea typeface="微軟正黑體" panose="020B0604030504040204" pitchFamily="34" charset="-120"/>
              </a:rPr>
              <a:t>表內容參考</a:t>
            </a:r>
            <a:r>
              <a:rPr lang="en-US" altLang="zh-TW" sz="3300" b="1" dirty="0">
                <a:latin typeface="微軟正黑體" panose="020B0604030504040204" pitchFamily="34" charset="-120"/>
                <a:ea typeface="微軟正黑體" panose="020B0604030504040204" pitchFamily="34" charset="-120"/>
              </a:rPr>
              <a:t>:</a:t>
            </a:r>
            <a:endParaRPr lang="zh-TW" altLang="en-US" sz="3300" b="1" dirty="0">
              <a:latin typeface="微軟正黑體" panose="020B0604030504040204" pitchFamily="34" charset="-120"/>
              <a:ea typeface="微軟正黑體" panose="020B0604030504040204" pitchFamily="34" charset="-120"/>
            </a:endParaRPr>
          </a:p>
        </p:txBody>
      </p:sp>
      <p:sp>
        <p:nvSpPr>
          <p:cNvPr id="24" name="Rounded Rectangle 4">
            <a:extLst>
              <a:ext uri="{FF2B5EF4-FFF2-40B4-BE49-F238E27FC236}">
                <a16:creationId xmlns:a16="http://schemas.microsoft.com/office/drawing/2014/main" id="{5B0365DC-680B-4F6D-B682-2CD79496914A}"/>
              </a:ext>
            </a:extLst>
          </p:cNvPr>
          <p:cNvSpPr/>
          <p:nvPr/>
        </p:nvSpPr>
        <p:spPr>
          <a:xfrm>
            <a:off x="12187370" y="1180583"/>
            <a:ext cx="3833120" cy="465730"/>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若艾創點有更好的維護方式建議也可以幫忙修正簡化、排列，讓維護者更方便維護</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pic>
        <p:nvPicPr>
          <p:cNvPr id="27" name="圖片 26">
            <a:extLst>
              <a:ext uri="{FF2B5EF4-FFF2-40B4-BE49-F238E27FC236}">
                <a16:creationId xmlns:a16="http://schemas.microsoft.com/office/drawing/2014/main" id="{B976D805-5570-4050-BA45-DC66D292C53B}"/>
              </a:ext>
            </a:extLst>
          </p:cNvPr>
          <p:cNvPicPr>
            <a:picLocks noChangeAspect="1"/>
          </p:cNvPicPr>
          <p:nvPr/>
        </p:nvPicPr>
        <p:blipFill>
          <a:blip r:embed="rId3"/>
          <a:stretch>
            <a:fillRect/>
          </a:stretch>
        </p:blipFill>
        <p:spPr>
          <a:xfrm>
            <a:off x="7034741" y="2942175"/>
            <a:ext cx="9144000" cy="2148051"/>
          </a:xfrm>
          <a:prstGeom prst="rect">
            <a:avLst/>
          </a:prstGeom>
        </p:spPr>
      </p:pic>
      <p:sp>
        <p:nvSpPr>
          <p:cNvPr id="28" name="文字方塊 27">
            <a:extLst>
              <a:ext uri="{FF2B5EF4-FFF2-40B4-BE49-F238E27FC236}">
                <a16:creationId xmlns:a16="http://schemas.microsoft.com/office/drawing/2014/main" id="{1DB93E0B-3913-4423-A646-36627E855522}"/>
              </a:ext>
            </a:extLst>
          </p:cNvPr>
          <p:cNvSpPr txBox="1"/>
          <p:nvPr/>
        </p:nvSpPr>
        <p:spPr>
          <a:xfrm>
            <a:off x="7221158" y="1465569"/>
            <a:ext cx="3297855"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參考範例如下邊</a:t>
            </a:r>
            <a:r>
              <a:rPr lang="en-US" altLang="zh-TW" sz="1000" b="1" dirty="0">
                <a:latin typeface="微軟正黑體" panose="020B0604030504040204" pitchFamily="34" charset="-120"/>
                <a:ea typeface="微軟正黑體" panose="020B0604030504040204" pitchFamily="34" charset="-120"/>
              </a:rPr>
              <a:t>excel</a:t>
            </a:r>
            <a:r>
              <a:rPr lang="zh-TW" altLang="en-US" sz="1000" b="1" dirty="0">
                <a:latin typeface="微軟正黑體" panose="020B0604030504040204" pitchFamily="34" charset="-120"/>
                <a:ea typeface="微軟正黑體" panose="020B0604030504040204" pitchFamily="34" charset="-120"/>
              </a:rPr>
              <a:t>表檔</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pic>
        <p:nvPicPr>
          <p:cNvPr id="29" name="圖片 28">
            <a:extLst>
              <a:ext uri="{FF2B5EF4-FFF2-40B4-BE49-F238E27FC236}">
                <a16:creationId xmlns:a16="http://schemas.microsoft.com/office/drawing/2014/main" id="{F79D2EBA-D324-4B10-86E2-E08A2127EA2C}"/>
              </a:ext>
            </a:extLst>
          </p:cNvPr>
          <p:cNvPicPr>
            <a:picLocks noChangeAspect="1"/>
          </p:cNvPicPr>
          <p:nvPr/>
        </p:nvPicPr>
        <p:blipFill>
          <a:blip r:embed="rId4"/>
          <a:stretch>
            <a:fillRect/>
          </a:stretch>
        </p:blipFill>
        <p:spPr>
          <a:xfrm>
            <a:off x="7034741" y="3938181"/>
            <a:ext cx="9144000" cy="2133176"/>
          </a:xfrm>
          <a:prstGeom prst="rect">
            <a:avLst/>
          </a:prstGeom>
        </p:spPr>
      </p:pic>
      <p:pic>
        <p:nvPicPr>
          <p:cNvPr id="30" name="圖片 29">
            <a:extLst>
              <a:ext uri="{FF2B5EF4-FFF2-40B4-BE49-F238E27FC236}">
                <a16:creationId xmlns:a16="http://schemas.microsoft.com/office/drawing/2014/main" id="{76B5AE34-8A75-4342-B5D5-64474E0668AD}"/>
              </a:ext>
            </a:extLst>
          </p:cNvPr>
          <p:cNvPicPr>
            <a:picLocks noChangeAspect="1"/>
          </p:cNvPicPr>
          <p:nvPr/>
        </p:nvPicPr>
        <p:blipFill>
          <a:blip r:embed="rId5"/>
          <a:stretch>
            <a:fillRect/>
          </a:stretch>
        </p:blipFill>
        <p:spPr>
          <a:xfrm>
            <a:off x="7034741" y="4966587"/>
            <a:ext cx="9144000" cy="2983647"/>
          </a:xfrm>
          <a:prstGeom prst="rect">
            <a:avLst/>
          </a:prstGeom>
        </p:spPr>
      </p:pic>
      <p:graphicFrame>
        <p:nvGraphicFramePr>
          <p:cNvPr id="32" name="物件 31">
            <a:extLst>
              <a:ext uri="{FF2B5EF4-FFF2-40B4-BE49-F238E27FC236}">
                <a16:creationId xmlns:a16="http://schemas.microsoft.com/office/drawing/2014/main" id="{1D963CC3-4E3C-4DCA-A29D-C01492FFD8B9}"/>
              </a:ext>
            </a:extLst>
          </p:cNvPr>
          <p:cNvGraphicFramePr>
            <a:graphicFrameLocks noChangeAspect="1"/>
          </p:cNvGraphicFramePr>
          <p:nvPr>
            <p:extLst>
              <p:ext uri="{D42A27DB-BD31-4B8C-83A1-F6EECF244321}">
                <p14:modId xmlns:p14="http://schemas.microsoft.com/office/powerpoint/2010/main" val="984114168"/>
              </p:ext>
            </p:extLst>
          </p:nvPr>
        </p:nvGraphicFramePr>
        <p:xfrm>
          <a:off x="7577123" y="1772604"/>
          <a:ext cx="914400" cy="752475"/>
        </p:xfrm>
        <a:graphic>
          <a:graphicData uri="http://schemas.openxmlformats.org/presentationml/2006/ole">
            <mc:AlternateContent xmlns:mc="http://schemas.openxmlformats.org/markup-compatibility/2006">
              <mc:Choice xmlns:v="urn:schemas-microsoft-com:vml" Requires="v">
                <p:oleObj spid="_x0000_s3151" name="Worksheet" showAsIcon="1" r:id="rId6" imgW="914219" imgH="752523" progId="Excel.Sheet.8">
                  <p:embed/>
                </p:oleObj>
              </mc:Choice>
              <mc:Fallback>
                <p:oleObj name="Worksheet" showAsIcon="1" r:id="rId6" imgW="914219" imgH="752523" progId="Excel.Sheet.8">
                  <p:embed/>
                  <p:pic>
                    <p:nvPicPr>
                      <p:cNvPr id="32" name="物件 31">
                        <a:extLst>
                          <a:ext uri="{FF2B5EF4-FFF2-40B4-BE49-F238E27FC236}">
                            <a16:creationId xmlns:a16="http://schemas.microsoft.com/office/drawing/2014/main" id="{1D963CC3-4E3C-4DCA-A29D-C01492FFD8B9}"/>
                          </a:ext>
                        </a:extLst>
                      </p:cNvPr>
                      <p:cNvPicPr/>
                      <p:nvPr/>
                    </p:nvPicPr>
                    <p:blipFill>
                      <a:blip r:embed="rId7"/>
                      <a:stretch>
                        <a:fillRect/>
                      </a:stretch>
                    </p:blipFill>
                    <p:spPr>
                      <a:xfrm>
                        <a:off x="7577123" y="1772604"/>
                        <a:ext cx="914400" cy="752475"/>
                      </a:xfrm>
                      <a:prstGeom prst="rect">
                        <a:avLst/>
                      </a:prstGeom>
                    </p:spPr>
                  </p:pic>
                </p:oleObj>
              </mc:Fallback>
            </mc:AlternateContent>
          </a:graphicData>
        </a:graphic>
      </p:graphicFrame>
      <p:sp>
        <p:nvSpPr>
          <p:cNvPr id="40" name="Rounded Rectangle 4">
            <a:extLst>
              <a:ext uri="{FF2B5EF4-FFF2-40B4-BE49-F238E27FC236}">
                <a16:creationId xmlns:a16="http://schemas.microsoft.com/office/drawing/2014/main" id="{6E9094C3-F02E-468E-9DE3-81559F2627ED}"/>
              </a:ext>
            </a:extLst>
          </p:cNvPr>
          <p:cNvSpPr/>
          <p:nvPr/>
        </p:nvSpPr>
        <p:spPr>
          <a:xfrm>
            <a:off x="12187370" y="659698"/>
            <a:ext cx="3865136" cy="465730"/>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solidFill>
                  <a:srgbClr val="FF0000"/>
                </a:solidFill>
                <a:latin typeface="微軟正黑體" panose="020B0604030504040204" pitchFamily="34" charset="-120"/>
                <a:ea typeface="微軟正黑體" panose="020B0604030504040204" pitchFamily="34" charset="-120"/>
              </a:rPr>
              <a:t>重要</a:t>
            </a:r>
            <a:r>
              <a:rPr lang="en-US" altLang="zh-TW" sz="1200" b="1" dirty="0">
                <a:solidFill>
                  <a:srgbClr val="FF0000"/>
                </a:solidFill>
                <a:latin typeface="微軟正黑體" panose="020B0604030504040204" pitchFamily="34" charset="-120"/>
                <a:ea typeface="微軟正黑體" panose="020B0604030504040204" pitchFamily="34" charset="-120"/>
              </a:rPr>
              <a:t>:</a:t>
            </a:r>
            <a:r>
              <a:rPr lang="zh-TW" altLang="en-US" sz="1200" b="1" dirty="0">
                <a:solidFill>
                  <a:srgbClr val="FF0000"/>
                </a:solidFill>
                <a:latin typeface="微軟正黑體" panose="020B0604030504040204" pitchFamily="34" charset="-120"/>
                <a:ea typeface="微軟正黑體" panose="020B0604030504040204" pitchFamily="34" charset="-120"/>
              </a:rPr>
              <a:t>下載的</a:t>
            </a:r>
            <a:r>
              <a:rPr lang="en-US" altLang="zh-TW" sz="1200" b="1" dirty="0">
                <a:solidFill>
                  <a:srgbClr val="FF0000"/>
                </a:solidFill>
                <a:latin typeface="微軟正黑體" panose="020B0604030504040204" pitchFamily="34" charset="-120"/>
                <a:ea typeface="微軟正黑體" panose="020B0604030504040204" pitchFamily="34" charset="-120"/>
              </a:rPr>
              <a:t>excel</a:t>
            </a:r>
            <a:r>
              <a:rPr lang="zh-TW" altLang="en-US" sz="1200" b="1" dirty="0">
                <a:solidFill>
                  <a:srgbClr val="FF0000"/>
                </a:solidFill>
                <a:latin typeface="微軟正黑體" panose="020B0604030504040204" pitchFamily="34" charset="-120"/>
                <a:ea typeface="微軟正黑體" panose="020B0604030504040204" pitchFamily="34" charset="-120"/>
              </a:rPr>
              <a:t>檔名請以該查詢區間廠別、胎種別、日期為檔名，方便下載者判讀</a:t>
            </a:r>
            <a:endParaRPr lang="en-US" altLang="zh-TW" sz="1200" b="1" dirty="0">
              <a:solidFill>
                <a:srgbClr val="FF0000"/>
              </a:solidFill>
              <a:latin typeface="微軟正黑體" panose="020B0604030504040204" pitchFamily="34" charset="-120"/>
              <a:ea typeface="微軟正黑體" panose="020B0604030504040204" pitchFamily="34" charset="-120"/>
            </a:endParaRPr>
          </a:p>
        </p:txBody>
      </p:sp>
      <p:graphicFrame>
        <p:nvGraphicFramePr>
          <p:cNvPr id="2" name="表格 1">
            <a:extLst>
              <a:ext uri="{FF2B5EF4-FFF2-40B4-BE49-F238E27FC236}">
                <a16:creationId xmlns:a16="http://schemas.microsoft.com/office/drawing/2014/main" id="{56CCF354-B7FE-4E43-9D91-583C89A72ED2}"/>
              </a:ext>
            </a:extLst>
          </p:cNvPr>
          <p:cNvGraphicFramePr>
            <a:graphicFrameLocks noGrp="1"/>
          </p:cNvGraphicFramePr>
          <p:nvPr>
            <p:extLst>
              <p:ext uri="{D42A27DB-BD31-4B8C-83A1-F6EECF244321}">
                <p14:modId xmlns:p14="http://schemas.microsoft.com/office/powerpoint/2010/main" val="3085197436"/>
              </p:ext>
            </p:extLst>
          </p:nvPr>
        </p:nvGraphicFramePr>
        <p:xfrm>
          <a:off x="12657306" y="1790020"/>
          <a:ext cx="3363187" cy="982444"/>
        </p:xfrm>
        <a:graphic>
          <a:graphicData uri="http://schemas.openxmlformats.org/drawingml/2006/table">
            <a:tbl>
              <a:tblPr>
                <a:tableStyleId>{5C22544A-7EE6-4342-B048-85BDC9FD1C3A}</a:tableStyleId>
              </a:tblPr>
              <a:tblGrid>
                <a:gridCol w="3363187">
                  <a:extLst>
                    <a:ext uri="{9D8B030D-6E8A-4147-A177-3AD203B41FA5}">
                      <a16:colId xmlns:a16="http://schemas.microsoft.com/office/drawing/2014/main" val="3967559306"/>
                    </a:ext>
                  </a:extLst>
                </a:gridCol>
              </a:tblGrid>
              <a:tr h="391772">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注意</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 </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該胎種別下的經銷商帳號登入才有權限看自已申請資料，不能看其他經銷商帳號下的申請資料</a:t>
                      </a:r>
                      <a:endParaRPr lang="zh-TW" altLang="en-US" sz="1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92433106"/>
                  </a:ext>
                </a:extLst>
              </a:tr>
              <a:tr h="198900">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指定開放前台欄位權限授權者</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 (</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可刪除、新增、修改、查詢</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endParaRPr lang="en-US" altLang="zh-TW" sz="1000" b="1"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394554513"/>
                  </a:ext>
                </a:extLst>
              </a:tr>
              <a:tr h="391772">
                <a:tc>
                  <a:txBody>
                    <a:bodyPr/>
                    <a:lstStyle/>
                    <a:p>
                      <a:pPr algn="l" fontAlgn="ct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一般權限 </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查詢、下載</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excel</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表、上載</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excel</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表</a:t>
                      </a:r>
                      <a:r>
                        <a:rPr lang="en-US" altLang="zh-TW" sz="1000" u="none" strike="noStrike" dirty="0">
                          <a:solidFill>
                            <a:srgbClr val="FF0000"/>
                          </a:solidFill>
                          <a:effectLst/>
                          <a:latin typeface="微軟正黑體" panose="020B0604030504040204" pitchFamily="34" charset="-120"/>
                          <a:ea typeface="微軟正黑體" panose="020B0604030504040204" pitchFamily="34" charset="-120"/>
                        </a:rPr>
                        <a:t>)</a:t>
                      </a:r>
                      <a:r>
                        <a:rPr lang="zh-TW" altLang="en-US" sz="1000" u="none" strike="noStrike" dirty="0">
                          <a:solidFill>
                            <a:srgbClr val="FF0000"/>
                          </a:solidFill>
                          <a:effectLst/>
                          <a:latin typeface="微軟正黑體" panose="020B0604030504040204" pitchFamily="34" charset="-120"/>
                          <a:ea typeface="微軟正黑體" panose="020B0604030504040204" pitchFamily="34" charset="-120"/>
                        </a:rPr>
                        <a:t>，以各廠區分，該廠僅能查詢、下載、上載該廠別資料</a:t>
                      </a:r>
                      <a:endParaRPr lang="en-US" altLang="zh-TW" sz="1000" u="none" strike="noStrike" dirty="0">
                        <a:solidFill>
                          <a:srgbClr val="FF0000"/>
                        </a:solidFill>
                        <a:effectLst/>
                        <a:latin typeface="微軟正黑體" panose="020B0604030504040204" pitchFamily="34" charset="-120"/>
                        <a:ea typeface="微軟正黑體" panose="020B0604030504040204" pitchFamily="34" charset="-12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3909967"/>
                  </a:ext>
                </a:extLst>
              </a:tr>
            </a:tbl>
          </a:graphicData>
        </a:graphic>
      </p:graphicFrame>
      <p:sp>
        <p:nvSpPr>
          <p:cNvPr id="12" name="TextBox 1">
            <a:extLst>
              <a:ext uri="{FF2B5EF4-FFF2-40B4-BE49-F238E27FC236}">
                <a16:creationId xmlns:a16="http://schemas.microsoft.com/office/drawing/2014/main" id="{E73D7B47-3421-4EAA-99A4-2D2A3CE3AC6E}"/>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089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5419" y="166279"/>
            <a:ext cx="3262432" cy="553998"/>
          </a:xfrm>
          <a:prstGeom prst="rect">
            <a:avLst/>
          </a:prstGeom>
          <a:noFill/>
        </p:spPr>
        <p:txBody>
          <a:bodyPr wrap="none">
            <a:spAutoFit/>
          </a:bodyPr>
          <a:lstStyle/>
          <a:p>
            <a:r>
              <a:rPr lang="zh-TW" altLang="en-US" sz="3000" b="1" dirty="0">
                <a:latin typeface="微軟正黑體" panose="020B0604030504040204" pitchFamily="34" charset="-120"/>
                <a:ea typeface="微軟正黑體" panose="020B0604030504040204" pitchFamily="34" charset="-120"/>
              </a:rPr>
              <a:t>店招合約到期查詢</a:t>
            </a:r>
            <a:endParaRPr sz="3000" b="1" dirty="0">
              <a:latin typeface="微軟正黑體" panose="020B0604030504040204" pitchFamily="34" charset="-120"/>
              <a:ea typeface="微軟正黑體" panose="020B0604030504040204" pitchFamily="34" charset="-120"/>
            </a:endParaRPr>
          </a:p>
        </p:txBody>
      </p:sp>
      <p:sp>
        <p:nvSpPr>
          <p:cNvPr id="3" name="Rectangle 2"/>
          <p:cNvSpPr/>
          <p:nvPr/>
        </p:nvSpPr>
        <p:spPr>
          <a:xfrm>
            <a:off x="7588426" y="1350643"/>
            <a:ext cx="4703034" cy="5507357"/>
          </a:xfrm>
          <a:prstGeom prst="rect">
            <a:avLst/>
          </a:prstGeom>
          <a:solidFill>
            <a:srgbClr val="F5C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p:cNvSpPr/>
          <p:nvPr/>
        </p:nvSpPr>
        <p:spPr>
          <a:xfrm>
            <a:off x="12305008" y="1350643"/>
            <a:ext cx="3895430" cy="550735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矩形 13">
            <a:extLst>
              <a:ext uri="{FF2B5EF4-FFF2-40B4-BE49-F238E27FC236}">
                <a16:creationId xmlns:a16="http://schemas.microsoft.com/office/drawing/2014/main" id="{3EEF9E4F-A71B-4517-8706-1326AFE9B741}"/>
              </a:ext>
            </a:extLst>
          </p:cNvPr>
          <p:cNvSpPr/>
          <p:nvPr/>
        </p:nvSpPr>
        <p:spPr>
          <a:xfrm>
            <a:off x="12359997" y="3131055"/>
            <a:ext cx="3622314" cy="1015663"/>
          </a:xfrm>
          <a:prstGeom prst="rect">
            <a:avLst/>
          </a:prstGeom>
        </p:spPr>
        <p:txBody>
          <a:bodyPr wrap="square">
            <a:spAutoFit/>
          </a:bodyPr>
          <a:lstStyle/>
          <a:p>
            <a:r>
              <a:rPr lang="zh-TW" altLang="en-US" sz="1000" b="1" dirty="0">
                <a:highlight>
                  <a:srgbClr val="FFFF00"/>
                </a:highlight>
                <a:latin typeface="微軟正黑體" panose="020B0604030504040204" pitchFamily="34" charset="-120"/>
                <a:ea typeface="微軟正黑體" panose="020B0604030504040204" pitchFamily="34" charset="-120"/>
              </a:rPr>
              <a:t>依該經銷商登入顯示該經銷商現有申請筆查詢的合約到期區期數畫面</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 </a:t>
            </a:r>
          </a:p>
          <a:p>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後台各廠人員</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excel</a:t>
            </a:r>
            <a:r>
              <a:rPr lang="zh-TW" altLang="en-US"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表維護，同進度查詢表的</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excel</a:t>
            </a:r>
            <a:r>
              <a:rPr lang="zh-TW" altLang="en-US"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那份</a:t>
            </a:r>
            <a:r>
              <a:rPr lang="en-US" altLang="zh-TW" sz="1000" b="1" dirty="0">
                <a:highlight>
                  <a:srgbClr val="FFFF00"/>
                </a:highlight>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000" b="1" dirty="0">
              <a:highlight>
                <a:srgbClr val="FFFF00"/>
              </a:highlight>
              <a:latin typeface="微軟正黑體" panose="020B0604030504040204" pitchFamily="34" charset="-120"/>
              <a:ea typeface="微軟正黑體" panose="020B0604030504040204" pitchFamily="34" charset="-120"/>
            </a:endParaRPr>
          </a:p>
          <a:p>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由總、子公司人員在後台自行維護，維護後可在前台出現</a:t>
            </a:r>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畫面每頁最多</a:t>
            </a:r>
            <a:r>
              <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rPr>
              <a:t>10</a:t>
            </a:r>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筆，超出可有下一頁按扭可按</a:t>
            </a:r>
            <a:endParaRPr lang="en-US" altLang="zh-TW" sz="1000" dirty="0">
              <a:solidFill>
                <a:srgbClr val="FF0000"/>
              </a:solidFill>
              <a:highlight>
                <a:srgbClr val="FFFF00"/>
              </a:highlight>
              <a:latin typeface="微軟正黑體" panose="020B0604030504040204" pitchFamily="34" charset="-120"/>
              <a:ea typeface="微軟正黑體" panose="020B0604030504040204" pitchFamily="34" charset="-120"/>
            </a:endParaRPr>
          </a:p>
        </p:txBody>
      </p:sp>
      <p:sp>
        <p:nvSpPr>
          <p:cNvPr id="11" name="Rounded Rectangle 4">
            <a:extLst>
              <a:ext uri="{FF2B5EF4-FFF2-40B4-BE49-F238E27FC236}">
                <a16:creationId xmlns:a16="http://schemas.microsoft.com/office/drawing/2014/main" id="{7E5EBBE6-EAEA-420E-B2DA-8D8DCB459B58}"/>
              </a:ext>
            </a:extLst>
          </p:cNvPr>
          <p:cNvSpPr/>
          <p:nvPr/>
        </p:nvSpPr>
        <p:spPr>
          <a:xfrm>
            <a:off x="12446436" y="5433800"/>
            <a:ext cx="3449436" cy="343133"/>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一年的資料 </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每頁</a:t>
            </a:r>
            <a:r>
              <a:rPr lang="en-US" altLang="zh-TW" sz="1200" b="1" dirty="0">
                <a:latin typeface="微軟正黑體" panose="020B0604030504040204" pitchFamily="34" charset="-120"/>
                <a:ea typeface="微軟正黑體" panose="020B0604030504040204" pitchFamily="34" charset="-120"/>
              </a:rPr>
              <a:t>10</a:t>
            </a:r>
            <a:r>
              <a:rPr lang="zh-TW" altLang="en-US" sz="1200" b="1" dirty="0">
                <a:latin typeface="微軟正黑體" panose="020B0604030504040204" pitchFamily="34" charset="-120"/>
                <a:ea typeface="微軟正黑體" panose="020B0604030504040204" pitchFamily="34" charset="-120"/>
              </a:rPr>
              <a:t>筆，超出可按下一頁</a:t>
            </a:r>
            <a:r>
              <a:rPr lang="en-US" altLang="zh-TW" sz="1200" b="1" dirty="0">
                <a:latin typeface="微軟正黑體" panose="020B0604030504040204" pitchFamily="34" charset="-120"/>
                <a:ea typeface="微軟正黑體" panose="020B0604030504040204" pitchFamily="34" charset="-120"/>
              </a:rPr>
              <a:t>)</a:t>
            </a:r>
          </a:p>
        </p:txBody>
      </p:sp>
      <p:pic>
        <p:nvPicPr>
          <p:cNvPr id="21" name="圖片 20">
            <a:extLst>
              <a:ext uri="{FF2B5EF4-FFF2-40B4-BE49-F238E27FC236}">
                <a16:creationId xmlns:a16="http://schemas.microsoft.com/office/drawing/2014/main" id="{85ECBD05-8CC4-4ABB-96DF-0F5590F6D08C}"/>
              </a:ext>
            </a:extLst>
          </p:cNvPr>
          <p:cNvPicPr>
            <a:picLocks noChangeAspect="1"/>
          </p:cNvPicPr>
          <p:nvPr/>
        </p:nvPicPr>
        <p:blipFill>
          <a:blip r:embed="rId2"/>
          <a:stretch>
            <a:fillRect/>
          </a:stretch>
        </p:blipFill>
        <p:spPr>
          <a:xfrm>
            <a:off x="7818500" y="4125053"/>
            <a:ext cx="4039515" cy="2685923"/>
          </a:xfrm>
          <a:prstGeom prst="rect">
            <a:avLst/>
          </a:prstGeom>
        </p:spPr>
      </p:pic>
      <p:sp>
        <p:nvSpPr>
          <p:cNvPr id="22" name="矩形 21">
            <a:extLst>
              <a:ext uri="{FF2B5EF4-FFF2-40B4-BE49-F238E27FC236}">
                <a16:creationId xmlns:a16="http://schemas.microsoft.com/office/drawing/2014/main" id="{AC148E2F-20E9-4CEB-ACCD-23D95F8C7F77}"/>
              </a:ext>
            </a:extLst>
          </p:cNvPr>
          <p:cNvSpPr/>
          <p:nvPr/>
        </p:nvSpPr>
        <p:spPr>
          <a:xfrm>
            <a:off x="12273558" y="1549697"/>
            <a:ext cx="3922914" cy="1323439"/>
          </a:xfrm>
          <a:prstGeom prst="rect">
            <a:avLst/>
          </a:prstGeom>
        </p:spPr>
        <p:txBody>
          <a:bodyPr wrap="square">
            <a:spAutoFit/>
          </a:bodyPr>
          <a:lstStyle/>
          <a:p>
            <a:r>
              <a:rPr lang="zh-TW" altLang="en-US" sz="1000" b="1" dirty="0">
                <a:highlight>
                  <a:srgbClr val="FFFF00"/>
                </a:highlight>
                <a:latin typeface="微軟正黑體" panose="020B0604030504040204" pitchFamily="34" charset="-120"/>
                <a:ea typeface="微軟正黑體" panose="020B0604030504040204" pitchFamily="34" charset="-120"/>
              </a:rPr>
              <a:t>限制</a:t>
            </a:r>
            <a:r>
              <a:rPr lang="en-US" altLang="zh-TW" sz="1000" b="1" dirty="0">
                <a:highlight>
                  <a:srgbClr val="FFFF00"/>
                </a:highlight>
                <a:latin typeface="微軟正黑體" panose="020B0604030504040204" pitchFamily="34" charset="-120"/>
                <a:ea typeface="微軟正黑體" panose="020B0604030504040204" pitchFamily="34" charset="-120"/>
              </a:rPr>
              <a:t>: </a:t>
            </a:r>
            <a:r>
              <a:rPr lang="zh-TW" altLang="en-US" sz="1000" b="1" dirty="0">
                <a:highlight>
                  <a:srgbClr val="FFFF00"/>
                </a:highlight>
                <a:latin typeface="微軟正黑體" panose="020B0604030504040204" pitchFamily="34" charset="-120"/>
                <a:ea typeface="微軟正黑體" panose="020B0604030504040204" pitchFamily="34" charset="-120"/>
              </a:rPr>
              <a:t>依經銷商登入國家提供畫面，決不可跨經銷商查別區域的資料</a:t>
            </a:r>
            <a:endParaRPr lang="en-US" altLang="zh-TW" sz="1000" b="1" dirty="0">
              <a:highlight>
                <a:srgbClr val="FFFF00"/>
              </a:highlight>
              <a:latin typeface="微軟正黑體" panose="020B0604030504040204" pitchFamily="34" charset="-120"/>
              <a:ea typeface="微軟正黑體" panose="020B0604030504040204" pitchFamily="34" charset="-120"/>
            </a:endParaRPr>
          </a:p>
          <a:p>
            <a:endParaRPr lang="en-US" altLang="zh-TW" sz="1000" b="1" dirty="0">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提供給總、子公司人員在後台自行維護可在前台項目出現所查詢關鍵字欄位</a:t>
            </a:r>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endPar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endParaRPr>
          </a:p>
          <a:p>
            <a:r>
              <a:rPr lang="zh-TW" altLang="en-US" sz="1000" b="1" dirty="0">
                <a:solidFill>
                  <a:srgbClr val="FF0000"/>
                </a:solidFill>
                <a:highlight>
                  <a:srgbClr val="FFFF00"/>
                </a:highlight>
                <a:latin typeface="微軟正黑體" panose="020B0604030504040204" pitchFamily="34" charset="-120"/>
                <a:ea typeface="微軟正黑體" panose="020B0604030504040204" pitchFamily="34" charset="-120"/>
              </a:rPr>
              <a:t>搜尋畫面以該經銷商客代登入該胎種別下的該經銷商的資料，並可下載該經銷商合約到期資料，資料可為</a:t>
            </a:r>
            <a:r>
              <a:rPr lang="en-US" altLang="zh-TW" sz="1000" b="1" dirty="0">
                <a:solidFill>
                  <a:srgbClr val="FF0000"/>
                </a:solidFill>
                <a:highlight>
                  <a:srgbClr val="FFFF00"/>
                </a:highlight>
                <a:latin typeface="微軟正黑體" panose="020B0604030504040204" pitchFamily="34" charset="-120"/>
                <a:ea typeface="微軟正黑體" panose="020B0604030504040204" pitchFamily="34" charset="-120"/>
              </a:rPr>
              <a:t>pdf</a:t>
            </a:r>
          </a:p>
        </p:txBody>
      </p:sp>
      <p:sp>
        <p:nvSpPr>
          <p:cNvPr id="23" name="Rounded Rectangle 4">
            <a:extLst>
              <a:ext uri="{FF2B5EF4-FFF2-40B4-BE49-F238E27FC236}">
                <a16:creationId xmlns:a16="http://schemas.microsoft.com/office/drawing/2014/main" id="{4955955C-C3EC-4417-A4AA-3B134157FF41}"/>
              </a:ext>
            </a:extLst>
          </p:cNvPr>
          <p:cNvSpPr/>
          <p:nvPr/>
        </p:nvSpPr>
        <p:spPr>
          <a:xfrm>
            <a:off x="7592067" y="790445"/>
            <a:ext cx="3604537" cy="47567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建大工業股份有限公司</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四輪網路下單系統</a:t>
            </a:r>
            <a:endParaRPr sz="1200" b="1" dirty="0">
              <a:solidFill>
                <a:srgbClr val="FFFFFF"/>
              </a:solidFill>
              <a:latin typeface="微軟正黑體" panose="020B0604030504040204" pitchFamily="34" charset="-120"/>
              <a:ea typeface="微軟正黑體" panose="020B0604030504040204" pitchFamily="34" charset="-120"/>
            </a:endParaRPr>
          </a:p>
          <a:p>
            <a:pPr algn="ctr"/>
            <a:r>
              <a:rPr lang="en-US" altLang="zh-TW" sz="1000" dirty="0"/>
              <a:t>https://b2b.kenda.com.tw/cdr/EDTB/pcr/</a:t>
            </a:r>
            <a:endParaRPr sz="1000" b="1" dirty="0">
              <a:solidFill>
                <a:srgbClr val="FFFFFF"/>
              </a:solidFill>
            </a:endParaRPr>
          </a:p>
        </p:txBody>
      </p:sp>
      <p:sp>
        <p:nvSpPr>
          <p:cNvPr id="24" name="文字方塊 23">
            <a:extLst>
              <a:ext uri="{FF2B5EF4-FFF2-40B4-BE49-F238E27FC236}">
                <a16:creationId xmlns:a16="http://schemas.microsoft.com/office/drawing/2014/main" id="{DDE0EC16-D32E-42BB-BDC6-DF7F06783166}"/>
              </a:ext>
            </a:extLst>
          </p:cNvPr>
          <p:cNvSpPr txBox="1"/>
          <p:nvPr/>
        </p:nvSpPr>
        <p:spPr>
          <a:xfrm>
            <a:off x="11115676" y="820324"/>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前台</a:t>
            </a:r>
          </a:p>
        </p:txBody>
      </p:sp>
      <p:sp>
        <p:nvSpPr>
          <p:cNvPr id="25" name="文字方塊 24">
            <a:extLst>
              <a:ext uri="{FF2B5EF4-FFF2-40B4-BE49-F238E27FC236}">
                <a16:creationId xmlns:a16="http://schemas.microsoft.com/office/drawing/2014/main" id="{49BA04F2-2C08-49FB-B575-510552E84C5A}"/>
              </a:ext>
            </a:extLst>
          </p:cNvPr>
          <p:cNvSpPr txBox="1"/>
          <p:nvPr/>
        </p:nvSpPr>
        <p:spPr>
          <a:xfrm>
            <a:off x="13580971" y="820324"/>
            <a:ext cx="1392993" cy="600164"/>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後台</a:t>
            </a:r>
          </a:p>
        </p:txBody>
      </p:sp>
      <p:sp>
        <p:nvSpPr>
          <p:cNvPr id="26" name="文字方塊 25">
            <a:extLst>
              <a:ext uri="{FF2B5EF4-FFF2-40B4-BE49-F238E27FC236}">
                <a16:creationId xmlns:a16="http://schemas.microsoft.com/office/drawing/2014/main" id="{F7287F10-9813-40C3-8052-30001CBC7D4A}"/>
              </a:ext>
            </a:extLst>
          </p:cNvPr>
          <p:cNvSpPr txBox="1"/>
          <p:nvPr/>
        </p:nvSpPr>
        <p:spPr>
          <a:xfrm>
            <a:off x="7628284" y="2809564"/>
            <a:ext cx="732652"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車行名稱</a:t>
            </a:r>
          </a:p>
        </p:txBody>
      </p:sp>
      <p:sp>
        <p:nvSpPr>
          <p:cNvPr id="27" name="文字方塊 26">
            <a:extLst>
              <a:ext uri="{FF2B5EF4-FFF2-40B4-BE49-F238E27FC236}">
                <a16:creationId xmlns:a16="http://schemas.microsoft.com/office/drawing/2014/main" id="{769D95C4-3474-43D9-99C6-953A231F81F6}"/>
              </a:ext>
            </a:extLst>
          </p:cNvPr>
          <p:cNvSpPr txBox="1"/>
          <p:nvPr/>
        </p:nvSpPr>
        <p:spPr>
          <a:xfrm>
            <a:off x="8414166" y="2805842"/>
            <a:ext cx="732652"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合約到期日</a:t>
            </a:r>
          </a:p>
        </p:txBody>
      </p:sp>
      <p:sp>
        <p:nvSpPr>
          <p:cNvPr id="29" name="文字方塊 28">
            <a:extLst>
              <a:ext uri="{FF2B5EF4-FFF2-40B4-BE49-F238E27FC236}">
                <a16:creationId xmlns:a16="http://schemas.microsoft.com/office/drawing/2014/main" id="{0290A817-7E9A-48E2-8683-7F9858FB8BF0}"/>
              </a:ext>
            </a:extLst>
          </p:cNvPr>
          <p:cNvSpPr txBox="1"/>
          <p:nvPr/>
        </p:nvSpPr>
        <p:spPr>
          <a:xfrm>
            <a:off x="7560973" y="3073750"/>
            <a:ext cx="936172" cy="215444"/>
          </a:xfrm>
          <a:prstGeom prst="rect">
            <a:avLst/>
          </a:prstGeom>
          <a:noFill/>
        </p:spPr>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吉翔汽修輪胎行</a:t>
            </a:r>
          </a:p>
        </p:txBody>
      </p:sp>
      <p:sp>
        <p:nvSpPr>
          <p:cNvPr id="34" name="文字方塊 33">
            <a:extLst>
              <a:ext uri="{FF2B5EF4-FFF2-40B4-BE49-F238E27FC236}">
                <a16:creationId xmlns:a16="http://schemas.microsoft.com/office/drawing/2014/main" id="{7938A651-8A38-45F8-AD0F-3233A8A786D0}"/>
              </a:ext>
            </a:extLst>
          </p:cNvPr>
          <p:cNvSpPr txBox="1"/>
          <p:nvPr/>
        </p:nvSpPr>
        <p:spPr>
          <a:xfrm>
            <a:off x="9206149" y="2805842"/>
            <a:ext cx="611576"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廣告編號</a:t>
            </a:r>
          </a:p>
        </p:txBody>
      </p:sp>
      <p:sp>
        <p:nvSpPr>
          <p:cNvPr id="36" name="文字方塊 35">
            <a:extLst>
              <a:ext uri="{FF2B5EF4-FFF2-40B4-BE49-F238E27FC236}">
                <a16:creationId xmlns:a16="http://schemas.microsoft.com/office/drawing/2014/main" id="{AAA6D448-05D9-48A8-83EE-019B58255F53}"/>
              </a:ext>
            </a:extLst>
          </p:cNvPr>
          <p:cNvSpPr txBox="1"/>
          <p:nvPr/>
        </p:nvSpPr>
        <p:spPr>
          <a:xfrm>
            <a:off x="7628285" y="1880414"/>
            <a:ext cx="2525093"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融邦</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自填</a:t>
            </a:r>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CC21BEA9-91DA-4D46-AB16-D748AA911F44}"/>
              </a:ext>
            </a:extLst>
          </p:cNvPr>
          <p:cNvSpPr txBox="1"/>
          <p:nvPr/>
        </p:nvSpPr>
        <p:spPr>
          <a:xfrm>
            <a:off x="10251179" y="187667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查詢</a:t>
            </a:r>
          </a:p>
        </p:txBody>
      </p:sp>
      <p:sp>
        <p:nvSpPr>
          <p:cNvPr id="38" name="文字方塊 37">
            <a:extLst>
              <a:ext uri="{FF2B5EF4-FFF2-40B4-BE49-F238E27FC236}">
                <a16:creationId xmlns:a16="http://schemas.microsoft.com/office/drawing/2014/main" id="{98054797-1184-4B70-949D-3D55FD630035}"/>
              </a:ext>
            </a:extLst>
          </p:cNvPr>
          <p:cNvSpPr txBox="1"/>
          <p:nvPr/>
        </p:nvSpPr>
        <p:spPr>
          <a:xfrm>
            <a:off x="7637774" y="1418770"/>
            <a:ext cx="4482361"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請輸入車行名稱或廣告編號或經銷商或以合約到期日區間查詢，擇一查詢</a:t>
            </a:r>
            <a:r>
              <a:rPr lang="en-US" altLang="zh-TW" sz="1000" b="1" dirty="0">
                <a:latin typeface="微軟正黑體" panose="020B0604030504040204" pitchFamily="34" charset="-120"/>
                <a:ea typeface="微軟正黑體" panose="020B0604030504040204" pitchFamily="34" charset="-120"/>
              </a:rPr>
              <a:t>:</a:t>
            </a:r>
            <a:endParaRPr lang="zh-TW" altLang="en-US" sz="1000" b="1" dirty="0">
              <a:latin typeface="微軟正黑體" panose="020B0604030504040204" pitchFamily="34" charset="-120"/>
              <a:ea typeface="微軟正黑體" panose="020B0604030504040204" pitchFamily="34" charset="-120"/>
            </a:endParaRPr>
          </a:p>
        </p:txBody>
      </p:sp>
      <p:sp>
        <p:nvSpPr>
          <p:cNvPr id="39" name="Rounded Rectangle 4">
            <a:extLst>
              <a:ext uri="{FF2B5EF4-FFF2-40B4-BE49-F238E27FC236}">
                <a16:creationId xmlns:a16="http://schemas.microsoft.com/office/drawing/2014/main" id="{9032734B-975E-4555-8D4D-FF084B5A52C9}"/>
              </a:ext>
            </a:extLst>
          </p:cNvPr>
          <p:cNvSpPr/>
          <p:nvPr/>
        </p:nvSpPr>
        <p:spPr>
          <a:xfrm>
            <a:off x="7729303" y="3673459"/>
            <a:ext cx="4176844" cy="387550"/>
          </a:xfrm>
          <a:prstGeom prst="roundRect">
            <a:avLst/>
          </a:prstGeom>
          <a:solidFill>
            <a:srgbClr val="FFFF00"/>
          </a:solidFill>
          <a:ln/>
        </p:spPr>
        <p:style>
          <a:lnRef idx="1">
            <a:schemeClr val="accent5"/>
          </a:lnRef>
          <a:fillRef idx="2">
            <a:schemeClr val="accent5"/>
          </a:fillRef>
          <a:effectRef idx="1">
            <a:schemeClr val="accent5"/>
          </a:effectRef>
          <a:fontRef idx="minor">
            <a:schemeClr val="dk1"/>
          </a:fontRef>
        </p:style>
        <p:txBody>
          <a:bodyPr rtlCol="0" anchor="ctr"/>
          <a:lstStyle/>
          <a:p>
            <a:r>
              <a:rPr lang="zh-TW" altLang="en-US" sz="1000" b="1" dirty="0">
                <a:solidFill>
                  <a:srgbClr val="FF0000"/>
                </a:solidFill>
                <a:latin typeface="微軟正黑體" panose="020B0604030504040204" pitchFamily="34" charset="-120"/>
                <a:ea typeface="微軟正黑體" panose="020B0604030504040204" pitchFamily="34" charset="-120"/>
              </a:rPr>
              <a:t>顯示筆數</a:t>
            </a:r>
            <a:r>
              <a:rPr lang="en-US" altLang="zh-TW" sz="1000" b="1" dirty="0">
                <a:solidFill>
                  <a:srgbClr val="FF0000"/>
                </a:solidFill>
                <a:latin typeface="微軟正黑體" panose="020B0604030504040204" pitchFamily="34" charset="-120"/>
                <a:ea typeface="微軟正黑體" panose="020B0604030504040204" pitchFamily="34" charset="-120"/>
              </a:rPr>
              <a:t>: </a:t>
            </a:r>
            <a:r>
              <a:rPr lang="zh-TW" altLang="en-US" sz="1000" b="1" dirty="0">
                <a:solidFill>
                  <a:srgbClr val="FF0000"/>
                </a:solidFill>
                <a:latin typeface="微軟正黑體" panose="020B0604030504040204" pitchFamily="34" charset="-120"/>
                <a:ea typeface="微軟正黑體" panose="020B0604030504040204" pitchFamily="34" charset="-120"/>
              </a:rPr>
              <a:t>請艾創點建議合適放置筆數，比如可設定比如</a:t>
            </a:r>
            <a:r>
              <a:rPr lang="en-US" altLang="zh-TW" sz="1000" b="1" dirty="0">
                <a:solidFill>
                  <a:srgbClr val="FF0000"/>
                </a:solidFill>
                <a:latin typeface="微軟正黑體" panose="020B0604030504040204" pitchFamily="34" charset="-120"/>
                <a:ea typeface="微軟正黑體" panose="020B0604030504040204" pitchFamily="34" charset="-120"/>
              </a:rPr>
              <a:t>10</a:t>
            </a:r>
            <a:r>
              <a:rPr lang="zh-TW" altLang="en-US" sz="1000" b="1" dirty="0">
                <a:solidFill>
                  <a:srgbClr val="FF0000"/>
                </a:solidFill>
                <a:latin typeface="微軟正黑體" panose="020B0604030504040204" pitchFamily="34" charset="-120"/>
                <a:ea typeface="微軟正黑體" panose="020B0604030504040204" pitchFamily="34" charset="-120"/>
              </a:rPr>
              <a:t>筆就能往下一頁，最主要避免畫面太亂</a:t>
            </a:r>
            <a:endParaRPr lang="en-US" altLang="zh-TW" sz="1000" b="1" dirty="0">
              <a:solidFill>
                <a:srgbClr val="FF0000"/>
              </a:solidFill>
              <a:latin typeface="微軟正黑體" panose="020B0604030504040204" pitchFamily="34" charset="-120"/>
              <a:ea typeface="微軟正黑體" panose="020B0604030504040204" pitchFamily="34" charset="-120"/>
            </a:endParaRPr>
          </a:p>
        </p:txBody>
      </p:sp>
      <p:sp>
        <p:nvSpPr>
          <p:cNvPr id="46" name="文字方塊 45">
            <a:extLst>
              <a:ext uri="{FF2B5EF4-FFF2-40B4-BE49-F238E27FC236}">
                <a16:creationId xmlns:a16="http://schemas.microsoft.com/office/drawing/2014/main" id="{AB4BDD4E-AAC4-46DB-8415-2D87E3C64A33}"/>
              </a:ext>
            </a:extLst>
          </p:cNvPr>
          <p:cNvSpPr txBox="1"/>
          <p:nvPr/>
        </p:nvSpPr>
        <p:spPr>
          <a:xfrm>
            <a:off x="7628283" y="2366965"/>
            <a:ext cx="848840"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47" name="文字方塊 46">
            <a:extLst>
              <a:ext uri="{FF2B5EF4-FFF2-40B4-BE49-F238E27FC236}">
                <a16:creationId xmlns:a16="http://schemas.microsoft.com/office/drawing/2014/main" id="{E123C45E-EF96-4120-A231-DF200152E977}"/>
              </a:ext>
            </a:extLst>
          </p:cNvPr>
          <p:cNvSpPr txBox="1"/>
          <p:nvPr/>
        </p:nvSpPr>
        <p:spPr>
          <a:xfrm>
            <a:off x="9549711" y="2363003"/>
            <a:ext cx="516678"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查詢</a:t>
            </a:r>
          </a:p>
        </p:txBody>
      </p:sp>
      <p:sp>
        <p:nvSpPr>
          <p:cNvPr id="49" name="文字方塊 48">
            <a:extLst>
              <a:ext uri="{FF2B5EF4-FFF2-40B4-BE49-F238E27FC236}">
                <a16:creationId xmlns:a16="http://schemas.microsoft.com/office/drawing/2014/main" id="{00BDCC5A-A0DC-4E21-BE46-14553B1CE1F0}"/>
              </a:ext>
            </a:extLst>
          </p:cNvPr>
          <p:cNvSpPr txBox="1"/>
          <p:nvPr/>
        </p:nvSpPr>
        <p:spPr>
          <a:xfrm>
            <a:off x="7625819" y="2390192"/>
            <a:ext cx="851305" cy="246221"/>
          </a:xfrm>
          <a:prstGeom prst="rect">
            <a:avLst/>
          </a:prstGeom>
          <a:noFill/>
        </p:spPr>
        <p:txBody>
          <a:bodyPr wrap="square" rtlCol="0">
            <a:spAutoFit/>
          </a:bodyPr>
          <a:lstStyle/>
          <a:p>
            <a:r>
              <a:rPr lang="en-US" altLang="zh-TW" sz="1000" u="sng" dirty="0">
                <a:solidFill>
                  <a:srgbClr val="FF0000"/>
                </a:solidFill>
                <a:latin typeface="微軟正黑體" panose="020B0604030504040204" pitchFamily="34" charset="-120"/>
                <a:ea typeface="微軟正黑體" panose="020B0604030504040204" pitchFamily="34" charset="-120"/>
              </a:rPr>
              <a:t>20250101</a:t>
            </a:r>
            <a:endParaRPr lang="zh-TW" altLang="en-US" sz="1000" u="sng" dirty="0">
              <a:solidFill>
                <a:srgbClr val="FF0000"/>
              </a:solidFill>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CA5F33BC-5518-40BA-8BC1-DCFBFE15EF9E}"/>
              </a:ext>
            </a:extLst>
          </p:cNvPr>
          <p:cNvSpPr txBox="1"/>
          <p:nvPr/>
        </p:nvSpPr>
        <p:spPr>
          <a:xfrm>
            <a:off x="8590215" y="2363004"/>
            <a:ext cx="848840"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zh-TW" altLang="en-US" sz="1200" dirty="0">
              <a:solidFill>
                <a:srgbClr val="FF0000"/>
              </a:solidFill>
              <a:latin typeface="微軟正黑體" panose="020B0604030504040204" pitchFamily="34" charset="-120"/>
              <a:ea typeface="微軟正黑體" panose="020B0604030504040204" pitchFamily="34" charset="-120"/>
            </a:endParaRPr>
          </a:p>
        </p:txBody>
      </p:sp>
      <p:sp>
        <p:nvSpPr>
          <p:cNvPr id="51" name="文字方塊 50">
            <a:extLst>
              <a:ext uri="{FF2B5EF4-FFF2-40B4-BE49-F238E27FC236}">
                <a16:creationId xmlns:a16="http://schemas.microsoft.com/office/drawing/2014/main" id="{356A89B4-27AF-49F3-9B64-D876A8B9795B}"/>
              </a:ext>
            </a:extLst>
          </p:cNvPr>
          <p:cNvSpPr txBox="1"/>
          <p:nvPr/>
        </p:nvSpPr>
        <p:spPr>
          <a:xfrm>
            <a:off x="8587752" y="2386231"/>
            <a:ext cx="851305" cy="246221"/>
          </a:xfrm>
          <a:prstGeom prst="rect">
            <a:avLst/>
          </a:prstGeom>
          <a:noFill/>
        </p:spPr>
        <p:txBody>
          <a:bodyPr wrap="square" rtlCol="0">
            <a:spAutoFit/>
          </a:bodyPr>
          <a:lstStyle/>
          <a:p>
            <a:r>
              <a:rPr lang="en-US" altLang="zh-TW" sz="1000" u="sng" dirty="0">
                <a:solidFill>
                  <a:srgbClr val="FF0000"/>
                </a:solidFill>
                <a:latin typeface="微軟正黑體" panose="020B0604030504040204" pitchFamily="34" charset="-120"/>
                <a:ea typeface="微軟正黑體" panose="020B0604030504040204" pitchFamily="34" charset="-120"/>
              </a:rPr>
              <a:t>20250101</a:t>
            </a:r>
            <a:endParaRPr lang="zh-TW" altLang="en-US" sz="1000" u="sng" dirty="0">
              <a:solidFill>
                <a:srgbClr val="FF0000"/>
              </a:solidFill>
              <a:latin typeface="微軟正黑體" panose="020B0604030504040204" pitchFamily="34" charset="-120"/>
              <a:ea typeface="微軟正黑體" panose="020B0604030504040204" pitchFamily="34" charset="-120"/>
            </a:endParaRPr>
          </a:p>
        </p:txBody>
      </p:sp>
      <p:sp>
        <p:nvSpPr>
          <p:cNvPr id="52" name="文字方塊 51">
            <a:extLst>
              <a:ext uri="{FF2B5EF4-FFF2-40B4-BE49-F238E27FC236}">
                <a16:creationId xmlns:a16="http://schemas.microsoft.com/office/drawing/2014/main" id="{B3BB5492-5758-44AB-807A-3218FB15CED3}"/>
              </a:ext>
            </a:extLst>
          </p:cNvPr>
          <p:cNvSpPr txBox="1"/>
          <p:nvPr/>
        </p:nvSpPr>
        <p:spPr>
          <a:xfrm>
            <a:off x="7645840" y="2167976"/>
            <a:ext cx="941910"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合約起始日</a:t>
            </a:r>
          </a:p>
        </p:txBody>
      </p:sp>
      <p:sp>
        <p:nvSpPr>
          <p:cNvPr id="53" name="文字方塊 52">
            <a:extLst>
              <a:ext uri="{FF2B5EF4-FFF2-40B4-BE49-F238E27FC236}">
                <a16:creationId xmlns:a16="http://schemas.microsoft.com/office/drawing/2014/main" id="{E942138E-C1CC-4D85-A25F-133D1907FF8A}"/>
              </a:ext>
            </a:extLst>
          </p:cNvPr>
          <p:cNvSpPr txBox="1"/>
          <p:nvPr/>
        </p:nvSpPr>
        <p:spPr>
          <a:xfrm>
            <a:off x="8497146" y="2166178"/>
            <a:ext cx="941910"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合約結束日</a:t>
            </a:r>
          </a:p>
        </p:txBody>
      </p:sp>
      <p:sp>
        <p:nvSpPr>
          <p:cNvPr id="54" name="文字方塊 53">
            <a:extLst>
              <a:ext uri="{FF2B5EF4-FFF2-40B4-BE49-F238E27FC236}">
                <a16:creationId xmlns:a16="http://schemas.microsoft.com/office/drawing/2014/main" id="{8729684A-9CAB-4215-BBF0-20FE2CD28D77}"/>
              </a:ext>
            </a:extLst>
          </p:cNvPr>
          <p:cNvSpPr txBox="1"/>
          <p:nvPr/>
        </p:nvSpPr>
        <p:spPr>
          <a:xfrm>
            <a:off x="7614737" y="1669063"/>
            <a:ext cx="2515605" cy="246221"/>
          </a:xfrm>
          <a:prstGeom prst="rect">
            <a:avLst/>
          </a:prstGeom>
          <a:noFill/>
        </p:spPr>
        <p:txBody>
          <a:bodyPr wrap="square" rtlCol="0">
            <a:spAutoFit/>
          </a:bodyPr>
          <a:lstStyle/>
          <a:p>
            <a:r>
              <a:rPr lang="zh-TW" altLang="en-US" sz="1000" b="1" dirty="0">
                <a:latin typeface="微軟正黑體" panose="020B0604030504040204" pitchFamily="34" charset="-120"/>
                <a:ea typeface="微軟正黑體" panose="020B0604030504040204" pitchFamily="34" charset="-120"/>
              </a:rPr>
              <a:t>請輸入車行名稱或廣告編號或經銷商或</a:t>
            </a:r>
          </a:p>
        </p:txBody>
      </p:sp>
      <p:sp>
        <p:nvSpPr>
          <p:cNvPr id="55" name="文字方塊 54">
            <a:extLst>
              <a:ext uri="{FF2B5EF4-FFF2-40B4-BE49-F238E27FC236}">
                <a16:creationId xmlns:a16="http://schemas.microsoft.com/office/drawing/2014/main" id="{D318C60F-8C9B-46AE-B32F-65B22DE98ED4}"/>
              </a:ext>
            </a:extLst>
          </p:cNvPr>
          <p:cNvSpPr txBox="1"/>
          <p:nvPr/>
        </p:nvSpPr>
        <p:spPr>
          <a:xfrm>
            <a:off x="7614734" y="3332422"/>
            <a:ext cx="1654006" cy="27699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下載查詢資料</a:t>
            </a:r>
            <a:r>
              <a:rPr lang="en-US" altLang="zh-TW" sz="1200" dirty="0">
                <a:solidFill>
                  <a:srgbClr val="FF0000"/>
                </a:solidFill>
                <a:latin typeface="微軟正黑體" panose="020B0604030504040204" pitchFamily="34" charset="-120"/>
                <a:ea typeface="微軟正黑體" panose="020B0604030504040204" pitchFamily="34" charset="-120"/>
              </a:rPr>
              <a:t>PDF</a:t>
            </a:r>
            <a:r>
              <a:rPr lang="zh-TW" altLang="en-US" sz="1200" dirty="0">
                <a:solidFill>
                  <a:srgbClr val="FF0000"/>
                </a:solidFill>
                <a:latin typeface="微軟正黑體" panose="020B0604030504040204" pitchFamily="34" charset="-120"/>
                <a:ea typeface="微軟正黑體" panose="020B0604030504040204" pitchFamily="34" charset="-120"/>
              </a:rPr>
              <a:t>檔</a:t>
            </a:r>
            <a:endParaRPr lang="en-US" altLang="zh-TW" sz="1200" dirty="0">
              <a:solidFill>
                <a:srgbClr val="FF0000"/>
              </a:solidFill>
              <a:latin typeface="微軟正黑體" panose="020B0604030504040204" pitchFamily="34" charset="-120"/>
              <a:ea typeface="微軟正黑體" panose="020B0604030504040204" pitchFamily="34" charset="-120"/>
            </a:endParaRPr>
          </a:p>
        </p:txBody>
      </p:sp>
      <p:sp>
        <p:nvSpPr>
          <p:cNvPr id="56" name="文字方塊 55">
            <a:extLst>
              <a:ext uri="{FF2B5EF4-FFF2-40B4-BE49-F238E27FC236}">
                <a16:creationId xmlns:a16="http://schemas.microsoft.com/office/drawing/2014/main" id="{47FCC325-0C94-4FFB-A8A1-65988898D475}"/>
              </a:ext>
            </a:extLst>
          </p:cNvPr>
          <p:cNvSpPr txBox="1"/>
          <p:nvPr/>
        </p:nvSpPr>
        <p:spPr>
          <a:xfrm>
            <a:off x="9884815" y="2805842"/>
            <a:ext cx="611575"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業主名稱</a:t>
            </a:r>
          </a:p>
        </p:txBody>
      </p:sp>
      <p:sp>
        <p:nvSpPr>
          <p:cNvPr id="57" name="文字方塊 56">
            <a:extLst>
              <a:ext uri="{FF2B5EF4-FFF2-40B4-BE49-F238E27FC236}">
                <a16:creationId xmlns:a16="http://schemas.microsoft.com/office/drawing/2014/main" id="{ADD1D480-57CF-463B-9300-E9549B6530A7}"/>
              </a:ext>
            </a:extLst>
          </p:cNvPr>
          <p:cNvSpPr txBox="1"/>
          <p:nvPr/>
        </p:nvSpPr>
        <p:spPr>
          <a:xfrm>
            <a:off x="10563476" y="2801208"/>
            <a:ext cx="462904"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電話</a:t>
            </a:r>
          </a:p>
        </p:txBody>
      </p:sp>
      <p:sp>
        <p:nvSpPr>
          <p:cNvPr id="58" name="文字方塊 57">
            <a:extLst>
              <a:ext uri="{FF2B5EF4-FFF2-40B4-BE49-F238E27FC236}">
                <a16:creationId xmlns:a16="http://schemas.microsoft.com/office/drawing/2014/main" id="{6AEDF88F-5D37-4798-BD58-1E8E1E715ED8}"/>
              </a:ext>
            </a:extLst>
          </p:cNvPr>
          <p:cNvSpPr txBox="1"/>
          <p:nvPr/>
        </p:nvSpPr>
        <p:spPr>
          <a:xfrm>
            <a:off x="11093821" y="2794708"/>
            <a:ext cx="404496"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地址</a:t>
            </a:r>
          </a:p>
        </p:txBody>
      </p:sp>
      <p:sp>
        <p:nvSpPr>
          <p:cNvPr id="60" name="文字方塊 59">
            <a:extLst>
              <a:ext uri="{FF2B5EF4-FFF2-40B4-BE49-F238E27FC236}">
                <a16:creationId xmlns:a16="http://schemas.microsoft.com/office/drawing/2014/main" id="{AA64FA38-4404-487D-93DB-F488B1D6C930}"/>
              </a:ext>
            </a:extLst>
          </p:cNvPr>
          <p:cNvSpPr txBox="1"/>
          <p:nvPr/>
        </p:nvSpPr>
        <p:spPr>
          <a:xfrm>
            <a:off x="11552228" y="2787297"/>
            <a:ext cx="611575" cy="21544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申請項目</a:t>
            </a:r>
          </a:p>
        </p:txBody>
      </p:sp>
      <p:sp>
        <p:nvSpPr>
          <p:cNvPr id="61" name="文字方塊 60">
            <a:extLst>
              <a:ext uri="{FF2B5EF4-FFF2-40B4-BE49-F238E27FC236}">
                <a16:creationId xmlns:a16="http://schemas.microsoft.com/office/drawing/2014/main" id="{68B79A35-57EB-49BB-8AF9-012F76B91BFA}"/>
              </a:ext>
            </a:extLst>
          </p:cNvPr>
          <p:cNvSpPr txBox="1"/>
          <p:nvPr/>
        </p:nvSpPr>
        <p:spPr>
          <a:xfrm>
            <a:off x="8420268" y="3060829"/>
            <a:ext cx="785882" cy="215444"/>
          </a:xfrm>
          <a:prstGeom prst="rect">
            <a:avLst/>
          </a:prstGeom>
          <a:noFill/>
        </p:spPr>
        <p:txBody>
          <a:bodyPr wrap="square" rtlCol="0">
            <a:spAutoFit/>
          </a:bodyPr>
          <a:lstStyle/>
          <a:p>
            <a:r>
              <a:rPr lang="en-US" altLang="zh-TW" sz="800" dirty="0">
                <a:latin typeface="微軟正黑體" panose="020B0604030504040204" pitchFamily="34" charset="-120"/>
                <a:ea typeface="微軟正黑體" panose="020B0604030504040204" pitchFamily="34" charset="-120"/>
              </a:rPr>
              <a:t>2026/9/14</a:t>
            </a:r>
            <a:endParaRPr lang="zh-TW" altLang="en-US" sz="800" dirty="0">
              <a:latin typeface="微軟正黑體" panose="020B0604030504040204" pitchFamily="34" charset="-120"/>
              <a:ea typeface="微軟正黑體" panose="020B0604030504040204" pitchFamily="34" charset="-120"/>
            </a:endParaRPr>
          </a:p>
        </p:txBody>
      </p:sp>
      <p:sp>
        <p:nvSpPr>
          <p:cNvPr id="62" name="文字方塊 61">
            <a:extLst>
              <a:ext uri="{FF2B5EF4-FFF2-40B4-BE49-F238E27FC236}">
                <a16:creationId xmlns:a16="http://schemas.microsoft.com/office/drawing/2014/main" id="{E9433E56-4412-4365-9819-20CC2F68F4E1}"/>
              </a:ext>
            </a:extLst>
          </p:cNvPr>
          <p:cNvSpPr txBox="1"/>
          <p:nvPr/>
        </p:nvSpPr>
        <p:spPr>
          <a:xfrm>
            <a:off x="9156769" y="3055043"/>
            <a:ext cx="611576" cy="215444"/>
          </a:xfrm>
          <a:prstGeom prst="rect">
            <a:avLst/>
          </a:prstGeom>
          <a:noFill/>
        </p:spPr>
        <p:txBody>
          <a:bodyPr wrap="square" rtlCol="0">
            <a:spAutoFit/>
          </a:bodyPr>
          <a:lstStyle/>
          <a:p>
            <a:r>
              <a:rPr lang="en-US" altLang="zh-TW" sz="800" dirty="0">
                <a:latin typeface="微軟正黑體" panose="020B0604030504040204" pitchFamily="34" charset="-120"/>
                <a:ea typeface="微軟正黑體" panose="020B0604030504040204" pitchFamily="34" charset="-120"/>
              </a:rPr>
              <a:t>A103361</a:t>
            </a:r>
            <a:endParaRPr lang="zh-TW" altLang="en-US" sz="800" dirty="0">
              <a:latin typeface="微軟正黑體" panose="020B0604030504040204" pitchFamily="34" charset="-120"/>
              <a:ea typeface="微軟正黑體" panose="020B0604030504040204" pitchFamily="34" charset="-120"/>
            </a:endParaRPr>
          </a:p>
        </p:txBody>
      </p:sp>
      <p:sp>
        <p:nvSpPr>
          <p:cNvPr id="64" name="文字方塊 63">
            <a:extLst>
              <a:ext uri="{FF2B5EF4-FFF2-40B4-BE49-F238E27FC236}">
                <a16:creationId xmlns:a16="http://schemas.microsoft.com/office/drawing/2014/main" id="{279AA648-14A9-4608-918D-C41C06077A2C}"/>
              </a:ext>
            </a:extLst>
          </p:cNvPr>
          <p:cNvSpPr txBox="1"/>
          <p:nvPr/>
        </p:nvSpPr>
        <p:spPr>
          <a:xfrm>
            <a:off x="9877107" y="3040414"/>
            <a:ext cx="611576" cy="215444"/>
          </a:xfrm>
          <a:prstGeom prst="rect">
            <a:avLst/>
          </a:prstGeom>
          <a:noFill/>
        </p:spPr>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陳錦照</a:t>
            </a:r>
          </a:p>
        </p:txBody>
      </p:sp>
      <p:sp>
        <p:nvSpPr>
          <p:cNvPr id="65" name="文字方塊 64">
            <a:extLst>
              <a:ext uri="{FF2B5EF4-FFF2-40B4-BE49-F238E27FC236}">
                <a16:creationId xmlns:a16="http://schemas.microsoft.com/office/drawing/2014/main" id="{E569E1E3-B801-42A2-B8B1-1FF2E7EB0D7B}"/>
              </a:ext>
            </a:extLst>
          </p:cNvPr>
          <p:cNvSpPr txBox="1"/>
          <p:nvPr/>
        </p:nvSpPr>
        <p:spPr>
          <a:xfrm>
            <a:off x="10307534" y="3044264"/>
            <a:ext cx="956587" cy="215444"/>
          </a:xfrm>
          <a:prstGeom prst="rect">
            <a:avLst/>
          </a:prstGeom>
          <a:noFill/>
        </p:spPr>
        <p:txBody>
          <a:bodyPr wrap="square" rtlCol="0">
            <a:spAutoFit/>
          </a:bodyPr>
          <a:lstStyle/>
          <a:p>
            <a:r>
              <a:rPr lang="en-US" altLang="zh-TW" sz="800" dirty="0">
                <a:latin typeface="微軟正黑體" panose="020B0604030504040204" pitchFamily="34" charset="-120"/>
                <a:ea typeface="微軟正黑體" panose="020B0604030504040204" pitchFamily="34" charset="-120"/>
              </a:rPr>
              <a:t>0953-983657</a:t>
            </a:r>
            <a:endParaRPr lang="zh-TW" altLang="en-US" sz="800" dirty="0">
              <a:latin typeface="微軟正黑體" panose="020B0604030504040204" pitchFamily="34" charset="-120"/>
              <a:ea typeface="微軟正黑體" panose="020B0604030504040204" pitchFamily="34" charset="-120"/>
            </a:endParaRPr>
          </a:p>
        </p:txBody>
      </p:sp>
      <p:sp>
        <p:nvSpPr>
          <p:cNvPr id="66" name="文字方塊 65">
            <a:extLst>
              <a:ext uri="{FF2B5EF4-FFF2-40B4-BE49-F238E27FC236}">
                <a16:creationId xmlns:a16="http://schemas.microsoft.com/office/drawing/2014/main" id="{244113B2-ACDC-4B88-8426-479CE20DD568}"/>
              </a:ext>
            </a:extLst>
          </p:cNvPr>
          <p:cNvSpPr txBox="1"/>
          <p:nvPr/>
        </p:nvSpPr>
        <p:spPr>
          <a:xfrm>
            <a:off x="11073934" y="3041639"/>
            <a:ext cx="956587" cy="461665"/>
          </a:xfrm>
          <a:prstGeom prst="rect">
            <a:avLst/>
          </a:prstGeom>
          <a:noFill/>
        </p:spPr>
        <p:txBody>
          <a:bodyPr wrap="square" rtlCol="0">
            <a:spAutoFit/>
          </a:bodyPr>
          <a:lstStyle/>
          <a:p>
            <a:r>
              <a:rPr lang="zh-TW" altLang="en-US" sz="800" dirty="0">
                <a:latin typeface="微軟正黑體" panose="020B0604030504040204" pitchFamily="34" charset="-120"/>
                <a:ea typeface="微軟正黑體" panose="020B0604030504040204" pitchFamily="34" charset="-120"/>
              </a:rPr>
              <a:t>桃園市八德區大勇里東勇北路</a:t>
            </a:r>
            <a:r>
              <a:rPr lang="en-US" altLang="zh-TW" sz="800" dirty="0">
                <a:latin typeface="微軟正黑體" panose="020B0604030504040204" pitchFamily="34" charset="-120"/>
                <a:ea typeface="微軟正黑體" panose="020B0604030504040204" pitchFamily="34" charset="-120"/>
              </a:rPr>
              <a:t>376</a:t>
            </a:r>
            <a:r>
              <a:rPr lang="zh-TW" altLang="en-US" sz="800" dirty="0">
                <a:latin typeface="微軟正黑體" panose="020B0604030504040204" pitchFamily="34" charset="-120"/>
                <a:ea typeface="微軟正黑體" panose="020B0604030504040204" pitchFamily="34" charset="-120"/>
              </a:rPr>
              <a:t>號</a:t>
            </a:r>
          </a:p>
        </p:txBody>
      </p:sp>
      <p:sp>
        <p:nvSpPr>
          <p:cNvPr id="7" name="矩形 6">
            <a:extLst>
              <a:ext uri="{FF2B5EF4-FFF2-40B4-BE49-F238E27FC236}">
                <a16:creationId xmlns:a16="http://schemas.microsoft.com/office/drawing/2014/main" id="{AE1D4454-A7C6-4FFA-B656-9B1406525BC3}"/>
              </a:ext>
            </a:extLst>
          </p:cNvPr>
          <p:cNvSpPr/>
          <p:nvPr/>
        </p:nvSpPr>
        <p:spPr>
          <a:xfrm>
            <a:off x="11858012" y="3025152"/>
            <a:ext cx="389850" cy="215444"/>
          </a:xfrm>
          <a:prstGeom prst="rect">
            <a:avLst/>
          </a:prstGeom>
        </p:spPr>
        <p:txBody>
          <a:bodyPr wrap="none">
            <a:spAutoFit/>
          </a:bodyPr>
          <a:lstStyle/>
          <a:p>
            <a:r>
              <a:rPr lang="zh-TW" altLang="en-US" sz="800" dirty="0">
                <a:latin typeface="微軟正黑體" panose="020B0604030504040204" pitchFamily="34" charset="-120"/>
                <a:ea typeface="微軟正黑體" panose="020B0604030504040204" pitchFamily="34" charset="-120"/>
              </a:rPr>
              <a:t>橫式</a:t>
            </a:r>
          </a:p>
        </p:txBody>
      </p:sp>
      <p:pic>
        <p:nvPicPr>
          <p:cNvPr id="5" name="圖片 4">
            <a:extLst>
              <a:ext uri="{FF2B5EF4-FFF2-40B4-BE49-F238E27FC236}">
                <a16:creationId xmlns:a16="http://schemas.microsoft.com/office/drawing/2014/main" id="{528A899F-6C3B-45C8-A691-AAE6A8184288}"/>
              </a:ext>
            </a:extLst>
          </p:cNvPr>
          <p:cNvPicPr>
            <a:picLocks noChangeAspect="1"/>
          </p:cNvPicPr>
          <p:nvPr/>
        </p:nvPicPr>
        <p:blipFill>
          <a:blip r:embed="rId3"/>
          <a:stretch>
            <a:fillRect/>
          </a:stretch>
        </p:blipFill>
        <p:spPr>
          <a:xfrm>
            <a:off x="222178" y="1915284"/>
            <a:ext cx="7196621" cy="1592338"/>
          </a:xfrm>
          <a:prstGeom prst="rect">
            <a:avLst/>
          </a:prstGeom>
        </p:spPr>
      </p:pic>
      <p:sp>
        <p:nvSpPr>
          <p:cNvPr id="41" name="矩形 40">
            <a:extLst>
              <a:ext uri="{FF2B5EF4-FFF2-40B4-BE49-F238E27FC236}">
                <a16:creationId xmlns:a16="http://schemas.microsoft.com/office/drawing/2014/main" id="{1558922F-AA81-4E4A-8482-F2688859CF0D}"/>
              </a:ext>
            </a:extLst>
          </p:cNvPr>
          <p:cNvSpPr/>
          <p:nvPr/>
        </p:nvSpPr>
        <p:spPr>
          <a:xfrm>
            <a:off x="7560973" y="1657762"/>
            <a:ext cx="3244449" cy="563001"/>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42" name="直線單箭頭接點 41">
            <a:extLst>
              <a:ext uri="{FF2B5EF4-FFF2-40B4-BE49-F238E27FC236}">
                <a16:creationId xmlns:a16="http://schemas.microsoft.com/office/drawing/2014/main" id="{BE17EE09-C696-4155-AC37-81C0B30ADC1C}"/>
              </a:ext>
            </a:extLst>
          </p:cNvPr>
          <p:cNvCxnSpPr>
            <a:cxnSpLocks/>
          </p:cNvCxnSpPr>
          <p:nvPr/>
        </p:nvCxnSpPr>
        <p:spPr>
          <a:xfrm flipH="1" flipV="1">
            <a:off x="6411300" y="1342150"/>
            <a:ext cx="1149674" cy="3966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矩形 47">
            <a:extLst>
              <a:ext uri="{FF2B5EF4-FFF2-40B4-BE49-F238E27FC236}">
                <a16:creationId xmlns:a16="http://schemas.microsoft.com/office/drawing/2014/main" id="{4E3D49AE-87D7-472E-8F66-0E0DA90FED45}"/>
              </a:ext>
            </a:extLst>
          </p:cNvPr>
          <p:cNvSpPr/>
          <p:nvPr/>
        </p:nvSpPr>
        <p:spPr>
          <a:xfrm>
            <a:off x="7560973" y="2207636"/>
            <a:ext cx="2592405" cy="476356"/>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59" name="直線單箭頭接點 58">
            <a:extLst>
              <a:ext uri="{FF2B5EF4-FFF2-40B4-BE49-F238E27FC236}">
                <a16:creationId xmlns:a16="http://schemas.microsoft.com/office/drawing/2014/main" id="{B3E9F459-17C3-46B5-A9F7-DCEC52882F00}"/>
              </a:ext>
            </a:extLst>
          </p:cNvPr>
          <p:cNvCxnSpPr>
            <a:cxnSpLocks/>
          </p:cNvCxnSpPr>
          <p:nvPr/>
        </p:nvCxnSpPr>
        <p:spPr>
          <a:xfrm flipH="1" flipV="1">
            <a:off x="5706825" y="1852028"/>
            <a:ext cx="1839077" cy="4930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文字方塊 62">
            <a:extLst>
              <a:ext uri="{FF2B5EF4-FFF2-40B4-BE49-F238E27FC236}">
                <a16:creationId xmlns:a16="http://schemas.microsoft.com/office/drawing/2014/main" id="{C398C869-DC80-4787-8B65-715DB740052D}"/>
              </a:ext>
            </a:extLst>
          </p:cNvPr>
          <p:cNvSpPr txBox="1"/>
          <p:nvPr/>
        </p:nvSpPr>
        <p:spPr>
          <a:xfrm>
            <a:off x="4253600" y="1607976"/>
            <a:ext cx="2586490" cy="246221"/>
          </a:xfrm>
          <a:prstGeom prst="rect">
            <a:avLst/>
          </a:prstGeom>
          <a:noFill/>
        </p:spPr>
        <p:txBody>
          <a:bodyPr wrap="square" rtlCol="0">
            <a:spAutoFit/>
          </a:bodyPr>
          <a:lstStyle/>
          <a:p>
            <a:pPr marL="22860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區間查詢功能沒設計到畫面裡，請加入</a:t>
            </a:r>
            <a:endParaRPr lang="zh-TW" altLang="zh-TW" sz="1000" dirty="0">
              <a:latin typeface="微軟正黑體" panose="020B0604030504040204" pitchFamily="34" charset="-120"/>
              <a:ea typeface="微軟正黑體" panose="020B0604030504040204" pitchFamily="34" charset="-120"/>
            </a:endParaRPr>
          </a:p>
        </p:txBody>
      </p:sp>
      <p:sp>
        <p:nvSpPr>
          <p:cNvPr id="67" name="矩形 66">
            <a:extLst>
              <a:ext uri="{FF2B5EF4-FFF2-40B4-BE49-F238E27FC236}">
                <a16:creationId xmlns:a16="http://schemas.microsoft.com/office/drawing/2014/main" id="{3440C728-DF6E-4D4F-B3B3-CE4BD8CEEB96}"/>
              </a:ext>
            </a:extLst>
          </p:cNvPr>
          <p:cNvSpPr/>
          <p:nvPr/>
        </p:nvSpPr>
        <p:spPr>
          <a:xfrm>
            <a:off x="9105020" y="2768158"/>
            <a:ext cx="3142842" cy="739464"/>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68" name="直線單箭頭接點 67">
            <a:extLst>
              <a:ext uri="{FF2B5EF4-FFF2-40B4-BE49-F238E27FC236}">
                <a16:creationId xmlns:a16="http://schemas.microsoft.com/office/drawing/2014/main" id="{E362C017-9A8D-4ED7-ADCE-7ADD38DC7BD0}"/>
              </a:ext>
            </a:extLst>
          </p:cNvPr>
          <p:cNvCxnSpPr>
            <a:cxnSpLocks/>
          </p:cNvCxnSpPr>
          <p:nvPr/>
        </p:nvCxnSpPr>
        <p:spPr>
          <a:xfrm flipH="1" flipV="1">
            <a:off x="2939544" y="1886697"/>
            <a:ext cx="6170624" cy="1369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9" name="文字方塊 68">
            <a:extLst>
              <a:ext uri="{FF2B5EF4-FFF2-40B4-BE49-F238E27FC236}">
                <a16:creationId xmlns:a16="http://schemas.microsoft.com/office/drawing/2014/main" id="{E6506D61-BE1C-46C8-9F42-ED1744558C8E}"/>
              </a:ext>
            </a:extLst>
          </p:cNvPr>
          <p:cNvSpPr txBox="1"/>
          <p:nvPr/>
        </p:nvSpPr>
        <p:spPr>
          <a:xfrm>
            <a:off x="1384669" y="1664199"/>
            <a:ext cx="2324084" cy="246221"/>
          </a:xfrm>
          <a:prstGeom prst="rect">
            <a:avLst/>
          </a:prstGeom>
          <a:noFill/>
        </p:spPr>
        <p:txBody>
          <a:bodyPr wrap="square" rtlCol="0">
            <a:spAutoFit/>
          </a:bodyPr>
          <a:lstStyle/>
          <a:p>
            <a:pPr marL="22860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欄位功能沒設計到畫面裡，請加入</a:t>
            </a:r>
            <a:endParaRPr lang="zh-TW" altLang="zh-TW" sz="1000" dirty="0">
              <a:latin typeface="微軟正黑體" panose="020B0604030504040204" pitchFamily="34" charset="-120"/>
              <a:ea typeface="微軟正黑體" panose="020B0604030504040204" pitchFamily="34" charset="-120"/>
            </a:endParaRPr>
          </a:p>
        </p:txBody>
      </p:sp>
      <p:sp>
        <p:nvSpPr>
          <p:cNvPr id="70" name="矩形 69">
            <a:extLst>
              <a:ext uri="{FF2B5EF4-FFF2-40B4-BE49-F238E27FC236}">
                <a16:creationId xmlns:a16="http://schemas.microsoft.com/office/drawing/2014/main" id="{28E77481-8FE6-4BF2-B543-BD084770501E}"/>
              </a:ext>
            </a:extLst>
          </p:cNvPr>
          <p:cNvSpPr/>
          <p:nvPr/>
        </p:nvSpPr>
        <p:spPr>
          <a:xfrm>
            <a:off x="7559676" y="3242120"/>
            <a:ext cx="1978912" cy="461665"/>
          </a:xfrm>
          <a:prstGeom prst="rect">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cxnSp>
        <p:nvCxnSpPr>
          <p:cNvPr id="71" name="直線單箭頭接點 70">
            <a:extLst>
              <a:ext uri="{FF2B5EF4-FFF2-40B4-BE49-F238E27FC236}">
                <a16:creationId xmlns:a16="http://schemas.microsoft.com/office/drawing/2014/main" id="{49704282-76BC-42F6-B1C1-6965C19B6412}"/>
              </a:ext>
            </a:extLst>
          </p:cNvPr>
          <p:cNvCxnSpPr>
            <a:cxnSpLocks/>
            <a:stCxn id="70" idx="1"/>
          </p:cNvCxnSpPr>
          <p:nvPr/>
        </p:nvCxnSpPr>
        <p:spPr>
          <a:xfrm flipH="1" flipV="1">
            <a:off x="2692288" y="1886697"/>
            <a:ext cx="4867388" cy="1586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TextBox 1">
            <a:extLst>
              <a:ext uri="{FF2B5EF4-FFF2-40B4-BE49-F238E27FC236}">
                <a16:creationId xmlns:a16="http://schemas.microsoft.com/office/drawing/2014/main" id="{02383EC6-43B1-4E1D-A368-A057636BB1EF}"/>
              </a:ext>
            </a:extLst>
          </p:cNvPr>
          <p:cNvSpPr txBox="1"/>
          <p:nvPr/>
        </p:nvSpPr>
        <p:spPr>
          <a:xfrm>
            <a:off x="296702" y="1196754"/>
            <a:ext cx="3324308"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號提供測試有誤，請修正</a:t>
            </a:r>
            <a:endParaRPr sz="1400" b="1" dirty="0">
              <a:highlight>
                <a:srgbClr val="00FFFF"/>
              </a:highlight>
              <a:latin typeface="微軟正黑體" panose="020B0604030504040204" pitchFamily="34" charset="-120"/>
              <a:ea typeface="微軟正黑體" panose="020B0604030504040204" pitchFamily="34" charset="-120"/>
            </a:endParaRPr>
          </a:p>
        </p:txBody>
      </p:sp>
      <p:sp>
        <p:nvSpPr>
          <p:cNvPr id="74" name="文字方塊 73">
            <a:extLst>
              <a:ext uri="{FF2B5EF4-FFF2-40B4-BE49-F238E27FC236}">
                <a16:creationId xmlns:a16="http://schemas.microsoft.com/office/drawing/2014/main" id="{7BC110B1-DF0A-437B-8002-37023FB41755}"/>
              </a:ext>
            </a:extLst>
          </p:cNvPr>
          <p:cNvSpPr txBox="1"/>
          <p:nvPr/>
        </p:nvSpPr>
        <p:spPr>
          <a:xfrm>
            <a:off x="264816" y="512435"/>
            <a:ext cx="3763032" cy="707886"/>
          </a:xfrm>
          <a:prstGeom prst="rect">
            <a:avLst/>
          </a:prstGeom>
          <a:noFill/>
        </p:spPr>
        <p:txBody>
          <a:bodyPr wrap="square" rtlCol="0">
            <a:spAutoFit/>
          </a:bodyPr>
          <a:lstStyle/>
          <a:p>
            <a:r>
              <a:rPr lang="en-US" altLang="zh-TW" sz="2000" b="1" dirty="0">
                <a:latin typeface="微軟正黑體" panose="020B0604030504040204" pitchFamily="34" charset="-120"/>
                <a:ea typeface="微軟正黑體" panose="020B0604030504040204" pitchFamily="34" charset="-120"/>
              </a:rPr>
              <a:t>6/2</a:t>
            </a:r>
            <a:r>
              <a:rPr lang="zh-TW" altLang="en-US" sz="2000" b="1" dirty="0">
                <a:latin typeface="微軟正黑體" panose="020B0604030504040204" pitchFamily="34" charset="-120"/>
                <a:ea typeface="微軟正黑體" panose="020B0604030504040204" pitchFamily="34" charset="-120"/>
              </a:rPr>
              <a:t>號艾創點給的前台測試</a:t>
            </a:r>
            <a:endParaRPr lang="en-US" altLang="zh-TW" sz="2000" b="1" dirty="0">
              <a:latin typeface="微軟正黑體" panose="020B0604030504040204" pitchFamily="34" charset="-120"/>
              <a:ea typeface="微軟正黑體" panose="020B0604030504040204" pitchFamily="34" charset="-120"/>
            </a:endParaRPr>
          </a:p>
          <a:p>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到期列表</a:t>
            </a:r>
            <a:r>
              <a:rPr lang="en-US" altLang="zh-TW" sz="2000" b="1" dirty="0">
                <a:latin typeface="微軟正黑體" panose="020B0604030504040204" pitchFamily="34" charset="-120"/>
                <a:ea typeface="微軟正黑體" panose="020B0604030504040204" pitchFamily="34" charset="-120"/>
              </a:rPr>
              <a:t>)</a:t>
            </a:r>
            <a:endParaRPr lang="zh-TW" altLang="en-US" sz="2000" b="1" dirty="0">
              <a:latin typeface="微軟正黑體" panose="020B0604030504040204" pitchFamily="34" charset="-120"/>
              <a:ea typeface="微軟正黑體" panose="020B0604030504040204" pitchFamily="34" charset="-120"/>
            </a:endParaRPr>
          </a:p>
        </p:txBody>
      </p:sp>
      <p:sp>
        <p:nvSpPr>
          <p:cNvPr id="72" name="文字方塊 71">
            <a:extLst>
              <a:ext uri="{FF2B5EF4-FFF2-40B4-BE49-F238E27FC236}">
                <a16:creationId xmlns:a16="http://schemas.microsoft.com/office/drawing/2014/main" id="{C6435725-9B90-4DB9-A46B-C035906D5783}"/>
              </a:ext>
            </a:extLst>
          </p:cNvPr>
          <p:cNvSpPr txBox="1"/>
          <p:nvPr/>
        </p:nvSpPr>
        <p:spPr>
          <a:xfrm>
            <a:off x="3621010" y="694630"/>
            <a:ext cx="3549247" cy="707886"/>
          </a:xfrm>
          <a:prstGeom prst="rect">
            <a:avLst/>
          </a:prstGeom>
          <a:noFill/>
        </p:spPr>
        <p:txBody>
          <a:bodyPr wrap="square" rtlCol="0">
            <a:spAutoFit/>
          </a:bodyPr>
          <a:lstStyle/>
          <a:p>
            <a:pPr marL="228600" indent="-228600">
              <a:buFont typeface="Arial" panose="020B0604020202020204" pitchFamily="34" charset="0"/>
              <a:buChar char="•"/>
            </a:pPr>
            <a:r>
              <a:rPr lang="zh-TW" altLang="en-US" sz="1000" dirty="0">
                <a:latin typeface="微軟正黑體" panose="020B0604030504040204" pitchFamily="34" charset="-120"/>
                <a:ea typeface="微軟正黑體" panose="020B0604030504040204" pitchFamily="34" charset="-120"/>
              </a:rPr>
              <a:t>可用廣告編號或車行名稱或地址或查詢在該客代帳號下曾申請過的範圍內的指定條件資料</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限定該客代曾申請的資料，不可查其他客代帳號資料</a:t>
            </a:r>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a:t>
            </a:r>
            <a:r>
              <a:rPr lang="zh-TW" altLang="en-US" sz="1000" u="sng" dirty="0">
                <a:latin typeface="微軟正黑體" panose="020B0604030504040204" pitchFamily="34" charset="-120"/>
                <a:ea typeface="微軟正黑體" panose="020B0604030504040204" pitchFamily="34" charset="-120"/>
              </a:rPr>
              <a:t>可用模糊搜尋方式找</a:t>
            </a:r>
            <a:r>
              <a:rPr lang="zh-TW" altLang="en-US" sz="1000" dirty="0">
                <a:latin typeface="微軟正黑體" panose="020B0604030504040204" pitchFamily="34" charset="-120"/>
                <a:ea typeface="微軟正黑體" panose="020B0604030504040204" pitchFamily="34" charset="-120"/>
              </a:rPr>
              <a:t>，沒設計到畫面裡，請加入</a:t>
            </a:r>
            <a:endParaRPr lang="zh-TW" altLang="zh-TW" sz="1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812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
            <a:extLst>
              <a:ext uri="{FF2B5EF4-FFF2-40B4-BE49-F238E27FC236}">
                <a16:creationId xmlns:a16="http://schemas.microsoft.com/office/drawing/2014/main" id="{5405F2EB-D133-4533-B529-894068B4A8A1}"/>
              </a:ext>
            </a:extLst>
          </p:cNvPr>
          <p:cNvSpPr/>
          <p:nvPr/>
        </p:nvSpPr>
        <p:spPr>
          <a:xfrm>
            <a:off x="7034744" y="617691"/>
            <a:ext cx="9165694" cy="6213137"/>
          </a:xfrm>
          <a:prstGeom prst="rect">
            <a:avLst/>
          </a:prstGeom>
          <a:solidFill>
            <a:srgbClr val="BED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文字方塊 4">
            <a:extLst>
              <a:ext uri="{FF2B5EF4-FFF2-40B4-BE49-F238E27FC236}">
                <a16:creationId xmlns:a16="http://schemas.microsoft.com/office/drawing/2014/main" id="{7ACCF60A-A401-4410-A430-A2F44AE80F03}"/>
              </a:ext>
            </a:extLst>
          </p:cNvPr>
          <p:cNvSpPr txBox="1"/>
          <p:nvPr/>
        </p:nvSpPr>
        <p:spPr>
          <a:xfrm>
            <a:off x="7142810" y="1182577"/>
            <a:ext cx="8927869" cy="2123658"/>
          </a:xfrm>
          <a:prstGeom prst="rect">
            <a:avLst/>
          </a:prstGeom>
          <a:noFill/>
        </p:spPr>
        <p:txBody>
          <a:bodyPr wrap="square" rtlCol="0">
            <a:spAutoFit/>
          </a:bodyPr>
          <a:lstStyle/>
          <a:p>
            <a:r>
              <a:rPr lang="zh-TW" altLang="en-US" sz="3300" b="1" dirty="0">
                <a:latin typeface="微軟正黑體" panose="020B0604030504040204" pitchFamily="34" charset="-120"/>
                <a:ea typeface="微軟正黑體" panose="020B0604030504040204" pitchFamily="34" charset="-120"/>
              </a:rPr>
              <a:t>店招合約到期後台與進度查詢共用</a:t>
            </a:r>
            <a:r>
              <a:rPr lang="en-US" altLang="zh-TW" sz="3300" b="1" dirty="0">
                <a:latin typeface="微軟正黑體" panose="020B0604030504040204" pitchFamily="34" charset="-120"/>
                <a:ea typeface="微軟正黑體" panose="020B0604030504040204" pitchFamily="34" charset="-120"/>
              </a:rPr>
              <a:t>excel</a:t>
            </a:r>
            <a:r>
              <a:rPr lang="zh-TW" altLang="en-US" sz="3300" b="1" dirty="0">
                <a:latin typeface="微軟正黑體" panose="020B0604030504040204" pitchFamily="34" charset="-120"/>
                <a:ea typeface="微軟正黑體" panose="020B0604030504040204" pitchFamily="34" charset="-120"/>
              </a:rPr>
              <a:t>表，只需依前台指定條件，撈取該國家下該經銷商客代的最新上載的</a:t>
            </a:r>
            <a:r>
              <a:rPr lang="en-US" altLang="zh-TW" sz="3300" b="1" dirty="0">
                <a:latin typeface="微軟正黑體" panose="020B0604030504040204" pitchFamily="34" charset="-120"/>
                <a:ea typeface="微軟正黑體" panose="020B0604030504040204" pitchFamily="34" charset="-120"/>
              </a:rPr>
              <a:t>excel</a:t>
            </a:r>
            <a:r>
              <a:rPr lang="zh-TW" altLang="en-US" sz="3300" b="1" dirty="0">
                <a:latin typeface="微軟正黑體" panose="020B0604030504040204" pitchFamily="34" charset="-120"/>
                <a:ea typeface="微軟正黑體" panose="020B0604030504040204" pitchFamily="34" charset="-120"/>
              </a:rPr>
              <a:t>表欄位資料給前台看，並有下載撈取資料成</a:t>
            </a:r>
            <a:r>
              <a:rPr lang="en-US" altLang="zh-TW" sz="3300" b="1" dirty="0">
                <a:latin typeface="微軟正黑體" panose="020B0604030504040204" pitchFamily="34" charset="-120"/>
                <a:ea typeface="微軟正黑體" panose="020B0604030504040204" pitchFamily="34" charset="-120"/>
              </a:rPr>
              <a:t>PDF</a:t>
            </a:r>
            <a:r>
              <a:rPr lang="zh-TW" altLang="en-US" sz="3300" b="1" dirty="0">
                <a:latin typeface="微軟正黑體" panose="020B0604030504040204" pitchFamily="34" charset="-120"/>
                <a:ea typeface="微軟正黑體" panose="020B0604030504040204" pitchFamily="34" charset="-120"/>
              </a:rPr>
              <a:t>功能</a:t>
            </a:r>
          </a:p>
        </p:txBody>
      </p:sp>
      <p:sp>
        <p:nvSpPr>
          <p:cNvPr id="2" name="矩形 1">
            <a:extLst>
              <a:ext uri="{FF2B5EF4-FFF2-40B4-BE49-F238E27FC236}">
                <a16:creationId xmlns:a16="http://schemas.microsoft.com/office/drawing/2014/main" id="{891073D9-9940-47BC-AF26-23603B0E122D}"/>
              </a:ext>
            </a:extLst>
          </p:cNvPr>
          <p:cNvSpPr/>
          <p:nvPr/>
        </p:nvSpPr>
        <p:spPr>
          <a:xfrm>
            <a:off x="7142808" y="3306215"/>
            <a:ext cx="8819804" cy="1477328"/>
          </a:xfrm>
          <a:prstGeom prst="rect">
            <a:avLst/>
          </a:prstGeom>
        </p:spPr>
        <p:txBody>
          <a:bodyPr wrap="square">
            <a:spAutoFit/>
          </a:bodyPr>
          <a:lstStyle/>
          <a:p>
            <a:pPr fontAlgn="ctr"/>
            <a:r>
              <a:rPr lang="zh-TW" altLang="en-US" dirty="0">
                <a:solidFill>
                  <a:srgbClr val="FF0000"/>
                </a:solidFill>
                <a:latin typeface="微軟正黑體" panose="020B0604030504040204" pitchFamily="34" charset="-120"/>
                <a:ea typeface="微軟正黑體" panose="020B0604030504040204" pitchFamily="34" charset="-120"/>
              </a:rPr>
              <a:t>注意</a:t>
            </a:r>
            <a:r>
              <a:rPr lang="en-US" altLang="zh-TW" dirty="0">
                <a:solidFill>
                  <a:srgbClr val="FF0000"/>
                </a:solidFill>
                <a:latin typeface="微軟正黑體" panose="020B0604030504040204" pitchFamily="34" charset="-120"/>
                <a:ea typeface="微軟正黑體" panose="020B0604030504040204" pitchFamily="34" charset="-120"/>
              </a:rPr>
              <a:t>: </a:t>
            </a:r>
          </a:p>
          <a:p>
            <a:pPr marL="285766" indent="-285766" fontAlgn="ctr">
              <a:buFont typeface="Arial" panose="020B0604020202020204" pitchFamily="34" charset="0"/>
              <a:buChar char="•"/>
            </a:pPr>
            <a:r>
              <a:rPr lang="zh-TW" altLang="en-US" dirty="0">
                <a:solidFill>
                  <a:srgbClr val="FF0000"/>
                </a:solidFill>
                <a:latin typeface="微軟正黑體" panose="020B0604030504040204" pitchFamily="34" charset="-120"/>
                <a:ea typeface="微軟正黑體" panose="020B0604030504040204" pitchFamily="34" charset="-120"/>
              </a:rPr>
              <a:t>該胎種別下的經銷商帳號登入才有權限查看自已申請範圍的資料，不能查看其他國家或其他經銷商帳號下的申請資料</a:t>
            </a:r>
            <a:endParaRPr lang="en-US" altLang="zh-TW" dirty="0">
              <a:solidFill>
                <a:srgbClr val="FF0000"/>
              </a:solidFill>
              <a:latin typeface="微軟正黑體" panose="020B0604030504040204" pitchFamily="34" charset="-120"/>
              <a:ea typeface="微軟正黑體" panose="020B0604030504040204" pitchFamily="34" charset="-120"/>
            </a:endParaRPr>
          </a:p>
          <a:p>
            <a:pPr marL="285766" indent="-285766" fontAlgn="ctr">
              <a:buFont typeface="Arial" panose="020B0604020202020204" pitchFamily="34" charset="0"/>
              <a:buChar char="•"/>
            </a:pPr>
            <a:r>
              <a:rPr lang="zh-TW" altLang="en-US" dirty="0">
                <a:solidFill>
                  <a:srgbClr val="FF0000"/>
                </a:solidFill>
                <a:latin typeface="微軟正黑體" panose="020B0604030504040204" pitchFamily="34" charset="-120"/>
                <a:ea typeface="微軟正黑體" panose="020B0604030504040204" pitchFamily="34" charset="-120"/>
              </a:rPr>
              <a:t>後台維護，請以總公司商企課店招維護人員擁有最高權限，權限以可新增、修改、刪除、查詢、下載、上載、開放前台欄位顯示為主，避免資料各廠不統一</a:t>
            </a:r>
          </a:p>
        </p:txBody>
      </p:sp>
      <p:sp>
        <p:nvSpPr>
          <p:cNvPr id="50" name="TextBox 1">
            <a:extLst>
              <a:ext uri="{FF2B5EF4-FFF2-40B4-BE49-F238E27FC236}">
                <a16:creationId xmlns:a16="http://schemas.microsoft.com/office/drawing/2014/main" id="{E893F9D1-6696-4436-93DA-3599F14C2129}"/>
              </a:ext>
            </a:extLst>
          </p:cNvPr>
          <p:cNvSpPr txBox="1"/>
          <p:nvPr/>
        </p:nvSpPr>
        <p:spPr>
          <a:xfrm>
            <a:off x="7491945" y="139105"/>
            <a:ext cx="4129657" cy="553998"/>
          </a:xfrm>
          <a:prstGeom prst="rect">
            <a:avLst/>
          </a:prstGeom>
          <a:noFill/>
        </p:spPr>
        <p:txBody>
          <a:bodyPr wrap="none">
            <a:spAutoFit/>
          </a:bodyPr>
          <a:lstStyle/>
          <a:p>
            <a:r>
              <a:rPr lang="zh-TW" altLang="en-US" sz="3000" b="1" dirty="0">
                <a:latin typeface="微軟正黑體" panose="020B0604030504040204" pitchFamily="34" charset="-120"/>
                <a:ea typeface="微軟正黑體" panose="020B0604030504040204" pitchFamily="34" charset="-120"/>
              </a:rPr>
              <a:t>店招合約到期查詢後台</a:t>
            </a:r>
            <a:r>
              <a:rPr lang="en-US" altLang="zh-TW" sz="3000" b="1" dirty="0">
                <a:latin typeface="微軟正黑體" panose="020B0604030504040204" pitchFamily="34" charset="-120"/>
                <a:ea typeface="微軟正黑體" panose="020B0604030504040204" pitchFamily="34" charset="-120"/>
              </a:rPr>
              <a:t>:</a:t>
            </a:r>
            <a:endParaRPr sz="3000" b="1" dirty="0">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7BA2FF04-B8A1-41C7-93A3-768941080AB7}"/>
              </a:ext>
            </a:extLst>
          </p:cNvPr>
          <p:cNvSpPr txBox="1"/>
          <p:nvPr/>
        </p:nvSpPr>
        <p:spPr>
          <a:xfrm>
            <a:off x="7295213" y="4880050"/>
            <a:ext cx="8467897" cy="1923604"/>
          </a:xfrm>
          <a:prstGeom prst="rect">
            <a:avLst/>
          </a:prstGeom>
          <a:noFill/>
        </p:spPr>
        <p:txBody>
          <a:bodyPr wrap="square" rtlCol="0">
            <a:spAutoFit/>
          </a:bodyPr>
          <a:lstStyle/>
          <a:p>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注意</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 </a:t>
            </a:r>
          </a:p>
          <a:p>
            <a:pPr marL="342919" indent="-342919">
              <a:buAutoNum type="arabicPeriod"/>
            </a:pP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excel</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表上載是否有筆數限制？目前有一個廠已有</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4</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萬多筆資料</a:t>
            </a:r>
            <a:endPar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endParaRPr>
          </a:p>
          <a:p>
            <a:pPr marL="342919" indent="-342919">
              <a:buAutoNum type="arabicPeriod"/>
            </a:pP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續約、盤點、作廢資產轉移的申請資料未來是從</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bpm</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提出，那</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excel</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表內容因沒有從經銷商入口網站申請，如何讓他在</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excel</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表內有此</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bpm</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提出的更新資料不需人工填入後再將</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excel</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上載更新經銷商入口網站的資料？因現能想的到的方式是人工一筆一筆填入，再由</a:t>
            </a:r>
            <a:r>
              <a:rPr lang="en-US" altLang="zh-TW" sz="1700" b="1" dirty="0">
                <a:solidFill>
                  <a:srgbClr val="FF0000"/>
                </a:solidFill>
                <a:highlight>
                  <a:srgbClr val="00FFFF"/>
                </a:highlight>
                <a:latin typeface="微軟正黑體" panose="020B0604030504040204" pitchFamily="34" charset="-120"/>
                <a:ea typeface="微軟正黑體" panose="020B0604030504040204" pitchFamily="34" charset="-120"/>
              </a:rPr>
              <a:t>bpm</a:t>
            </a:r>
            <a:r>
              <a:rPr lang="zh-TW" altLang="en-US" sz="1700" b="1" dirty="0">
                <a:solidFill>
                  <a:srgbClr val="FF0000"/>
                </a:solidFill>
                <a:highlight>
                  <a:srgbClr val="00FFFF"/>
                </a:highlight>
                <a:latin typeface="微軟正黑體" panose="020B0604030504040204" pitchFamily="34" charset="-120"/>
                <a:ea typeface="微軟正黑體" panose="020B0604030504040204" pitchFamily="34" charset="-120"/>
              </a:rPr>
              <a:t>、經銷商入口網站確認是同一筆資料後再覆蓋處理，若有更好方式再幫忙提供建議</a:t>
            </a:r>
          </a:p>
        </p:txBody>
      </p:sp>
      <p:sp>
        <p:nvSpPr>
          <p:cNvPr id="8" name="TextBox 1">
            <a:extLst>
              <a:ext uri="{FF2B5EF4-FFF2-40B4-BE49-F238E27FC236}">
                <a16:creationId xmlns:a16="http://schemas.microsoft.com/office/drawing/2014/main" id="{13CCB692-9E55-4383-93AC-4BD1351FD370}"/>
              </a:ext>
            </a:extLst>
          </p:cNvPr>
          <p:cNvSpPr txBox="1"/>
          <p:nvPr/>
        </p:nvSpPr>
        <p:spPr>
          <a:xfrm>
            <a:off x="281730" y="904735"/>
            <a:ext cx="3987951" cy="307777"/>
          </a:xfrm>
          <a:prstGeom prst="rect">
            <a:avLst/>
          </a:prstGeom>
          <a:noFill/>
        </p:spPr>
        <p:txBody>
          <a:bodyPr wrap="none">
            <a:spAutoFit/>
          </a:bodyPr>
          <a:lstStyle/>
          <a:p>
            <a:r>
              <a:rPr lang="en-US" altLang="zh-TW" sz="1400" b="1" dirty="0">
                <a:highlight>
                  <a:srgbClr val="00FFFF"/>
                </a:highlight>
                <a:latin typeface="微軟正黑體" panose="020B0604030504040204" pitchFamily="34" charset="-120"/>
                <a:ea typeface="微軟正黑體" panose="020B0604030504040204" pitchFamily="34" charset="-120"/>
              </a:rPr>
              <a:t>TO</a:t>
            </a:r>
            <a:r>
              <a:rPr lang="zh-TW" altLang="en-US" sz="1400" b="1" dirty="0">
                <a:highlight>
                  <a:srgbClr val="00FFFF"/>
                </a:highlight>
                <a:latin typeface="微軟正黑體" panose="020B0604030504040204" pitchFamily="34" charset="-120"/>
                <a:ea typeface="微軟正黑體" panose="020B0604030504040204" pitchFamily="34" charset="-120"/>
              </a:rPr>
              <a:t>艾創點</a:t>
            </a:r>
            <a:r>
              <a:rPr lang="en-US" altLang="zh-TW" sz="1400" b="1" dirty="0">
                <a:highlight>
                  <a:srgbClr val="00FFFF"/>
                </a:highlight>
                <a:latin typeface="微軟正黑體" panose="020B0604030504040204" pitchFamily="34" charset="-120"/>
                <a:ea typeface="微軟正黑體" panose="020B0604030504040204" pitchFamily="34" charset="-120"/>
              </a:rPr>
              <a:t>: 6/2</a:t>
            </a:r>
            <a:r>
              <a:rPr lang="zh-TW" altLang="en-US" sz="1400" b="1" dirty="0">
                <a:highlight>
                  <a:srgbClr val="00FFFF"/>
                </a:highlight>
                <a:latin typeface="微軟正黑體" panose="020B0604030504040204" pitchFamily="34" charset="-120"/>
                <a:ea typeface="微軟正黑體" panose="020B0604030504040204" pitchFamily="34" charset="-120"/>
              </a:rPr>
              <a:t>號提供測試</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solidFill>
                  <a:srgbClr val="FF0000"/>
                </a:solidFill>
                <a:highlight>
                  <a:srgbClr val="00FFFF"/>
                </a:highlight>
                <a:latin typeface="微軟正黑體" panose="020B0604030504040204" pitchFamily="34" charset="-120"/>
                <a:ea typeface="微軟正黑體" panose="020B0604030504040204" pitchFamily="34" charset="-120"/>
              </a:rPr>
              <a:t>後台</a:t>
            </a:r>
            <a:r>
              <a:rPr lang="en-US" altLang="zh-TW" sz="1400" b="1" dirty="0">
                <a:solidFill>
                  <a:srgbClr val="FF0000"/>
                </a:solidFill>
                <a:highlight>
                  <a:srgbClr val="00FFFF"/>
                </a:highlight>
                <a:latin typeface="微軟正黑體" panose="020B0604030504040204" pitchFamily="34" charset="-120"/>
                <a:ea typeface="微軟正黑體" panose="020B0604030504040204" pitchFamily="34" charset="-120"/>
              </a:rPr>
              <a:t>)</a:t>
            </a:r>
            <a:r>
              <a:rPr lang="zh-TW" altLang="en-US" sz="1400" b="1" dirty="0">
                <a:highlight>
                  <a:srgbClr val="00FFFF"/>
                </a:highlight>
                <a:latin typeface="微軟正黑體" panose="020B0604030504040204" pitchFamily="34" charset="-120"/>
                <a:ea typeface="微軟正黑體" panose="020B0604030504040204" pitchFamily="34" charset="-120"/>
              </a:rPr>
              <a:t>沒看到這個功能</a:t>
            </a:r>
            <a:endParaRPr sz="1400" b="1" dirty="0">
              <a:highlight>
                <a:srgbClr val="00FFFF"/>
              </a:highligh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719928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5000</TotalTime>
  <Words>4723</Words>
  <Application>Microsoft Office PowerPoint</Application>
  <PresentationFormat>自訂</PresentationFormat>
  <Paragraphs>482</Paragraphs>
  <Slides>11</Slides>
  <Notes>4</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1</vt:i4>
      </vt:variant>
      <vt:variant>
        <vt:lpstr>投影片標題</vt:lpstr>
      </vt:variant>
      <vt:variant>
        <vt:i4>11</vt:i4>
      </vt:variant>
    </vt:vector>
  </HeadingPairs>
  <TitlesOfParts>
    <vt:vector size="18" baseType="lpstr">
      <vt:lpstr>微軟正黑體</vt:lpstr>
      <vt:lpstr>新細明體</vt:lpstr>
      <vt:lpstr>Arial</vt:lpstr>
      <vt:lpstr>Calibri</vt:lpstr>
      <vt:lpstr>Wingdings</vt:lpstr>
      <vt:lpstr>Office Theme</vt:lpstr>
      <vt:lpstr>Worksheet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dolphin 謝雯萱</dc:creator>
  <cp:keywords/>
  <dc:description>generated using python-pptx</dc:description>
  <cp:lastModifiedBy>dolphin 謝雯萱</cp:lastModifiedBy>
  <cp:revision>212</cp:revision>
  <cp:lastPrinted>2026-04-20T02:02:51Z</cp:lastPrinted>
  <dcterms:created xsi:type="dcterms:W3CDTF">2013-01-27T09:14:16Z</dcterms:created>
  <dcterms:modified xsi:type="dcterms:W3CDTF">2026-06-04T08:17:33Z</dcterms:modified>
  <cp:category/>
</cp:coreProperties>
</file>