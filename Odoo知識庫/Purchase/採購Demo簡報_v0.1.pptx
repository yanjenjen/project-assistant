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4206240"/>
            <a:ext cx="3657600" cy="36576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採購模組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採購（Purchase）模組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內部培訓簡報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商業模式定位｜系統功能總覽｜三個情境故事實戰演練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128016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員工_03　流程內控助理｜海瑟姆　　整理日期：2026-07-23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5448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03120" y="1691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商業模式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03120" y="212140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採購及付款循環在企業八大循環中的定位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8892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103120" y="2926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× 採購功能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03120" y="33558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核心流程、10大功能、跨模組關係與關鍵設定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02336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103120" y="4160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三個實務情境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03120" y="459028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新手採購員的一天／庫存告急日／年度合作大單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25780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103120" y="53949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簽核地圖與易錯提醒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03120" y="582472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內控簽核點總覽、常見混淆點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 ERP 顧問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簡報說明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本次 Demo 情境背景設定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示範公司：</a:t>
            </a:r>
            <a:pPr indent="0" marL="0">
              <a:buNone/>
            </a:pPr>
            <a:r>
              <a:rPr lang="en-US" sz="12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群豐五金工業（虛構示範公司，非真實客戶）——中小型五金零組件批發商，向多家上游廠商採購後轉售下游客戶。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0482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示範產品：</a:t>
            </a:r>
            <a:pPr indent="0" marL="0">
              <a:buNone/>
            </a:pPr>
            <a:r>
              <a:rPr lang="en-US" sz="12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以「M6六角螺絲」為主軸產品，貫穿後續三個情境，方便對照同一項產品在不同場景下的採購邏輯。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情境人物設定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E3F2F3"/>
          </a:solidFill>
          <a:ln/>
        </p:spPr>
      </p:sp>
      <p:sp>
        <p:nvSpPr>
          <p:cNvPr id="9" name="Shape 7"/>
          <p:cNvSpPr/>
          <p:nvPr/>
        </p:nvSpPr>
        <p:spPr>
          <a:xfrm>
            <a:off x="1531620" y="340156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531620" y="3401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阿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阿凱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37083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倉管新人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7560" y="320040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E3F2F3"/>
          </a:solidFill>
          <a:ln/>
        </p:spPr>
      </p:sp>
      <p:sp>
        <p:nvSpPr>
          <p:cNvPr id="14" name="Shape 12"/>
          <p:cNvSpPr/>
          <p:nvPr/>
        </p:nvSpPr>
        <p:spPr>
          <a:xfrm>
            <a:off x="4320540" y="340156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320540" y="3401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</a:t>
            </a:r>
            <a:endParaRPr lang="en-US" sz="1820" dirty="0"/>
          </a:p>
        </p:txBody>
      </p:sp>
      <p:sp>
        <p:nvSpPr>
          <p:cNvPr id="16" name="Text 14"/>
          <p:cNvSpPr/>
          <p:nvPr/>
        </p:nvSpPr>
        <p:spPr>
          <a:xfrm>
            <a:off x="3337560" y="4114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小美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437083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採購主管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320040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E3F2F3"/>
          </a:solidFill>
          <a:ln/>
        </p:spPr>
      </p:sp>
      <p:sp>
        <p:nvSpPr>
          <p:cNvPr id="19" name="Shape 17"/>
          <p:cNvSpPr/>
          <p:nvPr/>
        </p:nvSpPr>
        <p:spPr>
          <a:xfrm>
            <a:off x="7109460" y="340156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7109460" y="3401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婉</a:t>
            </a:r>
            <a:endParaRPr lang="en-US" sz="1820" dirty="0"/>
          </a:p>
        </p:txBody>
      </p:sp>
      <p:sp>
        <p:nvSpPr>
          <p:cNvPr id="21" name="Text 19"/>
          <p:cNvSpPr/>
          <p:nvPr/>
        </p:nvSpPr>
        <p:spPr>
          <a:xfrm>
            <a:off x="6126480" y="4114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婉婷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437083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採購主任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15400" y="320040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E3F2F3"/>
          </a:solidFill>
          <a:ln/>
        </p:spPr>
      </p:sp>
      <p:sp>
        <p:nvSpPr>
          <p:cNvPr id="24" name="Shape 22"/>
          <p:cNvSpPr/>
          <p:nvPr/>
        </p:nvSpPr>
        <p:spPr>
          <a:xfrm>
            <a:off x="9898380" y="340156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9898380" y="3401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志</a:t>
            </a:r>
            <a:endParaRPr lang="en-US" sz="1820" dirty="0"/>
          </a:p>
        </p:txBody>
      </p:sp>
      <p:sp>
        <p:nvSpPr>
          <p:cNvPr id="26" name="Text 24"/>
          <p:cNvSpPr/>
          <p:nvPr/>
        </p:nvSpPr>
        <p:spPr>
          <a:xfrm>
            <a:off x="8915400" y="4114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志明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15400" y="437083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採購經理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4663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建立RFQ、收貨驗收（情境一）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37560" y="4663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審核核准、廠商警告把關（情境一）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26480" y="4663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自動補貨、貨比三家（情境二）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915400" y="4663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年度合約、框架訂單（情境三）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58064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DF3E2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806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本頁公司與人物均為教學示範設定，後續三個情境共用此背景；資料非真實客戶資料。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 ERP 顧問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　商業模式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採購及付款循環在企業八大循環中的位置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91840" cy="1051560"/>
          </a:xfrm>
          <a:prstGeom prst="roundRect">
            <a:avLst>
              <a:gd name="adj" fmla="val 6087"/>
            </a:avLst>
          </a:prstGeom>
          <a:solidFill>
            <a:srgbClr val="E3F2F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019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銷售及收款循環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接單／出貨／收款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34840" y="1828800"/>
            <a:ext cx="3291840" cy="1051560"/>
          </a:xfrm>
          <a:prstGeom prst="roundRect">
            <a:avLst>
              <a:gd name="adj" fmla="val 6087"/>
            </a:avLst>
          </a:prstGeom>
          <a:solidFill>
            <a:srgbClr val="E3F2F3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19019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生產循環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3484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製造／入庫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0" y="1828800"/>
            <a:ext cx="3291840" cy="1051560"/>
          </a:xfrm>
          <a:prstGeom prst="roundRect">
            <a:avLst>
              <a:gd name="adj" fmla="val 6087"/>
            </a:avLst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19019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採購及付款循環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請購／採購／付款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94760" y="196596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C6584"/>
                </a:solidFill>
              </a:rPr>
              <a:t>↔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589520" y="196596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C6584"/>
                </a:solidFill>
              </a:rPr>
              <a:t>↔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3520440" y="3429000"/>
            <a:ext cx="512064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34290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會計／成本／報表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286000" y="2880360"/>
            <a:ext cx="0" cy="548640"/>
          </a:xfrm>
          <a:prstGeom prst="line">
            <a:avLst/>
          </a:prstGeom>
          <a:noFill/>
          <a:ln w="19050">
            <a:solidFill>
              <a:srgbClr val="5C658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2880360"/>
            <a:ext cx="0" cy="548640"/>
          </a:xfrm>
          <a:prstGeom prst="line">
            <a:avLst/>
          </a:prstGeom>
          <a:noFill/>
          <a:ln w="19050">
            <a:solidFill>
              <a:srgbClr val="5C658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0" y="2880360"/>
            <a:ext cx="0" cy="548640"/>
          </a:xfrm>
          <a:prstGeom prst="line">
            <a:avLst/>
          </a:prstGeom>
          <a:noFill/>
          <a:ln w="19050">
            <a:solidFill>
              <a:srgbClr val="5C658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709160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7731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固定資產循環／薪工循環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" y="5166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設備／人力／折舊／薪資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0" y="4709160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24" name="Text 22"/>
          <p:cNvSpPr/>
          <p:nvPr/>
        </p:nvSpPr>
        <p:spPr>
          <a:xfrm>
            <a:off x="8366760" y="47731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投資循環／融資循環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366760" y="5166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資金運用／資金來源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86000" y="4709160"/>
            <a:ext cx="1234440" cy="-548640"/>
          </a:xfrm>
          <a:prstGeom prst="line">
            <a:avLst/>
          </a:prstGeom>
          <a:noFill/>
          <a:ln w="19050">
            <a:solidFill>
              <a:srgbClr val="5C658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4709160"/>
            <a:ext cx="-1234440" cy="-548640"/>
          </a:xfrm>
          <a:prstGeom prst="line">
            <a:avLst/>
          </a:prstGeom>
          <a:noFill/>
          <a:ln w="19050">
            <a:solidFill>
              <a:srgbClr val="5C658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重點：採購及付款循環是「連接生產需求與財務付款」的中介循環，本簡報聚焦紅色框標示的部分。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 ERP 顧問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　商業模式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微觀作業流程：一筆訂單如何觸發採購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103120" cy="1371600"/>
          </a:xfrm>
          <a:prstGeom prst="roundRect">
            <a:avLst>
              <a:gd name="adj" fmla="val 4667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304288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市場／客戶需求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3182112"/>
            <a:ext cx="1883664" cy="2743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318211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51760" y="265176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584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88920" y="2194560"/>
            <a:ext cx="2103120" cy="1371600"/>
          </a:xfrm>
          <a:prstGeom prst="roundRect">
            <a:avLst>
              <a:gd name="adj" fmla="val 4667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2898648" y="2304288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檢查現有庫存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898648" y="3182112"/>
            <a:ext cx="1883664" cy="2743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2898648" y="318211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265176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584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0" y="2194560"/>
            <a:ext cx="2103120" cy="1371600"/>
          </a:xfrm>
          <a:prstGeom prst="roundRect">
            <a:avLst>
              <a:gd name="adj" fmla="val 4667"/>
            </a:avLst>
          </a:prstGeom>
          <a:solidFill>
            <a:srgbClr val="FDEBEA"/>
          </a:solidFill>
          <a:ln/>
        </p:spPr>
      </p:sp>
      <p:sp>
        <p:nvSpPr>
          <p:cNvPr id="15" name="Text 13"/>
          <p:cNvSpPr/>
          <p:nvPr/>
        </p:nvSpPr>
        <p:spPr>
          <a:xfrm>
            <a:off x="5138928" y="2304288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庫存不足→產生採購需求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138928" y="3182112"/>
            <a:ext cx="1883664" cy="2743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138928" y="318211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0" y="265176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584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69480" y="2194560"/>
            <a:ext cx="2103120" cy="1371600"/>
          </a:xfrm>
          <a:prstGeom prst="roundRect">
            <a:avLst>
              <a:gd name="adj" fmla="val 4667"/>
            </a:avLst>
          </a:prstGeom>
          <a:solidFill>
            <a:srgbClr val="F4F6FB"/>
          </a:solidFill>
          <a:ln/>
        </p:spPr>
      </p:sp>
      <p:sp>
        <p:nvSpPr>
          <p:cNvPr id="20" name="Text 18"/>
          <p:cNvSpPr/>
          <p:nvPr/>
        </p:nvSpPr>
        <p:spPr>
          <a:xfrm>
            <a:off x="7379208" y="2304288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RFQ→PO→收貨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79208" y="3182112"/>
            <a:ext cx="1883664" cy="2743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7379208" y="318211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72600" y="265176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584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09760" y="2194560"/>
            <a:ext cx="2103120" cy="1371600"/>
          </a:xfrm>
          <a:prstGeom prst="roundRect">
            <a:avLst>
              <a:gd name="adj" fmla="val 4667"/>
            </a:avLst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9619488" y="2304288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供應商帳單→付款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619488" y="3182112"/>
            <a:ext cx="1883664" cy="2743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9619488" y="318211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023360"/>
            <a:ext cx="11091672" cy="1737360"/>
          </a:xfrm>
          <a:prstGeom prst="roundRect">
            <a:avLst>
              <a:gd name="adj" fmla="val 4211"/>
            </a:avLst>
          </a:prstGeom>
          <a:solidFill>
            <a:srgbClr val="FDF3E2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1879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待確認假設（套用前需與客戶確認）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4590288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此圖假設為貿易／流通業模型；製造業庫存不足時通常先進生產排程（MRP），不一定直接跳採購。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「客戶訂單觸發採購」為教學簡化畫法；Odoo 實際邏輯依補貨規則（Reordering Rules）的 Min/Max 水位＋每日排程器（Scheduler）計算，非逐筆訂單即時觸發。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 ERP 顧問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　Odoo × 採購功能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核心採購循環與十大功能總覽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783080" cy="7315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17830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詢價單 RFQ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31720" y="1856232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584"/>
                </a:solidFill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04872" y="1691640"/>
            <a:ext cx="1783080" cy="7315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2404872" y="1691640"/>
            <a:ext cx="17830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廠商確認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87952" y="1856232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584"/>
                </a:solidFill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61104" y="1691640"/>
            <a:ext cx="1783080" cy="7315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261104" y="1691640"/>
            <a:ext cx="17830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採購單 PO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44184" y="1856232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584"/>
                </a:solidFill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17336" y="1691640"/>
            <a:ext cx="1783080" cy="7315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117336" y="1691640"/>
            <a:ext cx="17830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收貨 Receipt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00416" y="1856232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584"/>
                </a:solidFill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73568" y="1691640"/>
            <a:ext cx="1783080" cy="7315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973568" y="1691640"/>
            <a:ext cx="17830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供應商帳單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756648" y="1856232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584"/>
                </a:solidFill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829800" y="1691640"/>
            <a:ext cx="1783080" cy="7315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9829800" y="1691640"/>
            <a:ext cx="17830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付款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858000"/>
                <a:gridCol w="1490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功能區塊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說明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對應課程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4D"/>
                          </a:solidFill>
                        </a:rPr>
                        <a:t>基礎 RFQ/PO/收貨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584"/>
                          </a:solidFill>
                        </a:rPr>
                        <a:t>建立詢價、發送廠商、轉PO、收貨驗收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PAL01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4D"/>
                          </a:solidFill>
                        </a:rPr>
                        <a:t>前置時間管理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584"/>
                          </a:solidFill>
                        </a:rPr>
                        <a:t>廠商／安全前置時間、詢價審核天數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PAL02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4D"/>
                          </a:solidFill>
                        </a:rPr>
                        <a:t>補貨規則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584"/>
                          </a:solidFill>
                        </a:rPr>
                        <a:t>Min/Max 自動觸發採購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PAL03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4D"/>
                          </a:solidFill>
                        </a:rPr>
                        <a:t>廠商價格表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584"/>
                          </a:solidFill>
                        </a:rPr>
                        <a:t>多廠商排序、數量折扣、批量匯入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PAL04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4D"/>
                          </a:solidFill>
                        </a:rPr>
                        <a:t>審核與警告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584"/>
                          </a:solidFill>
                        </a:rPr>
                        <a:t>金額門檻審核、廠商/產品警告封鎖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PAL05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4D"/>
                          </a:solidFill>
                        </a:rPr>
                        <a:t>框架訂單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584"/>
                          </a:solidFill>
                        </a:rPr>
                        <a:t>長期採購協議，分批交貨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PAL06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4D"/>
                          </a:solidFill>
                        </a:rPr>
                        <a:t>帳單控制/三方比對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584"/>
                          </a:solidFill>
                        </a:rPr>
                        <a:t>開票政策、PO↔Receipt↔Bill比對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PAL07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4D"/>
                          </a:solidFill>
                        </a:rPr>
                        <a:t>替代詢價/比價採購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584"/>
                          </a:solidFill>
                        </a:rPr>
                        <a:t>多廠商比價、自動標記最優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PAL08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4D"/>
                          </a:solidFill>
                        </a:rPr>
                        <a:t>採購範本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584"/>
                          </a:solidFill>
                        </a:rPr>
                        <a:t>固定產品組合重複採購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PAL09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4D"/>
                          </a:solidFill>
                        </a:rPr>
                        <a:t>EDI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584"/>
                          </a:solidFill>
                        </a:rPr>
                        <a:t>採購單匯出XML自動生成銷售訂單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PAL10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 ERP 顧問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　Odoo × 採購功能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跨模組關係與關鍵設定重點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與其他模組的關係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84048" cy="384048"/>
          </a:xfrm>
          <a:prstGeom prst="ellipse">
            <a:avLst/>
          </a:prstGeom>
          <a:solidFill>
            <a:srgbClr val="E3F2F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92" dirty="0"/>
          </a:p>
        </p:txBody>
      </p:sp>
      <p:sp>
        <p:nvSpPr>
          <p:cNvPr id="7" name="Text 5"/>
          <p:cNvSpPr/>
          <p:nvPr/>
        </p:nvSpPr>
        <p:spPr>
          <a:xfrm>
            <a:off x="1097280" y="203911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203911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收貨（Receipt）連動；補貨規則從庫存觸發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384048" cy="384048"/>
          </a:xfrm>
          <a:prstGeom prst="ellipse">
            <a:avLst/>
          </a:prstGeom>
          <a:solidFill>
            <a:srgbClr val="E3F2F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92" dirty="0"/>
          </a:p>
        </p:txBody>
      </p:sp>
      <p:sp>
        <p:nvSpPr>
          <p:cNvPr id="11" name="Text 9"/>
          <p:cNvSpPr/>
          <p:nvPr/>
        </p:nvSpPr>
        <p:spPr>
          <a:xfrm>
            <a:off x="1097280" y="2697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建立帳單後進入帳務；登記付款完成對帳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374136"/>
            <a:ext cx="384048" cy="384048"/>
          </a:xfrm>
          <a:prstGeom prst="ellipse">
            <a:avLst/>
          </a:prstGeom>
          <a:solidFill>
            <a:srgbClr val="E3F2F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92" dirty="0"/>
          </a:p>
        </p:txBody>
      </p:sp>
      <p:sp>
        <p:nvSpPr>
          <p:cNvPr id="15" name="Text 13"/>
          <p:cNvSpPr/>
          <p:nvPr/>
        </p:nvSpPr>
        <p:spPr>
          <a:xfrm>
            <a:off x="1097280" y="33558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33558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EDI：PO→XML→SO；直運由PO觸發直送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032504"/>
            <a:ext cx="384048" cy="384048"/>
          </a:xfrm>
          <a:prstGeom prst="ellipse">
            <a:avLst/>
          </a:prstGeom>
          <a:solidFill>
            <a:srgbClr val="E3F2F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92" dirty="0"/>
          </a:p>
        </p:txBody>
      </p:sp>
      <p:sp>
        <p:nvSpPr>
          <p:cNvPr id="19" name="Text 17"/>
          <p:cNvSpPr/>
          <p:nvPr/>
        </p:nvSpPr>
        <p:spPr>
          <a:xfrm>
            <a:off x="1097280" y="401421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0" y="401421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廠商主檔、警告設定、廠商分類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80760" y="1645920"/>
            <a:ext cx="0" cy="4572000"/>
          </a:xfrm>
          <a:prstGeom prst="line">
            <a:avLst/>
          </a:prstGeom>
          <a:noFill/>
          <a:ln w="12700">
            <a:solidFill>
              <a:srgbClr val="E4E7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關鍵設定重點（設定＞採購）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55080" y="2057400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/>
        </p:spPr>
      </p:sp>
      <p:sp>
        <p:nvSpPr>
          <p:cNvPr id="24" name="Shape 22"/>
          <p:cNvSpPr/>
          <p:nvPr/>
        </p:nvSpPr>
        <p:spPr>
          <a:xfrm>
            <a:off x="6355080" y="2057400"/>
            <a:ext cx="73152" cy="566928"/>
          </a:xfrm>
          <a:prstGeom prst="roundRect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209397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採購單審批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549640" y="209397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超門檻需主管核准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55080" y="2770632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/>
        </p:spPr>
      </p:sp>
      <p:sp>
        <p:nvSpPr>
          <p:cNvPr id="28" name="Shape 26"/>
          <p:cNvSpPr/>
          <p:nvPr/>
        </p:nvSpPr>
        <p:spPr>
          <a:xfrm>
            <a:off x="6355080" y="2770632"/>
            <a:ext cx="73152" cy="566928"/>
          </a:xfrm>
          <a:prstGeom prst="roundRect">
            <a:avLst/>
          </a:prstGeom>
          <a:solidFill>
            <a:srgbClr val="F96167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28072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三方匹配（企業版）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549640" y="28072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只有依收貨數量開票才生效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55080" y="3483864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/>
        </p:spPr>
      </p:sp>
      <p:sp>
        <p:nvSpPr>
          <p:cNvPr id="32" name="Shape 30"/>
          <p:cNvSpPr/>
          <p:nvPr/>
        </p:nvSpPr>
        <p:spPr>
          <a:xfrm>
            <a:off x="6355080" y="3483864"/>
            <a:ext cx="73152" cy="566928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3520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收貨提醒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549640" y="35204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到貨前N天自動提醒廠商確認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55080" y="4197096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/>
        </p:spPr>
      </p:sp>
      <p:sp>
        <p:nvSpPr>
          <p:cNvPr id="36" name="Shape 34"/>
          <p:cNvSpPr/>
          <p:nvPr/>
        </p:nvSpPr>
        <p:spPr>
          <a:xfrm>
            <a:off x="6355080" y="4197096"/>
            <a:ext cx="73152" cy="566928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0" y="42336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直運／訂單補給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549640" y="423367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銷售觸發採購，貨不進倉庫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55080" y="495604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完整開關情境說明詳見知識庫「08_採購設定與情境開關指南」。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 ERP 顧問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三個實務情境演練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情境一：新手採購員的一天　｜　情境二：庫存告急日　｜　情境三：年度合作大單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　實務情境　情境一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新手採購員的一天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8132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角色：倉管新人阿凱｜涵蓋功能：基礎採購流程（PAL01）＋審核與警告（PAL05）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88" dirty="0"/>
          </a:p>
        </p:txBody>
      </p:sp>
      <p:sp>
        <p:nvSpPr>
          <p:cNvPr id="8" name="Text 6"/>
          <p:cNvSpPr/>
          <p:nvPr/>
        </p:nvSpPr>
        <p:spPr>
          <a:xfrm>
            <a:off x="1051560" y="2112264"/>
            <a:ext cx="8869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產線回報「M6六角螺絲」庫存告急，阿凱建立RFQ，選廠商＋產品，數量達2,000顆觸發廠商價格表折扣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012680" y="2167128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0012680" y="216712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基礎流程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660904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60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88" dirty="0"/>
          </a:p>
        </p:txBody>
      </p:sp>
      <p:sp>
        <p:nvSpPr>
          <p:cNvPr id="13" name="Text 11"/>
          <p:cNvSpPr/>
          <p:nvPr/>
        </p:nvSpPr>
        <p:spPr>
          <a:xfrm>
            <a:off x="1051560" y="2624328"/>
            <a:ext cx="8869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發送RFQ給廠商「三發五金」，廠商回覆確認報價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012680" y="2679192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10012680" y="267919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基礎流程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172968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72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88" dirty="0"/>
          </a:p>
        </p:txBody>
      </p:sp>
      <p:sp>
        <p:nvSpPr>
          <p:cNvPr id="18" name="Text 16"/>
          <p:cNvSpPr/>
          <p:nvPr/>
        </p:nvSpPr>
        <p:spPr>
          <a:xfrm>
            <a:off x="1051560" y="3136392"/>
            <a:ext cx="8869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阿凱按下確認訂單，這筆金額超過公司審核門檻，訂單卡在「待審核」，無法直接發出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012680" y="3191256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10012680" y="319125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審核與警告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685032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88" dirty="0"/>
          </a:p>
        </p:txBody>
      </p:sp>
      <p:sp>
        <p:nvSpPr>
          <p:cNvPr id="23" name="Text 21"/>
          <p:cNvSpPr/>
          <p:nvPr/>
        </p:nvSpPr>
        <p:spPr>
          <a:xfrm>
            <a:off x="1051560" y="3648456"/>
            <a:ext cx="8869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主管小美打開待審核清單，系統跳出「廠商警告」提示：此廠商曾有交期延誤紀錄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012680" y="37033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10012680" y="370332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審核與警告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4197096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197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88" dirty="0"/>
          </a:p>
        </p:txBody>
      </p:sp>
      <p:sp>
        <p:nvSpPr>
          <p:cNvPr id="28" name="Text 26"/>
          <p:cNvSpPr/>
          <p:nvPr/>
        </p:nvSpPr>
        <p:spPr>
          <a:xfrm>
            <a:off x="1051560" y="4160520"/>
            <a:ext cx="8869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小美評估後仍核准（Approve）訂單，系統自動轉為正式PO並發送給廠商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012680" y="4215384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30" name="Text 28"/>
          <p:cNvSpPr/>
          <p:nvPr/>
        </p:nvSpPr>
        <p:spPr>
          <a:xfrm>
            <a:off x="10012680" y="4215384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審核與警告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4709160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709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88" dirty="0"/>
          </a:p>
        </p:txBody>
      </p:sp>
      <p:sp>
        <p:nvSpPr>
          <p:cNvPr id="33" name="Text 31"/>
          <p:cNvSpPr/>
          <p:nvPr/>
        </p:nvSpPr>
        <p:spPr>
          <a:xfrm>
            <a:off x="1051560" y="4672584"/>
            <a:ext cx="8869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貨到後，倉管人員收貨驗收（Validate），完成整筆採購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0012680" y="4727448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10012680" y="472744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基礎流程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5330952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E3F2F3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533095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重點提醒：</a:t>
            </a:r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審核門檻管的是「金額」、廠商警告管的是「對象」，兩道機制各管一件事、互不取代，缺一不可。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 ERP 顧問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　實務情境　情境二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庫存告急日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8132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角色：採購主任婉婷｜涵蓋功能：自動補貨（PAL03）＋比價採購（PAL08）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88" dirty="0"/>
          </a:p>
        </p:txBody>
      </p:sp>
      <p:sp>
        <p:nvSpPr>
          <p:cNvPr id="8" name="Text 6"/>
          <p:cNvSpPr/>
          <p:nvPr/>
        </p:nvSpPr>
        <p:spPr>
          <a:xfrm>
            <a:off x="1051560" y="2112264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婉婷打開補貨報表（Replenishment），「M6六角螺絲」低於安全水位，系統依補貨規則已自動產生RFQ草稿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012680" y="2167128"/>
            <a:ext cx="1627632" cy="43891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0012680" y="216712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自動補貨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15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88" dirty="0"/>
          </a:p>
        </p:txBody>
      </p:sp>
      <p:sp>
        <p:nvSpPr>
          <p:cNvPr id="13" name="Text 11"/>
          <p:cNvSpPr/>
          <p:nvPr/>
        </p:nvSpPr>
        <p:spPr>
          <a:xfrm>
            <a:off x="1051560" y="2679192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訂購量系統自動算好：Max Quantity＋未滿足銷售需求＝10+6=16箱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012680" y="2734056"/>
            <a:ext cx="1627632" cy="43891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10012680" y="2734056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自動補貨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82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88" dirty="0"/>
          </a:p>
        </p:txBody>
      </p:sp>
      <p:sp>
        <p:nvSpPr>
          <p:cNvPr id="18" name="Text 16"/>
          <p:cNvSpPr/>
          <p:nvPr/>
        </p:nvSpPr>
        <p:spPr>
          <a:xfrm>
            <a:off x="1051560" y="3246120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這批數量較大，婉婷想貨比三家，在「替代方案」分頁建立2個替代RFQ，分別發送給另外兩家廠商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012680" y="3300984"/>
            <a:ext cx="1627632" cy="43891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10012680" y="3300984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比價採購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849624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88" dirty="0"/>
          </a:p>
        </p:txBody>
      </p:sp>
      <p:sp>
        <p:nvSpPr>
          <p:cNvPr id="23" name="Text 21"/>
          <p:cNvSpPr/>
          <p:nvPr/>
        </p:nvSpPr>
        <p:spPr>
          <a:xfrm>
            <a:off x="1051560" y="3813048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三家報價陸續回覆，婉婷用「比較產品」（Compare Products）一次看單價與交期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012680" y="3867912"/>
            <a:ext cx="1627632" cy="43891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10012680" y="3867912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比價採購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4416552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416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88" dirty="0"/>
          </a:p>
        </p:txBody>
      </p:sp>
      <p:sp>
        <p:nvSpPr>
          <p:cNvPr id="28" name="Text 26"/>
          <p:cNvSpPr/>
          <p:nvPr/>
        </p:nvSpPr>
        <p:spPr>
          <a:xfrm>
            <a:off x="1051560" y="4379976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選定最優惠的廠商確認訂單，系統跳出視窗詢問是否取消其他替代方案，婉婷點選是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012680" y="4434840"/>
            <a:ext cx="1627632" cy="43891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10012680" y="4434840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比價採購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5093208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E3F2F3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093208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重點提醒：</a:t>
            </a:r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自動補貨產生的永遠只是「草稿」，讓婉婷有機會在確認前先比價，不是系統自作主張下單。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 ERP 顧問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　實務情境　情境三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年度合作大單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8132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角色：採購經理志明｜涵蓋功能：框架訂單（PAL06）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47472" cy="347472"/>
          </a:xfrm>
          <a:prstGeom prst="ellipse">
            <a:avLst/>
          </a:prstGeom>
          <a:solidFill>
            <a:srgbClr val="F0A93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88" dirty="0"/>
          </a:p>
        </p:txBody>
      </p:sp>
      <p:sp>
        <p:nvSpPr>
          <p:cNvPr id="8" name="Text 6"/>
          <p:cNvSpPr/>
          <p:nvPr/>
        </p:nvSpPr>
        <p:spPr>
          <a:xfrm>
            <a:off x="1051560" y="2112264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志明與主力供應商「三發五金」議定年度採購協議：總量10,000顆、單價較市價低15%、效期一年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012680" y="2167128"/>
            <a:ext cx="1627632" cy="438912"/>
          </a:xfrm>
          <a:prstGeom prst="roundRect">
            <a:avLst>
              <a:gd name="adj" fmla="val 50000"/>
            </a:avLst>
          </a:prstGeom>
          <a:solidFill>
            <a:srgbClr val="F0A93E"/>
          </a:solidFill>
          <a:ln/>
        </p:spPr>
      </p:sp>
      <p:sp>
        <p:nvSpPr>
          <p:cNvPr id="10" name="Text 8"/>
          <p:cNvSpPr/>
          <p:nvPr/>
        </p:nvSpPr>
        <p:spPr>
          <a:xfrm>
            <a:off x="10012680" y="216712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框架訂單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347472" cy="347472"/>
          </a:xfrm>
          <a:prstGeom prst="ellipse">
            <a:avLst/>
          </a:prstGeom>
          <a:solidFill>
            <a:srgbClr val="F0A93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15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88" dirty="0"/>
          </a:p>
        </p:txBody>
      </p:sp>
      <p:sp>
        <p:nvSpPr>
          <p:cNvPr id="13" name="Text 11"/>
          <p:cNvSpPr/>
          <p:nvPr/>
        </p:nvSpPr>
        <p:spPr>
          <a:xfrm>
            <a:off x="1051560" y="2679192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建立框架訂單（Blanket Order），輸入總量與議定單價，確認生效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012680" y="2734056"/>
            <a:ext cx="1627632" cy="438912"/>
          </a:xfrm>
          <a:prstGeom prst="roundRect">
            <a:avLst>
              <a:gd name="adj" fmla="val 50000"/>
            </a:avLst>
          </a:prstGeom>
          <a:solidFill>
            <a:srgbClr val="F0A93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12680" y="2734056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框架訂單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347472" cy="347472"/>
          </a:xfrm>
          <a:prstGeom prst="ellipse">
            <a:avLst/>
          </a:prstGeom>
          <a:solidFill>
            <a:srgbClr val="F0A93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82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88" dirty="0"/>
          </a:p>
        </p:txBody>
      </p:sp>
      <p:sp>
        <p:nvSpPr>
          <p:cNvPr id="18" name="Text 16"/>
          <p:cNvSpPr/>
          <p:nvPr/>
        </p:nvSpPr>
        <p:spPr>
          <a:xfrm>
            <a:off x="1051560" y="3246120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Q1需要2,000顆時，志明從框架訂單建立第一批RFQ，數量2,000，單價自動套用合約價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012680" y="3300984"/>
            <a:ext cx="1627632" cy="438912"/>
          </a:xfrm>
          <a:prstGeom prst="roundRect">
            <a:avLst>
              <a:gd name="adj" fmla="val 50000"/>
            </a:avLst>
          </a:prstGeom>
          <a:solidFill>
            <a:srgbClr val="F0A93E"/>
          </a:solidFill>
          <a:ln/>
        </p:spPr>
      </p:sp>
      <p:sp>
        <p:nvSpPr>
          <p:cNvPr id="20" name="Text 18"/>
          <p:cNvSpPr/>
          <p:nvPr/>
        </p:nvSpPr>
        <p:spPr>
          <a:xfrm>
            <a:off x="10012680" y="3300984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框架訂單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849624"/>
            <a:ext cx="347472" cy="347472"/>
          </a:xfrm>
          <a:prstGeom prst="ellipse">
            <a:avLst/>
          </a:prstGeom>
          <a:solidFill>
            <a:srgbClr val="F0A93E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88" dirty="0"/>
          </a:p>
        </p:txBody>
      </p:sp>
      <p:sp>
        <p:nvSpPr>
          <p:cNvPr id="23" name="Text 21"/>
          <p:cNvSpPr/>
          <p:nvPr/>
        </p:nvSpPr>
        <p:spPr>
          <a:xfrm>
            <a:off x="1051560" y="3813048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走完整RFQ→PO→收貨流程，系統自動累計「已訂購（Ordered）」數量到框架訂單中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012680" y="3867912"/>
            <a:ext cx="1627632" cy="438912"/>
          </a:xfrm>
          <a:prstGeom prst="roundRect">
            <a:avLst>
              <a:gd name="adj" fmla="val 50000"/>
            </a:avLst>
          </a:prstGeom>
          <a:solidFill>
            <a:srgbClr val="F0A93E"/>
          </a:solidFill>
          <a:ln/>
        </p:spPr>
      </p:sp>
      <p:sp>
        <p:nvSpPr>
          <p:cNvPr id="25" name="Text 23"/>
          <p:cNvSpPr/>
          <p:nvPr/>
        </p:nvSpPr>
        <p:spPr>
          <a:xfrm>
            <a:off x="10012680" y="3867912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框架訂單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4416552"/>
            <a:ext cx="347472" cy="347472"/>
          </a:xfrm>
          <a:prstGeom prst="ellipse">
            <a:avLst/>
          </a:prstGeom>
          <a:solidFill>
            <a:srgbClr val="F0A93E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416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88" dirty="0"/>
          </a:p>
        </p:txBody>
      </p:sp>
      <p:sp>
        <p:nvSpPr>
          <p:cNvPr id="28" name="Text 26"/>
          <p:cNvSpPr/>
          <p:nvPr/>
        </p:nvSpPr>
        <p:spPr>
          <a:xfrm>
            <a:off x="1051560" y="4379976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之後每季比照辦理，志明只需在框架訂單頁面追蹤累計量是否超過總量10,000顆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012680" y="4434840"/>
            <a:ext cx="1627632" cy="438912"/>
          </a:xfrm>
          <a:prstGeom prst="roundRect">
            <a:avLst>
              <a:gd name="adj" fmla="val 50000"/>
            </a:avLst>
          </a:prstGeom>
          <a:solidFill>
            <a:srgbClr val="F0A93E"/>
          </a:solidFill>
          <a:ln/>
        </p:spPr>
      </p:sp>
      <p:sp>
        <p:nvSpPr>
          <p:cNvPr id="30" name="Text 28"/>
          <p:cNvSpPr/>
          <p:nvPr/>
        </p:nvSpPr>
        <p:spPr>
          <a:xfrm>
            <a:off x="10012680" y="4434840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框架訂單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5093208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DF3E2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093208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重點提醒：</a:t>
            </a:r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風險提醒：若忘記從框架訂單拆單、直接建新RFQ，系統會默默套用一般廠商價格表，年度合約優惠就落空。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 ERP 顧問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　簽核地圖與提醒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五個關鍵簽核點總覽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3736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73736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採購單金額審核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52160" y="1911096"/>
            <a:ext cx="2468880" cy="40233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0" y="19110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系統把關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0" y="173736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系統原生支援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33472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33472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26334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框架訂單／長期合約簽核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52160" y="2807208"/>
            <a:ext cx="2468880" cy="402336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0" y="280720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待確認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0" y="2633472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系統無獨立機制，待確認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529584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529584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352958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收貨驗收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852160" y="3703320"/>
            <a:ext cx="2468880" cy="40233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37033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系統把關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352958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Validate動作本身把關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425696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4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425696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17320" y="4425696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帳單覆核（三方比對）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852160" y="4599432"/>
            <a:ext cx="2468880" cy="402336"/>
          </a:xfrm>
          <a:prstGeom prst="roundRect">
            <a:avLst>
              <a:gd name="adj" fmla="val 50000"/>
            </a:avLst>
          </a:prstGeom>
          <a:solidFill>
            <a:srgbClr val="F0A93E"/>
          </a:solidFill>
          <a:ln/>
        </p:spPr>
      </p:sp>
      <p:sp>
        <p:nvSpPr>
          <p:cNvPr id="26" name="Text 24"/>
          <p:cNvSpPr/>
          <p:nvPr/>
        </p:nvSpPr>
        <p:spPr>
          <a:xfrm>
            <a:off x="5852160" y="459943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僅提示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03920" y="4425696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僅提示，不強制擋付款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321808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4F6FB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321808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417320" y="5321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付款簽核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852160" y="5495544"/>
            <a:ext cx="2468880" cy="402336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32" name="Text 30"/>
          <p:cNvSpPr/>
          <p:nvPr/>
        </p:nvSpPr>
        <p:spPr>
          <a:xfrm>
            <a:off x="5852160" y="549554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待確認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03920" y="5321808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系統無強制審核，待確認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顧問訪談重點：請購（⓪）與付款（⑤）剛好是風險最高、Odoo系統卻管最少的兩處，訪談時優先確認。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 ERP 顧問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　簽核地圖與提醒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常見混淆點提醒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DEBE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92808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928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90" dirty="0"/>
          </a:p>
        </p:txBody>
      </p:sp>
      <p:sp>
        <p:nvSpPr>
          <p:cNvPr id="7" name="Text 5"/>
          <p:cNvSpPr/>
          <p:nvPr/>
        </p:nvSpPr>
        <p:spPr>
          <a:xfrm>
            <a:off x="1600200" y="180136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採購單（PO）方向常被說反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600200" y="220370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PO不是廠商給你的新文件，是你的RFQ狀態轉換的結果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62072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DEBEA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06324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90" dirty="0"/>
          </a:p>
        </p:txBody>
      </p:sp>
      <p:sp>
        <p:nvSpPr>
          <p:cNvPr id="12" name="Text 10"/>
          <p:cNvSpPr/>
          <p:nvPr/>
        </p:nvSpPr>
        <p:spPr>
          <a:xfrm>
            <a:off x="1600200" y="297180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補貨規則常被誤以為直接下正式訂單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600200" y="337413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排程器觸發後產生的是RFQ草稿，仍需人工確認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32504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DEBEA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233672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33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90" dirty="0"/>
          </a:p>
        </p:txBody>
      </p:sp>
      <p:sp>
        <p:nvSpPr>
          <p:cNvPr id="17" name="Text 15"/>
          <p:cNvSpPr/>
          <p:nvPr/>
        </p:nvSpPr>
        <p:spPr>
          <a:xfrm>
            <a:off x="1600200" y="41422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廠商警告常被誤以為系統自動追蹤交期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600200" y="454456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警告是人工事先設定的標記，不是系統自動累積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202936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DEBEA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404104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40410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90" dirty="0"/>
          </a:p>
        </p:txBody>
      </p:sp>
      <p:sp>
        <p:nvSpPr>
          <p:cNvPr id="22" name="Text 20"/>
          <p:cNvSpPr/>
          <p:nvPr/>
        </p:nvSpPr>
        <p:spPr>
          <a:xfrm>
            <a:off x="1600200" y="5312664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三方比對常被誤以為會強制擋付款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600200" y="57150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系統只在Should Be Paid欄位提示異常，不會強制阻擋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 ERP 顧問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版本紀錄與下一步學習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知識庫來源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3F2F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01_功能概覽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37560" y="210312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3F2F3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2103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02_操作SOP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26480" y="210312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3F2F3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2103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03_欄位與單據清單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915400" y="210312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3F2F3"/>
          </a:solidFill>
          <a:ln/>
        </p:spPr>
      </p:sp>
      <p:sp>
        <p:nvSpPr>
          <p:cNvPr id="12" name="Text 10"/>
          <p:cNvSpPr/>
          <p:nvPr/>
        </p:nvSpPr>
        <p:spPr>
          <a:xfrm>
            <a:off x="8915400" y="2103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04_內控點與風險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3F2F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060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05_Demo情境腳本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37560" y="260604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3F2F3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26060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06_常見問題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260604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3F2F3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26060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07_商業流程與簽核地圖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15400" y="260604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3F2F3"/>
          </a:solidFill>
          <a:ln/>
        </p:spPr>
      </p:sp>
      <p:sp>
        <p:nvSpPr>
          <p:cNvPr id="20" name="Text 18"/>
          <p:cNvSpPr/>
          <p:nvPr/>
        </p:nvSpPr>
        <p:spPr>
          <a:xfrm>
            <a:off x="8915400" y="26060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08_採購設定與情境開關指南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383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下一步學習模組（依序）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840480"/>
            <a:ext cx="2606040" cy="685800"/>
          </a:xfrm>
          <a:prstGeom prst="roundRect">
            <a:avLst>
              <a:gd name="adj" fmla="val 9333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8404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庫存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37560" y="3840480"/>
            <a:ext cx="2606040" cy="685800"/>
          </a:xfrm>
          <a:prstGeom prst="roundRect">
            <a:avLst>
              <a:gd name="adj" fmla="val 9333"/>
            </a:avLst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38404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會計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3840480"/>
            <a:ext cx="2606040" cy="685800"/>
          </a:xfrm>
          <a:prstGeom prst="roundRect">
            <a:avLst>
              <a:gd name="adj" fmla="val 9333"/>
            </a:avLst>
          </a:prstGeom>
          <a:solidFill>
            <a:srgbClr val="F4F6FB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38404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製造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15400" y="3840480"/>
            <a:ext cx="2606040" cy="685800"/>
          </a:xfrm>
          <a:prstGeom prst="roundRect">
            <a:avLst>
              <a:gd name="adj" fmla="val 9333"/>
            </a:avLst>
          </a:prstGeom>
          <a:solidFill>
            <a:srgbClr val="F4F6FB"/>
          </a:solidFill>
          <a:ln/>
        </p:spPr>
      </p:sp>
      <p:sp>
        <p:nvSpPr>
          <p:cNvPr id="29" name="Text 27"/>
          <p:cNvSpPr/>
          <p:nvPr/>
        </p:nvSpPr>
        <p:spPr>
          <a:xfrm>
            <a:off x="8915400" y="38404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專案管理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備註：Inventory 模組因逐字稿下載遇網路限制，暫緩學習，待資料補齊後接續。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34924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DF3E2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3492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本簡報所有情境資料（廠商名、產品名、金額）為範例，非真實客戶資料；標示「待確認」項目須經客戶訪談確認，不可直接套用。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採購（Purchase）模組內部培訓簡報　|　艾創點數位 ERP 顧問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029200" cy="50292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謝謝聆聽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　｜　艾創點數位 ERP 顧問　｜　員工_03 流程內控助理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2026-07-28T08:15:54Z</dcterms:created>
  <dcterms:modified xsi:type="dcterms:W3CDTF">2026-07-28T08:15:54Z</dcterms:modified>
</cp:coreProperties>
</file>