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257" r:id="rId5"/>
    <p:sldId id="272" r:id="rId6"/>
    <p:sldId id="258" r:id="rId7"/>
    <p:sldId id="256" r:id="rId8"/>
    <p:sldId id="259" r:id="rId9"/>
    <p:sldId id="260" r:id="rId10"/>
    <p:sldId id="261" r:id="rId11"/>
    <p:sldId id="273" r:id="rId12"/>
    <p:sldId id="263" r:id="rId13"/>
    <p:sldId id="262" r:id="rId14"/>
    <p:sldId id="264" r:id="rId15"/>
    <p:sldId id="265" r:id="rId16"/>
    <p:sldId id="275" r:id="rId17"/>
    <p:sldId id="274" r:id="rId18"/>
    <p:sldId id="277" r:id="rId19"/>
    <p:sldId id="276" r:id="rId20"/>
    <p:sldId id="266" r:id="rId21"/>
    <p:sldId id="278" r:id="rId22"/>
    <p:sldId id="279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D158C28-0034-4A82-9E61-FA48A6019C4A}">
          <p14:sldIdLst>
            <p14:sldId id="257"/>
            <p14:sldId id="272"/>
            <p14:sldId id="258"/>
            <p14:sldId id="256"/>
            <p14:sldId id="259"/>
            <p14:sldId id="260"/>
            <p14:sldId id="261"/>
            <p14:sldId id="273"/>
            <p14:sldId id="263"/>
            <p14:sldId id="262"/>
            <p14:sldId id="264"/>
          </p14:sldIdLst>
        </p14:section>
        <p14:section name="案例1" id="{735AD627-6FB1-4E70-99A3-F443DCC00A22}">
          <p14:sldIdLst>
            <p14:sldId id="265"/>
            <p14:sldId id="275"/>
            <p14:sldId id="274"/>
            <p14:sldId id="277"/>
            <p14:sldId id="276"/>
          </p14:sldIdLst>
        </p14:section>
        <p14:section name="案例2" id="{BB1F7C50-4F67-4C63-A00E-C6A565889FE2}">
          <p14:sldIdLst>
            <p14:sldId id="266"/>
            <p14:sldId id="278"/>
            <p14:sldId id="279"/>
          </p14:sldIdLst>
        </p14:section>
        <p14:section name="案例3" id="{8BB5DF0E-05DA-49ED-8404-E07598659D0C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5F4"/>
    <a:srgbClr val="FDF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8" autoAdjust="0"/>
    <p:restoredTop sz="96242" autoAdjust="0"/>
  </p:normalViewPr>
  <p:slideViewPr>
    <p:cSldViewPr snapToGrid="0">
      <p:cViewPr varScale="1">
        <p:scale>
          <a:sx n="51" d="100"/>
          <a:sy n="51" d="100"/>
        </p:scale>
        <p:origin x="36" y="2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E0035-51D8-4598-B485-1E4A4E32D99F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F13C4-6843-44C2-B924-D8B4F16A15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12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57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1170A70-ECD2-9534-4968-748AE6603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7D4D15-19FB-FB50-215B-65BAC8D3F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41124"/>
            <a:ext cx="9144000" cy="2387600"/>
          </a:xfrm>
        </p:spPr>
        <p:txBody>
          <a:bodyPr anchor="t">
            <a:noAutofit/>
          </a:bodyPr>
          <a:lstStyle>
            <a:lvl1pPr algn="ctr">
              <a:defRPr sz="20000" b="0">
                <a:solidFill>
                  <a:schemeClr val="bg1">
                    <a:lumMod val="95000"/>
                    <a:alpha val="66000"/>
                  </a:schemeClr>
                </a:solidFill>
                <a:latin typeface="+mn-lt"/>
              </a:defRPr>
            </a:lvl1pPr>
          </a:lstStyle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89A6B6-66EC-B0F9-F14E-BA67CCC87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6095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D5E8E56A-C6D5-DD75-E8DF-79F69201C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0747" y="5376870"/>
            <a:ext cx="1522905" cy="9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2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9371C-619F-612D-7583-2BFAFC9D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203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純背景+底部裝飾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509B4E52-7DE7-AA43-E831-AD8F684F9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95461B-624F-495A-5DDC-834AADE2122C}"/>
              </a:ext>
            </a:extLst>
          </p:cNvPr>
          <p:cNvSpPr/>
          <p:nvPr/>
        </p:nvSpPr>
        <p:spPr>
          <a:xfrm>
            <a:off x="-1" y="6691086"/>
            <a:ext cx="12192001" cy="19244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31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純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509B4E52-7DE7-AA43-E831-AD8F684F9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18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背景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BD4758B-D2F7-CDA3-E590-3F25D33D04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43" b="266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4BE770F8-AE97-A716-8BEE-A5AE2A0D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4936"/>
            <a:ext cx="6605337" cy="998454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11">
            <a:extLst>
              <a:ext uri="{FF2B5EF4-FFF2-40B4-BE49-F238E27FC236}">
                <a16:creationId xmlns:a16="http://schemas.microsoft.com/office/drawing/2014/main" id="{D5A7DF8D-8BFC-4870-1B71-74E9C68632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229853"/>
            <a:ext cx="6605337" cy="3107073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kern="12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1597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(無背景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2286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956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514350" indent="-51435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indent="-4572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371600" indent="-4572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714500" indent="-3429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171700" indent="-3429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8A61D74-C680-46C1-DD1B-2063811F2AF2}"/>
              </a:ext>
            </a:extLst>
          </p:cNvPr>
          <p:cNvGrpSpPr/>
          <p:nvPr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F73E599-C057-3CDD-2D42-8586F5AD0861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F95E0CE-CE4C-1FF9-4213-AECE39929447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959B3FD-6123-F334-AE21-E3EC42C283B4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  <p:pic>
        <p:nvPicPr>
          <p:cNvPr id="8" name="圖形 7">
            <a:extLst>
              <a:ext uri="{FF2B5EF4-FFF2-40B4-BE49-F238E27FC236}">
                <a16:creationId xmlns:a16="http://schemas.microsoft.com/office/drawing/2014/main" id="{B30816D4-D812-5BC9-9795-858BCFD39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7960" y="-132597"/>
            <a:ext cx="4553431" cy="27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3CA8C56C-CDD6-41C5-C844-7679924BD6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2286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158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純標題+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1C777-E71E-F721-DF13-621835F2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06BFBA-16FA-64AC-3903-A5E68B0F0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5288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D37ABE6D-BCD7-C836-7BA5-8358200ED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058" y="1347332"/>
            <a:ext cx="4052777" cy="1325563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93058" y="2794236"/>
            <a:ext cx="4052777" cy="2956428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5565" y="1347332"/>
            <a:ext cx="4738687" cy="4403332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50674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223DCAD-DE39-3D9B-4B18-8D3B3F0733F2}"/>
              </a:ext>
            </a:extLst>
          </p:cNvPr>
          <p:cNvSpPr/>
          <p:nvPr/>
        </p:nvSpPr>
        <p:spPr>
          <a:xfrm>
            <a:off x="0" y="5029083"/>
            <a:ext cx="12192000" cy="1809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606" y="2005262"/>
            <a:ext cx="4499195" cy="1010857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3606" y="3189968"/>
            <a:ext cx="4499195" cy="1970269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199" y="2005262"/>
            <a:ext cx="4738687" cy="37454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676766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圖片+標題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11" y="1666646"/>
            <a:ext cx="4052777" cy="626611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1611" y="2794236"/>
            <a:ext cx="4052777" cy="295642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691086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9D3A72-CFA6-962F-9BCA-8EB846CDFD68}"/>
              </a:ext>
            </a:extLst>
          </p:cNvPr>
          <p:cNvSpPr/>
          <p:nvPr/>
        </p:nvSpPr>
        <p:spPr>
          <a:xfrm>
            <a:off x="0" y="6691086"/>
            <a:ext cx="12192001" cy="19244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056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半版圖片+標題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19D3A72-CFA6-962F-9BCA-8EB846CDFD68}"/>
              </a:ext>
            </a:extLst>
          </p:cNvPr>
          <p:cNvSpPr/>
          <p:nvPr/>
        </p:nvSpPr>
        <p:spPr>
          <a:xfrm>
            <a:off x="5886449" y="0"/>
            <a:ext cx="6305551" cy="6883534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11" y="1369194"/>
            <a:ext cx="4052777" cy="626611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1611" y="2620609"/>
            <a:ext cx="4052777" cy="295642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2724" y="1369194"/>
            <a:ext cx="5095875" cy="4296004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8104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標題+內文+清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DBB5B-45F8-DE27-725F-B4E7FF0D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47254"/>
          </a:xfrm>
        </p:spPr>
        <p:txBody>
          <a:bodyPr anchor="t"/>
          <a:lstStyle>
            <a:lvl1pPr>
              <a:defRPr sz="32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5AEAD-620A-5246-990D-44F626A5D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defRPr lang="zh-TW" altLang="en-US" sz="28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>
              <a:defRPr lang="zh-TW" altLang="en-US" sz="20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>
              <a:defRPr lang="zh-TW" altLang="en-US" sz="20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>
              <a:defRPr lang="zh-TW" altLang="en-US" sz="1800" kern="1200" dirty="0" smtClean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>
              <a:defRPr lang="zh-TW" altLang="en-US" sz="1800" kern="12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/>
              <a:t>按一下以編輯母片文字樣式</a:t>
            </a:r>
          </a:p>
          <a:p>
            <a:pPr marL="228600" lvl="1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/>
              <a:t>第二層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/>
              <a:t>第三層</a:t>
            </a:r>
          </a:p>
          <a:p>
            <a:pPr marL="228600" lvl="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/>
              <a:t>第四層</a:t>
            </a:r>
          </a:p>
          <a:p>
            <a:pPr marL="228600" lvl="4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CF401F-0B55-D763-B0C5-DA372CEAF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194559"/>
            <a:ext cx="3932237" cy="367601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89927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標題+內文+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AE9272-9A4D-A32B-7993-F04C1809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930688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CA7D91-0EC1-E417-AD34-94D30CC6F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961729-430C-1053-FA5E-C9D5F3DCA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33476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9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45F2408-7D21-147C-1428-83154999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0B5932-5FAF-5285-3579-923B2E90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按一下以編輯母片文字樣式</a:t>
            </a:r>
          </a:p>
          <a:p>
            <a:pPr marL="685800" lvl="1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第二層</a:t>
            </a:r>
          </a:p>
          <a:p>
            <a:pPr marL="1143000" lvl="2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第三層</a:t>
            </a:r>
          </a:p>
          <a:p>
            <a:pPr marL="1600200" lvl="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第四層</a:t>
            </a:r>
          </a:p>
          <a:p>
            <a:pPr marL="2057400" lvl="4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1971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altLang="en-US" sz="3600" b="1" kern="1200" dirty="0" smtClean="0">
          <a:solidFill>
            <a:srgbClr val="61C1BE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TW" altLang="en-US" sz="28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20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20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1800" kern="1200" dirty="0" smtClean="0">
          <a:solidFill>
            <a:schemeClr val="bg2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1800" kern="1200" dirty="0" smtClean="0">
          <a:solidFill>
            <a:schemeClr val="bg2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ov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3A">
              <a:alpha val="5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222222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822960" y="566928"/>
            <a:ext cx="201168" cy="201168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1170432" y="484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80360" y="4892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10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採購模組　內部培訓簡報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採購（Purchase）模組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內部培訓簡報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商業模式定位｜系統功能總覽｜三個情境故事實戰演練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583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艾創點數位股份有限公司　ideaXpress digital Co., Ltd.　｜　Jenny｜　2026-07-29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3A891D-7CB9-D5D0-C1D5-805FBFCC56FF}"/>
              </a:ext>
            </a:extLst>
          </p:cNvPr>
          <p:cNvSpPr txBox="1"/>
          <p:nvPr/>
        </p:nvSpPr>
        <p:spPr>
          <a:xfrm>
            <a:off x="802105" y="2195130"/>
            <a:ext cx="62360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000" b="1" dirty="0">
                <a:solidFill>
                  <a:schemeClr val="tx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第二堂 </a:t>
            </a:r>
            <a:r>
              <a:rPr kumimoji="1" lang="en-US" altLang="zh-TW" sz="6000" b="1" dirty="0">
                <a:solidFill>
                  <a:schemeClr val="tx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Sales</a:t>
            </a:r>
          </a:p>
          <a:p>
            <a:pPr algn="ctr"/>
            <a:r>
              <a:rPr lang="zh-TW" altLang="en-US" sz="6000" b="1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銷售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CB25DF-63E3-F553-4B24-5DDE526A3806}"/>
              </a:ext>
            </a:extLst>
          </p:cNvPr>
          <p:cNvSpPr/>
          <p:nvPr/>
        </p:nvSpPr>
        <p:spPr>
          <a:xfrm>
            <a:off x="0" y="6641432"/>
            <a:ext cx="12192000" cy="21656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形 21">
            <a:extLst>
              <a:ext uri="{FF2B5EF4-FFF2-40B4-BE49-F238E27FC236}">
                <a16:creationId xmlns:a16="http://schemas.microsoft.com/office/drawing/2014/main" id="{DB5DFC7E-3FCC-8A5D-B4E6-D93529AED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8569" y="-80211"/>
            <a:ext cx="4553431" cy="271675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E0DEBB-0977-A8CE-BC25-0D11AF02B279}"/>
              </a:ext>
            </a:extLst>
          </p:cNvPr>
          <p:cNvSpPr txBox="1"/>
          <p:nvPr/>
        </p:nvSpPr>
        <p:spPr>
          <a:xfrm>
            <a:off x="10304643" y="2195130"/>
            <a:ext cx="1046440" cy="3178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TW" altLang="en-US" sz="28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數位轉型的</a:t>
            </a:r>
            <a:endParaRPr kumimoji="1" lang="en-US" altLang="zh-TW" sz="28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sz="2800" b="1" dirty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kumimoji="1" lang="zh-TW" altLang="en-US" sz="2800" b="1" dirty="0">
                <a:solidFill>
                  <a:srgbClr val="ECAA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最佳合作夥伴</a:t>
            </a:r>
            <a:r>
              <a:rPr kumimoji="1" lang="zh-CN" altLang="en-US" sz="2800" b="1" dirty="0">
                <a:solidFill>
                  <a:srgbClr val="ECAA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1" lang="en-US" altLang="zh-CN" sz="2800" b="1" dirty="0">
              <a:solidFill>
                <a:srgbClr val="ECAA4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 descr="一張含有 字型, 文字, 螢幕擷取畫面, 圖形 的圖片&#10;&#10;自動產生的描述">
            <a:extLst>
              <a:ext uri="{FF2B5EF4-FFF2-40B4-BE49-F238E27FC236}">
                <a16:creationId xmlns:a16="http://schemas.microsoft.com/office/drawing/2014/main" id="{6722C5EA-7709-CAE4-0977-DF31FBA66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0"/>
          <a:stretch/>
        </p:blipFill>
        <p:spPr>
          <a:xfrm>
            <a:off x="876923" y="4882581"/>
            <a:ext cx="2892750" cy="93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目錄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96112" y="1691640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181965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22402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採購及付款循環在企業八大循環中的定位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96112" y="289864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026664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× 採購功能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03120" y="34472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</a:t>
            </a:r>
            <a:r>
              <a:rPr lang="en-US" sz="1200" dirty="0" err="1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功能、跨模組關係與關鍵設定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96112" y="4105656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2336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三個實務情境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03120" y="46542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新手採購員的一天／庫存告急日／年度合作大單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12664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96112" y="5312664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103120" y="544068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簽核地圖與易錯提醒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03120" y="586130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內控簽核點總覽、常見混淆點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AA3FC5-A310-A648-3C78-4A4E7D706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5D6990-90DD-A346-CA79-23D3AA30EA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E9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× </a:t>
            </a:r>
            <a:r>
              <a:rPr lang="en-US" altLang="zh-TW" sz="4000" dirty="0" err="1">
                <a:solidFill>
                  <a:srgbClr val="E9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採購功能</a:t>
            </a:r>
            <a:endParaRPr lang="en-US" altLang="zh-TW" sz="4000" dirty="0">
              <a:solidFill>
                <a:srgbClr val="E9F5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68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簡報說明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本次 Demo 情境背景設定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847087"/>
            <a:ext cx="11247120" cy="1465033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017701"/>
            <a:ext cx="10232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示範集團：</a:t>
            </a:r>
            <a:r>
              <a:rPr 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駿陞橡膠工業集團（虛構示範案例，取材自本公司「經銷商業態案例」Demo環境）——跨國輪胎／橡膠製品製造集團，總部台灣，旗下駿陞(台灣)JS、駿泰(深圳)JT、駿陞(昆山)JK、駿陞(越南)JV </a:t>
            </a:r>
            <a:r>
              <a:rPr lang="en-US" sz="1200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四大生產基地</a:t>
            </a:r>
            <a:r>
              <a:rPr lang="zh-TW" alt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，</a:t>
            </a:r>
            <a:r>
              <a:rPr lang="en-US" sz="1200" b="1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駿豐</a:t>
            </a:r>
            <a:r>
              <a:rPr lang="en-US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(台灣)JF </a:t>
            </a:r>
            <a:r>
              <a:rPr lang="zh-TW" altLang="en-US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當</a:t>
            </a:r>
            <a:r>
              <a:rPr lang="en-US" sz="1200" b="1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前貿易公司</a:t>
            </a:r>
            <a:r>
              <a:rPr 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。</a:t>
            </a:r>
            <a:endParaRPr lang="en-US" sz="12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84" y="264499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情境聚焦：</a:t>
            </a:r>
            <a:r>
              <a:rPr 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集團生產基地的原料採購作業（天然橡膠、碳黑、簾布、鋼絲等），</a:t>
            </a:r>
            <a:r>
              <a:rPr lang="en-US" sz="1200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供應商與數量取自本Demo環境已建置的真實資料</a:t>
            </a:r>
            <a:r>
              <a:rPr 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。</a:t>
            </a:r>
          </a:p>
          <a:p>
            <a:r>
              <a:rPr lang="zh-TW" altLang="en-US" sz="120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暫時先由</a:t>
            </a:r>
            <a:r>
              <a:rPr lang="en-US" altLang="zh-TW" sz="1200" b="1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駿豐</a:t>
            </a:r>
            <a:r>
              <a:rPr lang="en-US" altLang="zh-TW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(</a:t>
            </a:r>
            <a:r>
              <a:rPr lang="en-US" altLang="zh-TW" sz="1200" b="1" dirty="0" err="1">
                <a:solidFill>
                  <a:srgbClr val="3A3A3A"/>
                </a:solidFill>
                <a:latin typeface="+mn-ea"/>
                <a:cs typeface="Calibri" pitchFamily="34" charset="-120"/>
              </a:rPr>
              <a:t>台灣</a:t>
            </a:r>
            <a:r>
              <a:rPr lang="en-US" altLang="zh-TW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)JF </a:t>
            </a:r>
            <a:r>
              <a:rPr lang="zh-TW" altLang="en-US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協助採購，生產相關</a:t>
            </a:r>
            <a:r>
              <a:rPr lang="en-US" altLang="zh-TW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Bom</a:t>
            </a:r>
            <a:r>
              <a:rPr lang="zh-TW" altLang="en-US" sz="1200" b="1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表、製程待後續完成。</a:t>
            </a:r>
            <a:endParaRPr lang="en-US" sz="12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3331427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2222"/>
                </a:solidFill>
                <a:latin typeface="+mn-ea"/>
                <a:cs typeface="Calibri" pitchFamily="34" charset="-120"/>
              </a:rPr>
              <a:t>情境設定</a:t>
            </a:r>
            <a:endParaRPr lang="en-US" sz="1500" dirty="0">
              <a:latin typeface="+mn-ea"/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A0F43C8-E274-BDB4-A168-09E182CFDF1B}"/>
              </a:ext>
            </a:extLst>
          </p:cNvPr>
          <p:cNvGrpSpPr/>
          <p:nvPr/>
        </p:nvGrpSpPr>
        <p:grpSpPr>
          <a:xfrm>
            <a:off x="1701268" y="5060390"/>
            <a:ext cx="985982" cy="746114"/>
            <a:chOff x="557784" y="4269092"/>
            <a:chExt cx="985982" cy="746114"/>
          </a:xfrm>
        </p:grpSpPr>
        <p:sp>
          <p:nvSpPr>
            <p:cNvPr id="11" name="Shape 9"/>
            <p:cNvSpPr/>
            <p:nvPr/>
          </p:nvSpPr>
          <p:spPr>
            <a:xfrm>
              <a:off x="557784" y="4480283"/>
              <a:ext cx="985982" cy="534923"/>
            </a:xfrm>
            <a:prstGeom prst="roundRect">
              <a:avLst>
                <a:gd name="adj" fmla="val 4000"/>
              </a:avLst>
            </a:prstGeom>
            <a:solidFill>
              <a:srgbClr val="E9F5F4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912784" y="4269092"/>
              <a:ext cx="235252" cy="242498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12784" y="4269092"/>
              <a:ext cx="235252" cy="242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68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陳</a:t>
              </a:r>
              <a:endParaRPr lang="en-US" sz="1768" dirty="0">
                <a:latin typeface="+mn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57784" y="4582364"/>
              <a:ext cx="985982" cy="106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222222"/>
                  </a:solidFill>
                  <a:latin typeface="+mn-ea"/>
                  <a:cs typeface="Calibri" pitchFamily="34" charset="-120"/>
                </a:rPr>
                <a:t>陳阿宏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57784" y="4809500"/>
              <a:ext cx="985982" cy="85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E8C89"/>
                  </a:solidFill>
                  <a:latin typeface="+mn-ea"/>
                  <a:cs typeface="Calibri" pitchFamily="34" charset="-120"/>
                </a:rPr>
                <a:t>採購人員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2D69C613-27A2-AF67-386C-AD32C2DB6851}"/>
              </a:ext>
            </a:extLst>
          </p:cNvPr>
          <p:cNvGrpSpPr/>
          <p:nvPr/>
        </p:nvGrpSpPr>
        <p:grpSpPr>
          <a:xfrm>
            <a:off x="4315028" y="5095608"/>
            <a:ext cx="995126" cy="718959"/>
            <a:chOff x="3337560" y="4269092"/>
            <a:chExt cx="995126" cy="718959"/>
          </a:xfrm>
        </p:grpSpPr>
        <p:sp>
          <p:nvSpPr>
            <p:cNvPr id="16" name="Shape 14"/>
            <p:cNvSpPr/>
            <p:nvPr/>
          </p:nvSpPr>
          <p:spPr>
            <a:xfrm>
              <a:off x="3337560" y="4453128"/>
              <a:ext cx="985982" cy="534923"/>
            </a:xfrm>
            <a:prstGeom prst="roundRect">
              <a:avLst>
                <a:gd name="adj" fmla="val 4000"/>
              </a:avLst>
            </a:prstGeom>
            <a:solidFill>
              <a:srgbClr val="E9F5F4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701704" y="4269092"/>
              <a:ext cx="235252" cy="242498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701704" y="4269092"/>
              <a:ext cx="235252" cy="242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68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李</a:t>
              </a:r>
              <a:endParaRPr lang="en-US" sz="1768" dirty="0">
                <a:latin typeface="+mn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346704" y="4582364"/>
              <a:ext cx="985982" cy="106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222222"/>
                  </a:solidFill>
                  <a:latin typeface="+mn-ea"/>
                  <a:cs typeface="Calibri" pitchFamily="34" charset="-120"/>
                </a:rPr>
                <a:t>李小芸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346704" y="4809500"/>
              <a:ext cx="985982" cy="85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E8C89"/>
                  </a:solidFill>
                  <a:latin typeface="+mn-ea"/>
                  <a:cs typeface="Calibri" pitchFamily="34" charset="-120"/>
                </a:rPr>
                <a:t>採購主管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539CE367-E6B9-2CA0-4886-99090840D491}"/>
              </a:ext>
            </a:extLst>
          </p:cNvPr>
          <p:cNvGrpSpPr/>
          <p:nvPr/>
        </p:nvGrpSpPr>
        <p:grpSpPr>
          <a:xfrm>
            <a:off x="6937932" y="5061090"/>
            <a:ext cx="995126" cy="718959"/>
            <a:chOff x="6126480" y="4269092"/>
            <a:chExt cx="995126" cy="718959"/>
          </a:xfrm>
        </p:grpSpPr>
        <p:sp>
          <p:nvSpPr>
            <p:cNvPr id="21" name="Shape 19"/>
            <p:cNvSpPr/>
            <p:nvPr/>
          </p:nvSpPr>
          <p:spPr>
            <a:xfrm>
              <a:off x="6126480" y="4453128"/>
              <a:ext cx="985982" cy="534923"/>
            </a:xfrm>
            <a:prstGeom prst="roundRect">
              <a:avLst>
                <a:gd name="adj" fmla="val 4000"/>
              </a:avLst>
            </a:prstGeom>
            <a:solidFill>
              <a:srgbClr val="E9F5F4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490624" y="4269092"/>
              <a:ext cx="235252" cy="242498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490624" y="4269092"/>
              <a:ext cx="235252" cy="242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68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吳</a:t>
              </a:r>
              <a:endParaRPr lang="en-US" sz="1768" dirty="0">
                <a:latin typeface="+mn-ea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135624" y="4582364"/>
              <a:ext cx="985982" cy="106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222222"/>
                  </a:solidFill>
                  <a:latin typeface="+mn-ea"/>
                  <a:cs typeface="Calibri" pitchFamily="34" charset="-120"/>
                </a:rPr>
                <a:t>吳小欣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135624" y="4809500"/>
              <a:ext cx="985982" cy="85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E8C89"/>
                  </a:solidFill>
                  <a:latin typeface="+mn-ea"/>
                  <a:cs typeface="Calibri" pitchFamily="34" charset="-120"/>
                </a:rPr>
                <a:t>採購人員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C64A40AD-0AB5-0CD6-B8C5-59C04C8573C2}"/>
              </a:ext>
            </a:extLst>
          </p:cNvPr>
          <p:cNvGrpSpPr/>
          <p:nvPr/>
        </p:nvGrpSpPr>
        <p:grpSpPr>
          <a:xfrm>
            <a:off x="9560837" y="5096625"/>
            <a:ext cx="995126" cy="718959"/>
            <a:chOff x="8915400" y="4269092"/>
            <a:chExt cx="995126" cy="718959"/>
          </a:xfrm>
        </p:grpSpPr>
        <p:sp>
          <p:nvSpPr>
            <p:cNvPr id="26" name="Shape 24"/>
            <p:cNvSpPr/>
            <p:nvPr/>
          </p:nvSpPr>
          <p:spPr>
            <a:xfrm>
              <a:off x="8915400" y="4453128"/>
              <a:ext cx="985982" cy="534923"/>
            </a:xfrm>
            <a:prstGeom prst="roundRect">
              <a:avLst>
                <a:gd name="adj" fmla="val 4000"/>
              </a:avLst>
            </a:prstGeom>
            <a:solidFill>
              <a:srgbClr val="E9F5F4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279544" y="4269092"/>
              <a:ext cx="235252" cy="242498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>
                <a:latin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9279544" y="4269092"/>
              <a:ext cx="235252" cy="242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68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蔡</a:t>
              </a:r>
              <a:endParaRPr lang="en-US" sz="1768" dirty="0">
                <a:latin typeface="+mn-ea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8924544" y="4582364"/>
              <a:ext cx="985982" cy="106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300" b="1" dirty="0">
                  <a:solidFill>
                    <a:srgbClr val="222222"/>
                  </a:solidFill>
                  <a:latin typeface="+mn-ea"/>
                  <a:cs typeface="Calibri" pitchFamily="34" charset="-120"/>
                </a:rPr>
                <a:t>蔡明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8924544" y="4809500"/>
              <a:ext cx="985982" cy="85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E8C89"/>
                  </a:solidFill>
                  <a:latin typeface="+mn-ea"/>
                  <a:cs typeface="Calibri" pitchFamily="34" charset="-120"/>
                </a:rPr>
                <a:t>採購人員</a:t>
              </a:r>
              <a:endParaRPr lang="en-US" sz="1000" dirty="0">
                <a:latin typeface="+mn-ea"/>
              </a:endParaRPr>
            </a:p>
          </p:txBody>
        </p:sp>
      </p:grpSp>
      <p:sp>
        <p:nvSpPr>
          <p:cNvPr id="37" name="Shap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96240" y="649785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900" dirty="0">
              <a:latin typeface="+mn-ea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3</a:t>
            </a:r>
            <a:endParaRPr lang="en-US" sz="850" dirty="0">
              <a:latin typeface="+mn-ea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4777A0C-8CF8-2B66-243F-D2A24A766DA6}"/>
              </a:ext>
            </a:extLst>
          </p:cNvPr>
          <p:cNvSpPr/>
          <p:nvPr/>
        </p:nvSpPr>
        <p:spPr>
          <a:xfrm>
            <a:off x="696061" y="3770585"/>
            <a:ext cx="3437038" cy="11475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（</a:t>
            </a:r>
            <a:r>
              <a:rPr lang="en-US" altLang="zh-TW" sz="1600" b="1" dirty="0" err="1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情境一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）</a:t>
            </a:r>
          </a:p>
          <a:p>
            <a:pPr algn="ctr"/>
            <a:endParaRPr lang="en-US" altLang="zh-TW" sz="1600" b="1" dirty="0">
              <a:solidFill>
                <a:schemeClr val="bg2"/>
              </a:solidFill>
              <a:latin typeface="+mn-ea"/>
              <a:cs typeface="Calibri" pitchFamily="34" charset="-120"/>
            </a:endParaRPr>
          </a:p>
          <a:p>
            <a:pPr algn="ctr"/>
            <a:r>
              <a:rPr lang="en-US" altLang="zh-TW" sz="1600" b="1" dirty="0" err="1">
                <a:solidFill>
                  <a:srgbClr val="757575"/>
                </a:solidFill>
                <a:latin typeface="+mn-ea"/>
                <a:cs typeface="Calibri" pitchFamily="34" charset="-120"/>
              </a:rPr>
              <a:t>自動補貨、排程觸發</a:t>
            </a:r>
            <a:endParaRPr lang="en-US" altLang="zh-TW" sz="1600" b="1" dirty="0">
              <a:solidFill>
                <a:srgbClr val="757575"/>
              </a:solidFill>
              <a:latin typeface="+mn-ea"/>
              <a:cs typeface="Calibri" pitchFamily="34" charset="-120"/>
            </a:endParaRPr>
          </a:p>
          <a:p>
            <a:pPr algn="ctr"/>
            <a:r>
              <a:rPr lang="en-US" altLang="zh-TW" sz="1600" b="1" dirty="0" err="1">
                <a:solidFill>
                  <a:srgbClr val="757575"/>
                </a:solidFill>
                <a:latin typeface="+mn-ea"/>
                <a:cs typeface="Calibri" pitchFamily="34" charset="-120"/>
              </a:rPr>
              <a:t>審核核准、超門檻採購把關</a:t>
            </a:r>
            <a:endParaRPr lang="en-US" altLang="zh-TW" sz="1600" b="1" dirty="0">
              <a:latin typeface="+mn-ea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BA224620-9F0C-62C9-AC46-4229FF9572EE}"/>
              </a:ext>
            </a:extLst>
          </p:cNvPr>
          <p:cNvSpPr/>
          <p:nvPr/>
        </p:nvSpPr>
        <p:spPr>
          <a:xfrm>
            <a:off x="4542694" y="3786749"/>
            <a:ext cx="3437038" cy="11475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（</a:t>
            </a:r>
            <a:r>
              <a:rPr lang="en-US" altLang="zh-TW" sz="1600" b="1" dirty="0" err="1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情境</a:t>
            </a:r>
            <a:r>
              <a:rPr lang="zh-TW" altLang="en-US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二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）</a:t>
            </a:r>
            <a:b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</a:br>
            <a:endParaRPr lang="en-US" altLang="zh-TW" sz="1600" b="1" dirty="0">
              <a:solidFill>
                <a:schemeClr val="accent5">
                  <a:lumMod val="75000"/>
                </a:schemeClr>
              </a:solidFill>
              <a:latin typeface="+mn-ea"/>
              <a:cs typeface="Calibri" pitchFamily="34" charset="-120"/>
            </a:endParaRPr>
          </a:p>
          <a:p>
            <a:pPr algn="ctr"/>
            <a:r>
              <a:rPr lang="en-US" altLang="zh-TW" sz="1600" b="1" dirty="0" err="1">
                <a:solidFill>
                  <a:srgbClr val="757575"/>
                </a:solidFill>
                <a:latin typeface="+mn-ea"/>
                <a:cs typeface="Calibri" pitchFamily="34" charset="-120"/>
              </a:rPr>
              <a:t>自動補貨、排程觸發</a:t>
            </a:r>
            <a:endParaRPr lang="zh-TW" altLang="en-US" sz="1600" b="1" dirty="0">
              <a:solidFill>
                <a:schemeClr val="bg2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28C8045A-1691-4B17-659C-883DA7B3EBF1}"/>
              </a:ext>
            </a:extLst>
          </p:cNvPr>
          <p:cNvSpPr/>
          <p:nvPr/>
        </p:nvSpPr>
        <p:spPr>
          <a:xfrm>
            <a:off x="8499901" y="3770585"/>
            <a:ext cx="3437038" cy="11475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（</a:t>
            </a:r>
            <a:r>
              <a:rPr lang="en-US" altLang="zh-TW" sz="1600" b="1" dirty="0" err="1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情境</a:t>
            </a:r>
            <a:r>
              <a:rPr lang="zh-TW" altLang="en-US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三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Calibri" pitchFamily="34" charset="-120"/>
              </a:rPr>
              <a:t>）</a:t>
            </a:r>
          </a:p>
          <a:p>
            <a:pPr algn="ctr"/>
            <a:br>
              <a:rPr lang="en-US" altLang="zh-TW" sz="1600" b="1" dirty="0">
                <a:solidFill>
                  <a:schemeClr val="bg2"/>
                </a:solidFill>
                <a:latin typeface="+mn-ea"/>
                <a:cs typeface="Calibri" pitchFamily="34" charset="-120"/>
              </a:rPr>
            </a:br>
            <a:r>
              <a:rPr lang="en-US" altLang="zh-TW" sz="1600" b="1" dirty="0" err="1">
                <a:solidFill>
                  <a:srgbClr val="757575"/>
                </a:solidFill>
                <a:latin typeface="+mn-ea"/>
                <a:cs typeface="Calibri" pitchFamily="34" charset="-120"/>
              </a:rPr>
              <a:t>年度框架訂單、原料議價</a:t>
            </a:r>
            <a:endParaRPr lang="zh-TW" altLang="en-US" sz="16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艾創點數位</a:t>
            </a:r>
            <a:endParaRPr lang="en-US" sz="11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IDEAXPRESS</a:t>
            </a:r>
            <a:endParaRPr lang="en-US" sz="11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01　商業模式</a:t>
            </a:r>
            <a:endParaRPr lang="en-US" sz="12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採購及付款循環在企業八大循環中的位置</a:t>
            </a:r>
            <a:endParaRPr lang="en-US" sz="27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5167" y="2843271"/>
            <a:ext cx="3291840" cy="90000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5167" y="2948101"/>
            <a:ext cx="3291840" cy="39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銷售及收款循環</a:t>
            </a:r>
            <a:endParaRPr lang="en-US" sz="145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5167" y="3351269"/>
            <a:ext cx="3291840" cy="315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接單／出貨／收款</a:t>
            </a:r>
            <a:endParaRPr lang="en-US" sz="105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49927" y="2843271"/>
            <a:ext cx="3291840" cy="90000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49927" y="2948101"/>
            <a:ext cx="3291840" cy="39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生產循環</a:t>
            </a:r>
            <a:endParaRPr lang="en-US" sz="145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49927" y="3351269"/>
            <a:ext cx="3291840" cy="315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製造／入庫</a:t>
            </a:r>
            <a:endParaRPr lang="en-US" sz="1050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44687" y="2843271"/>
            <a:ext cx="3291840" cy="900000"/>
          </a:xfrm>
          <a:prstGeom prst="roundRect">
            <a:avLst>
              <a:gd name="adj" fmla="val 5455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44687" y="2948101"/>
            <a:ext cx="3291840" cy="39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採購及付款循環</a:t>
            </a:r>
            <a:endParaRPr lang="en-US" sz="145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4687" y="3351269"/>
            <a:ext cx="3291840" cy="315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AF9"/>
                </a:solidFill>
                <a:latin typeface="+mn-ea"/>
                <a:cs typeface="Calibri" pitchFamily="34" charset="-120"/>
              </a:rPr>
              <a:t>請購／採購／付款</a:t>
            </a:r>
            <a:endParaRPr lang="en-US" sz="105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09847" y="2953829"/>
            <a:ext cx="685800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7575"/>
                </a:solidFill>
                <a:latin typeface="+mn-ea"/>
              </a:rPr>
              <a:t>↔</a:t>
            </a:r>
            <a:endParaRPr lang="en-US" sz="24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04607" y="2953829"/>
            <a:ext cx="685800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7575"/>
                </a:solidFill>
                <a:latin typeface="+mn-ea"/>
              </a:rPr>
              <a:t>↔</a:t>
            </a:r>
            <a:endParaRPr lang="en-US" sz="24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35527" y="4056426"/>
            <a:ext cx="5120640" cy="841248"/>
          </a:xfrm>
          <a:prstGeom prst="roundRect">
            <a:avLst>
              <a:gd name="adj" fmla="val 6522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35527" y="405642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會計</a:t>
            </a:r>
            <a:r>
              <a:rPr lang="zh-TW" altLang="en-US" sz="15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模組</a:t>
            </a:r>
            <a:endParaRPr lang="en-US" sz="1500" b="1" dirty="0">
              <a:solidFill>
                <a:srgbClr val="FFFFFF"/>
              </a:solidFill>
              <a:latin typeface="+mn-ea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+mn-ea"/>
                <a:cs typeface="Calibri" pitchFamily="34" charset="-120"/>
              </a:rPr>
              <a:t>成本</a:t>
            </a:r>
            <a:r>
              <a:rPr lang="en-US" sz="15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／</a:t>
            </a:r>
            <a:r>
              <a:rPr lang="zh-TW" altLang="en-US" sz="15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應收</a:t>
            </a:r>
            <a:r>
              <a:rPr lang="en-US" altLang="zh-TW" sz="15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/</a:t>
            </a:r>
            <a:r>
              <a:rPr lang="zh-TW" altLang="en-US" sz="15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應付</a:t>
            </a:r>
            <a:endParaRPr lang="en-US" sz="1500" dirty="0"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5847" y="3740727"/>
            <a:ext cx="0" cy="31569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" y="5410290"/>
            <a:ext cx="3291840" cy="825911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>
            <a:solidFill>
              <a:srgbClr val="E9F5F4"/>
            </a:solidFill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2327" y="5480925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固定資產循環／薪工循環</a:t>
            </a:r>
            <a:endParaRPr lang="en-US" sz="12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327" y="5855829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設備／人力／折舊／薪資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4687" y="5385598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>
            <a:solidFill>
              <a:srgbClr val="E9F5F4"/>
            </a:solidFill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81847" y="5480925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投資循環／融資循環</a:t>
            </a:r>
            <a:endParaRPr lang="en-US" sz="12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81847" y="5855829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資金運用／資金來源</a:t>
            </a:r>
            <a:endParaRPr lang="en-US" sz="1000" dirty="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44687" y="5472333"/>
            <a:ext cx="0" cy="0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4</a:t>
            </a:r>
            <a:endParaRPr lang="en-US" sz="850" dirty="0">
              <a:latin typeface="+mn-ea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04710716-4941-1862-5C30-3A8337845A10}"/>
              </a:ext>
            </a:extLst>
          </p:cNvPr>
          <p:cNvGrpSpPr/>
          <p:nvPr/>
        </p:nvGrpSpPr>
        <p:grpSpPr>
          <a:xfrm>
            <a:off x="8656218" y="3740724"/>
            <a:ext cx="1343413" cy="1652264"/>
            <a:chOff x="8641131" y="3177306"/>
            <a:chExt cx="1343413" cy="1652264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D560C69C-6BF2-BF2A-9334-5BE683DFE81E}"/>
                </a:ext>
              </a:extLst>
            </p:cNvPr>
            <p:cNvGrpSpPr/>
            <p:nvPr/>
          </p:nvGrpSpPr>
          <p:grpSpPr>
            <a:xfrm rot="16200000">
              <a:off x="8896632" y="2931689"/>
              <a:ext cx="832337" cy="1323572"/>
              <a:chOff x="2285999" y="2971799"/>
              <a:chExt cx="990003" cy="1053868"/>
            </a:xfrm>
          </p:grpSpPr>
          <p:sp>
            <p:nvSpPr>
              <p:cNvPr id="38" name="Shape 18">
                <a:extLst>
                  <a:ext uri="{FF2B5EF4-FFF2-40B4-BE49-F238E27FC236}">
                    <a16:creationId xmlns:a16="http://schemas.microsoft.com/office/drawing/2014/main" id="{670B4A24-E7D5-6AC4-CDB3-B690E43B767E}"/>
                  </a:ext>
                </a:extLst>
              </p:cNvPr>
              <p:cNvSpPr/>
              <p:nvPr/>
            </p:nvSpPr>
            <p:spPr>
              <a:xfrm>
                <a:off x="2285999" y="2971799"/>
                <a:ext cx="9119" cy="1053865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  <p:sp>
            <p:nvSpPr>
              <p:cNvPr id="39" name="Shape 27">
                <a:extLst>
                  <a:ext uri="{FF2B5EF4-FFF2-40B4-BE49-F238E27FC236}">
                    <a16:creationId xmlns:a16="http://schemas.microsoft.com/office/drawing/2014/main" id="{5E9D5842-4BA9-ADD9-61AD-0E1DFBBC1CB7}"/>
                  </a:ext>
                </a:extLst>
              </p:cNvPr>
              <p:cNvSpPr/>
              <p:nvPr/>
            </p:nvSpPr>
            <p:spPr>
              <a:xfrm flipV="1">
                <a:off x="2286001" y="4025462"/>
                <a:ext cx="990001" cy="205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4C2C5333-847B-9F63-8AA4-EF6705BA7809}"/>
                </a:ext>
              </a:extLst>
            </p:cNvPr>
            <p:cNvGrpSpPr/>
            <p:nvPr/>
          </p:nvGrpSpPr>
          <p:grpSpPr>
            <a:xfrm rot="10800000">
              <a:off x="8641131" y="4001977"/>
              <a:ext cx="1343413" cy="827593"/>
              <a:chOff x="2286000" y="3044206"/>
              <a:chExt cx="1234440" cy="981463"/>
            </a:xfrm>
          </p:grpSpPr>
          <p:sp>
            <p:nvSpPr>
              <p:cNvPr id="41" name="Shape 18">
                <a:extLst>
                  <a:ext uri="{FF2B5EF4-FFF2-40B4-BE49-F238E27FC236}">
                    <a16:creationId xmlns:a16="http://schemas.microsoft.com/office/drawing/2014/main" id="{5FE9CE83-BA2E-7EA5-6BFF-A0072EC7F3A8}"/>
                  </a:ext>
                </a:extLst>
              </p:cNvPr>
              <p:cNvSpPr/>
              <p:nvPr/>
            </p:nvSpPr>
            <p:spPr>
              <a:xfrm>
                <a:off x="2286270" y="3044206"/>
                <a:ext cx="8848" cy="981459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  <p:sp>
            <p:nvSpPr>
              <p:cNvPr id="42" name="Shape 27">
                <a:extLst>
                  <a:ext uri="{FF2B5EF4-FFF2-40B4-BE49-F238E27FC236}">
                    <a16:creationId xmlns:a16="http://schemas.microsoft.com/office/drawing/2014/main" id="{D3268550-4B96-1AF8-60AB-2A069FA9E9D5}"/>
                  </a:ext>
                </a:extLst>
              </p:cNvPr>
              <p:cNvSpPr/>
              <p:nvPr/>
            </p:nvSpPr>
            <p:spPr>
              <a:xfrm>
                <a:off x="2286000" y="4025669"/>
                <a:ext cx="1234440" cy="0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</p:grp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9BCBB93A-C99B-51F7-07EE-9B592F88E59E}"/>
              </a:ext>
            </a:extLst>
          </p:cNvPr>
          <p:cNvGrpSpPr/>
          <p:nvPr/>
        </p:nvGrpSpPr>
        <p:grpSpPr>
          <a:xfrm flipH="1">
            <a:off x="2178008" y="3745762"/>
            <a:ext cx="1353365" cy="1679369"/>
            <a:chOff x="8641074" y="3180899"/>
            <a:chExt cx="1353365" cy="1679369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A42DB107-484C-3DF3-1B30-6965C96395E5}"/>
                </a:ext>
              </a:extLst>
            </p:cNvPr>
            <p:cNvGrpSpPr/>
            <p:nvPr/>
          </p:nvGrpSpPr>
          <p:grpSpPr>
            <a:xfrm rot="16200000">
              <a:off x="8908353" y="2923560"/>
              <a:ext cx="828748" cy="1343425"/>
              <a:chOff x="2285999" y="2971799"/>
              <a:chExt cx="985735" cy="1069676"/>
            </a:xfrm>
          </p:grpSpPr>
          <p:sp>
            <p:nvSpPr>
              <p:cNvPr id="49" name="Shape 18">
                <a:extLst>
                  <a:ext uri="{FF2B5EF4-FFF2-40B4-BE49-F238E27FC236}">
                    <a16:creationId xmlns:a16="http://schemas.microsoft.com/office/drawing/2014/main" id="{945DA150-D97D-F60C-A1C5-B5D726656881}"/>
                  </a:ext>
                </a:extLst>
              </p:cNvPr>
              <p:cNvSpPr/>
              <p:nvPr/>
            </p:nvSpPr>
            <p:spPr>
              <a:xfrm>
                <a:off x="2285999" y="2971799"/>
                <a:ext cx="9119" cy="1053865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  <p:sp>
            <p:nvSpPr>
              <p:cNvPr id="50" name="Shape 27">
                <a:extLst>
                  <a:ext uri="{FF2B5EF4-FFF2-40B4-BE49-F238E27FC236}">
                    <a16:creationId xmlns:a16="http://schemas.microsoft.com/office/drawing/2014/main" id="{B21E9AD8-A1D2-A277-B8B8-F0972FE6089A}"/>
                  </a:ext>
                </a:extLst>
              </p:cNvPr>
              <p:cNvSpPr/>
              <p:nvPr/>
            </p:nvSpPr>
            <p:spPr>
              <a:xfrm>
                <a:off x="2287721" y="4030075"/>
                <a:ext cx="984013" cy="11400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 dirty="0">
                  <a:latin typeface="+mn-ea"/>
                </a:endParaRPr>
              </a:p>
            </p:txBody>
          </p:sp>
        </p:grp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8317A253-DB61-1748-DF61-F748BCB1A43D}"/>
                </a:ext>
              </a:extLst>
            </p:cNvPr>
            <p:cNvGrpSpPr/>
            <p:nvPr/>
          </p:nvGrpSpPr>
          <p:grpSpPr>
            <a:xfrm rot="10800000">
              <a:off x="8641074" y="4001974"/>
              <a:ext cx="1343433" cy="858294"/>
              <a:chOff x="2286000" y="3007798"/>
              <a:chExt cx="1234440" cy="1017871"/>
            </a:xfrm>
          </p:grpSpPr>
          <p:sp>
            <p:nvSpPr>
              <p:cNvPr id="47" name="Shape 18">
                <a:extLst>
                  <a:ext uri="{FF2B5EF4-FFF2-40B4-BE49-F238E27FC236}">
                    <a16:creationId xmlns:a16="http://schemas.microsoft.com/office/drawing/2014/main" id="{D1360244-D762-159C-673B-0F066732AF44}"/>
                  </a:ext>
                </a:extLst>
              </p:cNvPr>
              <p:cNvSpPr/>
              <p:nvPr/>
            </p:nvSpPr>
            <p:spPr>
              <a:xfrm flipH="1">
                <a:off x="2295118" y="3007798"/>
                <a:ext cx="3789" cy="1017868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  <p:sp>
            <p:nvSpPr>
              <p:cNvPr id="48" name="Shape 27">
                <a:extLst>
                  <a:ext uri="{FF2B5EF4-FFF2-40B4-BE49-F238E27FC236}">
                    <a16:creationId xmlns:a16="http://schemas.microsoft.com/office/drawing/2014/main" id="{4693E413-B734-F681-CD26-0622E1547DD9}"/>
                  </a:ext>
                </a:extLst>
              </p:cNvPr>
              <p:cNvSpPr/>
              <p:nvPr/>
            </p:nvSpPr>
            <p:spPr>
              <a:xfrm>
                <a:off x="2286000" y="4025669"/>
                <a:ext cx="1234440" cy="0"/>
              </a:xfrm>
              <a:prstGeom prst="line">
                <a:avLst/>
              </a:prstGeom>
              <a:noFill/>
              <a:ln w="15875">
                <a:solidFill>
                  <a:srgbClr val="757575"/>
                </a:solidFill>
                <a:prstDash val="solid"/>
              </a:ln>
            </p:spPr>
            <p:txBody>
              <a:bodyPr/>
              <a:lstStyle/>
              <a:p>
                <a:endParaRPr lang="zh-TW" altLang="en-US">
                  <a:latin typeface="+mn-ea"/>
                </a:endParaRPr>
              </a:p>
            </p:txBody>
          </p:sp>
        </p:grpSp>
      </p:grpSp>
      <p:sp>
        <p:nvSpPr>
          <p:cNvPr id="51" name="Shape 24">
            <a:extLst>
              <a:ext uri="{FF2B5EF4-FFF2-40B4-BE49-F238E27FC236}">
                <a16:creationId xmlns:a16="http://schemas.microsoft.com/office/drawing/2014/main" id="{30A32A8F-C8E7-082C-04ED-2E268DED154D}"/>
              </a:ext>
            </a:extLst>
          </p:cNvPr>
          <p:cNvSpPr/>
          <p:nvPr/>
        </p:nvSpPr>
        <p:spPr>
          <a:xfrm>
            <a:off x="4312767" y="1685653"/>
            <a:ext cx="3291840" cy="828000"/>
          </a:xfrm>
          <a:prstGeom prst="roundRect">
            <a:avLst>
              <a:gd name="adj" fmla="val 6000"/>
            </a:avLst>
          </a:prstGeom>
          <a:solidFill>
            <a:srgbClr val="E9F5F4"/>
          </a:solidFill>
          <a:ln>
            <a:solidFill>
              <a:srgbClr val="E9F5F4"/>
            </a:solidFill>
          </a:ln>
        </p:spPr>
        <p:txBody>
          <a:bodyPr/>
          <a:lstStyle/>
          <a:p>
            <a:pPr algn="ctr"/>
            <a:endParaRPr lang="zh-TW" altLang="en-US" dirty="0">
              <a:latin typeface="+mn-ea"/>
            </a:endParaRPr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274A560D-78ED-C22D-73D4-4F29DE066AAD}"/>
              </a:ext>
            </a:extLst>
          </p:cNvPr>
          <p:cNvSpPr/>
          <p:nvPr/>
        </p:nvSpPr>
        <p:spPr>
          <a:xfrm>
            <a:off x="4495647" y="171931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研發</a:t>
            </a:r>
            <a:r>
              <a:rPr lang="en-US" sz="1200" b="1" dirty="0" err="1">
                <a:solidFill>
                  <a:srgbClr val="222222"/>
                </a:solidFill>
                <a:latin typeface="+mn-ea"/>
                <a:cs typeface="Calibri" pitchFamily="34" charset="-120"/>
              </a:rPr>
              <a:t>循環</a:t>
            </a:r>
            <a:endParaRPr lang="en-US" sz="1200" dirty="0">
              <a:latin typeface="+mn-ea"/>
            </a:endParaRPr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F8E06697-85B9-EDA2-8209-3A1E8EF71C19}"/>
              </a:ext>
            </a:extLst>
          </p:cNvPr>
          <p:cNvSpPr/>
          <p:nvPr/>
        </p:nvSpPr>
        <p:spPr>
          <a:xfrm>
            <a:off x="4495647" y="209421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新產品</a:t>
            </a:r>
            <a:r>
              <a:rPr lang="en-US" altLang="zh-TW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/</a:t>
            </a:r>
            <a:r>
              <a:rPr lang="zh-TW" alt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新規格</a:t>
            </a:r>
            <a:endParaRPr lang="en-US" sz="1000" dirty="0">
              <a:latin typeface="+mn-ea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93F1D92B-DF97-570E-7D14-7F649D50B120}"/>
              </a:ext>
            </a:extLst>
          </p:cNvPr>
          <p:cNvSpPr/>
          <p:nvPr/>
        </p:nvSpPr>
        <p:spPr>
          <a:xfrm>
            <a:off x="4312767" y="1685653"/>
            <a:ext cx="0" cy="0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  <p:txBody>
          <a:bodyPr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FA1FB028-F83C-69E6-204E-089B8C22BDD5}"/>
              </a:ext>
            </a:extLst>
          </p:cNvPr>
          <p:cNvSpPr/>
          <p:nvPr/>
        </p:nvSpPr>
        <p:spPr>
          <a:xfrm flipH="1">
            <a:off x="6095847" y="2513653"/>
            <a:ext cx="0" cy="325461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艾創點數位</a:t>
            </a:r>
            <a:endParaRPr lang="en-US" sz="11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IDEAXPRESS</a:t>
            </a:r>
            <a:endParaRPr lang="en-US" sz="11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01　商業模式</a:t>
            </a:r>
            <a:endParaRPr lang="en-US" sz="12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微觀作業流程：一筆訂單如何觸發採購</a:t>
            </a:r>
            <a:endParaRPr lang="en-US" sz="27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市場／客戶需求</a:t>
            </a:r>
            <a:endParaRPr lang="en-US" sz="12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Sales</a:t>
            </a:r>
            <a:endParaRPr lang="en-US" sz="95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57575"/>
                </a:solidFill>
                <a:latin typeface="+mn-ea"/>
              </a:rPr>
              <a:t>→</a:t>
            </a:r>
            <a:endParaRPr lang="en-US" sz="15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9864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檢查現有庫存</a:t>
            </a:r>
            <a:endParaRPr lang="en-US" sz="12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9864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9864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Inventory</a:t>
            </a:r>
            <a:endParaRPr lang="en-US" sz="95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9204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57575"/>
                </a:solidFill>
                <a:latin typeface="+mn-ea"/>
              </a:rPr>
              <a:t>→</a:t>
            </a:r>
            <a:endParaRPr lang="en-US" sz="1500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3892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庫存不足→產生採購需求</a:t>
            </a:r>
            <a:endParaRPr lang="en-US" sz="120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3892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3892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Purchase</a:t>
            </a:r>
            <a:endParaRPr lang="en-US" sz="95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57575"/>
                </a:solidFill>
                <a:latin typeface="+mn-ea"/>
              </a:rPr>
              <a:t>→</a:t>
            </a:r>
            <a:endParaRPr lang="en-US" sz="1500" dirty="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6948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920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RFQ→PO→收貨</a:t>
            </a:r>
            <a:endParaRPr lang="en-US" sz="120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7920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7920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Purchase</a:t>
            </a:r>
            <a:endParaRPr lang="en-US" sz="95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7260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57575"/>
                </a:solidFill>
                <a:latin typeface="+mn-ea"/>
              </a:rPr>
              <a:t>→</a:t>
            </a:r>
            <a:endParaRPr lang="en-US" sz="1500" dirty="0">
              <a:latin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50976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1948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供應商帳單→付款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1948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1948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Accounting</a:t>
            </a:r>
            <a:endParaRPr lang="en-US" sz="950" dirty="0">
              <a:latin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11091672" cy="1691640"/>
          </a:xfrm>
          <a:prstGeom prst="roundRect">
            <a:avLst>
              <a:gd name="adj" fmla="val 3784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40416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latin typeface="+mn-ea"/>
              </a:rPr>
              <a:t>補充說明</a:t>
            </a:r>
            <a:endParaRPr lang="en-US" sz="1600" b="1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此圖假設為貿易／流通業模型；製造業庫存不足時通常先進生產排程（MRP），不一定直接跳採購。</a:t>
            </a:r>
            <a:endParaRPr lang="en-US" sz="1150" dirty="0">
              <a:latin typeface="+mn-ea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+mn-ea"/>
                <a:cs typeface="Calibri" pitchFamily="34" charset="-120"/>
              </a:rPr>
              <a:t>「客戶訂單觸發採購」為教學簡化畫法；Odoo 實際邏輯依補貨規則（Reordering Rules）的 Min/Max 水位＋每日排程器（Scheduler）計算，非逐筆訂單即時觸發。</a:t>
            </a:r>
            <a:endParaRPr lang="en-US" sz="1150" dirty="0">
              <a:latin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A2A9-43D9-457F-7FEA-DAACE9FE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380DDF-47FE-59C9-35A2-CE3867F8C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707078-7D1B-8BDD-46ED-949F323E8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>
                <a:solidFill>
                  <a:srgbClr val="E9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altLang="zh-TW" sz="4000" dirty="0">
              <a:solidFill>
                <a:srgbClr val="E9F5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02　Odoo × 採購功能</a:t>
            </a:r>
            <a:endParaRPr lang="en-US" sz="12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採購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關鍵設定重點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78876" y="1849403"/>
            <a:ext cx="0" cy="443484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60720" y="1295323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關鍵設定重點（設定</a:t>
            </a:r>
            <a:r>
              <a:rPr lang="zh-TW" alt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5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</a:t>
            </a: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760720" y="1725091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60720" y="1725091"/>
            <a:ext cx="64008" cy="548640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89320" y="1761667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採購單審批</a:t>
            </a:r>
            <a:endParaRPr lang="en-US" sz="1100" dirty="0">
              <a:latin typeface="+mn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55280" y="1761667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超門檻需主管核准</a:t>
            </a:r>
            <a:endParaRPr lang="en-US" sz="950" dirty="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60720" y="3215563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60720" y="3215563"/>
            <a:ext cx="64008" cy="548640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89320" y="325213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三方匹配（企業版）</a:t>
            </a:r>
            <a:endParaRPr lang="en-US" sz="11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55280" y="3252139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只有依收貨數量開票才生效</a:t>
            </a:r>
            <a:endParaRPr lang="en-US" sz="950" dirty="0">
              <a:latin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760720" y="3901363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760720" y="3901363"/>
            <a:ext cx="64008" cy="548640"/>
          </a:xfrm>
          <a:prstGeom prst="rect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89320" y="393793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收貨提醒</a:t>
            </a:r>
            <a:endParaRPr lang="en-US" sz="1100" dirty="0">
              <a:latin typeface="+mn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55280" y="3937939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到貨前N天自動提醒廠商確認</a:t>
            </a:r>
            <a:endParaRPr lang="en-US" sz="950" dirty="0">
              <a:latin typeface="+mn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60720" y="4587163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60720" y="4587163"/>
            <a:ext cx="64008" cy="548640"/>
          </a:xfrm>
          <a:prstGeom prst="rect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89320" y="462373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直運／訂單補給</a:t>
            </a:r>
            <a:endParaRPr lang="en-US" sz="1100" dirty="0">
              <a:latin typeface="+mn-ea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55280" y="4623739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銷售觸發採購，貨不進倉庫</a:t>
            </a:r>
            <a:endParaRPr lang="en-US" sz="950" dirty="0">
              <a:latin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835640" y="6041059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0E7C6529-93AB-B02B-6111-6909AA167357}"/>
              </a:ext>
            </a:extLst>
          </p:cNvPr>
          <p:cNvSpPr/>
          <p:nvPr/>
        </p:nvSpPr>
        <p:spPr>
          <a:xfrm>
            <a:off x="5760720" y="2516047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79F64B56-D964-1715-5256-FC7D2D476F44}"/>
              </a:ext>
            </a:extLst>
          </p:cNvPr>
          <p:cNvSpPr/>
          <p:nvPr/>
        </p:nvSpPr>
        <p:spPr>
          <a:xfrm>
            <a:off x="5760720" y="2516047"/>
            <a:ext cx="64008" cy="548640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D38465C3-B73E-577E-0A45-9CA21A04CB8C}"/>
              </a:ext>
            </a:extLst>
          </p:cNvPr>
          <p:cNvSpPr/>
          <p:nvPr/>
        </p:nvSpPr>
        <p:spPr>
          <a:xfrm>
            <a:off x="5989320" y="2552623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鎖定確認訂單</a:t>
            </a:r>
            <a:endParaRPr lang="en-US" sz="1100" dirty="0">
              <a:latin typeface="+mn-ea"/>
            </a:endParaRPr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6E0615E4-4D8B-988B-79AF-FD5B141BC808}"/>
              </a:ext>
            </a:extLst>
          </p:cNvPr>
          <p:cNvSpPr/>
          <p:nvPr/>
        </p:nvSpPr>
        <p:spPr>
          <a:xfrm>
            <a:off x="7955280" y="2552623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訂單一旦確認（轉為</a:t>
            </a:r>
            <a:r>
              <a:rPr lang="en-US" altLang="zh-TW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PO</a:t>
            </a:r>
            <a:r>
              <a:rPr lang="zh-TW" altLang="en-US" sz="95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）後自動鎖定，防止事後被不正確修改</a:t>
            </a:r>
            <a:endParaRPr lang="en-US" sz="950" dirty="0">
              <a:latin typeface="+mn-ea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BF465B57-D8F0-92F9-E351-CBDE34CC0A8D}"/>
              </a:ext>
            </a:extLst>
          </p:cNvPr>
          <p:cNvSpPr/>
          <p:nvPr/>
        </p:nvSpPr>
        <p:spPr>
          <a:xfrm>
            <a:off x="54864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與其他模組的關係</a:t>
            </a:r>
            <a:endParaRPr lang="en-US" sz="1450" dirty="0">
              <a:latin typeface="+mn-ea"/>
            </a:endParaRPr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1C74AB14-B532-49C8-AF33-1C1D22CB3B0A}"/>
              </a:ext>
            </a:extLst>
          </p:cNvPr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5980C334-433A-1A77-CCB7-64C6244F7E95}"/>
              </a:ext>
            </a:extLst>
          </p:cNvPr>
          <p:cNvSpPr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●</a:t>
            </a:r>
            <a:endParaRPr lang="en-US" sz="1040" dirty="0">
              <a:latin typeface="+mn-ea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945FD481-2946-7AE4-7339-90144F457AF7}"/>
              </a:ext>
            </a:extLst>
          </p:cNvPr>
          <p:cNvSpPr/>
          <p:nvPr/>
        </p:nvSpPr>
        <p:spPr>
          <a:xfrm>
            <a:off x="1078992" y="2194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Inventory</a:t>
            </a:r>
            <a:endParaRPr lang="en-US" sz="1250" dirty="0">
              <a:latin typeface="+mn-ea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5C2AF1F3-EBF8-FA24-8199-BDB547DFAF52}"/>
              </a:ext>
            </a:extLst>
          </p:cNvPr>
          <p:cNvSpPr/>
          <p:nvPr/>
        </p:nvSpPr>
        <p:spPr>
          <a:xfrm>
            <a:off x="2697480" y="21945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收貨（Receipt）連動；補貨規則從庫存觸發</a:t>
            </a:r>
            <a:endParaRPr lang="en-US" sz="1000" dirty="0">
              <a:latin typeface="+mn-ea"/>
            </a:endParaRPr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A3DAAD03-5CE0-512D-8B86-E3781FDDE328}"/>
              </a:ext>
            </a:extLst>
          </p:cNvPr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788F462-A60B-C6B6-A24A-489330B3E9FA}"/>
              </a:ext>
            </a:extLst>
          </p:cNvPr>
          <p:cNvSpPr/>
          <p:nvPr/>
        </p:nvSpPr>
        <p:spPr>
          <a:xfrm>
            <a:off x="5486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●</a:t>
            </a:r>
            <a:endParaRPr lang="en-US" sz="1040" dirty="0">
              <a:latin typeface="+mn-ea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093E66E2-9711-A8DA-FCC0-60EA1BEE9D39}"/>
              </a:ext>
            </a:extLst>
          </p:cNvPr>
          <p:cNvSpPr/>
          <p:nvPr/>
        </p:nvSpPr>
        <p:spPr>
          <a:xfrm>
            <a:off x="1078992" y="28346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Accounting</a:t>
            </a:r>
            <a:endParaRPr lang="en-US" sz="1250" dirty="0">
              <a:latin typeface="+mn-ea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FA7FB5A2-C09E-9B27-2640-07CC8910BAE6}"/>
              </a:ext>
            </a:extLst>
          </p:cNvPr>
          <p:cNvSpPr/>
          <p:nvPr/>
        </p:nvSpPr>
        <p:spPr>
          <a:xfrm>
            <a:off x="2697480" y="28346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建立帳單後進入帳務；登記付款完成對帳</a:t>
            </a:r>
            <a:endParaRPr lang="en-US" sz="1000" dirty="0">
              <a:latin typeface="+mn-ea"/>
            </a:endParaRPr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952F6745-73E6-D4CE-759C-7942C169151F}"/>
              </a:ext>
            </a:extLst>
          </p:cNvPr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7DC3971A-F73E-851F-D1F6-3D679EC3787D}"/>
              </a:ext>
            </a:extLst>
          </p:cNvPr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●</a:t>
            </a:r>
            <a:endParaRPr lang="en-US" sz="1040" dirty="0">
              <a:latin typeface="+mn-ea"/>
            </a:endParaRPr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EA02F004-C99D-55F4-CC14-CF6324BC1B98}"/>
              </a:ext>
            </a:extLst>
          </p:cNvPr>
          <p:cNvSpPr/>
          <p:nvPr/>
        </p:nvSpPr>
        <p:spPr>
          <a:xfrm>
            <a:off x="1078992" y="3474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Sales</a:t>
            </a:r>
            <a:endParaRPr lang="en-US" sz="1250" dirty="0">
              <a:latin typeface="+mn-ea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9423CC1E-1432-47FB-5802-F40A0979E093}"/>
              </a:ext>
            </a:extLst>
          </p:cNvPr>
          <p:cNvSpPr/>
          <p:nvPr/>
        </p:nvSpPr>
        <p:spPr>
          <a:xfrm>
            <a:off x="2697480" y="34747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EDI：PO→XML→SO；直運由PO觸發直送</a:t>
            </a:r>
            <a:endParaRPr lang="en-US" sz="1000" dirty="0">
              <a:latin typeface="+mn-ea"/>
            </a:endParaRPr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A1C61DE8-B7E7-C4F6-FFE1-573112CE2DF5}"/>
              </a:ext>
            </a:extLst>
          </p:cNvPr>
          <p:cNvSpPr/>
          <p:nvPr/>
        </p:nvSpPr>
        <p:spPr>
          <a:xfrm>
            <a:off x="548640" y="413308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n-ea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7671F005-F9E9-5A01-5319-18296AAD317B}"/>
              </a:ext>
            </a:extLst>
          </p:cNvPr>
          <p:cNvSpPr/>
          <p:nvPr/>
        </p:nvSpPr>
        <p:spPr>
          <a:xfrm>
            <a:off x="5486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E8C89"/>
                </a:solidFill>
                <a:latin typeface="+mn-ea"/>
                <a:cs typeface="Calibri" pitchFamily="34" charset="-120"/>
              </a:rPr>
              <a:t>●</a:t>
            </a:r>
            <a:endParaRPr lang="en-US" sz="1040" dirty="0">
              <a:latin typeface="+mn-ea"/>
            </a:endParaRPr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EA215ECA-3AF1-87F6-B067-1925087010EF}"/>
              </a:ext>
            </a:extLst>
          </p:cNvPr>
          <p:cNvSpPr/>
          <p:nvPr/>
        </p:nvSpPr>
        <p:spPr>
          <a:xfrm>
            <a:off x="1078992" y="41148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+mn-ea"/>
                <a:cs typeface="Calibri" pitchFamily="34" charset="-120"/>
              </a:rPr>
              <a:t>Contact</a:t>
            </a:r>
            <a:endParaRPr lang="en-US" sz="1250" dirty="0">
              <a:latin typeface="+mn-ea"/>
            </a:endParaRPr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CC3D0B62-9E82-A9FB-D69E-CAC13A9CF09E}"/>
              </a:ext>
            </a:extLst>
          </p:cNvPr>
          <p:cNvSpPr/>
          <p:nvPr/>
        </p:nvSpPr>
        <p:spPr>
          <a:xfrm>
            <a:off x="2697480" y="41148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+mn-ea"/>
                <a:cs typeface="Calibri" pitchFamily="34" charset="-120"/>
              </a:rPr>
              <a:t>廠商主檔、警告設定、廠商分類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採購</a:t>
            </a:r>
            <a:r>
              <a:rPr lang="zh-TW" alt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模組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功能總覽</a:t>
            </a:r>
            <a:endParaRPr lang="en-US" sz="2700" dirty="0">
              <a:latin typeface="+mj-ea"/>
              <a:ea typeface="+mj-ea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177E164-C44C-9FEE-4C7A-A003394483B1}"/>
              </a:ext>
            </a:extLst>
          </p:cNvPr>
          <p:cNvGrpSpPr/>
          <p:nvPr/>
        </p:nvGrpSpPr>
        <p:grpSpPr>
          <a:xfrm>
            <a:off x="86360" y="1783080"/>
            <a:ext cx="1783080" cy="685800"/>
            <a:chOff x="548640" y="1783080"/>
            <a:chExt cx="1783080" cy="685800"/>
          </a:xfrm>
        </p:grpSpPr>
        <p:sp>
          <p:nvSpPr>
            <p:cNvPr id="7" name="Shape 5"/>
            <p:cNvSpPr/>
            <p:nvPr/>
          </p:nvSpPr>
          <p:spPr>
            <a:xfrm>
              <a:off x="548640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3E8C89"/>
            </a:solidFill>
            <a:ln/>
          </p:spPr>
          <p:txBody>
            <a:bodyPr/>
            <a:lstStyle/>
            <a:p>
              <a:endParaRPr lang="zh-TW" altLang="en-US" sz="3200" dirty="0">
                <a:latin typeface="+mn-ea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詢價單 RFQ</a:t>
              </a:r>
              <a:endParaRPr lang="en-US" sz="1600" dirty="0">
                <a:latin typeface="+mn-ea"/>
              </a:endParaRPr>
            </a:p>
          </p:txBody>
        </p:sp>
      </p:grpSp>
      <p:sp>
        <p:nvSpPr>
          <p:cNvPr id="9" name="Text 7"/>
          <p:cNvSpPr/>
          <p:nvPr/>
        </p:nvSpPr>
        <p:spPr>
          <a:xfrm>
            <a:off x="195580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57575"/>
                </a:solidFill>
              </a:rPr>
              <a:t>→</a:t>
            </a:r>
            <a:endParaRPr lang="en-US" sz="2000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095393A-9ABC-C56F-E423-B39FA312C1AE}"/>
              </a:ext>
            </a:extLst>
          </p:cNvPr>
          <p:cNvGrpSpPr/>
          <p:nvPr/>
        </p:nvGrpSpPr>
        <p:grpSpPr>
          <a:xfrm>
            <a:off x="2133600" y="1783080"/>
            <a:ext cx="1783080" cy="685800"/>
            <a:chOff x="2404872" y="1783080"/>
            <a:chExt cx="1783080" cy="685800"/>
          </a:xfrm>
        </p:grpSpPr>
        <p:sp>
          <p:nvSpPr>
            <p:cNvPr id="10" name="Shape 8"/>
            <p:cNvSpPr/>
            <p:nvPr/>
          </p:nvSpPr>
          <p:spPr>
            <a:xfrm>
              <a:off x="2404872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1" name="Text 9"/>
            <p:cNvSpPr/>
            <p:nvPr/>
          </p:nvSpPr>
          <p:spPr>
            <a:xfrm>
              <a:off x="2404872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廠商確認</a:t>
              </a:r>
              <a:endParaRPr lang="en-US" sz="1600" dirty="0">
                <a:latin typeface="+mn-ea"/>
              </a:endParaRPr>
            </a:p>
          </p:txBody>
        </p:sp>
      </p:grpSp>
      <p:sp>
        <p:nvSpPr>
          <p:cNvPr id="12" name="Text 10"/>
          <p:cNvSpPr/>
          <p:nvPr/>
        </p:nvSpPr>
        <p:spPr>
          <a:xfrm>
            <a:off x="400304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57575"/>
                </a:solidFill>
              </a:rPr>
              <a:t>→</a:t>
            </a:r>
            <a:endParaRPr lang="en-US" sz="20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33E7ABD2-4D99-0D41-3B32-BDE87A99FB4D}"/>
              </a:ext>
            </a:extLst>
          </p:cNvPr>
          <p:cNvGrpSpPr/>
          <p:nvPr/>
        </p:nvGrpSpPr>
        <p:grpSpPr>
          <a:xfrm>
            <a:off x="4180840" y="1783080"/>
            <a:ext cx="1783080" cy="685800"/>
            <a:chOff x="4261104" y="1783080"/>
            <a:chExt cx="1783080" cy="685800"/>
          </a:xfrm>
        </p:grpSpPr>
        <p:sp>
          <p:nvSpPr>
            <p:cNvPr id="13" name="Shape 11"/>
            <p:cNvSpPr/>
            <p:nvPr/>
          </p:nvSpPr>
          <p:spPr>
            <a:xfrm>
              <a:off x="4261104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3E8C89"/>
            </a:solidFill>
            <a:ln/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4" name="Text 12"/>
            <p:cNvSpPr/>
            <p:nvPr/>
          </p:nvSpPr>
          <p:spPr>
            <a:xfrm>
              <a:off x="4261104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採購單 PO</a:t>
              </a: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605028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57575"/>
                </a:solidFill>
              </a:rPr>
              <a:t>→</a:t>
            </a:r>
            <a:endParaRPr lang="en-US" sz="2000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49E7D09-F692-72BA-BF30-91DFF92767DD}"/>
              </a:ext>
            </a:extLst>
          </p:cNvPr>
          <p:cNvGrpSpPr/>
          <p:nvPr/>
        </p:nvGrpSpPr>
        <p:grpSpPr>
          <a:xfrm>
            <a:off x="6228080" y="1783080"/>
            <a:ext cx="1783080" cy="685800"/>
            <a:chOff x="6117336" y="1783080"/>
            <a:chExt cx="1783080" cy="685800"/>
          </a:xfrm>
        </p:grpSpPr>
        <p:sp>
          <p:nvSpPr>
            <p:cNvPr id="16" name="Shape 14"/>
            <p:cNvSpPr/>
            <p:nvPr/>
          </p:nvSpPr>
          <p:spPr>
            <a:xfrm>
              <a:off x="6117336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7" name="Text 15"/>
            <p:cNvSpPr/>
            <p:nvPr/>
          </p:nvSpPr>
          <p:spPr>
            <a:xfrm>
              <a:off x="6117336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收貨 Receipt</a:t>
              </a:r>
              <a:endParaRPr lang="en-US" sz="16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809752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57575"/>
                </a:solidFill>
              </a:rPr>
              <a:t>→</a:t>
            </a:r>
            <a:endParaRPr lang="en-US" sz="2000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496C2A4-81DC-E46D-2640-3CFC5F2A2D33}"/>
              </a:ext>
            </a:extLst>
          </p:cNvPr>
          <p:cNvGrpSpPr/>
          <p:nvPr/>
        </p:nvGrpSpPr>
        <p:grpSpPr>
          <a:xfrm>
            <a:off x="8275320" y="1783080"/>
            <a:ext cx="1783080" cy="685800"/>
            <a:chOff x="7973568" y="1783080"/>
            <a:chExt cx="1783080" cy="685800"/>
          </a:xfrm>
        </p:grpSpPr>
        <p:sp>
          <p:nvSpPr>
            <p:cNvPr id="19" name="Shape 17"/>
            <p:cNvSpPr/>
            <p:nvPr/>
          </p:nvSpPr>
          <p:spPr>
            <a:xfrm>
              <a:off x="7973568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3E8C89"/>
            </a:solidFill>
            <a:ln/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20" name="Text 18"/>
            <p:cNvSpPr/>
            <p:nvPr/>
          </p:nvSpPr>
          <p:spPr>
            <a:xfrm>
              <a:off x="7973568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供應商帳單</a:t>
              </a:r>
              <a:endParaRPr lang="en-US" sz="16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1014476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57575"/>
                </a:solidFill>
              </a:rPr>
              <a:t>→</a:t>
            </a:r>
            <a:endParaRPr lang="en-US" sz="2000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F80D462-CD51-EE3A-A35B-8B7334F4293F}"/>
              </a:ext>
            </a:extLst>
          </p:cNvPr>
          <p:cNvGrpSpPr/>
          <p:nvPr/>
        </p:nvGrpSpPr>
        <p:grpSpPr>
          <a:xfrm>
            <a:off x="10322560" y="1783080"/>
            <a:ext cx="1783080" cy="685800"/>
            <a:chOff x="9829800" y="1783080"/>
            <a:chExt cx="1783080" cy="685800"/>
          </a:xfrm>
        </p:grpSpPr>
        <p:sp>
          <p:nvSpPr>
            <p:cNvPr id="22" name="Shape 20"/>
            <p:cNvSpPr/>
            <p:nvPr/>
          </p:nvSpPr>
          <p:spPr>
            <a:xfrm>
              <a:off x="9829800" y="1783080"/>
              <a:ext cx="1783080" cy="685800"/>
            </a:xfrm>
            <a:prstGeom prst="roundRect">
              <a:avLst>
                <a:gd name="adj" fmla="val 50000"/>
              </a:avLst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23" name="Text 21"/>
            <p:cNvSpPr/>
            <p:nvPr/>
          </p:nvSpPr>
          <p:spPr>
            <a:xfrm>
              <a:off x="9829800" y="1783080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付款</a:t>
              </a:r>
              <a:endParaRPr lang="en-US" sz="1600" dirty="0"/>
            </a:p>
          </p:txBody>
        </p:sp>
      </p:grp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64686"/>
              </p:ext>
            </p:extLst>
          </p:nvPr>
        </p:nvGraphicFramePr>
        <p:xfrm>
          <a:off x="1739285" y="2743200"/>
          <a:ext cx="8713124" cy="3454165"/>
        </p:xfrm>
        <a:graphic>
          <a:graphicData uri="http://schemas.openxmlformats.org/drawingml/2006/table">
            <a:tbl>
              <a:tblPr/>
              <a:tblGrid>
                <a:gridCol w="2472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0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4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功能區塊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基礎 RFQ/PO/收貨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建立詢價、發送廠商、轉PO、收貨驗收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前置時間管理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廠商／安全前置時間、詢價審核天數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補貨規則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Min/Max 自動觸發採購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廠商價格表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多廠商排序、數量折扣、批量匯入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審核與警告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金額門檻審核、廠商/產品警告封鎖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框架訂單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長期採購協議，分批交貨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帳單控制/三方比對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開票政策、PO↔Receipt↔Bill比對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替代詢價/比價採購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多廠商比價、自動標記最優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採購範本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固定產品組合重複採購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A3A3A"/>
                          </a:solidFill>
                        </a:rPr>
                        <a:t>EDI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>
                        <a:buNone/>
                      </a:pPr>
                      <a:r>
                        <a:rPr lang="en-US" sz="1400" dirty="0">
                          <a:solidFill>
                            <a:srgbClr val="757575"/>
                          </a:solidFill>
                        </a:rPr>
                        <a:t>採購單匯出XML自動生成銷售訂單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640186" y="469761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F5F4"/>
                </a:solidFill>
                <a:latin typeface="+mj-ea"/>
                <a:ea typeface="+mj-ea"/>
                <a:cs typeface="Calibri" pitchFamily="34" charset="-120"/>
              </a:rPr>
              <a:t>情境一：新手採購員的一天　｜　情境二：庫存告急日　｜　情境三：年度合作大單</a:t>
            </a:r>
            <a:endParaRPr lang="en-US" sz="1450" dirty="0">
              <a:latin typeface="+mj-ea"/>
              <a:ea typeface="+mj-ea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29DA707-DCAE-5D4B-9A12-E0F1E0574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D427EFBF-911D-EF83-9FE6-5F78CEFE9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FFFFFF"/>
                </a:solidFill>
                <a:latin typeface="+mj-ea"/>
                <a:cs typeface="Cambria" pitchFamily="34" charset="-120"/>
              </a:rPr>
              <a:t>三個實務情境演練</a:t>
            </a:r>
            <a:endParaRPr lang="en-US" altLang="zh-TW" dirty="0">
              <a:latin typeface="+mj-ea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03　實務情境　情境一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新手採購員的一天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角色：採購人員</a:t>
            </a:r>
            <a:r>
              <a:rPr lang="zh-TW" alt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陳阿宏</a:t>
            </a: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／</a:t>
            </a: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採購主管</a:t>
            </a:r>
            <a:r>
              <a:rPr lang="zh-TW" alt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李小芸</a:t>
            </a: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｜</a:t>
            </a: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涵蓋功能：基礎採購流程＋審核與警告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1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東昇企業社的銷售訂單確認後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，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陳阿宏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建立RFQ，供應商恆膠原料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(SUP001)，天然橡膠(NR)500kg、單價50/kg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12680" y="23042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基礎流程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2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3272" y="2743200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發送RFQ給恆膠原料，廠商回覆確認報價，未稅金額NT$25,000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012680" y="2798064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1268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基礎流程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3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3272" y="3236976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陳阿宏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確認訂單，因未稅金額超過公司審核門檻NT$20,000，訂單卡在「待審核」，無法直接發出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12680" y="329184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12680" y="32918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審核與警告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4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33272" y="3730752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主管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李小芸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打開待審核清單，評估後核准（Approve）訂單，系統自動轉為正式PO並發送給恆膠原料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012680" y="378561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12680" y="37856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審核與警告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5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3272" y="4224528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貨到後，倉管人員收貨驗收（Validate），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完成本筆採購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zh-TW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(2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種收貨開票方式</a:t>
            </a:r>
            <a:r>
              <a:rPr lang="en-US" altLang="zh-TW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)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012680" y="4279392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12680" y="42793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基礎流程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6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33272" y="471830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同一天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，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陳阿宏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改向跨境供應商環鋼簾布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(深圳)(SUP006)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詢價，選定廠商當下系統跳出「廠商警告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」：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需要提早叫貨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012680" y="477316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12680" y="47731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審核與警告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9</a:t>
            </a:r>
            <a:endParaRPr lang="en-US" sz="8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3E8560-F82A-73C6-B7BB-517EBA1D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323" y="558699"/>
            <a:ext cx="10515600" cy="1325563"/>
          </a:xfrm>
        </p:spPr>
        <p:txBody>
          <a:bodyPr/>
          <a:lstStyle/>
          <a:p>
            <a:r>
              <a:rPr lang="zh-TW" altLang="en-US" dirty="0"/>
              <a:t>確認詢價單</a:t>
            </a:r>
            <a:r>
              <a:rPr lang="en-US" altLang="zh-TW" dirty="0"/>
              <a:t>&amp;</a:t>
            </a:r>
            <a:r>
              <a:rPr lang="zh-TW" altLang="en-US" dirty="0"/>
              <a:t>主管審核設定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E96D15-3C7F-D529-9DE5-DDFB95AC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45" y="2739330"/>
            <a:ext cx="4943530" cy="1157038"/>
          </a:xfrm>
        </p:spPr>
        <p:txBody>
          <a:bodyPr>
            <a:normAutofit/>
          </a:bodyPr>
          <a:lstStyle/>
          <a:p>
            <a:r>
              <a:rPr lang="zh-TW" altLang="en-US" dirty="0"/>
              <a:t>主管審核設定：</a:t>
            </a:r>
            <a:r>
              <a:rPr lang="zh-TW" altLang="en-US" sz="1600" dirty="0"/>
              <a:t>配置</a:t>
            </a:r>
            <a:r>
              <a:rPr lang="en-US" altLang="zh-TW" sz="1600" dirty="0"/>
              <a:t>→</a:t>
            </a:r>
            <a:r>
              <a:rPr lang="zh-TW" altLang="en-US" sz="1600" dirty="0"/>
              <a:t>設定，勾選「採購訂單審批」→出現「最小金額」門檻欄位→存檔</a:t>
            </a:r>
            <a:br>
              <a:rPr lang="en-US" altLang="zh-TW" sz="1600" dirty="0"/>
            </a:br>
            <a:r>
              <a:rPr lang="zh-TW" altLang="en-US" sz="1600" dirty="0"/>
              <a:t>（並標註：舊訂單不會回溯套用）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725F32-B985-B58F-9940-71E987F7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02" y="1663800"/>
            <a:ext cx="3876839" cy="70277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96E7FD1-41B2-2A9D-C9FD-737905F0B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39" b="31775"/>
          <a:stretch>
            <a:fillRect/>
          </a:stretch>
        </p:blipFill>
        <p:spPr>
          <a:xfrm>
            <a:off x="5727032" y="2494394"/>
            <a:ext cx="3807594" cy="16766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AABB45-D188-E9FC-902A-750D59B58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899" y="4395150"/>
            <a:ext cx="8252267" cy="194852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FF904C5-E59B-89A6-9555-D2E9B3F87781}"/>
              </a:ext>
            </a:extLst>
          </p:cNvPr>
          <p:cNvSpPr txBox="1"/>
          <p:nvPr/>
        </p:nvSpPr>
        <p:spPr>
          <a:xfrm>
            <a:off x="495045" y="1760076"/>
            <a:ext cx="6820155" cy="70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8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TW" altLang="en-US" sz="2400" dirty="0"/>
              <a:t>詢價單點選</a:t>
            </a:r>
            <a:r>
              <a:rPr lang="en-US" altLang="zh-TW" sz="2400" dirty="0"/>
              <a:t>『</a:t>
            </a:r>
            <a:r>
              <a:rPr lang="zh-TW" altLang="en-US" sz="2400" dirty="0"/>
              <a:t>確認訂單</a:t>
            </a:r>
            <a:r>
              <a:rPr lang="en-US" altLang="zh-TW" sz="2400" dirty="0"/>
              <a:t>』→</a:t>
            </a:r>
            <a:r>
              <a:rPr lang="zh-TW" altLang="en-US" sz="2400" dirty="0"/>
              <a:t>轉成</a:t>
            </a:r>
            <a:r>
              <a:rPr lang="en-US" altLang="zh-TW" sz="2400" dirty="0"/>
              <a:t>〔</a:t>
            </a:r>
            <a:r>
              <a:rPr lang="zh-TW" altLang="en-US" sz="2400" dirty="0"/>
              <a:t>採購單</a:t>
            </a:r>
            <a:r>
              <a:rPr lang="en-US" altLang="zh-TW" sz="2400" dirty="0"/>
              <a:t>〕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397F76A1-635E-853A-A2C6-0EE69C8F5114}"/>
              </a:ext>
            </a:extLst>
          </p:cNvPr>
          <p:cNvGrpSpPr/>
          <p:nvPr/>
        </p:nvGrpSpPr>
        <p:grpSpPr>
          <a:xfrm>
            <a:off x="273782" y="291479"/>
            <a:ext cx="585159" cy="534439"/>
            <a:chOff x="273782" y="291479"/>
            <a:chExt cx="585159" cy="534439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35F17372-BE8B-76E5-E1EF-DA4186527F25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4400">
                <a:latin typeface="+mj-ea"/>
                <a:ea typeface="+mj-ea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0FB03C2-A4B7-8449-A913-0D5729F7FEEB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+mj-ea"/>
                  <a:ea typeface="+mj-ea"/>
                  <a:cs typeface="Calibri" pitchFamily="34" charset="-120"/>
                </a:rPr>
                <a:t>1</a:t>
              </a:r>
              <a:endParaRPr lang="en-US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2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274C5-00A6-FF1C-1C25-EBF74F2B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3A3A3A"/>
                </a:solidFill>
                <a:latin typeface="+mj-ea"/>
                <a:cs typeface="Calibri" pitchFamily="34" charset="-120"/>
              </a:rPr>
              <a:t>建立</a:t>
            </a:r>
            <a:r>
              <a:rPr lang="zh-TW" altLang="en-US" dirty="0">
                <a:solidFill>
                  <a:srgbClr val="3A3A3A"/>
                </a:solidFill>
                <a:latin typeface="+mj-ea"/>
                <a:cs typeface="Calibri" pitchFamily="34" charset="-120"/>
              </a:rPr>
              <a:t>詢價單</a:t>
            </a:r>
            <a:r>
              <a:rPr lang="en-US" altLang="zh-TW" dirty="0">
                <a:solidFill>
                  <a:srgbClr val="3A3A3A"/>
                </a:solidFill>
                <a:latin typeface="+mj-ea"/>
                <a:cs typeface="Calibri" pitchFamily="34" charset="-120"/>
              </a:rPr>
              <a:t>(RFQ)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C068E5-FB7D-0128-8B20-C4469F998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61" y="2381250"/>
            <a:ext cx="4248151" cy="3395663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採購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→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訂單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→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詢價單</a:t>
            </a:r>
            <a:endParaRPr lang="en-US" altLang="zh-TW" sz="1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填入基本資訊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【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紅框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】</a:t>
            </a:r>
          </a:p>
          <a:p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『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選項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』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供應商確認供貨日期：</a:t>
            </a:r>
            <a:br>
              <a:rPr lang="en-US" altLang="zh-TW" sz="1800" dirty="0"/>
            </a:br>
            <a:r>
              <a:rPr lang="zh-TW" altLang="en-US" sz="1400" dirty="0">
                <a:solidFill>
                  <a:schemeClr val="tx1"/>
                </a:solidFill>
              </a:rPr>
              <a:t>預計收貨日期前 </a:t>
            </a:r>
            <a:r>
              <a:rPr lang="en-US" altLang="zh-TW" sz="1400" dirty="0">
                <a:solidFill>
                  <a:schemeClr val="tx1"/>
                </a:solidFill>
              </a:rPr>
              <a:t>X </a:t>
            </a:r>
            <a:r>
              <a:rPr lang="zh-TW" altLang="en-US" sz="1400" dirty="0">
                <a:solidFill>
                  <a:schemeClr val="tx1"/>
                </a:solidFill>
              </a:rPr>
              <a:t>天，自動寄一封 </a:t>
            </a:r>
            <a:r>
              <a:rPr lang="en-US" altLang="zh-TW" sz="1400" dirty="0">
                <a:solidFill>
                  <a:schemeClr val="tx1"/>
                </a:solidFill>
              </a:rPr>
              <a:t>email </a:t>
            </a:r>
            <a:r>
              <a:rPr lang="zh-TW" altLang="en-US" sz="1400" dirty="0">
                <a:solidFill>
                  <a:schemeClr val="tx1"/>
                </a:solidFill>
              </a:rPr>
              <a:t>給供應商，確認是否可以準時交貨</a:t>
            </a:r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選擇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『</a:t>
            </a:r>
            <a:r>
              <a:rPr lang="zh-TW" altLang="en-US" sz="1800" dirty="0">
                <a:solidFill>
                  <a:schemeClr val="bg2">
                    <a:lumMod val="50000"/>
                  </a:schemeClr>
                </a:solidFill>
              </a:rPr>
              <a:t>傳送報價請求</a:t>
            </a:r>
            <a:r>
              <a:rPr lang="en-US" altLang="zh-TW" sz="1800" dirty="0">
                <a:solidFill>
                  <a:schemeClr val="bg2">
                    <a:lumMod val="50000"/>
                  </a:schemeClr>
                </a:solidFill>
              </a:rPr>
              <a:t>』</a:t>
            </a:r>
            <a:endParaRPr lang="zh-TW" altLang="en-US" sz="1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DEC879A-210A-76EE-CA71-CD71C991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26" y="1268293"/>
            <a:ext cx="6642711" cy="490867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081D47D-7CA2-4026-A669-48D400A29020}"/>
              </a:ext>
            </a:extLst>
          </p:cNvPr>
          <p:cNvSpPr/>
          <p:nvPr/>
        </p:nvSpPr>
        <p:spPr>
          <a:xfrm>
            <a:off x="5391149" y="2924175"/>
            <a:ext cx="3003999" cy="485775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0595583-3C5C-EEDD-15C2-E5F13625287A}"/>
              </a:ext>
            </a:extLst>
          </p:cNvPr>
          <p:cNvSpPr/>
          <p:nvPr/>
        </p:nvSpPr>
        <p:spPr>
          <a:xfrm>
            <a:off x="5518597" y="4314825"/>
            <a:ext cx="4939854" cy="919164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0AF0E-7390-B927-8F4E-7B1025274998}"/>
              </a:ext>
            </a:extLst>
          </p:cNvPr>
          <p:cNvSpPr/>
          <p:nvPr/>
        </p:nvSpPr>
        <p:spPr>
          <a:xfrm>
            <a:off x="8471347" y="3671191"/>
            <a:ext cx="2339527" cy="249296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7243DAE-7386-26A1-5FA8-07FAB38CAD30}"/>
              </a:ext>
            </a:extLst>
          </p:cNvPr>
          <p:cNvSpPr/>
          <p:nvPr/>
        </p:nvSpPr>
        <p:spPr>
          <a:xfrm>
            <a:off x="8471348" y="2897925"/>
            <a:ext cx="2339527" cy="485159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79C20BD-0905-511B-2FB1-29935C77DB2D}"/>
              </a:ext>
            </a:extLst>
          </p:cNvPr>
          <p:cNvSpPr/>
          <p:nvPr/>
        </p:nvSpPr>
        <p:spPr>
          <a:xfrm>
            <a:off x="326381" y="813867"/>
            <a:ext cx="585159" cy="534439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 sz="4400">
              <a:latin typeface="+mj-ea"/>
              <a:ea typeface="+mj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E2DCA9A-1A1A-BAEB-B069-BB52B18CD6E3}"/>
              </a:ext>
            </a:extLst>
          </p:cNvPr>
          <p:cNvSpPr/>
          <p:nvPr/>
        </p:nvSpPr>
        <p:spPr>
          <a:xfrm>
            <a:off x="326381" y="813867"/>
            <a:ext cx="585159" cy="53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3</a:t>
            </a:r>
            <a:endParaRPr 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81555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DE30FC-AED6-5396-F2F3-81EA70558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5" y="630218"/>
            <a:ext cx="10515600" cy="1325563"/>
          </a:xfrm>
        </p:spPr>
        <p:txBody>
          <a:bodyPr/>
          <a:lstStyle/>
          <a:p>
            <a:r>
              <a:rPr lang="zh-TW" altLang="en-US" dirty="0"/>
              <a:t>供應商</a:t>
            </a:r>
            <a:r>
              <a:rPr lang="en-US" altLang="zh-TW" dirty="0"/>
              <a:t>-</a:t>
            </a:r>
            <a:r>
              <a:rPr lang="zh-TW" altLang="zh-TW" dirty="0"/>
              <a:t>控制政策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EF6CEE-2B88-01D2-E42E-9499A48B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11" y="2322580"/>
            <a:ext cx="6015935" cy="381833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依訂購數量（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Ordered Quantities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TW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zh-TW" altLang="en-US" dirty="0"/>
              <a:t>確認訂單即可開票</a:t>
            </a:r>
            <a:endParaRPr lang="en-US" altLang="zh-TW" dirty="0"/>
          </a:p>
          <a:p>
            <a:pPr marL="914400" lvl="2" indent="0">
              <a:buNone/>
            </a:pPr>
            <a:r>
              <a:rPr lang="zh-TW" altLang="en-US" dirty="0"/>
              <a:t>適用：</a:t>
            </a:r>
            <a:endParaRPr lang="en-US" altLang="zh-TW" dirty="0"/>
          </a:p>
          <a:p>
            <a:pPr lvl="2"/>
            <a:r>
              <a:rPr lang="zh-TW" altLang="en-US" dirty="0"/>
              <a:t>服務／顧問／訂閱類（無實體收貨）</a:t>
            </a:r>
            <a:endParaRPr lang="en-US" altLang="zh-TW" dirty="0"/>
          </a:p>
          <a:p>
            <a:pPr lvl="2"/>
            <a:r>
              <a:rPr lang="zh-TW" altLang="en-US" dirty="0"/>
              <a:t>長期信任供應商、小額高頻採購預付制付款條件（訂金＋出貨前付清）</a:t>
            </a:r>
            <a:endParaRPr lang="en-US" altLang="zh-TW" dirty="0"/>
          </a:p>
          <a:p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依收貨數量（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Received Quantities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TW" dirty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zh-TW" altLang="en-US" dirty="0"/>
              <a:t>需實際收貨才能開票</a:t>
            </a:r>
            <a:endParaRPr lang="en-US" altLang="zh-TW" dirty="0"/>
          </a:p>
          <a:p>
            <a:pPr marL="914400" lvl="2" indent="0">
              <a:buNone/>
            </a:pPr>
            <a:r>
              <a:rPr lang="zh-TW" altLang="en-US" dirty="0"/>
              <a:t>適用：</a:t>
            </a:r>
            <a:endParaRPr lang="en-US" altLang="zh-TW" dirty="0"/>
          </a:p>
          <a:p>
            <a:pPr lvl="2"/>
            <a:r>
              <a:rPr lang="zh-TW" altLang="en-US" dirty="0"/>
              <a:t>實體商品／原物料採購新供應商、大宗／高金額採購月結／到貨後付款條件需啟用三方比對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CE4B9F-4BB1-779D-E67A-0D00C405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046" y="2504088"/>
            <a:ext cx="5925954" cy="2539550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7077491E-AE13-A6CB-205D-0B2BFC0EAECB}"/>
              </a:ext>
            </a:extLst>
          </p:cNvPr>
          <p:cNvGrpSpPr/>
          <p:nvPr/>
        </p:nvGrpSpPr>
        <p:grpSpPr>
          <a:xfrm>
            <a:off x="378500" y="354013"/>
            <a:ext cx="534389" cy="552410"/>
            <a:chOff x="316511" y="552490"/>
            <a:chExt cx="329184" cy="329184"/>
          </a:xfrm>
        </p:grpSpPr>
        <p:sp>
          <p:nvSpPr>
            <p:cNvPr id="8" name="Shape 32">
              <a:extLst>
                <a:ext uri="{FF2B5EF4-FFF2-40B4-BE49-F238E27FC236}">
                  <a16:creationId xmlns:a16="http://schemas.microsoft.com/office/drawing/2014/main" id="{7F1C48F1-104C-731B-5E9B-58720E82F212}"/>
                </a:ext>
              </a:extLst>
            </p:cNvPr>
            <p:cNvSpPr/>
            <p:nvPr/>
          </p:nvSpPr>
          <p:spPr>
            <a:xfrm>
              <a:off x="316511" y="552490"/>
              <a:ext cx="329184" cy="329184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2000" dirty="0">
                <a:latin typeface="+mj-ea"/>
                <a:ea typeface="+mj-ea"/>
              </a:endParaRPr>
            </a:p>
          </p:txBody>
        </p:sp>
        <p:sp>
          <p:nvSpPr>
            <p:cNvPr id="10" name="Text 33">
              <a:extLst>
                <a:ext uri="{FF2B5EF4-FFF2-40B4-BE49-F238E27FC236}">
                  <a16:creationId xmlns:a16="http://schemas.microsoft.com/office/drawing/2014/main" id="{AF127659-6861-7AC6-4A3C-8BC8B3648899}"/>
                </a:ext>
              </a:extLst>
            </p:cNvPr>
            <p:cNvSpPr/>
            <p:nvPr/>
          </p:nvSpPr>
          <p:spPr>
            <a:xfrm>
              <a:off x="316511" y="552490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ea"/>
                  <a:ea typeface="+mj-ea"/>
                  <a:cs typeface="Calibri" pitchFamily="34" charset="-120"/>
                </a:rPr>
                <a:t>6</a:t>
              </a:r>
              <a:endParaRPr 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4108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5A94C5-D3CF-A414-0B8E-A886C5BB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35" y="654553"/>
            <a:ext cx="10515600" cy="1325563"/>
          </a:xfrm>
        </p:spPr>
        <p:txBody>
          <a:bodyPr/>
          <a:lstStyle/>
          <a:p>
            <a:r>
              <a:rPr lang="zh-TW" altLang="en-US" dirty="0"/>
              <a:t>採購警告</a:t>
            </a:r>
            <a:r>
              <a:rPr lang="en-US" altLang="zh-TW" dirty="0"/>
              <a:t>(</a:t>
            </a:r>
            <a:r>
              <a:rPr lang="zh-TW" altLang="en-US" dirty="0"/>
              <a:t>廠商</a:t>
            </a:r>
            <a:r>
              <a:rPr lang="en-US" altLang="zh-TW" dirty="0"/>
              <a:t>/</a:t>
            </a:r>
            <a:r>
              <a:rPr lang="zh-TW" altLang="en-US" dirty="0"/>
              <a:t>產品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CFDA40-EC7F-7D90-A6DB-D051CF40F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781" y="2194550"/>
            <a:ext cx="4839744" cy="3755874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廠商警告：</a:t>
            </a:r>
            <a:endParaRPr lang="en-US" altLang="zh-TW" sz="2400" dirty="0"/>
          </a:p>
          <a:p>
            <a:pPr lvl="1"/>
            <a:r>
              <a:rPr lang="zh-TW" altLang="en-US" sz="1600" dirty="0"/>
              <a:t>設定位置：聯絡人</a:t>
            </a:r>
            <a:r>
              <a:rPr lang="en-US" altLang="zh-TW" sz="1600" dirty="0"/>
              <a:t>→</a:t>
            </a:r>
            <a:r>
              <a:rPr lang="zh-TW" altLang="en-US" sz="1600" dirty="0"/>
              <a:t>訂單</a:t>
            </a:r>
            <a:r>
              <a:rPr lang="en-US" altLang="zh-TW" sz="1600" dirty="0"/>
              <a:t>→</a:t>
            </a:r>
            <a:r>
              <a:rPr lang="zh-TW" altLang="en-US" sz="1600" dirty="0"/>
              <a:t>供應商</a:t>
            </a:r>
            <a:r>
              <a:rPr lang="en-US" altLang="zh-TW" sz="1600" dirty="0"/>
              <a:t>→〔</a:t>
            </a:r>
            <a:r>
              <a:rPr lang="zh-TW" altLang="en-US" sz="1600" dirty="0"/>
              <a:t>備註</a:t>
            </a:r>
            <a:r>
              <a:rPr lang="en-US" altLang="zh-TW" sz="1600" dirty="0"/>
              <a:t>〕</a:t>
            </a:r>
            <a:r>
              <a:rPr lang="zh-TW" altLang="en-US" sz="1600" dirty="0"/>
              <a:t>分頁</a:t>
            </a:r>
            <a:r>
              <a:rPr lang="en-US" altLang="zh-TW" sz="1600" dirty="0"/>
              <a:t>→</a:t>
            </a:r>
            <a:r>
              <a:rPr lang="zh-TW" altLang="en-US" sz="1600" dirty="0"/>
              <a:t>採購訂單與警告</a:t>
            </a:r>
            <a:endParaRPr lang="en-US" altLang="zh-TW" sz="1600" dirty="0"/>
          </a:p>
          <a:p>
            <a:pPr lvl="1"/>
            <a:r>
              <a:rPr lang="zh-TW" altLang="en-US" sz="1600" dirty="0"/>
              <a:t>實務判斷：問題出在「這個對象本身」（信用不良、常拖延、正在停業整頓、要求走特殊付款流程）</a:t>
            </a:r>
            <a:endParaRPr lang="en-US" altLang="zh-TW" sz="1600" dirty="0"/>
          </a:p>
          <a:p>
            <a:r>
              <a:rPr lang="zh-TW" altLang="en-US" sz="2400" dirty="0"/>
              <a:t>產品警告：</a:t>
            </a:r>
            <a:endParaRPr lang="en-US" altLang="zh-TW" sz="2400" dirty="0"/>
          </a:p>
          <a:p>
            <a:pPr lvl="1"/>
            <a:r>
              <a:rPr lang="zh-TW" altLang="en-US" sz="1600" dirty="0"/>
              <a:t>設定位置：產品</a:t>
            </a:r>
            <a:r>
              <a:rPr lang="en-US" altLang="zh-TW" sz="1600" dirty="0"/>
              <a:t>→〔</a:t>
            </a:r>
            <a:r>
              <a:rPr lang="zh-TW" altLang="en-US" sz="1600" dirty="0"/>
              <a:t>備註</a:t>
            </a:r>
            <a:r>
              <a:rPr lang="en-US" altLang="zh-TW" sz="1600" dirty="0"/>
              <a:t>〕</a:t>
            </a:r>
            <a:r>
              <a:rPr lang="zh-TW" altLang="en-US" sz="1600" dirty="0"/>
              <a:t>分頁</a:t>
            </a:r>
            <a:r>
              <a:rPr lang="en-US" altLang="zh-TW" sz="1600" dirty="0"/>
              <a:t>→</a:t>
            </a:r>
            <a:r>
              <a:rPr lang="zh-TW" altLang="en-US" sz="1600" dirty="0"/>
              <a:t>採購訂單與警告</a:t>
            </a:r>
            <a:endParaRPr lang="en-US" altLang="zh-TW" sz="1600" dirty="0"/>
          </a:p>
          <a:p>
            <a:pPr lvl="1"/>
            <a:r>
              <a:rPr lang="zh-TW" altLang="en-US" sz="1600" dirty="0"/>
              <a:t>實務判斷：問題出在「這個品項本身」（有效期限管制、需特殊儲運條件、屬管制</a:t>
            </a:r>
            <a:r>
              <a:rPr lang="en-US" altLang="zh-TW" sz="1600" dirty="0"/>
              <a:t>/</a:t>
            </a:r>
            <a:r>
              <a:rPr lang="zh-TW" altLang="en-US" sz="1600" dirty="0"/>
              <a:t>危險品、已停產待替代）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CDDABF-9940-898E-572F-C947371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439783"/>
            <a:ext cx="2622265" cy="340159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EF77A0B-3DD0-7131-EE6B-2140C8BB7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105" y="4622800"/>
            <a:ext cx="6325274" cy="219700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DFC142E-63F4-EE71-2CAB-9DFFC22D1CCA}"/>
              </a:ext>
            </a:extLst>
          </p:cNvPr>
          <p:cNvSpPr txBox="1"/>
          <p:nvPr/>
        </p:nvSpPr>
        <p:spPr>
          <a:xfrm>
            <a:off x="1528554" y="1610784"/>
            <a:ext cx="3162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兩者可以同時存在，互不取代</a:t>
            </a:r>
            <a:endParaRPr lang="zh-TW" altLang="en-US" b="1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0CF5739-1D64-3314-0469-31E7B32296BA}"/>
              </a:ext>
            </a:extLst>
          </p:cNvPr>
          <p:cNvGrpSpPr/>
          <p:nvPr/>
        </p:nvGrpSpPr>
        <p:grpSpPr>
          <a:xfrm>
            <a:off x="153378" y="366133"/>
            <a:ext cx="589287" cy="576839"/>
            <a:chOff x="344448" y="489961"/>
            <a:chExt cx="329184" cy="329184"/>
          </a:xfrm>
        </p:grpSpPr>
        <p:sp>
          <p:nvSpPr>
            <p:cNvPr id="9" name="Shape 32">
              <a:extLst>
                <a:ext uri="{FF2B5EF4-FFF2-40B4-BE49-F238E27FC236}">
                  <a16:creationId xmlns:a16="http://schemas.microsoft.com/office/drawing/2014/main" id="{FE107B36-CDE5-D235-AEEB-24EBB87A6B3A}"/>
                </a:ext>
              </a:extLst>
            </p:cNvPr>
            <p:cNvSpPr/>
            <p:nvPr/>
          </p:nvSpPr>
          <p:spPr>
            <a:xfrm>
              <a:off x="344448" y="489961"/>
              <a:ext cx="329184" cy="329184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>
                <a:latin typeface="+mj-ea"/>
                <a:ea typeface="+mj-ea"/>
              </a:endParaRPr>
            </a:p>
          </p:txBody>
        </p:sp>
        <p:sp>
          <p:nvSpPr>
            <p:cNvPr id="11" name="Text 33">
              <a:extLst>
                <a:ext uri="{FF2B5EF4-FFF2-40B4-BE49-F238E27FC236}">
                  <a16:creationId xmlns:a16="http://schemas.microsoft.com/office/drawing/2014/main" id="{941FADBF-CFE1-DFC4-B358-30307668CCE6}"/>
                </a:ext>
              </a:extLst>
            </p:cNvPr>
            <p:cNvSpPr/>
            <p:nvPr/>
          </p:nvSpPr>
          <p:spPr>
            <a:xfrm>
              <a:off x="344448" y="489961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ea"/>
                  <a:ea typeface="+mj-ea"/>
                  <a:cs typeface="Calibri" pitchFamily="34" charset="-120"/>
                </a:rPr>
                <a:t>6</a:t>
              </a:r>
              <a:endParaRPr 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2658770F-CDB8-793E-FD68-4100891FC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801" y="4046286"/>
            <a:ext cx="4159464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9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03　實務情境　情境二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庫存告急日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角色：採購人員</a:t>
            </a:r>
            <a:r>
              <a:rPr lang="zh-TW" alt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吳小欣</a:t>
            </a: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｜</a:t>
            </a: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涵蓋功能：自動補貨與訂貨點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1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吳小欣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打開補貨報表（Replenishment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），</a:t>
            </a:r>
            <a:r>
              <a:rPr lang="en-US" altLang="zh-TW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『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硫磺</a:t>
            </a:r>
            <a:r>
              <a:rPr lang="en-US" altLang="zh-TW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』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原料同時低於安全水位（Min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）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自動補貨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2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這原料實際庫存皆為0，已低於門檻，但畫面上還沒看到請購單——因為訂貨點不是即時觸發，須等每日排程跑過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自動補貨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3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吳小欣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手動執行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 Inventory ＞ Operations ＞ Run Scheduler，觸發「Procurement: Run Scheduler」排程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自動補貨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4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排程跑完，系統自動產生3張RFQ草稿：順丁橡膠500kg→恆膠原料、硫磺300kg→顏華化工、聚酯簾布400m→佳纖簾布，供應商皆正確帶入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自動補貨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5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三張RFQ皆為draft狀態，仍需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吳小欣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人工確認才會送出，不會自動變成正式訂單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自動補貨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重點提醒：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訂貨點機制不是「即時」自動，而是「每日排程」自動——只建訂貨點、不跑排程，畫面上不會看到請購單。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10</a:t>
            </a:r>
            <a:endParaRPr lang="en-US" sz="8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8A7F1B-232F-15BA-481B-221A7AC3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5872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dirty="0"/>
              <a:t>安全水位（</a:t>
            </a:r>
            <a:r>
              <a:rPr lang="en-US" altLang="zh-TW" dirty="0"/>
              <a:t>Min</a:t>
            </a:r>
            <a:r>
              <a:rPr lang="zh-TW" altLang="en-US" dirty="0"/>
              <a:t>）設定教學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F91744-6655-AAF4-61E0-9CCFD325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2136372"/>
            <a:ext cx="6121400" cy="339566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庫存</a:t>
            </a:r>
            <a:r>
              <a:rPr lang="en-US" altLang="zh-TW" sz="2400" dirty="0"/>
              <a:t> </a:t>
            </a:r>
            <a:r>
              <a:rPr lang="zh-TW" altLang="en-US" sz="2400" dirty="0"/>
              <a:t> 模組</a:t>
            </a:r>
            <a:r>
              <a:rPr lang="en-US" altLang="zh-TW" sz="2400" dirty="0"/>
              <a:t>→</a:t>
            </a:r>
            <a:r>
              <a:rPr lang="zh-TW" altLang="en-US" sz="2400" dirty="0"/>
              <a:t>製程</a:t>
            </a:r>
            <a:r>
              <a:rPr lang="en-US" altLang="zh-TW" sz="2400" dirty="0"/>
              <a:t>→</a:t>
            </a:r>
            <a:r>
              <a:rPr lang="zh-TW" altLang="en-US" sz="2400" dirty="0"/>
              <a:t>作業</a:t>
            </a:r>
            <a:r>
              <a:rPr lang="en-US" altLang="zh-TW" sz="2400" dirty="0"/>
              <a:t>→</a:t>
            </a:r>
            <a:r>
              <a:rPr lang="zh-TW" altLang="en-US" sz="2400" dirty="0"/>
              <a:t>重訂貨規則，點「新增</a:t>
            </a:r>
            <a:r>
              <a:rPr lang="en-US" altLang="zh-TW" sz="2400" dirty="0"/>
              <a:t>/</a:t>
            </a:r>
            <a:r>
              <a:rPr lang="zh-TW" altLang="en-US" sz="2400" dirty="0"/>
              <a:t>商品調整」</a:t>
            </a:r>
            <a:endParaRPr lang="en-US" altLang="zh-TW" sz="2400" dirty="0"/>
          </a:p>
          <a:p>
            <a:endParaRPr lang="zh-TW" alt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CC38CE-D2E3-B54E-A758-8115F2EE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9266"/>
            <a:ext cx="6678428" cy="18627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5F262E6-68E2-DBC5-5A7F-43073C5D0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340" y="3369908"/>
            <a:ext cx="5234360" cy="2965836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1AE4561-A581-DBB0-5B96-3230EE651C36}"/>
              </a:ext>
            </a:extLst>
          </p:cNvPr>
          <p:cNvSpPr txBox="1">
            <a:spLocks/>
          </p:cNvSpPr>
          <p:nvPr/>
        </p:nvSpPr>
        <p:spPr>
          <a:xfrm>
            <a:off x="6716340" y="1971435"/>
            <a:ext cx="5132760" cy="339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8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1800" kern="12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1800" kern="12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手動觸發：進到開發者模式</a:t>
            </a:r>
            <a:r>
              <a:rPr lang="en-US" altLang="zh-TW" sz="2400" dirty="0"/>
              <a:t>→</a:t>
            </a:r>
            <a:r>
              <a:rPr lang="zh-TW" altLang="en-US" sz="2400" dirty="0"/>
              <a:t>設定</a:t>
            </a:r>
            <a:r>
              <a:rPr lang="en-US" altLang="zh-TW" sz="2400" dirty="0"/>
              <a:t>→</a:t>
            </a:r>
            <a:r>
              <a:rPr lang="zh-TW" altLang="en-US" sz="2400" dirty="0"/>
              <a:t>技術</a:t>
            </a:r>
            <a:r>
              <a:rPr lang="en-US" altLang="zh-TW" sz="2400" dirty="0"/>
              <a:t>→</a:t>
            </a:r>
            <a:r>
              <a:rPr lang="zh-TW" altLang="en-US" sz="2400" dirty="0"/>
              <a:t>安排的動作</a:t>
            </a:r>
            <a:endParaRPr lang="en-US" altLang="zh-TW" sz="2400" dirty="0"/>
          </a:p>
          <a:p>
            <a:r>
              <a:rPr lang="zh-TW" altLang="en-US" sz="2400" dirty="0"/>
              <a:t>補貨</a:t>
            </a:r>
            <a:r>
              <a:rPr lang="en-US" altLang="zh-TW" sz="2400" dirty="0"/>
              <a:t>: </a:t>
            </a:r>
            <a:r>
              <a:rPr lang="zh-TW" altLang="en-US" sz="2400" dirty="0"/>
              <a:t>執行調度器</a:t>
            </a:r>
            <a:r>
              <a:rPr lang="en-US" altLang="zh-TW" sz="2400" dirty="0"/>
              <a:t>→【</a:t>
            </a:r>
            <a:r>
              <a:rPr lang="zh-TW" altLang="en-US" sz="2400" dirty="0"/>
              <a:t>手動執行</a:t>
            </a:r>
            <a:r>
              <a:rPr lang="en-US" altLang="zh-TW" sz="2400" dirty="0"/>
              <a:t>】</a:t>
            </a:r>
          </a:p>
          <a:p>
            <a:endParaRPr lang="zh-TW" altLang="en-US" sz="2400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8FE03D8-8EED-A2DA-430C-6267C4AFB54E}"/>
              </a:ext>
            </a:extLst>
          </p:cNvPr>
          <p:cNvGrpSpPr/>
          <p:nvPr/>
        </p:nvGrpSpPr>
        <p:grpSpPr>
          <a:xfrm>
            <a:off x="273782" y="291479"/>
            <a:ext cx="585159" cy="534439"/>
            <a:chOff x="273782" y="291479"/>
            <a:chExt cx="585159" cy="534439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18D933CF-A7AB-3270-BC9E-13F37AB8131B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4400">
                <a:latin typeface="+mj-ea"/>
                <a:ea typeface="+mj-ea"/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796473F2-0B2A-D4BC-C99D-613A0D99A963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+mj-ea"/>
                  <a:ea typeface="+mj-ea"/>
                  <a:cs typeface="Calibri" pitchFamily="34" charset="-120"/>
                </a:rPr>
                <a:t>1</a:t>
              </a:r>
              <a:endParaRPr lang="en-US" dirty="0">
                <a:latin typeface="+mj-ea"/>
                <a:ea typeface="+mj-ea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301D3C6-3F83-A7E1-D2FE-580D0025C611}"/>
              </a:ext>
            </a:extLst>
          </p:cNvPr>
          <p:cNvGrpSpPr/>
          <p:nvPr/>
        </p:nvGrpSpPr>
        <p:grpSpPr>
          <a:xfrm>
            <a:off x="1423359" y="291478"/>
            <a:ext cx="585159" cy="534439"/>
            <a:chOff x="273782" y="291479"/>
            <a:chExt cx="585159" cy="534439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8BB3B08-B50E-9E52-8870-FAC7870DFBB2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ellipse">
              <a:avLst/>
            </a:prstGeom>
            <a:solidFill>
              <a:srgbClr val="61C1BE"/>
            </a:solidFill>
            <a:ln/>
          </p:spPr>
          <p:txBody>
            <a:bodyPr/>
            <a:lstStyle/>
            <a:p>
              <a:endParaRPr lang="zh-TW" altLang="en-US" sz="4400">
                <a:latin typeface="+mj-ea"/>
                <a:ea typeface="+mj-ea"/>
              </a:endParaRPr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A2F816DA-276D-1EB0-E6A4-BF6369F1DB80}"/>
                </a:ext>
              </a:extLst>
            </p:cNvPr>
            <p:cNvSpPr/>
            <p:nvPr/>
          </p:nvSpPr>
          <p:spPr>
            <a:xfrm>
              <a:off x="273782" y="291479"/>
              <a:ext cx="585159" cy="5344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b="1" dirty="0">
                  <a:solidFill>
                    <a:srgbClr val="FFFFFF"/>
                  </a:solidFill>
                  <a:latin typeface="+mj-ea"/>
                  <a:ea typeface="+mj-ea"/>
                  <a:cs typeface="Calibri" pitchFamily="34" charset="-120"/>
                </a:rPr>
                <a:t>3</a:t>
              </a:r>
              <a:endParaRPr lang="en-US" dirty="0">
                <a:latin typeface="+mj-ea"/>
                <a:ea typeface="+mj-ea"/>
              </a:endParaRPr>
            </a:p>
          </p:txBody>
        </p:sp>
      </p:grp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C6002244-742C-6F30-A20B-7C2B4E7A41ED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858941" y="558698"/>
            <a:ext cx="564418" cy="1"/>
          </a:xfrm>
          <a:prstGeom prst="curvedConnector3">
            <a:avLst>
              <a:gd name="adj1" fmla="val 455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267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89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03　實務情境　情境三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年度合作大單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角色：採購人員</a:t>
            </a:r>
            <a:r>
              <a:rPr lang="zh-TW" alt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蔡明</a:t>
            </a: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｜涵蓋功能：框架訂單（PAL06）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1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蔡明</a:t>
            </a: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與主力原料供應商恆膠原料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(SUP001)議定年度採購協議：天然橡膠(NR) 年約6,000kg、議定單價60/kg（列價65/kg）、效期一年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框架訂單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2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建立框架訂單（Blanket Order），輸入總量6,000kg與議定單價60/kg，確認生效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框架訂單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3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需求發生時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，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蔡明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從框架訂單建立第一批RFQ，數量1,000kg，單價自動套用合約價60/kg，而非一般價格表的65/kg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框架訂單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4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走完整RFQ→PO→收貨流程，系統自動累計「已訂購（Ordered）」數量到框架訂單中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框架訂單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5</a:t>
            </a:r>
            <a:endParaRPr lang="en-US" sz="936" dirty="0">
              <a:latin typeface="+mj-ea"/>
              <a:ea typeface="+mj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之後每次拆單比照辦理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，</a:t>
            </a:r>
            <a:r>
              <a:rPr lang="zh-TW" alt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蔡明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只需在框架訂單頁面追蹤累計量是否超過總量6,000kg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框架訂單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重點提醒：</a:t>
            </a: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風險提醒：若忘記從框架訂單拆單、直接建新RFQ，系統會默默套用一般供應商價格表（65/kg），年度合約優惠就落空。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04　簽核地圖與提醒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五個關鍵簽核點總覽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①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採購單金額審核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52160" y="19933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系統把關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3920" y="182880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系統原生支援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26791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②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26791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框架訂單／長期合約簽核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284378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5216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待確認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03920" y="26791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系統無獨立機制，待確認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35295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③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7320" y="35295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收貨驗收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52160" y="3694176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216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系統把關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03920" y="35295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Validate動作本身把關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④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320" y="43799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帳單覆核（三方比對）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45445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0" y="4544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僅提示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437997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僅提示，不強制擋付款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52303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⑤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320" y="52303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付款簽核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852160" y="53949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52160" y="5394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待確認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503920" y="5230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系統無強制審核，待確認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顧問訪談重點：請購（⓪）與付款（⑤）剛好是風險最高、Odoo系統卻管最少的兩處，訪談時優先確認。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12</a:t>
            </a:r>
            <a:endParaRPr lang="en-US" sz="8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04　簽核地圖與提醒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常見混淆點提醒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!</a:t>
            </a:r>
            <a:endParaRPr lang="en-US" sz="1612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72768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採購單（PO）方向常被說反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72768" y="23134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PO不是廠商給你的新文件，是你的RFQ狀態轉換的結果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127248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!</a:t>
            </a:r>
            <a:endParaRPr lang="en-US" sz="1612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72768" y="30449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補貨規則常被誤以為直接下正式訂單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72768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排程器觸發後產生的是RFQ草稿，仍需人工確認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242816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!</a:t>
            </a:r>
            <a:endParaRPr lang="en-US" sz="1612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72768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廠商警告常被誤以為系統自動追蹤交期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72768" y="4544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警告是人工事先設定的標記，不是系統自動累積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5358384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5358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!</a:t>
            </a:r>
            <a:endParaRPr lang="en-US" sz="1612"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72768" y="5276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三方比對常被誤以為會強制擋付款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72768" y="56601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系統只在Should Be Paid欄位提示異常，不會強制阻擋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13</a:t>
            </a:r>
            <a:endParaRPr lang="en-US" sz="8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艾創點數位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IDEAXPRESS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結語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版本紀錄與下一步學習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知識庫來源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01_功能概覽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3756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02_操作SOP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03_欄位與單據清單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1540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1540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04_內控點與風險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05_Demo情境腳本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06_常見問題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07_商業流程與簽核地圖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1540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154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E8C89"/>
                </a:solidFill>
                <a:latin typeface="+mj-ea"/>
                <a:ea typeface="+mj-ea"/>
                <a:cs typeface="Calibri" pitchFamily="34" charset="-120"/>
              </a:rPr>
              <a:t>08_採購設定與情境開關指南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下一步學習模組（依序）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+mj-ea"/>
                <a:ea typeface="+mj-ea"/>
                <a:cs typeface="Calibri" pitchFamily="34" charset="-120"/>
              </a:rPr>
              <a:t>Inventory 庫存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3756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756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Accounting 會計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2648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Manufacturing 製造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1540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1540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專案管理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47731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備註：Inventory 模組因逐字稿下載遇網路限制，暫緩學習，待資料補齊後接續。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+mj-ea"/>
                <a:ea typeface="+mj-ea"/>
                <a:cs typeface="Calibri" pitchFamily="34" charset="-120"/>
              </a:rPr>
              <a:t>情境二資料取自「經銷商業態案例_去識別化Demo環境建置」已建置之真實訂貨點紀錄；情境一／三之審核門檻、廠商警告、框架訂單為已確認建置規格（2026-07-29），詳見該專案 02_Demo環境建置紀錄。集團與人物均為虛構示範，非真實客戶資料。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  <p:txBody>
          <a:bodyPr/>
          <a:lstStyle/>
          <a:p>
            <a:endParaRPr lang="zh-TW" altLang="en-US">
              <a:latin typeface="+mj-ea"/>
              <a:ea typeface="+mj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7575"/>
                </a:solidFill>
                <a:latin typeface="+mj-ea"/>
                <a:ea typeface="+mj-ea"/>
                <a:cs typeface="Calibri" pitchFamily="34" charset="-120"/>
              </a:rPr>
              <a:t>14</a:t>
            </a:r>
            <a:endParaRPr lang="en-US" sz="8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losing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436">
              <a:alpha val="6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822960" y="26517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　｜　艾創點數位股份有限公司　ideaXpress digital Co., Ltd.　｜　員工_03 流程內控助理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艾創點簡報母片與模板20240510 (1)">
  <a:themeElements>
    <a:clrScheme name="自訂 Jenny1">
      <a:dk1>
        <a:srgbClr val="1F2933"/>
      </a:dk1>
      <a:lt1>
        <a:sysClr val="window" lastClr="FFFFFF"/>
      </a:lt1>
      <a:dk2>
        <a:srgbClr val="344B55"/>
      </a:dk2>
      <a:lt2>
        <a:srgbClr val="F1F6F5"/>
      </a:lt2>
      <a:accent1>
        <a:srgbClr val="61C1BE"/>
      </a:accent1>
      <a:accent2>
        <a:srgbClr val="ECAA4A"/>
      </a:accent2>
      <a:accent3>
        <a:srgbClr val="477A92"/>
      </a:accent3>
      <a:accent4>
        <a:srgbClr val="8899A6"/>
      </a:accent4>
      <a:accent5>
        <a:srgbClr val="82B784"/>
      </a:accent5>
      <a:accent6>
        <a:srgbClr val="D3766B"/>
      </a:accent6>
      <a:hlink>
        <a:srgbClr val="197D91"/>
      </a:hlink>
      <a:folHlink>
        <a:srgbClr val="725E89"/>
      </a:folHlink>
    </a:clrScheme>
    <a:fontScheme name="自訂 Jenny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34366d1-7a21-4024-85ef-10e29df841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FA84B1BA3E8844A4C32922C36A7332" ma:contentTypeVersion="10" ma:contentTypeDescription="Create a new document." ma:contentTypeScope="" ma:versionID="7d8f0e8fb5ba5810e36d189666bd873e">
  <xsd:schema xmlns:xsd="http://www.w3.org/2001/XMLSchema" xmlns:xs="http://www.w3.org/2001/XMLSchema" xmlns:p="http://schemas.microsoft.com/office/2006/metadata/properties" xmlns:ns3="634366d1-7a21-4024-85ef-10e29df84183" targetNamespace="http://schemas.microsoft.com/office/2006/metadata/properties" ma:root="true" ma:fieldsID="4358cd900f54161bf03a6959f6809434" ns3:_="">
    <xsd:import namespace="634366d1-7a21-4024-85ef-10e29df8418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4366d1-7a21-4024-85ef-10e29df8418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2973B5-7532-451E-88BE-86BFBB41A6FF}">
  <ds:schemaRefs>
    <ds:schemaRef ds:uri="http://schemas.microsoft.com/office/2006/metadata/properties"/>
    <ds:schemaRef ds:uri="http://schemas.microsoft.com/office/infopath/2007/PartnerControls"/>
    <ds:schemaRef ds:uri="634366d1-7a21-4024-85ef-10e29df84183"/>
  </ds:schemaRefs>
</ds:datastoreItem>
</file>

<file path=customXml/itemProps2.xml><?xml version="1.0" encoding="utf-8"?>
<ds:datastoreItem xmlns:ds="http://schemas.openxmlformats.org/officeDocument/2006/customXml" ds:itemID="{01C1D689-5006-4F22-A8AA-A2D1CA8474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B6AF83-8100-4407-83EF-0BA1FC0AF3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4366d1-7a21-4024-85ef-10e29df841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4994</TotalTime>
  <Words>1626</Words>
  <Application>Microsoft Office PowerPoint</Application>
  <PresentationFormat>寬螢幕</PresentationFormat>
  <Paragraphs>371</Paragraphs>
  <Slides>24</Slides>
  <Notes>15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微軟正黑體</vt:lpstr>
      <vt:lpstr>Aptos</vt:lpstr>
      <vt:lpstr>Arial</vt:lpstr>
      <vt:lpstr>Calibri</vt:lpstr>
      <vt:lpstr>Cambria</vt:lpstr>
      <vt:lpstr>艾創點簡報母片與模板20240510 (1)</vt:lpstr>
      <vt:lpstr>PowerPoint 簡報</vt:lpstr>
      <vt:lpstr>PowerPoint 簡報</vt:lpstr>
      <vt:lpstr>PowerPoint 簡報</vt:lpstr>
      <vt:lpstr>01</vt:lpstr>
      <vt:lpstr>PowerPoint 簡報</vt:lpstr>
      <vt:lpstr>PowerPoint 簡報</vt:lpstr>
      <vt:lpstr>PowerPoint 簡報</vt:lpstr>
      <vt:lpstr>02</vt:lpstr>
      <vt:lpstr>PowerPoint 簡報</vt:lpstr>
      <vt:lpstr>PowerPoint 簡報</vt:lpstr>
      <vt:lpstr>03</vt:lpstr>
      <vt:lpstr>PowerPoint 簡報</vt:lpstr>
      <vt:lpstr>確認詢價單&amp;主管審核設定</vt:lpstr>
      <vt:lpstr>建立詢價單(RFQ)</vt:lpstr>
      <vt:lpstr>供應商-控制政策</vt:lpstr>
      <vt:lpstr>採購警告(廠商/產品)</vt:lpstr>
      <vt:lpstr>PowerPoint 簡報</vt:lpstr>
      <vt:lpstr>安全水位（Min）設定教學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盧晏臻Jenny</dc:creator>
  <cp:lastModifiedBy>盧晏臻Jenny</cp:lastModifiedBy>
  <cp:revision>4</cp:revision>
  <dcterms:created xsi:type="dcterms:W3CDTF">2026-07-29T02:31:36Z</dcterms:created>
  <dcterms:modified xsi:type="dcterms:W3CDTF">2026-08-05T05:26:01Z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0x010100C5FA84B1BA3E8844A4C32922C36A7332</vt:lpwstr>
  </property>
</Properties>
</file>