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cov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3A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222222">
              <a:alpha val="7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66928"/>
            <a:ext cx="201168" cy="20116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6" name="Text 3"/>
          <p:cNvSpPr/>
          <p:nvPr/>
        </p:nvSpPr>
        <p:spPr>
          <a:xfrm>
            <a:off x="1170432" y="484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80360" y="4892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100" kern="0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採購模組　內部培訓簡報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採購（Purchase）模組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內部培訓簡報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商業模式定位｜系統功能總覽｜三個情境故事實戰演練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583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艾創點數位股份有限公司　ideaXpress digital Co., Ltd.　｜　員工_03 流程內控助理・海瑟姆　｜　2026-07-29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91640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181965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22402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採購及付款循環在企業八大循環中的定位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98648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89864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3026664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× 採購功能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03120" y="34472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核心流程、10大功能、跨模組關係與關鍵設定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05656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05656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42336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三個實務情境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03120" y="46542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新手採購員的一天／庫存告急日／年度合作大單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12664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312664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312664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103120" y="544068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簽核地圖與易錯提醒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03120" y="586130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內控簽核點總覽、常見混淆點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簡報說明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 Demo 情境背景設定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5681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示範集團：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駿陞橡膠工業集團（虛構示範案例，取材自本公司「經銷商業態案例」Demo環境）——跨國輪胎／橡膠製品製造集團，總部台灣，旗下駿陞(台灣)JS、駿泰(深圳)JT、駿陞(昆山)JK、駿陞(越南)JV 四大生產基地＋駿豐(台灣)JF 前台貿易公司。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情境聚焦：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集團生產基地的原料採購作業（天然橡膠、碳黑、簾布、鋼絲等），供應商與數量取自本Demo環境已建置的真實資料。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情境人物設定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30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31620" y="3913632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3" name="Text 11"/>
          <p:cNvSpPr/>
          <p:nvPr/>
        </p:nvSpPr>
        <p:spPr>
          <a:xfrm>
            <a:off x="1531620" y="3913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</a:t>
            </a:r>
            <a:endParaRPr lang="en-US" sz="1768" dirty="0"/>
          </a:p>
        </p:txBody>
      </p:sp>
      <p:sp>
        <p:nvSpPr>
          <p:cNvPr id="14" name="Text 12"/>
          <p:cNvSpPr/>
          <p:nvPr/>
        </p:nvSpPr>
        <p:spPr>
          <a:xfrm>
            <a:off x="548640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陳柏宏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864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採購人員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730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0540" y="3913632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8" name="Text 16"/>
          <p:cNvSpPr/>
          <p:nvPr/>
        </p:nvSpPr>
        <p:spPr>
          <a:xfrm>
            <a:off x="4320540" y="3913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</a:t>
            </a:r>
            <a:endParaRPr lang="en-US" sz="1768" dirty="0"/>
          </a:p>
        </p:txBody>
      </p:sp>
      <p:sp>
        <p:nvSpPr>
          <p:cNvPr id="19" name="Text 17"/>
          <p:cNvSpPr/>
          <p:nvPr/>
        </p:nvSpPr>
        <p:spPr>
          <a:xfrm>
            <a:off x="3337560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李佳芸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4864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採購主管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730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7109460" y="3913632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7109460" y="3913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吳</a:t>
            </a:r>
            <a:endParaRPr lang="en-US" sz="1768" dirty="0"/>
          </a:p>
        </p:txBody>
      </p:sp>
      <p:sp>
        <p:nvSpPr>
          <p:cNvPr id="24" name="Text 22"/>
          <p:cNvSpPr/>
          <p:nvPr/>
        </p:nvSpPr>
        <p:spPr>
          <a:xfrm>
            <a:off x="6126480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吳欣蓓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4864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採購人員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3730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8380" y="3913632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8" name="Text 26"/>
          <p:cNvSpPr/>
          <p:nvPr/>
        </p:nvSpPr>
        <p:spPr>
          <a:xfrm>
            <a:off x="9898380" y="3913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蔡</a:t>
            </a:r>
            <a:endParaRPr lang="en-US" sz="1768" dirty="0"/>
          </a:p>
        </p:txBody>
      </p:sp>
      <p:sp>
        <p:nvSpPr>
          <p:cNvPr id="29" name="Text 27"/>
          <p:cNvSpPr/>
          <p:nvPr/>
        </p:nvSpPr>
        <p:spPr>
          <a:xfrm>
            <a:off x="8915400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蔡明道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4864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採購人員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148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建立RFQ、跨境廠商詢價（情境一）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37560" y="5148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審核核准、超門檻採購把關（情境一）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5148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自動補貨、排程觸發（情境二）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15400" y="5148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年度框架訂單、原料議價（情境三）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870448"/>
            <a:ext cx="11091672" cy="502920"/>
          </a:xfrm>
          <a:prstGeom prst="roundRect">
            <a:avLst>
              <a:gd name="adj" fmla="val 9091"/>
            </a:avLst>
          </a:prstGeom>
          <a:solidFill>
            <a:srgbClr val="FDF3E2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集團與人物均為教學示範設定，非真實客戶；情境一、三之審核門檻／廠商警告／框架訂單數字為本次確認之建置規格，見「四、待確認」。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商業模式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採購及付款循環在企業八大循環中的位置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9F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銷售及收款循環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接單／出貨／收款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9F5F4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生產循環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3484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製造／入庫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61C1B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請購／採購／付款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94760" y="20848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57575"/>
                </a:solidFill>
              </a:rPr>
              <a:t>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89520" y="20848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57575"/>
                </a:solidFill>
              </a:rPr>
              <a:t>↔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520440" y="3493008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222222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49300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會計／成本／報表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286000" y="2971800"/>
            <a:ext cx="0" cy="52120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971800"/>
            <a:ext cx="0" cy="52120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2971800"/>
            <a:ext cx="0" cy="52120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0916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73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固定資產循環／薪工循環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48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設備／人力／折舊／薪資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70916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773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投資循環／融資循環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5148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資金運用／資金來源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4709160"/>
            <a:ext cx="1234440" cy="-530352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709160"/>
            <a:ext cx="-1234440" cy="-530352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重點：採購及付款循環是「連接生產需求與財務付款」的中介循環，本簡報聚焦深色框標示的部分。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商業模式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微觀作業流程：一筆訂單如何觸發採購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市場／客戶需求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8892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289864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檢查現有庫存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9864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289864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DF3E2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庫存不足→產生採購需求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892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6948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23" name="Text 21"/>
          <p:cNvSpPr/>
          <p:nvPr/>
        </p:nvSpPr>
        <p:spPr>
          <a:xfrm>
            <a:off x="737920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RFQ→PO→收貨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7920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737920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7260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50976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961948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供應商帳單→付款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1948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961948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11091672" cy="1691640"/>
          </a:xfrm>
          <a:prstGeom prst="roundRect">
            <a:avLst>
              <a:gd name="adj" fmla="val 3784"/>
            </a:avLst>
          </a:prstGeom>
          <a:solidFill>
            <a:srgbClr val="FDF3E2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0416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待確認假設（套用前需與客戶確認）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此圖假設為貿易／流通業模型；製造業庫存不足時通常先進生產排程（MRP），不一定直接跳採購。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「客戶訂單觸發採購」為教學簡化畫法；Odoo 實際邏輯依補貨規則（Reordering Rules）的 Min/Max 水位＋每日排程器（Scheduler）計算，非逐筆訂單即時觸發。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核心採購循環與十大功能總覽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詢價單 RFQ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04872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廠商確認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87952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1104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4" name="Text 12"/>
          <p:cNvSpPr/>
          <p:nvPr/>
        </p:nvSpPr>
        <p:spPr>
          <a:xfrm>
            <a:off x="4261104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 PO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44184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17336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 Receipt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00416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20" name="Text 18"/>
          <p:cNvSpPr/>
          <p:nvPr/>
        </p:nvSpPr>
        <p:spPr>
          <a:xfrm>
            <a:off x="7973568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供應商帳單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56648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29800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9829800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85800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功能區塊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對應課程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基礎 RFQ/PO/收貨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建立詢價、發送廠商、轉PO、收貨驗收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PAL01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前置時間管理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廠商／安全前置時間、詢價審核天數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PAL02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補貨規則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Min/Max 自動觸發採購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PAL03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廠商價格表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多廠商排序、數量折扣、批量匯入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PAL04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審核與警告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金額門檻審核、廠商/產品警告封鎖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PAL05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框架訂單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長期採購協議，分批交貨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PAL06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帳單控制/三方比對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開票政策、PO↔Receipt↔Bill比對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PAL07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替代詢價/比價採購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多廠商比價、自動標記最優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PAL08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採購範本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固定產品組合重複採購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PAL09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EDI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採購單匯出XML自動生成銷售訂單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PAL10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跨模組關係與關鍵設定重點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與其他模組的關係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78992" y="21945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收貨（Receipt）連動；補貨規則從庫存觸發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078992" y="28346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建立帳單後進入帳務；登記付款完成對帳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78992" y="3474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7480" y="34747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EDI：PO→XML→SO；直運由PO觸發直送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078992" y="41148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97480" y="41148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廠商主檔、警告設定、廠商分類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0" cy="443484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783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關鍵設定重點（設定＞採購）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55080" y="22128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2212848"/>
            <a:ext cx="64008" cy="548640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2494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採購單審批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22494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超門檻需主管核准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28986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2898648"/>
            <a:ext cx="64008" cy="548640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935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三方匹配（企業版）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29352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只有依收貨數量開票才生效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35844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3584448"/>
            <a:ext cx="64008" cy="548640"/>
          </a:xfrm>
          <a:prstGeom prst="rect">
            <a:avLst/>
          </a:prstGeom>
          <a:solidFill>
            <a:srgbClr val="ECA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6210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收貨提醒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36210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到貨前N天自動提醒廠商確認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42702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5080" y="4270248"/>
            <a:ext cx="64008" cy="548640"/>
          </a:xfrm>
          <a:prstGeom prst="rect">
            <a:avLst/>
          </a:prstGeom>
          <a:solidFill>
            <a:srgbClr val="ECAA4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306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直運／訂單補給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49640" y="43068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銷售觸發採購，貨不進倉庫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5080" y="50017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完整開關情境說明詳見知識庫「08_採購設定與情境開關指南」。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divid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62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三個實務情境演練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情境一：新手採購員的一天　｜　情境二：庫存告急日　｜　情境三：年度合作大單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新手採購員的一天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角色：採購人員陳柏宏／採購主管李佳芸｜涵蓋功能：基礎採購流程（PAL01）＋審核與警告（PAL05）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東昇企業社的銷售訂單確認後，陳柏宏建立RFQ，供應商恆膠原料(SUP001)，天然橡膠(NR)500kg、單價65/kg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3042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1033272" y="2743200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發送RFQ給恆膠原料，廠商回覆確認報價，未稅金額NT$32,500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2798064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1033272" y="3236976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陳柏宏確認訂單，因未稅金額超過公司審核門檻NT$20,000，訂單卡在「待審核」，無法直接發出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29184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32918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1033272" y="3730752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主管李佳芸打開待審核清單，評估後核准（Approve）訂單，系統自動轉為正式PO並發送給恆膠原料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378561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7856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61104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31" name="Text 29"/>
          <p:cNvSpPr/>
          <p:nvPr/>
        </p:nvSpPr>
        <p:spPr>
          <a:xfrm>
            <a:off x="1033272" y="4224528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貨到後，倉管人員收貨驗收（Validate），完成本筆採購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12680" y="4279392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42793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36" name="Text 34"/>
          <p:cNvSpPr/>
          <p:nvPr/>
        </p:nvSpPr>
        <p:spPr>
          <a:xfrm>
            <a:off x="1033272" y="4718304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同一天，陳柏宏改向跨境供應商環鋼簾布(深圳)(SUP006)詢價，選定廠商當下系統跳出「廠商警告」：跨境交期與匯率波動需留意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12680" y="477316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38" name="Text 36"/>
          <p:cNvSpPr/>
          <p:nvPr/>
        </p:nvSpPr>
        <p:spPr>
          <a:xfrm>
            <a:off x="10012680" y="47731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358384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35838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審核門檻管的是「金額」、廠商警告管的是「對象」，兩道機制各管一件事、互不取代，缺一不可。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庫存告急日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角色：採購人員吳欣蓓｜涵蓋功能：自動補貨與訂貨點（PAL03）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吳欣蓓打開補貨報表（Replenishment），順丁橡膠(BR)、硫磺、聚酯簾布 三項原料同時低於安全水位（Min）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30428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1033272" y="279806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這三項原料實際庫存皆為0，已低於門檻，但畫面上還沒看到請購單——因為訂貨點不是即時觸發，須等每日排程跑過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285292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852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1033272" y="334670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吳欣蓓手動執行 Inventory ＞ Operations ＞ Run Scheduler，觸發「Procurement: Run Scheduler」排程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4015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34015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1033272" y="389534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排程跑完，系統自動產生3張RFQ草稿：順丁橡膠500kg→恆膠原料、硫磺300kg→顏華化工、聚酯簾布400m→佳纖簾布，供應商皆正確帶入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395020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95020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31" name="Text 29"/>
          <p:cNvSpPr/>
          <p:nvPr/>
        </p:nvSpPr>
        <p:spPr>
          <a:xfrm>
            <a:off x="1033272" y="444398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三張RFQ皆為draft狀態，仍需吳欣蓓人工確認才會送出，不會自動變成正式訂單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12680" y="449884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44988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訂貨點機制不是「即時」自動，而是「每日排程」自動——只建訂貨點、不跑排程，畫面上不會看到請購單。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年度合作大單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角色：採購人員蔡明道｜涵蓋功能：框架訂單（PAL06）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蔡明道與主力原料供應商恆膠原料(SUP001)議定年度採購協議：天然橡膠(NR) 年約6,000kg、議定單價60/kg（列價65/kg）、效期一年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30428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1033272" y="279806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建立框架訂單（Blanket Order），輸入總量6,000kg與議定單價60/kg，確認生效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285292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852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1033272" y="334670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需求發生時，蔡明道從框架訂單建立第一批RFQ，數量1,000kg，單價自動套用合約價60/kg，而非一般價格表的65/kg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4015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34015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1033272" y="389534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走完整RFQ→PO→收貨流程，系統自動累計「已訂購（Ordered）」數量到框架訂單中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395020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95020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31" name="Text 29"/>
          <p:cNvSpPr/>
          <p:nvPr/>
        </p:nvSpPr>
        <p:spPr>
          <a:xfrm>
            <a:off x="1033272" y="444398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之後每次拆單比照辦理，蔡明道只需在框架訂單頁面追蹤累計量是否超過總量6,000kg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12680" y="449884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44988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風險提醒：若忘記從框架訂單拆單、直接建新RFQ，系統會默默套用一般供應商價格表（65/kg），年度合約優惠就落空。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簽核地圖與提醒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五個關鍵簽核點總覽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採購單金額審核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19933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系統把關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182880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系統原生支援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91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26791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框架訂單／長期合約簽核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284378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26791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系統無獨立機制，待確認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295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17320" y="35295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收貨驗收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52160" y="3694176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系統把關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0" y="35295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Validate動作本身把關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417320" y="43799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帳單覆核（三方比對）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852160" y="454456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4544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僅提示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437997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僅提示，不強制擋付款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230368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23036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417320" y="52303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付款簽核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852160" y="53949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5394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52303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系統無強制審核，待確認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顧問訪談重點：請購（⓪）與付款（⑤）剛好是風險最高、Odoo系統卻管最少的兩處，訪談時優先確認。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簽核地圖與提醒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常見混淆點提醒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572768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採購單（PO）方向常被說反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3134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PO不是廠商給你的新文件，是你的RFQ狀態轉換的結果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127248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572768" y="30449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補貨規則常被誤以為直接下正式訂單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72768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排程器觸發後產生的是RFQ草稿，仍需人工確認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242816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20" name="Text 18"/>
          <p:cNvSpPr/>
          <p:nvPr/>
        </p:nvSpPr>
        <p:spPr>
          <a:xfrm>
            <a:off x="1572768" y="4160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廠商警告常被誤以為系統自動追蹤交期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72768" y="45445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警告是人工事先設定的標記，不是系統自動累積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358384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58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25" name="Text 23"/>
          <p:cNvSpPr/>
          <p:nvPr/>
        </p:nvSpPr>
        <p:spPr>
          <a:xfrm>
            <a:off x="1572768" y="5276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三方比對常被誤以為會強制擋付款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72768" y="56601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系統只在Should Be Paid欄位提示異常，不會強制阻擋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版本紀錄與下一步學習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知識庫來源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01_功能概覽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02_操作SOP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03_欄位與單據清單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1540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04_內控點與風險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05_Demo情境腳本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06_常見問題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07_商業流程與簽核地圖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08_採購設定與情境開關指南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下一步學習模組（依序）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61C1B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庫存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會計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製造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1540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891540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7731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備註：Inventory 模組因逐字稿下載遇網路限制，暫緩學習，待資料補齊後接續。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DF3E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情境二資料取自「經銷商業態案例_去識別化Demo環境建置」已建置之真實訂貨點紀錄；情境一／三之審核門檻、廠商警告、框架訂單為已確認建置規格（2026-07-29），詳見該專案 02_Demo環境建置紀錄。集團與人物均為虛構示範，非真實客戶資料。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closing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436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6517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　｜　艾創點數位股份有限公司　ideaXpress digital Co., Ltd.　｜　員工_03 流程內控助理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2026-07-29T02:22:06Z</dcterms:created>
  <dcterms:modified xsi:type="dcterms:W3CDTF">2026-07-29T02:22:06Z</dcterms:modified>
</cp:coreProperties>
</file>