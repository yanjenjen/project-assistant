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_cover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13A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222222">
              <a:alpha val="7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66928"/>
            <a:ext cx="201168" cy="20116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6" name="Text 3"/>
          <p:cNvSpPr/>
          <p:nvPr/>
        </p:nvSpPr>
        <p:spPr>
          <a:xfrm>
            <a:off x="1170432" y="484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80360" y="4892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100" kern="0" dirty="0">
                <a:solidFill>
                  <a:srgbClr val="61C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1C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採購模組　內部培訓簡報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892040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採購（Purchase）模組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內部培訓簡報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商業模式定位｜系統功能總覽｜三個情境故事實戰演練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583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艾創點數位股份有限公司　ideaXpress digital Co., Ltd.　｜　員工_03 流程內控助理・海瑟姆　｜　2026-07-29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691640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181965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03120" y="22402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採購及付款循環在企業八大循環中的定位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98648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898648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03120" y="3026664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× 採購功能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03120" y="34472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核心流程、10大功能、跨模組關係與關鍵設定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05656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105656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03120" y="42336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三個實務情境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03120" y="46542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新手採購員的一天／庫存告急日／年度合作大單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12664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4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312664"/>
            <a:ext cx="64008" cy="1024128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312664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8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103120" y="544068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簽核地圖與易錯提醒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03120" y="586130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內控簽核點總覽、常見混淆點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簡報說明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 Demo 情境背景設定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5681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示範公司：</a:t>
            </a:r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群豐五金工業（虛構示範公司，非真實客戶）——中小型五金零組件批發商，向多家上游廠商採購後轉售下游客戶。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34086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示範產品：</a:t>
            </a:r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以「M6六角螺絲」為主軸產品，貫穿後續三個情境，方便對照同一項產品在不同場景下的採購邏輯。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035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情境人物設定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9F5F4"/>
          </a:solidFill>
          <a:ln/>
        </p:spPr>
      </p:sp>
      <p:sp>
        <p:nvSpPr>
          <p:cNvPr id="12" name="Shape 10"/>
          <p:cNvSpPr/>
          <p:nvPr/>
        </p:nvSpPr>
        <p:spPr>
          <a:xfrm>
            <a:off x="1531620" y="3675888"/>
            <a:ext cx="621792" cy="621792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3" name="Text 11"/>
          <p:cNvSpPr/>
          <p:nvPr/>
        </p:nvSpPr>
        <p:spPr>
          <a:xfrm>
            <a:off x="1531620" y="36758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</a:t>
            </a:r>
            <a:endParaRPr lang="en-US" sz="1768" dirty="0"/>
          </a:p>
        </p:txBody>
      </p:sp>
      <p:sp>
        <p:nvSpPr>
          <p:cNvPr id="14" name="Text 12"/>
          <p:cNvSpPr/>
          <p:nvPr/>
        </p:nvSpPr>
        <p:spPr>
          <a:xfrm>
            <a:off x="548640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62686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倉管新人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349300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9F5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0540" y="3675888"/>
            <a:ext cx="621792" cy="621792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8" name="Text 16"/>
          <p:cNvSpPr/>
          <p:nvPr/>
        </p:nvSpPr>
        <p:spPr>
          <a:xfrm>
            <a:off x="4320540" y="36758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</a:t>
            </a:r>
            <a:endParaRPr lang="en-US" sz="1768" dirty="0"/>
          </a:p>
        </p:txBody>
      </p:sp>
      <p:sp>
        <p:nvSpPr>
          <p:cNvPr id="19" name="Text 17"/>
          <p:cNvSpPr/>
          <p:nvPr/>
        </p:nvSpPr>
        <p:spPr>
          <a:xfrm>
            <a:off x="3337560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462686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採購主管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49300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9F5F4"/>
          </a:solidFill>
          <a:ln/>
        </p:spPr>
      </p:sp>
      <p:sp>
        <p:nvSpPr>
          <p:cNvPr id="22" name="Shape 20"/>
          <p:cNvSpPr/>
          <p:nvPr/>
        </p:nvSpPr>
        <p:spPr>
          <a:xfrm>
            <a:off x="7109460" y="3675888"/>
            <a:ext cx="621792" cy="621792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3" name="Text 21"/>
          <p:cNvSpPr/>
          <p:nvPr/>
        </p:nvSpPr>
        <p:spPr>
          <a:xfrm>
            <a:off x="7109460" y="36758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婉</a:t>
            </a:r>
            <a:endParaRPr lang="en-US" sz="1768" dirty="0"/>
          </a:p>
        </p:txBody>
      </p:sp>
      <p:sp>
        <p:nvSpPr>
          <p:cNvPr id="24" name="Text 22"/>
          <p:cNvSpPr/>
          <p:nvPr/>
        </p:nvSpPr>
        <p:spPr>
          <a:xfrm>
            <a:off x="6126480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婉婷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462686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採購主任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15400" y="349300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9F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9898380" y="3675888"/>
            <a:ext cx="621792" cy="621792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8" name="Text 26"/>
          <p:cNvSpPr/>
          <p:nvPr/>
        </p:nvSpPr>
        <p:spPr>
          <a:xfrm>
            <a:off x="9898380" y="36758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志</a:t>
            </a:r>
            <a:endParaRPr lang="en-US" sz="1768" dirty="0"/>
          </a:p>
        </p:txBody>
      </p:sp>
      <p:sp>
        <p:nvSpPr>
          <p:cNvPr id="29" name="Text 27"/>
          <p:cNvSpPr/>
          <p:nvPr/>
        </p:nvSpPr>
        <p:spPr>
          <a:xfrm>
            <a:off x="8915400" y="4370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志明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15400" y="462686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採購經理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910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建立RFQ、收貨驗收（情境一）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37560" y="4910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審核核准、廠商警告把關（情境一）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4910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自動補貨、貨比三家（情境二）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15400" y="4910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年度合約、框架訂單（情境三）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870448"/>
            <a:ext cx="11091672" cy="502920"/>
          </a:xfrm>
          <a:prstGeom prst="roundRect">
            <a:avLst>
              <a:gd name="adj" fmla="val 9091"/>
            </a:avLst>
          </a:prstGeom>
          <a:solidFill>
            <a:srgbClr val="FDF3E2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8704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本頁公司與人物均為教學示範設定，後續三個情境共用此背景；資料非真實客戶資料。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商業模式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採購及付款循環在企業八大循環中的位置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E9F5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銷售及收款循環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接單／出貨／收款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E9F5F4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生產循環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3484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製造／入庫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61C1B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採購及付款循環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請購／採購／付款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94760" y="2084832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57575"/>
                </a:solidFill>
              </a:rPr>
              <a:t>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89520" y="2084832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57575"/>
                </a:solidFill>
              </a:rPr>
              <a:t>↔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520440" y="3493008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222222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349300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會計／成本／報表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286000" y="2971800"/>
            <a:ext cx="0" cy="521208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971800"/>
            <a:ext cx="0" cy="521208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2971800"/>
            <a:ext cx="0" cy="521208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70916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731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固定資產循環／薪工循環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148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設備／人力／折舊／薪資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70916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47731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投資循環／融資循環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5148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資金運用／資金來源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4709160"/>
            <a:ext cx="1234440" cy="-530352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709160"/>
            <a:ext cx="-1234440" cy="-530352"/>
          </a:xfrm>
          <a:prstGeom prst="line">
            <a:avLst/>
          </a:prstGeom>
          <a:noFill/>
          <a:ln w="15875">
            <a:solidFill>
              <a:srgbClr val="7575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重點：採購及付款循環是「連接生產需求與財務付款」的中介循環，本簡報聚焦深色框標示的部分。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商業模式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微觀作業流程：一筆訂單如何觸發採購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市場／客戶需求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8892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289864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檢查現有庫存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9864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5" name="Text 13"/>
          <p:cNvSpPr/>
          <p:nvPr/>
        </p:nvSpPr>
        <p:spPr>
          <a:xfrm>
            <a:off x="289864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DF3E2"/>
          </a:solidFill>
          <a:ln/>
        </p:spPr>
      </p:sp>
      <p:sp>
        <p:nvSpPr>
          <p:cNvPr id="18" name="Text 16"/>
          <p:cNvSpPr/>
          <p:nvPr/>
        </p:nvSpPr>
        <p:spPr>
          <a:xfrm>
            <a:off x="513892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庫存不足→產生採購需求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3892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3232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6948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23" name="Text 21"/>
          <p:cNvSpPr/>
          <p:nvPr/>
        </p:nvSpPr>
        <p:spPr>
          <a:xfrm>
            <a:off x="737920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RFQ→PO→收貨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7920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25" name="Text 23"/>
          <p:cNvSpPr/>
          <p:nvPr/>
        </p:nvSpPr>
        <p:spPr>
          <a:xfrm>
            <a:off x="737920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72600" y="2587752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57575"/>
                </a:solidFill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509760" y="2148840"/>
            <a:ext cx="2103120" cy="132588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28" name="Text 26"/>
          <p:cNvSpPr/>
          <p:nvPr/>
        </p:nvSpPr>
        <p:spPr>
          <a:xfrm>
            <a:off x="9619488" y="2258568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供應商帳單→付款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19488" y="3099816"/>
            <a:ext cx="1883664" cy="265176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30" name="Text 28"/>
          <p:cNvSpPr/>
          <p:nvPr/>
        </p:nvSpPr>
        <p:spPr>
          <a:xfrm>
            <a:off x="9619488" y="3099816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11091672" cy="1691640"/>
          </a:xfrm>
          <a:prstGeom prst="roundRect">
            <a:avLst>
              <a:gd name="adj" fmla="val 3784"/>
            </a:avLst>
          </a:prstGeom>
          <a:solidFill>
            <a:srgbClr val="FDF3E2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0416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待確認假設（套用前需與客戶確認）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2960" y="44348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此圖假設為貿易／流通業模型；製造業庫存不足時通常先進生產排程（MRP），不一定直接跳採購。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「客戶訂單觸發採購」為教學簡化畫法；Odoo 實際邏輯依補貨規則（Reordering Rules）的 Min/Max 水位＋每日排程器（Scheduler）計算，非逐筆訂單即時觸發。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Odoo × 採購功能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核心採購循環與十大功能總覽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詢價單 RFQ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04872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1" name="Text 9"/>
          <p:cNvSpPr/>
          <p:nvPr/>
        </p:nvSpPr>
        <p:spPr>
          <a:xfrm>
            <a:off x="2404872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廠商確認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87952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1104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4" name="Text 12"/>
          <p:cNvSpPr/>
          <p:nvPr/>
        </p:nvSpPr>
        <p:spPr>
          <a:xfrm>
            <a:off x="4261104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 PO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44184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17336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7" name="Text 15"/>
          <p:cNvSpPr/>
          <p:nvPr/>
        </p:nvSpPr>
        <p:spPr>
          <a:xfrm>
            <a:off x="6117336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 Receipt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00416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3568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20" name="Text 18"/>
          <p:cNvSpPr/>
          <p:nvPr/>
        </p:nvSpPr>
        <p:spPr>
          <a:xfrm>
            <a:off x="7973568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供應商帳單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56648" y="193852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29800" y="1783080"/>
            <a:ext cx="1783080" cy="685800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23" name="Text 21"/>
          <p:cNvSpPr/>
          <p:nvPr/>
        </p:nvSpPr>
        <p:spPr>
          <a:xfrm>
            <a:off x="9829800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付款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858000"/>
                <a:gridCol w="1490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功能區塊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C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說明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C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對應課程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C8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基礎 RFQ/PO/收貨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建立詢價、發送廠商、轉PO、收貨驗收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PAL01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前置時間管理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廠商／安全前置時間、詢價審核天數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PAL02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補貨規則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Min/Max 自動觸發採購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PAL03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廠商價格表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多廠商排序、數量折扣、批量匯入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PAL04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審核與警告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金額門檻審核、廠商/產品警告封鎖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PAL05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框架訂單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長期採購協議，分批交貨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PAL06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帳單控制/三方比對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開票政策、PO↔Receipt↔Bill比對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PAL07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替代詢價/比價採購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多廠商比價、自動標記最優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PAL08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採購範本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固定產品組合重複採購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PAL09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EDI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</a:rPr>
                        <a:t>採購單匯出XML自動生成銷售訂單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8C89"/>
                          </a:solidFill>
                        </a:rPr>
                        <a:t>PAL10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Odoo × 採購功能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跨模組關係與關鍵設定重點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與其他模組的關係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078992" y="21945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219456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收貨（Receipt）連動；補貨規則從庫存觸發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078992" y="28346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283464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建立帳單後進入帳務；登記付款完成對帳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78992" y="3474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97480" y="347472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EDI：PO→XML→SO；直運由PO觸發直送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33088"/>
            <a:ext cx="365760" cy="365760"/>
          </a:xfrm>
          <a:prstGeom prst="ellipse">
            <a:avLst/>
          </a:prstGeom>
          <a:solidFill>
            <a:srgbClr val="E9F5F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1078992" y="41148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97480" y="411480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廠商主檔、警告設定、廠商分類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828800"/>
            <a:ext cx="0" cy="443484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783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關鍵設定重點（設定＞採購）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355080" y="22128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2212848"/>
            <a:ext cx="64008" cy="548640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2494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採購單審批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224942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超門檻需主管核准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55080" y="28986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2898648"/>
            <a:ext cx="64008" cy="548640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9352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三方匹配（企業版）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293522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只有依收貨數量開票才生效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55080" y="35844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3584448"/>
            <a:ext cx="64008" cy="548640"/>
          </a:xfrm>
          <a:prstGeom prst="rect">
            <a:avLst/>
          </a:prstGeom>
          <a:solidFill>
            <a:srgbClr val="ECAA4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6210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收貨提醒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49640" y="362102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到貨前N天自動提醒廠商確認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4270248"/>
            <a:ext cx="5257800" cy="54864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9" name="Shape 37"/>
          <p:cNvSpPr/>
          <p:nvPr/>
        </p:nvSpPr>
        <p:spPr>
          <a:xfrm>
            <a:off x="6355080" y="4270248"/>
            <a:ext cx="64008" cy="548640"/>
          </a:xfrm>
          <a:prstGeom prst="rect">
            <a:avLst/>
          </a:prstGeom>
          <a:solidFill>
            <a:srgbClr val="ECAA4A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43068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直運／訂單補給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49640" y="430682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銷售觸發採購，貨不進倉庫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55080" y="50017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完整開關情境說明詳見知識庫「08_採購設定與情境開關指南」。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_divider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62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1C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三個實務情境演練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情境一：新手採購員的一天　｜　情境二：庫存告急日　｜　情境三：年度合作大單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實務情境　情境一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新手採購員的一天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角色：倉管新人阿凱｜涵蓋功能：基礎採購流程（PAL01）＋審核與警告（PAL05）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1033272" y="2249424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產線回報「M6六角螺絲」庫存告急，阿凱建立RFQ，選廠商＋產品，數量達2,000顆觸發廠商價格表折扣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12680" y="2304288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2680" y="230428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基礎流程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1033272" y="2743200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發送RFQ給廠商「三發五金」，廠商回覆確認報價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2680" y="2798064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基礎流程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73552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1033272" y="3236976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阿凱按下確認訂單，這筆金額超過公司審核門檻，訂單卡在「待審核」，無法直接發出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12680" y="3291840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12680" y="32918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審核與警告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6" name="Text 24"/>
          <p:cNvSpPr/>
          <p:nvPr/>
        </p:nvSpPr>
        <p:spPr>
          <a:xfrm>
            <a:off x="1033272" y="3730752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主管小美打開待審核清單，系統跳出「廠商警告」提示：此廠商曾有交期延誤紀錄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12680" y="3785616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378561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審核與警告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61104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61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31" name="Text 29"/>
          <p:cNvSpPr/>
          <p:nvPr/>
        </p:nvSpPr>
        <p:spPr>
          <a:xfrm>
            <a:off x="1033272" y="4224528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小美評估後仍核准（Approve）訂單，系統自動轉為正式PO並發送給廠商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12680" y="4279392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33" name="Text 31"/>
          <p:cNvSpPr/>
          <p:nvPr/>
        </p:nvSpPr>
        <p:spPr>
          <a:xfrm>
            <a:off x="10012680" y="42793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審核與警告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36" dirty="0"/>
          </a:p>
        </p:txBody>
      </p:sp>
      <p:sp>
        <p:nvSpPr>
          <p:cNvPr id="36" name="Text 34"/>
          <p:cNvSpPr/>
          <p:nvPr/>
        </p:nvSpPr>
        <p:spPr>
          <a:xfrm>
            <a:off x="1033272" y="4718304"/>
            <a:ext cx="8915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貨到後，倉管人員收貨驗收（Validate），完成整筆採購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12680" y="4773168"/>
            <a:ext cx="1627632" cy="365760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38" name="Text 36"/>
          <p:cNvSpPr/>
          <p:nvPr/>
        </p:nvSpPr>
        <p:spPr>
          <a:xfrm>
            <a:off x="10012680" y="47731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基礎流程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5358384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35838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重點提醒：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審核門檻管的是「金額」、廠商警告管的是「對象」，兩道機制各管一件事、互不取代，缺一不可。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實務情境　情境二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庫存告急日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角色：採購主任婉婷｜涵蓋功能：自動補貨（PAL03）＋比價採購（PAL08）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1033272" y="224942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婉婷打開補貨報表（Replenishment），「M6六角螺絲」低於安全水位，系統依補貨規則已自動產生RFQ草稿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12680" y="230428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2680" y="230428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1033272" y="279806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訂購量系統自動算好：Max Quantity＋未滿足銷售需求＝10+6=16箱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2680" y="285292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285292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1033272" y="334670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這批數量較大，婉婷想貨比三家，在「替代方案」分頁建立2個替代RFQ，分別發送給另外兩家廠商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12680" y="34015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23" name="Text 21"/>
          <p:cNvSpPr/>
          <p:nvPr/>
        </p:nvSpPr>
        <p:spPr>
          <a:xfrm>
            <a:off x="10012680" y="340156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比價採購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6" name="Text 24"/>
          <p:cNvSpPr/>
          <p:nvPr/>
        </p:nvSpPr>
        <p:spPr>
          <a:xfrm>
            <a:off x="1033272" y="389534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三家報價陸續回覆，婉婷用「比較產品」（Compare Products）一次看單價與交期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12680" y="395020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395020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比價採購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31" name="Text 29"/>
          <p:cNvSpPr/>
          <p:nvPr/>
        </p:nvSpPr>
        <p:spPr>
          <a:xfrm>
            <a:off x="1033272" y="444398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選定最優惠的廠商確認訂單，系統跳出視窗詢問是否取消其他替代方案，婉婷點選是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12680" y="449884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3E8C89"/>
          </a:solidFill>
          <a:ln/>
        </p:spPr>
      </p:sp>
      <p:sp>
        <p:nvSpPr>
          <p:cNvPr id="33" name="Text 31"/>
          <p:cNvSpPr/>
          <p:nvPr/>
        </p:nvSpPr>
        <p:spPr>
          <a:xfrm>
            <a:off x="10012680" y="449884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比價採購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138928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1389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重點提醒：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自動補貨產生的永遠只是「草稿」，讓婉婷有機會在確認前先比價，不是系統自作主張下單。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實務情境　情境三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年度合作大單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角色：採購經理志明｜涵蓋功能：框架訂單（PAL06）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1033272" y="224942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志明與主力供應商「三發五金」議定年度採購協議：總量10,000顆、單價較市價低15%、效期一年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12680" y="230428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2680" y="230428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1033272" y="279806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建立框架訂單（Blanket Order），輸入總量與議定單價，確認生效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2680" y="285292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285292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1033272" y="334670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Q1需要2,000顆時，志明從框架訂單建立第一批RFQ，數量2,000，單價自動套用合約價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12680" y="340156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12680" y="340156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6" name="Text 24"/>
          <p:cNvSpPr/>
          <p:nvPr/>
        </p:nvSpPr>
        <p:spPr>
          <a:xfrm>
            <a:off x="1033272" y="389534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走完整RFQ→PO→收貨流程，系統自動累計「已訂購（Ordered）」數量到框架訂單中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12680" y="395020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395020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329184" cy="329184"/>
          </a:xfrm>
          <a:prstGeom prst="ellipse">
            <a:avLst/>
          </a:prstGeom>
          <a:solidFill>
            <a:srgbClr val="61C1B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31" name="Text 29"/>
          <p:cNvSpPr/>
          <p:nvPr/>
        </p:nvSpPr>
        <p:spPr>
          <a:xfrm>
            <a:off x="1033272" y="4443984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之後每季比照辦理，志明只需在框架訂單頁面追蹤累計量是否超過總量10,000顆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12680" y="4498848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33" name="Text 31"/>
          <p:cNvSpPr/>
          <p:nvPr/>
        </p:nvSpPr>
        <p:spPr>
          <a:xfrm>
            <a:off x="10012680" y="449884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138928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1389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重點提醒：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風險提醒：若忘記從框架訂單拆單、直接建新RFQ，系統會默默套用一般廠商價格表，年度合約優惠就落空。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簽核地圖與提醒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五個關鍵簽核點總覽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採購單金額審核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0" y="19933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系統把關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03920" y="182880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系統原生支援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7919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26791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框架訂單／長期合約簽核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52160" y="2843784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2843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03920" y="267919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系統無獨立機制，待確認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2958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417320" y="35295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收貨驗收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852160" y="3694176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61C1BE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6941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系統把關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03920" y="352958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Validate動作本身把關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379976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3799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417320" y="43799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帳單覆核（三方比對）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852160" y="454456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CAA4A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4544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僅提示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03920" y="437997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僅提示，不強制擋付款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230368"/>
            <a:ext cx="11091672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23036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417320" y="52303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付款簽核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852160" y="53949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5394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03920" y="52303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系統無強制審核，待確認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顧問訪談重點：請購（⓪）與付款（⑤）剛好是風險最高、Odoo系統卻管最少的兩處，訪談時優先確認。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簽核地圖與提醒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常見混淆點提醒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1572768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採購單（PO）方向常被說反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23134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PO不是廠商給你的新文件，是你的RFQ狀態轉換的結果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127248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1572768" y="30449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補貨規則常被誤以為直接下正式訂單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72768" y="3429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排程器觸發後產生的是RFQ草稿，仍需人工確認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242816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42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12" dirty="0"/>
          </a:p>
        </p:txBody>
      </p:sp>
      <p:sp>
        <p:nvSpPr>
          <p:cNvPr id="20" name="Text 18"/>
          <p:cNvSpPr/>
          <p:nvPr/>
        </p:nvSpPr>
        <p:spPr>
          <a:xfrm>
            <a:off x="1572768" y="4160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廠商警告常被誤以為系統自動追蹤交期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72768" y="45445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警告是人工事先設定的標記，不是系統自動累積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75504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5358384"/>
            <a:ext cx="566928" cy="566928"/>
          </a:xfrm>
          <a:prstGeom prst="ellipse">
            <a:avLst/>
          </a:prstGeom>
          <a:solidFill>
            <a:srgbClr val="ECA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58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12" dirty="0"/>
          </a:p>
        </p:txBody>
      </p:sp>
      <p:sp>
        <p:nvSpPr>
          <p:cNvPr id="25" name="Text 23"/>
          <p:cNvSpPr/>
          <p:nvPr/>
        </p:nvSpPr>
        <p:spPr>
          <a:xfrm>
            <a:off x="1572768" y="5276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三方比對常被誤以為會強制擋付款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72768" y="566013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系統只在Should Be Paid欄位提示異常，不會強制阻擋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02336"/>
            <a:ext cx="173736" cy="173736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艾創點數位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95144" y="33375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IDEAXPRESS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結語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版本紀錄與下一步學習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知識庫來源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01_功能概覽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02_操作SOP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03_欄位與單據清單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15400" y="2267712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04_內控點與風險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05_Demo情境腳本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06_常見問題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07_商業流程與簽核地圖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274320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E9F5F4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8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08_採購設定與情境開關指南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下一步學習模組（依序）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61C1B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庫存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3756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會計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製造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15400" y="3950208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8915400" y="39502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專案管理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47731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備註：Inventory 模組因逐字稿下載遇網路限制，暫緩學習，待資料補齊後接續。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DF3E2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本簡報所有情境資料（廠商名、產品名、金額）為範例，非真實客戶資料；標示「待確認」項目須經客戶訪談確認，不可直接套用。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C1B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288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艾創點數位股份有限公司 ideaXpress digital Co., Ltd.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_closing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436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65176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　｜　艾創點數位股份有限公司　ideaXpress digital Co., Ltd.　｜　員工_03 流程內控助理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2026-07-29T00:23:38Z</dcterms:created>
  <dcterms:modified xsi:type="dcterms:W3CDTF">2026-07-29T00:23:38Z</dcterms:modified>
</cp:coreProperties>
</file>